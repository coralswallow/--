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24"/>
  </p:notesMasterIdLst>
  <p:sldIdLst>
    <p:sldId id="256" r:id="rId3"/>
    <p:sldId id="257" r:id="rId4"/>
    <p:sldId id="258" r:id="rId5"/>
    <p:sldId id="259" r:id="rId6"/>
    <p:sldId id="260" r:id="rId7"/>
    <p:sldId id="261" r:id="rId8"/>
    <p:sldId id="277" r:id="rId9"/>
    <p:sldId id="263" r:id="rId10"/>
    <p:sldId id="264" r:id="rId11"/>
    <p:sldId id="265" r:id="rId12"/>
    <p:sldId id="278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2C5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572" autoAdjust="0"/>
    <p:restoredTop sz="94660"/>
  </p:normalViewPr>
  <p:slideViewPr>
    <p:cSldViewPr snapToGrid="0">
      <p:cViewPr varScale="1">
        <p:scale>
          <a:sx n="73" d="100"/>
          <a:sy n="73" d="100"/>
        </p:scale>
        <p:origin x="86" y="19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06.04.2026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我是王坚泽。今天我将向各位老师汇报我的毕业设计中期进展，主题是“人工智能算法预测荧光太阳能聚光器光学效率研究”。本次汇报将围绕研究背景、已完成工作、遇到的问题以及下一步计划展开。希望通过这次汇报，能得到各位老师的宝贵意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汇报将分为六个部分。首先，我会介绍本课题的研究背景与意义；其次，阐述我们的研究方案与技术路线；接着，重点汇报目前已完成的工作和取得的进展；然后，分析当前面临的问题及解决方案；之后，规划下一步的工作计划；最后进行总结与展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首先，我们进入第一部分：研究背景与意义。在这一部分，我将解释我们为什么选择这个课题，以及它的研究价值所在。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将从三个维度展开：首先是“研究缘起”，即我们在实践或理论中发现的痛点与契机；其次是“核心价值”，阐述本研究在填补学术空白或解决实际问题上的贡献；最后是“应用前景”，展望研究成果在未来的落地可能性与社会效益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研究背景源于第三代光伏技术，特别是建筑一体化光伏，也就是BIPV。荧光太阳能聚光器，简称LSC，是实现这一目标的关键技术。它能让建筑的窗户、幕墙变成发电面板。然而，LSC的效率受到多种因素的复杂影响，传统物理模型难以精确预测，这极大地限制了研发速度。因此，我们的动机就是利用人工智能，构建一个数据驱动的模型，来快速预测LSC的效率，从而加速研发进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国内外研究方面，已有学者开始探索使用机器学习来预测LSC的效率。例如，André等人在2024年首次验证了神经网络方法的可行性，而Ferreira等人则对比了多种算法，发现XGBoost效果最好。总的来说，这个领域潜力巨大，但现有研究在系统性和工具化方面还有提升空间。我们的研究正是要在此基础上，构建一个更完善、更实用的预测工具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总体目标非常明确：构建一个高精度的预测模型，并把它做成一个好用的工具。为了实现这个目标，我们规划了五个具体的研究内容：首先是数据准备，然后是特征工程，接着是模型的构建与对比，之后是模型的优化验证，最后是工具的封装与应用。这五个步骤环环相扣，构成了我们研究的核心路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AC0EAF-C5C3-AA9D-1702-1C6FE27A9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28AAC99-8DBE-B65E-1EFD-E18DF295BEA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26413D-4DB7-184C-0BD4-440AEA861FCA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FE4AAA4C-03FC-57C8-7D0D-3063C7FA5F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4C81EBC2-6765-D7BB-C5BC-6CF3C55195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首先，我们进入第一部分：研究背景与意义。在这一部分，我将解释我们为什么选择这个课题，以及它的研究价值所在。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将从三个维度展开：首先是“研究缘起”，即我们在实践或理论中发现的痛点与契机；其次是“核心价值”，阐述本研究在填补学术空白或解决实际问题上的贡献；最后是“应用前景”，展望研究成果在未来的落地可能性与社会效益。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903EF4-4F7D-66FF-45B9-FC3B8D065D2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A17B4D-6B83-A74B-2BD2-BA435B0131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5815202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整体研究框架分为四个层次。数据层负责获取原始数据；处理层对数据进行清洗和特征工程；模型层进行算法对比、评估和优化；最后在应用层将模型封装成工具并进行结果分析。这个框架确保了我们研究的系统性和完整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数据来源于一个公开数据集。原始数据存在一些质量问题，比如数值被引用标记污染、存在缺失值等。我们通过编写Python脚本，利用正则表达式提取数值、填充缺失值等方法，对数据进行了深度清洗。最终，我们获得了高质量的训练集和测试集，为后续建模打下了坚实基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在模型选择上，我们对比了三种主流算法：随机森林、XGBoost和人工神经网络。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为了公平地评估它们的性能，我们采用了三个核心指标：决定系数R²、均方根误差RMSE和平均绝对误差MAE。这些指标从不同维度反映了模型的预测能力。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C81F88-0B7A-68B0-B241-2FF91CC2F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AD28372-EF1B-FE10-C114-36378444A4F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F29ED8-D321-30B3-1E78-0C32ED3C5298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5947451E-D748-16FD-FC71-EE25AB7E0C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F24F262A-DCD2-7FEE-556C-F1BBF96D26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首先，我们进入第一部分：研究背景与意义。在这一部分，我将解释我们为什么选择这个课题，以及它的研究价值所在。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将从三个维度展开：首先是“研究缘起”，即我们在实践或理论中发现的痛点与契机；其次是“核心价值”，阐述本研究在填补学术空白或解决实际问题上的贡献；最后是“应用前景”，展望研究成果在未来的落地可能性与社会效益。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A618AA-2435-FB39-5EA2-6C8D9797C1D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4F41FB-0293-765D-FBD1-3D3A3FFA20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5642532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前期工作中，我们首先进行了深入的文献调研，明确了研究的关键特征。接着，我们完成了最耗时的数据处理工作，包括数据获取、深度清洗和特征工程。通过一系列自动化脚本和预处理步骤，我们成功将原始数据转化为适合模型训练的45维特征矩阵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模型构建阶段，我们对比了随机森林、XGBoost和人工神经网络三种模型。从测试集的R²指标来看，XGBoost表现最佳，达到了0.841。而人工神经网络则出现了严重的过拟合，R²为负值。这表明，对于我们当前的小样本任务，集成学习模型是更优的选择。因此，我们选择XGBoost作为最终模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确定XGBoost为最终模型后，我们对其进行了超参数优化，并使用scikit-learn的Pipeline工具将整个预处理流程和模型封装在一起。这样做的好处是，用户只需要输入原始的特征数据，就能直接得到预测结果，实现了端到端的自动化预测，非常方便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尽管取得了一些进展，但研究过程中也发现了一些问题。第四部分，我将对这些问题进行分析，并提出相应的解决策略。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首先，我们精准定位了研究中的核心痛点，包括效率瓶颈和数据误差；其次，我们深入剖析了这些问题的成因；最后，我们制定了具体的实施策略，确保问题得到有效解决。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主要面临四个核心问题：一是训练集和测试集的数据分布不一致；二是一些分类特征的类别太多，难以处理；三是模型泛化能力的验证还不够充分；四是缺失值的处理方法比较简单。针对这些问题，我们都制定了相应的解决方案，比如采用加权损失、尝试高级编码技术、进行Bootstrap验证等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第五部分，我将介绍我们下一步的工作计划。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为了确保项目目标的达成，我们将重点从四个维度推进工作：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第一，任务拆解细化。我们将把整体目标分解为可执行的周度里程碑，落实到具体的负责人，明确每个环节的交付标准，避免模糊地带。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第二，关键节点排期。基于拆解后的任务，制定详细的甘特图，并且为关键路径预留风险缓冲期，确保项目节奏可控。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第三，团队资源保障。我们会提前协调研发、测试及运营的人力投入，并落实所需的硬件与数据资源，打通跨部门协作通道。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第四，质量闭环管控。在交付环节，我们将执行严格的多轮测试与验收机制，确保输出成果完全符合预期质量标准。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下一步计划分为三个阶段。首先，在未来四周内，我们将进行模型的优化与深化研究。接着，在接下来的六周，我们将利用实验室的新数据进行外部验证，并完善工具。最后，在未来八周，我们将集中精力撰写毕业论文并准备答辩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进行总结与展望。目前，我们已经成功搭建了预测框架，并确定了性能优异的XGBoost模型，其R²达到了0.841，且决策逻辑符合物理直觉。展望未来，这个工具可以成为一个高效的“虚拟筛选”平台，极大地加速LSC的研发进程并降低成本。更重要的是，我们的研究方法具有普适性，可以推广到其他光电材料的性能预测中，应用前景非常广阔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我的汇报到此结束。再次感谢各位老师的聆听与指导，恳请各位老师批评指正。谢谢大家！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svg"/><Relationship Id="rId3" Type="http://schemas.openxmlformats.org/officeDocument/2006/relationships/image" Target="../media/image1.jpeg"/><Relationship Id="rId7" Type="http://schemas.openxmlformats.org/officeDocument/2006/relationships/image" Target="../media/image5.sv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11" Type="http://schemas.openxmlformats.org/officeDocument/2006/relationships/image" Target="../media/image9.svg"/><Relationship Id="rId5" Type="http://schemas.openxmlformats.org/officeDocument/2006/relationships/image" Target="../media/image3.sv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jpeg"/><Relationship Id="rId7" Type="http://schemas.openxmlformats.org/officeDocument/2006/relationships/image" Target="../media/image16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png"/><Relationship Id="rId11" Type="http://schemas.openxmlformats.org/officeDocument/2006/relationships/image" Target="../media/image20.svg"/><Relationship Id="rId5" Type="http://schemas.openxmlformats.org/officeDocument/2006/relationships/image" Target="../media/image14.sv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2.jpeg"/><Relationship Id="rId7" Type="http://schemas.openxmlformats.org/officeDocument/2006/relationships/image" Target="../media/image24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.png"/><Relationship Id="rId5" Type="http://schemas.openxmlformats.org/officeDocument/2006/relationships/image" Target="../media/image22.svg"/><Relationship Id="rId4" Type="http://schemas.openxmlformats.org/officeDocument/2006/relationships/image" Target="../media/image21.png"/><Relationship Id="rId9" Type="http://schemas.openxmlformats.org/officeDocument/2006/relationships/image" Target="../media/image26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12.jpe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10" Type="http://schemas.openxmlformats.org/officeDocument/2006/relationships/image" Target="../media/image32.svg"/><Relationship Id="rId4" Type="http://schemas.openxmlformats.org/officeDocument/2006/relationships/image" Target="../media/image27.jpeg"/><Relationship Id="rId9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12.jpeg"/><Relationship Id="rId7" Type="http://schemas.openxmlformats.org/officeDocument/2006/relationships/image" Target="../media/image18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.png"/><Relationship Id="rId5" Type="http://schemas.openxmlformats.org/officeDocument/2006/relationships/image" Target="../media/image34.svg"/><Relationship Id="rId4" Type="http://schemas.openxmlformats.org/officeDocument/2006/relationships/image" Target="../media/image33.png"/><Relationship Id="rId9" Type="http://schemas.openxmlformats.org/officeDocument/2006/relationships/image" Target="../media/image36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12.jpeg"/><Relationship Id="rId7" Type="http://schemas.openxmlformats.org/officeDocument/2006/relationships/image" Target="../media/image18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.png"/><Relationship Id="rId5" Type="http://schemas.openxmlformats.org/officeDocument/2006/relationships/image" Target="../media/image38.svg"/><Relationship Id="rId4" Type="http://schemas.openxmlformats.org/officeDocument/2006/relationships/image" Target="../media/image37.png"/><Relationship Id="rId9" Type="http://schemas.openxmlformats.org/officeDocument/2006/relationships/image" Target="../media/image40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12.jpeg"/><Relationship Id="rId7" Type="http://schemas.openxmlformats.org/officeDocument/2006/relationships/image" Target="../media/image43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2.png"/><Relationship Id="rId5" Type="http://schemas.openxmlformats.org/officeDocument/2006/relationships/image" Target="../media/image41.svg"/><Relationship Id="rId4" Type="http://schemas.openxmlformats.org/officeDocument/2006/relationships/image" Target="../media/image13.png"/><Relationship Id="rId9" Type="http://schemas.openxmlformats.org/officeDocument/2006/relationships/image" Target="../media/image45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12.jpeg"/><Relationship Id="rId7" Type="http://schemas.openxmlformats.org/officeDocument/2006/relationships/image" Target="../media/image45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4.png"/><Relationship Id="rId5" Type="http://schemas.openxmlformats.org/officeDocument/2006/relationships/image" Target="../media/image47.svg"/><Relationship Id="rId4" Type="http://schemas.openxmlformats.org/officeDocument/2006/relationships/image" Target="../media/image46.png"/><Relationship Id="rId9" Type="http://schemas.openxmlformats.org/officeDocument/2006/relationships/image" Target="../media/image49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13" Type="http://schemas.openxmlformats.org/officeDocument/2006/relationships/image" Target="../media/image57.png"/><Relationship Id="rId3" Type="http://schemas.openxmlformats.org/officeDocument/2006/relationships/image" Target="../media/image12.jpeg"/><Relationship Id="rId7" Type="http://schemas.openxmlformats.org/officeDocument/2006/relationships/image" Target="../media/image37.png"/><Relationship Id="rId12" Type="http://schemas.openxmlformats.org/officeDocument/2006/relationships/image" Target="../media/image56.sv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60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2.svg"/><Relationship Id="rId11" Type="http://schemas.openxmlformats.org/officeDocument/2006/relationships/image" Target="../media/image55.png"/><Relationship Id="rId5" Type="http://schemas.openxmlformats.org/officeDocument/2006/relationships/image" Target="../media/image51.png"/><Relationship Id="rId15" Type="http://schemas.openxmlformats.org/officeDocument/2006/relationships/image" Target="../media/image59.png"/><Relationship Id="rId10" Type="http://schemas.openxmlformats.org/officeDocument/2006/relationships/image" Target="../media/image54.svg"/><Relationship Id="rId4" Type="http://schemas.openxmlformats.org/officeDocument/2006/relationships/image" Target="../media/image50.jpeg"/><Relationship Id="rId9" Type="http://schemas.openxmlformats.org/officeDocument/2006/relationships/image" Target="../media/image53.png"/><Relationship Id="rId14" Type="http://schemas.openxmlformats.org/officeDocument/2006/relationships/image" Target="../media/image58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13" Type="http://schemas.openxmlformats.org/officeDocument/2006/relationships/image" Target="../media/image64.svg"/><Relationship Id="rId3" Type="http://schemas.openxmlformats.org/officeDocument/2006/relationships/image" Target="../media/image12.jpeg"/><Relationship Id="rId7" Type="http://schemas.openxmlformats.org/officeDocument/2006/relationships/image" Target="../media/image18.svg"/><Relationship Id="rId12" Type="http://schemas.openxmlformats.org/officeDocument/2006/relationships/image" Target="../media/image6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.png"/><Relationship Id="rId11" Type="http://schemas.openxmlformats.org/officeDocument/2006/relationships/image" Target="../media/image62.svg"/><Relationship Id="rId5" Type="http://schemas.openxmlformats.org/officeDocument/2006/relationships/image" Target="../media/image32.svg"/><Relationship Id="rId15" Type="http://schemas.openxmlformats.org/officeDocument/2006/relationships/image" Target="../media/image66.svg"/><Relationship Id="rId10" Type="http://schemas.openxmlformats.org/officeDocument/2006/relationships/image" Target="../media/image61.png"/><Relationship Id="rId4" Type="http://schemas.openxmlformats.org/officeDocument/2006/relationships/image" Target="../media/image23.png"/><Relationship Id="rId9" Type="http://schemas.openxmlformats.org/officeDocument/2006/relationships/image" Target="../media/image49.svg"/><Relationship Id="rId14" Type="http://schemas.openxmlformats.org/officeDocument/2006/relationships/image" Target="../media/image6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12.jpeg"/><Relationship Id="rId7" Type="http://schemas.openxmlformats.org/officeDocument/2006/relationships/image" Target="../media/image43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2.png"/><Relationship Id="rId5" Type="http://schemas.openxmlformats.org/officeDocument/2006/relationships/image" Target="../media/image41.svg"/><Relationship Id="rId4" Type="http://schemas.openxmlformats.org/officeDocument/2006/relationships/image" Target="../media/image13.png"/><Relationship Id="rId9" Type="http://schemas.openxmlformats.org/officeDocument/2006/relationships/image" Target="../media/image45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image" Target="../media/image12.jpeg"/><Relationship Id="rId7" Type="http://schemas.openxmlformats.org/officeDocument/2006/relationships/image" Target="../media/image38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7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Relationship Id="rId9" Type="http://schemas.openxmlformats.org/officeDocument/2006/relationships/image" Target="../media/image68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12.jpeg"/><Relationship Id="rId7" Type="http://schemas.openxmlformats.org/officeDocument/2006/relationships/image" Target="../media/image72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1.png"/><Relationship Id="rId5" Type="http://schemas.openxmlformats.org/officeDocument/2006/relationships/image" Target="../media/image70.svg"/><Relationship Id="rId4" Type="http://schemas.openxmlformats.org/officeDocument/2006/relationships/image" Target="../media/image6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12.jpeg"/><Relationship Id="rId7" Type="http://schemas.openxmlformats.org/officeDocument/2006/relationships/image" Target="../media/image75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4.png"/><Relationship Id="rId5" Type="http://schemas.openxmlformats.org/officeDocument/2006/relationships/image" Target="../media/image32.svg"/><Relationship Id="rId4" Type="http://schemas.openxmlformats.org/officeDocument/2006/relationships/image" Target="../media/image23.png"/><Relationship Id="rId9" Type="http://schemas.openxmlformats.org/officeDocument/2006/relationships/image" Target="../media/image77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3" Type="http://schemas.openxmlformats.org/officeDocument/2006/relationships/image" Target="../media/image12.jpeg"/><Relationship Id="rId7" Type="http://schemas.openxmlformats.org/officeDocument/2006/relationships/image" Target="../media/image79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8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Relationship Id="rId9" Type="http://schemas.openxmlformats.org/officeDocument/2006/relationships/image" Target="../media/image8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3" Type="http://schemas.openxmlformats.org/officeDocument/2006/relationships/image" Target="../media/image12.jpeg"/><Relationship Id="rId7" Type="http://schemas.openxmlformats.org/officeDocument/2006/relationships/image" Target="../media/image26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5.png"/><Relationship Id="rId5" Type="http://schemas.openxmlformats.org/officeDocument/2006/relationships/image" Target="../media/image83.svg"/><Relationship Id="rId4" Type="http://schemas.openxmlformats.org/officeDocument/2006/relationships/image" Target="../media/image82.png"/><Relationship Id="rId9" Type="http://schemas.openxmlformats.org/officeDocument/2006/relationships/image" Target="../media/image85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12.jpeg"/><Relationship Id="rId7" Type="http://schemas.openxmlformats.org/officeDocument/2006/relationships/image" Target="../media/image87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6.png"/><Relationship Id="rId5" Type="http://schemas.openxmlformats.org/officeDocument/2006/relationships/image" Target="../media/image79.svg"/><Relationship Id="rId4" Type="http://schemas.openxmlformats.org/officeDocument/2006/relationships/image" Target="../media/image78.png"/><Relationship Id="rId9" Type="http://schemas.openxmlformats.org/officeDocument/2006/relationships/image" Target="../media/image70.sv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png"/><Relationship Id="rId3" Type="http://schemas.openxmlformats.org/officeDocument/2006/relationships/image" Target="../media/image12.jpeg"/><Relationship Id="rId7" Type="http://schemas.openxmlformats.org/officeDocument/2006/relationships/image" Target="../media/image91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0.png"/><Relationship Id="rId5" Type="http://schemas.openxmlformats.org/officeDocument/2006/relationships/image" Target="../media/image89.svg"/><Relationship Id="rId4" Type="http://schemas.openxmlformats.org/officeDocument/2006/relationships/image" Target="../media/image88.png"/><Relationship Id="rId9" Type="http://schemas.openxmlformats.org/officeDocument/2006/relationships/image" Target="../media/image93.sv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png"/><Relationship Id="rId3" Type="http://schemas.openxmlformats.org/officeDocument/2006/relationships/image" Target="../media/image12.jpeg"/><Relationship Id="rId7" Type="http://schemas.openxmlformats.org/officeDocument/2006/relationships/image" Target="../media/image32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.png"/><Relationship Id="rId5" Type="http://schemas.openxmlformats.org/officeDocument/2006/relationships/image" Target="../media/image45.svg"/><Relationship Id="rId4" Type="http://schemas.openxmlformats.org/officeDocument/2006/relationships/image" Target="../media/image44.png"/><Relationship Id="rId9" Type="http://schemas.openxmlformats.org/officeDocument/2006/relationships/image" Target="../media/image95.sv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png"/><Relationship Id="rId3" Type="http://schemas.openxmlformats.org/officeDocument/2006/relationships/image" Target="../media/image12.jpeg"/><Relationship Id="rId7" Type="http://schemas.openxmlformats.org/officeDocument/2006/relationships/image" Target="../media/image97.sv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6.png"/><Relationship Id="rId5" Type="http://schemas.openxmlformats.org/officeDocument/2006/relationships/image" Target="../media/image62.svg"/><Relationship Id="rId4" Type="http://schemas.openxmlformats.org/officeDocument/2006/relationships/image" Target="../media/image61.png"/><Relationship Id="rId9" Type="http://schemas.openxmlformats.org/officeDocument/2006/relationships/image" Target="../media/image99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4716" t="4697" r="4716" b="469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E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508000" y="1778000"/>
            <a:ext cx="1117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人工智能算法预测荧光太阳能聚光器光学效率研究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08000" y="2540000"/>
            <a:ext cx="1117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0" i="0" u="none" strike="noStrike" spc="200" dirty="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—— </a:t>
            </a:r>
            <a:r>
              <a:rPr lang="en-US" sz="2000" b="0" i="0" u="none" strike="noStrike" spc="200" dirty="0" err="1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毕业设计中期报告</a:t>
            </a:r>
            <a:r>
              <a:rPr lang="en-US" sz="2000" b="0" i="0" u="none" strike="noStrike" spc="200" dirty="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 ——</a:t>
            </a:r>
            <a:endParaRPr lang="en-US" sz="1100" dirty="0"/>
          </a:p>
        </p:txBody>
      </p:sp>
      <p:sp>
        <p:nvSpPr>
          <p:cNvPr id="6" name="AutoShape 6"/>
          <p:cNvSpPr/>
          <p:nvPr/>
        </p:nvSpPr>
        <p:spPr>
          <a:xfrm>
            <a:off x="1016000" y="3429000"/>
            <a:ext cx="10160000" cy="2794000"/>
          </a:xfrm>
          <a:prstGeom prst="roundRect">
            <a:avLst>
              <a:gd name="adj" fmla="val 6818"/>
            </a:avLst>
          </a:prstGeom>
          <a:solidFill>
            <a:srgbClr val="FFFFFF">
              <a:alpha val="6000"/>
            </a:srgbClr>
          </a:solidFill>
          <a:ln w="12700" cap="flat" cmpd="sng">
            <a:solidFill>
              <a:srgbClr val="22C55E">
                <a:alpha val="40000"/>
              </a:srgbClr>
            </a:solidFill>
            <a:prstDash val="solid"/>
            <a:round/>
          </a:ln>
          <a:effectLst>
            <a:outerShdw blurRad="203200" dist="101600" dir="2700000" algn="tl" rotWithShape="0">
              <a:srgbClr val="000000">
                <a:alpha val="30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51000" y="3937000"/>
            <a:ext cx="508000" cy="5080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2286000" y="3937000"/>
            <a:ext cx="203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汇报人：王坚泽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72000" y="3937000"/>
            <a:ext cx="508000" cy="508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5207000" y="3937000"/>
            <a:ext cx="241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学号：2022050906002</a:t>
            </a:r>
            <a:endParaRPr lang="en-US" sz="1100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747000" y="3937000"/>
            <a:ext cx="508000" cy="508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8382000" y="39370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 dirty="0" err="1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指导教师：罗消</a:t>
            </a:r>
            <a:endParaRPr lang="en-US" sz="1100" dirty="0"/>
          </a:p>
        </p:txBody>
      </p:sp>
      <p:cxnSp>
        <p:nvCxnSpPr>
          <p:cNvPr id="13" name="Connector 13"/>
          <p:cNvCxnSpPr/>
          <p:nvPr/>
        </p:nvCxnSpPr>
        <p:spPr>
          <a:xfrm rot="-4774">
            <a:off x="1524004" y="4819650"/>
            <a:ext cx="9144009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4" name="Picture 14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667000" y="5207000"/>
            <a:ext cx="457200" cy="4572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3238500" y="5207000"/>
            <a:ext cx="3556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学院：光电科学与工程学院</a:t>
            </a:r>
            <a:endParaRPr lang="en-US" sz="1100"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604000" y="5207000"/>
            <a:ext cx="457200" cy="4572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7175500" y="5207000"/>
            <a:ext cx="279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日期：2026年4月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0" y="6667500"/>
            <a:ext cx="12192000" cy="190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3846" t="3767" r="3846" b="376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目录</a:t>
            </a:r>
            <a:r>
              <a:rPr lang="en-US" sz="2000" b="0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CONTENTS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143000"/>
            <a:ext cx="762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62000" y="1524000"/>
            <a:ext cx="5080000" cy="2286000"/>
          </a:xfrm>
          <a:prstGeom prst="roundRect">
            <a:avLst>
              <a:gd name="adj" fmla="val 5555"/>
            </a:avLst>
          </a:prstGeom>
          <a:solidFill>
            <a:srgbClr val="F0FDF4">
              <a:alpha val="10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22C55E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1778000"/>
            <a:ext cx="508000" cy="5080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651000" y="18415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01 </a:t>
            </a:r>
            <a:r>
              <a:rPr lang="en-US" sz="1600" b="1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研究背景与意义</a:t>
            </a:r>
            <a:endParaRPr lang="en-US" sz="1100" dirty="0"/>
          </a:p>
        </p:txBody>
      </p:sp>
      <p:sp>
        <p:nvSpPr>
          <p:cNvPr id="9" name="AutoShape 9"/>
          <p:cNvSpPr/>
          <p:nvPr/>
        </p:nvSpPr>
        <p:spPr>
          <a:xfrm>
            <a:off x="1016000" y="2413000"/>
            <a:ext cx="431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6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</a:t>
            </a:r>
            <a:r>
              <a:rPr lang="en-US" sz="16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课题来源与研究动机</a:t>
            </a:r>
            <a:br>
              <a:rPr lang="en-US" sz="16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6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</a:t>
            </a:r>
            <a:r>
              <a:rPr lang="en-US" sz="16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国内外研究现状与目标</a:t>
            </a:r>
            <a:endParaRPr lang="en-US" dirty="0"/>
          </a:p>
        </p:txBody>
      </p:sp>
      <p:sp>
        <p:nvSpPr>
          <p:cNvPr id="10" name="AutoShape 10"/>
          <p:cNvSpPr/>
          <p:nvPr/>
        </p:nvSpPr>
        <p:spPr>
          <a:xfrm>
            <a:off x="6350000" y="1524000"/>
            <a:ext cx="5080000" cy="2286000"/>
          </a:xfrm>
          <a:prstGeom prst="roundRect">
            <a:avLst>
              <a:gd name="adj" fmla="val 5555"/>
            </a:avLst>
          </a:prstGeom>
          <a:solidFill>
            <a:srgbClr val="F0FDF4">
              <a:alpha val="10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22C55E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04000" y="1778000"/>
            <a:ext cx="508000" cy="508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7239000" y="18415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02 方案与技术路线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604000" y="2413000"/>
            <a:ext cx="431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6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</a:t>
            </a:r>
            <a:r>
              <a:rPr lang="en-US" sz="16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整体研究框架</a:t>
            </a:r>
            <a:br>
              <a:rPr lang="en-US" sz="16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6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</a:t>
            </a:r>
            <a:r>
              <a:rPr lang="en-US" sz="16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数据处理与模型评估指标</a:t>
            </a:r>
            <a:endParaRPr lang="en-US" dirty="0"/>
          </a:p>
        </p:txBody>
      </p:sp>
      <p:sp>
        <p:nvSpPr>
          <p:cNvPr id="14" name="AutoShape 14"/>
          <p:cNvSpPr/>
          <p:nvPr/>
        </p:nvSpPr>
        <p:spPr>
          <a:xfrm>
            <a:off x="762000" y="4191000"/>
            <a:ext cx="5080000" cy="2286000"/>
          </a:xfrm>
          <a:prstGeom prst="roundRect">
            <a:avLst>
              <a:gd name="adj" fmla="val 5555"/>
            </a:avLst>
          </a:prstGeom>
          <a:solidFill>
            <a:srgbClr val="F0FDF4">
              <a:alpha val="10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22C55E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6000" y="4445000"/>
            <a:ext cx="508000" cy="5080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651000" y="45085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03 已完成工作进展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1016000" y="5080000"/>
            <a:ext cx="431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6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</a:t>
            </a:r>
            <a:r>
              <a:rPr lang="en-US" sz="16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文献调研与数据清洗</a:t>
            </a:r>
            <a:br>
              <a:rPr lang="en-US" sz="16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6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</a:t>
            </a:r>
            <a:r>
              <a:rPr lang="en-US" sz="16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模型构建与可视化分析</a:t>
            </a:r>
            <a:endParaRPr lang="en-US" dirty="0"/>
          </a:p>
        </p:txBody>
      </p:sp>
      <p:sp>
        <p:nvSpPr>
          <p:cNvPr id="18" name="AutoShape 18"/>
          <p:cNvSpPr/>
          <p:nvPr/>
        </p:nvSpPr>
        <p:spPr>
          <a:xfrm>
            <a:off x="6350000" y="4191000"/>
            <a:ext cx="5080000" cy="2286000"/>
          </a:xfrm>
          <a:prstGeom prst="roundRect">
            <a:avLst>
              <a:gd name="adj" fmla="val 5555"/>
            </a:avLst>
          </a:prstGeom>
          <a:solidFill>
            <a:srgbClr val="F0FDF4">
              <a:alpha val="10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22C55E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04000" y="4445000"/>
            <a:ext cx="508000" cy="5080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7239000" y="45085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04 问题与解决策略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604000" y="5080000"/>
            <a:ext cx="431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6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</a:t>
            </a:r>
            <a:r>
              <a:rPr lang="en-US" sz="16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当前面临的核心瓶颈</a:t>
            </a:r>
            <a:br>
              <a:rPr lang="en-US" sz="16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6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</a:t>
            </a:r>
            <a:r>
              <a:rPr lang="en-US" sz="16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针对性优化与改进方案</a:t>
            </a:r>
            <a:endParaRPr lang="en-US" dirty="0"/>
          </a:p>
        </p:txBody>
      </p:sp>
      <p:sp>
        <p:nvSpPr>
          <p:cNvPr id="22" name="AutoShape 22"/>
          <p:cNvSpPr/>
          <p:nvPr/>
        </p:nvSpPr>
        <p:spPr>
          <a:xfrm>
            <a:off x="0" y="6604000"/>
            <a:ext cx="12192000" cy="254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2941" t="2961" r="2941" b="296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0" y="1016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19050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研究背景与意义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715000" y="2794000"/>
            <a:ext cx="762000" cy="76200"/>
          </a:xfrm>
          <a:prstGeom prst="roundRect">
            <a:avLst>
              <a:gd name="adj" fmla="val 5000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651000" y="3175000"/>
            <a:ext cx="889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明确研究起点，洞察核心价值，为后续技术探索与学术突破奠定坚实基石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4318000"/>
            <a:ext cx="3302000" cy="1778000"/>
          </a:xfrm>
          <a:prstGeom prst="roundRect">
            <a:avLst>
              <a:gd name="adj" fmla="val 7142"/>
            </a:avLst>
          </a:prstGeom>
          <a:solidFill>
            <a:srgbClr val="F0FDF4">
              <a:alpha val="100000"/>
            </a:srgbClr>
          </a:solidFill>
          <a:ln w="12700" cap="flat" cmpd="sng">
            <a:solidFill>
              <a:srgbClr val="BBF7D0">
                <a:alpha val="10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22C55E">
                <a:alpha val="15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889000" y="5588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研究缘起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445000" y="4318000"/>
            <a:ext cx="3302000" cy="1778000"/>
          </a:xfrm>
          <a:prstGeom prst="roundRect">
            <a:avLst>
              <a:gd name="adj" fmla="val 7142"/>
            </a:avLst>
          </a:prstGeom>
          <a:solidFill>
            <a:srgbClr val="F0FDF4">
              <a:alpha val="100000"/>
            </a:srgbClr>
          </a:solidFill>
          <a:ln w="12700" cap="flat" cmpd="sng">
            <a:solidFill>
              <a:srgbClr val="BBF7D0">
                <a:alpha val="10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22C55E">
                <a:alpha val="15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51500" y="4572000"/>
            <a:ext cx="889000" cy="889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4572000" y="5588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核心价值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128000" y="4318000"/>
            <a:ext cx="3302000" cy="1778000"/>
          </a:xfrm>
          <a:prstGeom prst="roundRect">
            <a:avLst>
              <a:gd name="adj" fmla="val 7142"/>
            </a:avLst>
          </a:prstGeom>
          <a:solidFill>
            <a:srgbClr val="F0FDF4">
              <a:alpha val="100000"/>
            </a:srgbClr>
          </a:solidFill>
          <a:ln w="12700" cap="flat" cmpd="sng">
            <a:solidFill>
              <a:srgbClr val="BBF7D0">
                <a:alpha val="10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22C55E">
                <a:alpha val="15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34500" y="4572000"/>
            <a:ext cx="889000" cy="8890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8255000" y="5588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应用前景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0" y="6604000"/>
            <a:ext cx="12192000" cy="254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2">
            <a:extLst>
              <a:ext uri="{FF2B5EF4-FFF2-40B4-BE49-F238E27FC236}">
                <a16:creationId xmlns:a16="http://schemas.microsoft.com/office/drawing/2014/main" id="{EE4E9BEB-98DE-643A-24C2-1F963F77EB6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993088" y="4596859"/>
            <a:ext cx="928451" cy="92845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课题来源与研究动机：AI赋能BIPV技术突破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rcRect t="1754" b="1754"/>
          <a:stretch>
            <a:fillRect/>
          </a:stretch>
        </p:blipFill>
        <p:spPr>
          <a:xfrm>
            <a:off x="762000" y="1397000"/>
            <a:ext cx="4318000" cy="2794000"/>
          </a:xfrm>
          <a:prstGeom prst="roundRect">
            <a:avLst>
              <a:gd name="adj" fmla="val 5454"/>
            </a:avLst>
          </a:prstGeom>
          <a:noFill/>
          <a:ln w="25400" cap="flat" cmpd="sng">
            <a:solidFill>
              <a:srgbClr val="22C55E">
                <a:alpha val="100000"/>
              </a:srgbClr>
            </a:solidFill>
            <a:prstDash val="solid"/>
            <a:round/>
          </a:ln>
          <a:effectLst>
            <a:outerShdw blurRad="203200" dist="101600" dir="2700000" algn="tl" rotWithShape="0">
              <a:srgbClr val="000000">
                <a:alpha val="15000"/>
              </a:srgbClr>
            </a:outerShdw>
          </a:effectLst>
        </p:spPr>
      </p:pic>
      <p:sp>
        <p:nvSpPr>
          <p:cNvPr id="6" name="AutoShape 6"/>
          <p:cNvSpPr/>
          <p:nvPr/>
        </p:nvSpPr>
        <p:spPr>
          <a:xfrm>
            <a:off x="762000" y="4445000"/>
            <a:ext cx="4318000" cy="635000"/>
          </a:xfrm>
          <a:prstGeom prst="roundRect">
            <a:avLst>
              <a:gd name="adj" fmla="val 2000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2700000" algn="tl" rotWithShape="0">
              <a:srgbClr val="22C55E">
                <a:alpha val="30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核心目标：精准预测 · 加速研发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588000" y="1397000"/>
            <a:ext cx="5842000" cy="1397000"/>
          </a:xfrm>
          <a:prstGeom prst="roundRect">
            <a:avLst>
              <a:gd name="adj" fmla="val 9090"/>
            </a:avLst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5588000" y="1397000"/>
            <a:ext cx="76200" cy="1397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5918200" y="1651000"/>
            <a:ext cx="889000" cy="889000"/>
          </a:xfrm>
          <a:prstGeom prst="ellipse">
            <a:avLst/>
          </a:prstGeom>
          <a:solidFill>
            <a:srgbClr val="22C55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08700" y="1841500"/>
            <a:ext cx="508000" cy="508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6985000" y="1524000"/>
            <a:ext cx="4254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背景：BIPV与LSC技术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LSC作为第三代光伏核心，能将建筑表面转化为发电单元，兼具美学与低成本优势，是BIPV发展的关键路径。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5588000" y="3048000"/>
            <a:ext cx="5842000" cy="1397000"/>
          </a:xfrm>
          <a:prstGeom prst="roundRect">
            <a:avLst>
              <a:gd name="adj" fmla="val 9090"/>
            </a:avLst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5588000" y="3048000"/>
            <a:ext cx="76200" cy="1397000"/>
          </a:xfrm>
          <a:prstGeom prst="roundRect">
            <a:avLst>
              <a:gd name="adj" fmla="val 0"/>
            </a:avLst>
          </a:prstGeom>
          <a:solidFill>
            <a:srgbClr val="F59E0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5918200" y="3302000"/>
            <a:ext cx="889000" cy="889000"/>
          </a:xfrm>
          <a:prstGeom prst="ellipse">
            <a:avLst/>
          </a:prstGeom>
          <a:solidFill>
            <a:srgbClr val="F59E0B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08700" y="3492500"/>
            <a:ext cx="508000" cy="5080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6985000" y="3175000"/>
            <a:ext cx="4254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挑战：多因素耦合预测难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光学效率受材料、基质等多因素影响，传统物理模型建模复杂且精度有限，导致研发周期漫长，试错成本高昂。</a:t>
            </a:r>
          </a:p>
        </p:txBody>
      </p:sp>
      <p:sp>
        <p:nvSpPr>
          <p:cNvPr id="17" name="AutoShape 17"/>
          <p:cNvSpPr/>
          <p:nvPr/>
        </p:nvSpPr>
        <p:spPr>
          <a:xfrm>
            <a:off x="5588000" y="4699000"/>
            <a:ext cx="5842000" cy="1397000"/>
          </a:xfrm>
          <a:prstGeom prst="roundRect">
            <a:avLst>
              <a:gd name="adj" fmla="val 9090"/>
            </a:avLst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5588000" y="4699000"/>
            <a:ext cx="76200" cy="1397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5918200" y="4953000"/>
            <a:ext cx="889000" cy="889000"/>
          </a:xfrm>
          <a:prstGeom prst="ellipse">
            <a:avLst/>
          </a:prstGeom>
          <a:solidFill>
            <a:srgbClr val="22C55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108700" y="5143500"/>
            <a:ext cx="508000" cy="5080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6985000" y="4826000"/>
            <a:ext cx="4254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动机：数据驱动加速研发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引入机器学习构建数据驱动模型，通过学习海量实验数据快速预测未知器件效率，大幅缩短新材料筛选与优化周期。</a:t>
            </a:r>
          </a:p>
        </p:txBody>
      </p:sp>
      <p:sp>
        <p:nvSpPr>
          <p:cNvPr id="22" name="AutoShape 22"/>
          <p:cNvSpPr/>
          <p:nvPr/>
        </p:nvSpPr>
        <p:spPr>
          <a:xfrm>
            <a:off x="762000" y="6286500"/>
            <a:ext cx="10668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1020" t="1086" r="1020" b="108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国内外研究现状：机器学习驱动的LSC性能预测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5207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190500" dist="76200" dir="2700000" algn="tl" rotWithShape="0">
              <a:srgbClr val="22C55E">
                <a:alpha val="18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9500" y="1841500"/>
            <a:ext cx="457200" cy="4572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714500" y="18034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André et al. (2024)</a:t>
            </a:r>
            <a:endParaRPr lang="en-US" sz="1100" dirty="0"/>
          </a:p>
        </p:txBody>
      </p:sp>
      <p:sp>
        <p:nvSpPr>
          <p:cNvPr id="8" name="AutoShape 8"/>
          <p:cNvSpPr/>
          <p:nvPr/>
        </p:nvSpPr>
        <p:spPr>
          <a:xfrm>
            <a:off x="1079500" y="2413000"/>
            <a:ext cx="457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首次尝试使用人工神经网络(ANN)预测LSC光学效率，成功验证了数据驱动方法的可行性与潜力。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223000" y="1524000"/>
            <a:ext cx="5207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190500" dist="76200" dir="2700000" algn="tl" rotWithShape="0">
              <a:srgbClr val="22C55E">
                <a:alpha val="18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40500" y="1841500"/>
            <a:ext cx="457200" cy="4572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7175500" y="18034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Ferreira et al. (2024)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540500" y="2413000"/>
            <a:ext cx="457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对比RF与XGBoost等集成算法，发现XGBoost在预测精度上表现最优，提供了更可靠的模型选择依据。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62000" y="3810000"/>
            <a:ext cx="10668000" cy="1397000"/>
          </a:xfrm>
          <a:prstGeom prst="roundRect">
            <a:avLst>
              <a:gd name="adj" fmla="val 9090"/>
            </a:avLst>
          </a:prstGeom>
          <a:gradFill rotWithShape="1">
            <a:gsLst>
              <a:gs pos="0">
                <a:srgbClr val="22C55E">
                  <a:alpha val="100000"/>
                </a:srgbClr>
              </a:gs>
              <a:gs pos="100000">
                <a:srgbClr val="15803D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  <a:effectLst>
            <a:outerShdw blurRad="254000" dist="101600" dir="2700000" algn="tl" rotWithShape="0">
              <a:srgbClr val="22C55E">
                <a:alpha val="30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43000" y="4165600"/>
            <a:ext cx="558800" cy="558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905000" y="3962400"/>
            <a:ext cx="9271000" cy="1092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5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当前ML在LSC预测中潜力巨大，但系统性与泛化性探讨不足。本研究将基于现有成果，致力于构建一个</a:t>
            </a: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更鲁棒、更易用的通用预测工具</a:t>
            </a:r>
            <a:r>
              <a:rPr lang="en-US" sz="15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0" y="6604000"/>
            <a:ext cx="12192000" cy="254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3125" t="3125" r="3125" b="312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研究目标与内容：构建高精度LSC光学效率预测模型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284263" y="1634247"/>
            <a:ext cx="3556000" cy="4064000"/>
          </a:xfrm>
          <a:prstGeom prst="roundRect">
            <a:avLst>
              <a:gd name="adj" fmla="val 357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76200" dir="2700000" algn="tl" rotWithShape="0">
              <a:srgbClr val="22C55E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284263" y="1634247"/>
            <a:ext cx="3556000" cy="762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57463" y="2015247"/>
            <a:ext cx="609600" cy="6096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538263" y="2777247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总体目标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538263" y="3285247"/>
            <a:ext cx="3048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构建基于公开实验数据的高精度LSC光学效率预测模型，封装为可复用工具，为实验室新材料研发提供数据驱动的决策支持。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348263" y="1634247"/>
            <a:ext cx="3556000" cy="4064000"/>
          </a:xfrm>
          <a:prstGeom prst="roundRect">
            <a:avLst>
              <a:gd name="adj" fmla="val 357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76200" dir="2700000" algn="tl" rotWithShape="0">
              <a:srgbClr val="22C55E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4348263" y="1634247"/>
            <a:ext cx="3556000" cy="762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21463" y="2015247"/>
            <a:ext cx="609600" cy="609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4602263" y="2777247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数据准备与特征工程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602263" y="3285247"/>
            <a:ext cx="3048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收集清洗公开LSC数据集，解决噪声与缺失值；筛选关键物理化学特征，归一化构建高质量矩阵。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412263" y="1634247"/>
            <a:ext cx="3556000" cy="4064000"/>
          </a:xfrm>
          <a:prstGeom prst="roundRect">
            <a:avLst>
              <a:gd name="adj" fmla="val 357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76200" dir="2700000" algn="tl" rotWithShape="0">
              <a:srgbClr val="22C55E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8412263" y="1634247"/>
            <a:ext cx="3556000" cy="762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885463" y="2015247"/>
            <a:ext cx="609600" cy="6096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8666263" y="2777247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模型构建、验证与封装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666263" y="3285247"/>
            <a:ext cx="3048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对比随机森林、XGBoost及神经网络，评估精度锁定最优模型；网格搜索调优，独立测试集验证泛化能力。将全流程封装为Pipeline，实现对新样品光学效率的一键式预测。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0" y="6223000"/>
            <a:ext cx="12192000" cy="6350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0" y="62230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构建科学严谨的研发支持体系，加速新材料迭代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99B4CB-F1BD-D493-F090-8B1440B0E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8B126BB3-6BC6-9539-76D3-03038ACF9C2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41" t="2961" r="2941" b="296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>
            <a:extLst>
              <a:ext uri="{FF2B5EF4-FFF2-40B4-BE49-F238E27FC236}">
                <a16:creationId xmlns:a16="http://schemas.microsoft.com/office/drawing/2014/main" id="{3580D18A-0EE8-F54F-60B8-6E7BEE3F2FD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29744CC8-40A2-C384-C7A8-78078254EF14}"/>
              </a:ext>
            </a:extLst>
          </p:cNvPr>
          <p:cNvSpPr/>
          <p:nvPr/>
        </p:nvSpPr>
        <p:spPr>
          <a:xfrm>
            <a:off x="0" y="1016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altLang="zh-CN" sz="4800" b="1" i="0" u="none" strike="noStrike" dirty="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 dirty="0"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1D608550-FC47-1B34-1469-BC6E0F2B2C19}"/>
              </a:ext>
            </a:extLst>
          </p:cNvPr>
          <p:cNvSpPr/>
          <p:nvPr/>
        </p:nvSpPr>
        <p:spPr>
          <a:xfrm>
            <a:off x="0" y="19050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altLang="zh-CN" sz="3200" b="1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研究方案与技术路线</a:t>
            </a:r>
            <a:endParaRPr lang="en-US" altLang="zh-CN" sz="1050" dirty="0"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0B98063C-3BB2-206F-21AD-8DE316D4A899}"/>
              </a:ext>
            </a:extLst>
          </p:cNvPr>
          <p:cNvSpPr/>
          <p:nvPr/>
        </p:nvSpPr>
        <p:spPr>
          <a:xfrm>
            <a:off x="5715000" y="2794000"/>
            <a:ext cx="762000" cy="76200"/>
          </a:xfrm>
          <a:prstGeom prst="roundRect">
            <a:avLst>
              <a:gd name="adj" fmla="val 5000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9F8C2B4A-945C-949B-F05A-0BB2FD9543E6}"/>
              </a:ext>
            </a:extLst>
          </p:cNvPr>
          <p:cNvSpPr/>
          <p:nvPr/>
        </p:nvSpPr>
        <p:spPr>
          <a:xfrm>
            <a:off x="1651000" y="3175000"/>
            <a:ext cx="889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altLang="zh-CN" sz="1600" dirty="0" err="1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系统化的技术路径</a:t>
            </a:r>
            <a:r>
              <a:rPr lang="en-US" altLang="zh-CN" sz="1600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en-US" altLang="zh-CN" sz="1600" dirty="0" err="1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严谨的研究逻辑</a:t>
            </a:r>
            <a:r>
              <a:rPr lang="en-US" altLang="zh-CN" sz="1600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en-US" altLang="zh-CN" sz="1600" dirty="0" err="1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可靠的创新成果</a:t>
            </a:r>
            <a:endParaRPr lang="en-US" altLang="zh-CN" sz="1100" dirty="0"/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D45A7629-CF63-10AA-15E2-E27860CC1E69}"/>
              </a:ext>
            </a:extLst>
          </p:cNvPr>
          <p:cNvSpPr/>
          <p:nvPr/>
        </p:nvSpPr>
        <p:spPr>
          <a:xfrm>
            <a:off x="762000" y="4318000"/>
            <a:ext cx="3302000" cy="1778000"/>
          </a:xfrm>
          <a:prstGeom prst="roundRect">
            <a:avLst>
              <a:gd name="adj" fmla="val 7142"/>
            </a:avLst>
          </a:prstGeom>
          <a:solidFill>
            <a:srgbClr val="F0FDF4">
              <a:alpha val="100000"/>
            </a:srgbClr>
          </a:solidFill>
          <a:ln w="12700" cap="flat" cmpd="sng">
            <a:solidFill>
              <a:srgbClr val="BBF7D0">
                <a:alpha val="10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22C55E">
                <a:alpha val="15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0" name="AutoShape 10">
            <a:extLst>
              <a:ext uri="{FF2B5EF4-FFF2-40B4-BE49-F238E27FC236}">
                <a16:creationId xmlns:a16="http://schemas.microsoft.com/office/drawing/2014/main" id="{B4F37647-0DC6-479F-CF8A-79DB3C1C8239}"/>
              </a:ext>
            </a:extLst>
          </p:cNvPr>
          <p:cNvSpPr/>
          <p:nvPr/>
        </p:nvSpPr>
        <p:spPr>
          <a:xfrm>
            <a:off x="889000" y="5588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1600" b="1" dirty="0">
                <a:solidFill>
                  <a:srgbClr val="1F2937"/>
                </a:solidFill>
                <a:latin typeface="Noto Sans SC"/>
                <a:ea typeface="Noto Sans SC"/>
                <a:sym typeface="Noto Sans SC"/>
              </a:rPr>
              <a:t>理论构建</a:t>
            </a:r>
            <a:endParaRPr lang="en-US" sz="1100" dirty="0"/>
          </a:p>
        </p:txBody>
      </p:sp>
      <p:sp>
        <p:nvSpPr>
          <p:cNvPr id="11" name="AutoShape 11">
            <a:extLst>
              <a:ext uri="{FF2B5EF4-FFF2-40B4-BE49-F238E27FC236}">
                <a16:creationId xmlns:a16="http://schemas.microsoft.com/office/drawing/2014/main" id="{93D08C8D-24F8-0588-3B87-F24A1F441C74}"/>
              </a:ext>
            </a:extLst>
          </p:cNvPr>
          <p:cNvSpPr/>
          <p:nvPr/>
        </p:nvSpPr>
        <p:spPr>
          <a:xfrm>
            <a:off x="4445000" y="4318000"/>
            <a:ext cx="3302000" cy="1778000"/>
          </a:xfrm>
          <a:prstGeom prst="roundRect">
            <a:avLst>
              <a:gd name="adj" fmla="val 7142"/>
            </a:avLst>
          </a:prstGeom>
          <a:solidFill>
            <a:srgbClr val="F0FDF4">
              <a:alpha val="100000"/>
            </a:srgbClr>
          </a:solidFill>
          <a:ln w="12700" cap="flat" cmpd="sng">
            <a:solidFill>
              <a:srgbClr val="BBF7D0">
                <a:alpha val="10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22C55E">
                <a:alpha val="15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3" name="AutoShape 13">
            <a:extLst>
              <a:ext uri="{FF2B5EF4-FFF2-40B4-BE49-F238E27FC236}">
                <a16:creationId xmlns:a16="http://schemas.microsoft.com/office/drawing/2014/main" id="{B3AEAAEA-622D-16A6-6E0A-9F9223762F1D}"/>
              </a:ext>
            </a:extLst>
          </p:cNvPr>
          <p:cNvSpPr/>
          <p:nvPr/>
        </p:nvSpPr>
        <p:spPr>
          <a:xfrm>
            <a:off x="4572000" y="5588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1600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核心算法</a:t>
            </a:r>
            <a:endParaRPr lang="en-US" sz="1100" dirty="0"/>
          </a:p>
        </p:txBody>
      </p:sp>
      <p:sp>
        <p:nvSpPr>
          <p:cNvPr id="14" name="AutoShape 14">
            <a:extLst>
              <a:ext uri="{FF2B5EF4-FFF2-40B4-BE49-F238E27FC236}">
                <a16:creationId xmlns:a16="http://schemas.microsoft.com/office/drawing/2014/main" id="{C7C3D4A4-4EA8-61C8-FA53-0A8C37F61F13}"/>
              </a:ext>
            </a:extLst>
          </p:cNvPr>
          <p:cNvSpPr/>
          <p:nvPr/>
        </p:nvSpPr>
        <p:spPr>
          <a:xfrm>
            <a:off x="8128000" y="4318000"/>
            <a:ext cx="3302000" cy="1778000"/>
          </a:xfrm>
          <a:prstGeom prst="roundRect">
            <a:avLst>
              <a:gd name="adj" fmla="val 7142"/>
            </a:avLst>
          </a:prstGeom>
          <a:solidFill>
            <a:srgbClr val="F0FDF4">
              <a:alpha val="100000"/>
            </a:srgbClr>
          </a:solidFill>
          <a:ln w="12700" cap="flat" cmpd="sng">
            <a:solidFill>
              <a:srgbClr val="BBF7D0">
                <a:alpha val="10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22C55E">
                <a:alpha val="15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B8B131AE-4A2C-5BB8-ED4C-7673FFABBCEA}"/>
              </a:ext>
            </a:extLst>
          </p:cNvPr>
          <p:cNvSpPr/>
          <p:nvPr/>
        </p:nvSpPr>
        <p:spPr>
          <a:xfrm>
            <a:off x="8255000" y="5588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1600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实验验证</a:t>
            </a:r>
            <a:endParaRPr lang="en-US" sz="1100" dirty="0"/>
          </a:p>
        </p:txBody>
      </p:sp>
      <p:sp>
        <p:nvSpPr>
          <p:cNvPr id="17" name="AutoShape 17">
            <a:extLst>
              <a:ext uri="{FF2B5EF4-FFF2-40B4-BE49-F238E27FC236}">
                <a16:creationId xmlns:a16="http://schemas.microsoft.com/office/drawing/2014/main" id="{9D1100C9-260B-8CB4-222C-FD73330222F5}"/>
              </a:ext>
            </a:extLst>
          </p:cNvPr>
          <p:cNvSpPr/>
          <p:nvPr/>
        </p:nvSpPr>
        <p:spPr>
          <a:xfrm>
            <a:off x="0" y="6604000"/>
            <a:ext cx="12192000" cy="254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8">
            <a:extLst>
              <a:ext uri="{FF2B5EF4-FFF2-40B4-BE49-F238E27FC236}">
                <a16:creationId xmlns:a16="http://schemas.microsoft.com/office/drawing/2014/main" id="{B44F396F-E992-C7E9-70E1-EA166F9F4E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07660" y="4846536"/>
            <a:ext cx="609600" cy="609600"/>
          </a:xfrm>
          <a:prstGeom prst="rect">
            <a:avLst/>
          </a:prstGeom>
        </p:spPr>
      </p:pic>
      <p:pic>
        <p:nvPicPr>
          <p:cNvPr id="20" name="Picture 13">
            <a:extLst>
              <a:ext uri="{FF2B5EF4-FFF2-40B4-BE49-F238E27FC236}">
                <a16:creationId xmlns:a16="http://schemas.microsoft.com/office/drawing/2014/main" id="{F703F618-0204-E41F-947D-1B63781F5EC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11736" y="4797898"/>
            <a:ext cx="609600" cy="609600"/>
          </a:xfrm>
          <a:prstGeom prst="rect">
            <a:avLst/>
          </a:prstGeom>
        </p:spPr>
      </p:pic>
      <p:pic>
        <p:nvPicPr>
          <p:cNvPr id="21" name="Picture 14">
            <a:extLst>
              <a:ext uri="{FF2B5EF4-FFF2-40B4-BE49-F238E27FC236}">
                <a16:creationId xmlns:a16="http://schemas.microsoft.com/office/drawing/2014/main" id="{0B5D1CBE-3CC3-3AB0-9859-AC709530480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00681" y="4848157"/>
            <a:ext cx="5080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0809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3398" t="3448" r="3398" b="344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基于AI的LSC材料光学效率预测研究框架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206441" y="1270000"/>
            <a:ext cx="3556000" cy="4826000"/>
          </a:xfrm>
          <a:prstGeom prst="roundRect">
            <a:avLst>
              <a:gd name="adj" fmla="val 3571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206441" y="1270000"/>
            <a:ext cx="3556000" cy="762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578041" y="1651000"/>
            <a:ext cx="812800" cy="812800"/>
          </a:xfrm>
          <a:prstGeom prst="ellipse">
            <a:avLst/>
          </a:prstGeom>
          <a:solidFill>
            <a:srgbClr val="22C55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30441" y="1803400"/>
            <a:ext cx="508000" cy="508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333441" y="26670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01 数据层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333441" y="3175000"/>
            <a:ext cx="3302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来源：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figshare公共数据仓库</a:t>
            </a:r>
            <a:endParaRPr lang="en-US" sz="1100"/>
          </a:p>
          <a:p>
            <a:pPr indent="0" algn="l">
              <a:lnSpc>
                <a:spcPct val="116666"/>
              </a:lnSpc>
            </a:pP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内容：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236个LSC样品的材料参数、结构特征及实测光学效率数据</a:t>
            </a:r>
          </a:p>
        </p:txBody>
      </p:sp>
      <p:sp>
        <p:nvSpPr>
          <p:cNvPr id="11" name="AutoShape 11"/>
          <p:cNvSpPr/>
          <p:nvPr/>
        </p:nvSpPr>
        <p:spPr>
          <a:xfrm>
            <a:off x="4270441" y="1270000"/>
            <a:ext cx="3556000" cy="4826000"/>
          </a:xfrm>
          <a:prstGeom prst="roundRect">
            <a:avLst>
              <a:gd name="adj" fmla="val 3571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4270441" y="1270000"/>
            <a:ext cx="3556000" cy="762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5642041" y="1651000"/>
            <a:ext cx="812800" cy="812800"/>
          </a:xfrm>
          <a:prstGeom prst="ellipse">
            <a:avLst/>
          </a:prstGeom>
          <a:solidFill>
            <a:srgbClr val="22C55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94441" y="1803400"/>
            <a:ext cx="508000" cy="5080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4397441" y="26670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02 处理层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397441" y="3175000"/>
            <a:ext cx="3302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清洗：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处理非数值字符、缺失值及解析错误</a:t>
            </a:r>
            <a:endParaRPr lang="en-US" sz="1100"/>
          </a:p>
          <a:p>
            <a:pPr indent="0" algn="l">
              <a:lnSpc>
                <a:spcPct val="116666"/>
              </a:lnSpc>
            </a:pP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工程：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特征筛选、数据标准化及独热编码预处理</a:t>
            </a:r>
          </a:p>
        </p:txBody>
      </p:sp>
      <p:sp>
        <p:nvSpPr>
          <p:cNvPr id="17" name="AutoShape 17"/>
          <p:cNvSpPr/>
          <p:nvPr/>
        </p:nvSpPr>
        <p:spPr>
          <a:xfrm>
            <a:off x="8334441" y="1270000"/>
            <a:ext cx="3556000" cy="4826000"/>
          </a:xfrm>
          <a:prstGeom prst="roundRect">
            <a:avLst>
              <a:gd name="adj" fmla="val 3571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8334441" y="1270000"/>
            <a:ext cx="3556000" cy="762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9706041" y="1651000"/>
            <a:ext cx="812800" cy="812800"/>
          </a:xfrm>
          <a:prstGeom prst="ellipse">
            <a:avLst/>
          </a:prstGeom>
          <a:solidFill>
            <a:srgbClr val="22C55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858441" y="1803400"/>
            <a:ext cx="508000" cy="5080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8461441" y="26670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03 模型与应用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8461441" y="3175000"/>
            <a:ext cx="3302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模型：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RF、XGBoost、ANN算法对比，R²评估</a:t>
            </a:r>
            <a:endParaRPr lang="en-US" sz="1100"/>
          </a:p>
          <a:p>
            <a:pPr indent="0" algn="l">
              <a:lnSpc>
                <a:spcPct val="116666"/>
              </a:lnSpc>
            </a:pP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应用：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构建Pipeline封装，特征重要性排序与可视化</a:t>
            </a:r>
          </a:p>
        </p:txBody>
      </p:sp>
      <p:sp>
        <p:nvSpPr>
          <p:cNvPr id="23" name="AutoShape 23"/>
          <p:cNvSpPr/>
          <p:nvPr/>
        </p:nvSpPr>
        <p:spPr>
          <a:xfrm>
            <a:off x="508000" y="6096000"/>
            <a:ext cx="11176000" cy="508000"/>
          </a:xfrm>
          <a:prstGeom prst="roundRect">
            <a:avLst>
              <a:gd name="adj" fmla="val 25000"/>
            </a:avLst>
          </a:prstGeom>
          <a:solidFill>
            <a:srgbClr val="22C55E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💡 核心价值：全流程闭环设计，确保研究的科学性与预测结果的高可靠性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3394" t="3448" r="3491" b="344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数据来源与处理流程：从原始数据到高质量样本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168400"/>
            <a:ext cx="1016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rcRect l="119" r="119"/>
          <a:stretch>
            <a:fillRect/>
          </a:stretch>
        </p:blipFill>
        <p:spPr>
          <a:xfrm>
            <a:off x="762000" y="1524000"/>
            <a:ext cx="5080000" cy="1905000"/>
          </a:xfrm>
          <a:prstGeom prst="roundRect">
            <a:avLst>
              <a:gd name="adj" fmla="val 6666"/>
            </a:avLst>
          </a:prstGeom>
          <a:noFill/>
          <a:ln w="25400" cap="flat" cmpd="sng">
            <a:solidFill>
              <a:srgbClr val="22C55E">
                <a:alpha val="100000"/>
              </a:srgbClr>
            </a:solidFill>
            <a:prstDash val="solid"/>
            <a:round/>
          </a:ln>
          <a:effectLst>
            <a:outerShdw blurRad="101600" dist="50800" dir="2700000" algn="tl" rotWithShape="0">
              <a:srgbClr val="22C55E">
                <a:alpha val="15000"/>
              </a:srgbClr>
            </a:outerShdw>
          </a:effectLst>
        </p:spPr>
      </p:pic>
      <p:sp>
        <p:nvSpPr>
          <p:cNvPr id="7" name="AutoShape 7"/>
          <p:cNvSpPr/>
          <p:nvPr/>
        </p:nvSpPr>
        <p:spPr>
          <a:xfrm>
            <a:off x="762000" y="3556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065F46"/>
                </a:solidFill>
                <a:latin typeface="Noto Sans SC"/>
                <a:ea typeface="Noto Sans SC"/>
                <a:cs typeface="Noto Sans SC"/>
                <a:sym typeface="Noto Sans SC"/>
              </a:rPr>
              <a:t>图1：数据全链路处理示意（采集→清洗→存储→应用）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4191000"/>
            <a:ext cx="2413000" cy="1778000"/>
          </a:xfrm>
          <a:prstGeom prst="roundRect">
            <a:avLst>
              <a:gd name="adj" fmla="val 7142"/>
            </a:avLst>
          </a:prstGeom>
          <a:solidFill>
            <a:srgbClr val="FEF2F2">
              <a:alpha val="100000"/>
            </a:srgbClr>
          </a:solidFill>
          <a:ln w="12700" cap="flat" cmpd="sng">
            <a:solidFill>
              <a:srgbClr val="FCA5A5">
                <a:alpha val="100000"/>
              </a:srgbClr>
            </a:solidFill>
            <a:prstDash val="solid"/>
            <a:round/>
          </a:ln>
          <a:effectLst>
            <a:outerShdw blurRad="508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44450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524000" y="4470400"/>
            <a:ext cx="152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清洗前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89000" y="4953000"/>
            <a:ext cx="215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236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200" b="1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原始样本数 (193/43)</a:t>
            </a:r>
          </a:p>
        </p:txBody>
      </p:sp>
      <p:sp>
        <p:nvSpPr>
          <p:cNvPr id="12" name="AutoShape 12"/>
          <p:cNvSpPr/>
          <p:nvPr/>
        </p:nvSpPr>
        <p:spPr>
          <a:xfrm>
            <a:off x="3429000" y="4191000"/>
            <a:ext cx="2413000" cy="1778000"/>
          </a:xfrm>
          <a:prstGeom prst="roundRect">
            <a:avLst>
              <a:gd name="adj" fmla="val 7142"/>
            </a:avLst>
          </a:prstGeom>
          <a:solidFill>
            <a:srgbClr val="F0FDF4">
              <a:alpha val="100000"/>
            </a:srgbClr>
          </a:solidFill>
          <a:ln w="12700" cap="flat" cmpd="sng">
            <a:solidFill>
              <a:srgbClr val="86EFAC">
                <a:alpha val="100000"/>
              </a:srgbClr>
            </a:solidFill>
            <a:prstDash val="solid"/>
            <a:round/>
          </a:ln>
          <a:effectLst>
            <a:outerShdw blurRad="508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683000" y="44450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4191000" y="4470400"/>
            <a:ext cx="152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清洗后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3556000" y="4953000"/>
            <a:ext cx="215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233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200" b="1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有效样本数 (191/42)</a:t>
            </a:r>
          </a:p>
        </p:txBody>
      </p:sp>
      <p:sp>
        <p:nvSpPr>
          <p:cNvPr id="16" name="AutoShape 16"/>
          <p:cNvSpPr/>
          <p:nvPr/>
        </p:nvSpPr>
        <p:spPr>
          <a:xfrm>
            <a:off x="6350000" y="1524000"/>
            <a:ext cx="5080000" cy="1524000"/>
          </a:xfrm>
          <a:prstGeom prst="roundRect">
            <a:avLst>
              <a:gd name="adj" fmla="val 8333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04000" y="17780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7112000" y="1714500"/>
            <a:ext cx="431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权威数据源引用 (André et al. 2024)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数据源自figshare公开数据集，包含236个样本，严格划分为训练集与独立测试集。</a:t>
            </a:r>
          </a:p>
        </p:txBody>
      </p:sp>
      <p:sp>
        <p:nvSpPr>
          <p:cNvPr id="19" name="AutoShape 19"/>
          <p:cNvSpPr/>
          <p:nvPr/>
        </p:nvSpPr>
        <p:spPr>
          <a:xfrm>
            <a:off x="6350000" y="3302000"/>
            <a:ext cx="5080000" cy="3175000"/>
          </a:xfrm>
          <a:prstGeom prst="roundRect">
            <a:avLst>
              <a:gd name="adj" fmla="val 4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6604000" y="35560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65F46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核心清洗步骤 (Key Steps)</a:t>
            </a:r>
            <a:endParaRPr lang="en-US" sz="1100"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604000" y="4127500"/>
            <a:ext cx="254000" cy="2540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6985000" y="4089400"/>
            <a:ext cx="431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01. 问题识别：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原始数据存在数值与引用混合、字段解析错位及缺失值问题。</a:t>
            </a:r>
            <a:endParaRPr lang="en-US" sz="1100"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604000" y="4826000"/>
            <a:ext cx="254000" cy="2540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6985000" y="4787900"/>
            <a:ext cx="431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02. 深度清洗：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正则提取纯数值；缺失值填充为"unknown"；修正含逗号字段。</a:t>
            </a:r>
            <a:endParaRPr lang="en-US" sz="1100"/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604000" y="5524500"/>
            <a:ext cx="254000" cy="2540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6985000" y="5486400"/>
            <a:ext cx="431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03. 结果产出：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获得高质量有效样本，保障模型训练可靠性。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3846" t="3767" r="3846" b="376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0FDF4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模型选择与评估指标体系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5207000" cy="4826000"/>
          </a:xfrm>
          <a:prstGeom prst="roundRect">
            <a:avLst>
              <a:gd name="adj" fmla="val 3157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101600" dir="2700000" algn="tl" rotWithShape="0">
              <a:srgbClr val="22C55E">
                <a:alpha val="15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79500" y="17145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▌ 主流模型选型对比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79500" y="2349500"/>
            <a:ext cx="711200" cy="711200"/>
          </a:xfrm>
          <a:prstGeom prst="ellipse">
            <a:avLst/>
          </a:prstGeom>
          <a:solidFill>
            <a:srgbClr val="DCFCE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31900" y="25019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968500" y="2311400"/>
            <a:ext cx="3683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随机森林 (Random Forest)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集成学习算法，泛化能力强，不易过拟合，具备良好的可解释性。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1079500" y="3429000"/>
            <a:ext cx="711200" cy="711200"/>
          </a:xfrm>
          <a:prstGeom prst="ellipse">
            <a:avLst/>
          </a:prstGeom>
          <a:solidFill>
            <a:srgbClr val="DCFCE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31900" y="35814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968500" y="3390900"/>
            <a:ext cx="3683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XGBoost (Extreme Gradient Boosting)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高效梯度提升算法，竞赛常用模型，优化了正则项，预测精度极高。</a:t>
            </a:r>
          </a:p>
        </p:txBody>
      </p:sp>
      <p:sp>
        <p:nvSpPr>
          <p:cNvPr id="13" name="AutoShape 13"/>
          <p:cNvSpPr/>
          <p:nvPr/>
        </p:nvSpPr>
        <p:spPr>
          <a:xfrm>
            <a:off x="1079500" y="4508500"/>
            <a:ext cx="711200" cy="711200"/>
          </a:xfrm>
          <a:prstGeom prst="ellipse">
            <a:avLst/>
          </a:prstGeom>
          <a:solidFill>
            <a:srgbClr val="DCFCE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31900" y="46609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968500" y="4470400"/>
            <a:ext cx="3683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人工神经网络 (ANN)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具备强大的非线性拟合能力，用于深度挖掘数据特征与潜在规律。</a:t>
            </a:r>
          </a:p>
        </p:txBody>
      </p:sp>
      <p:sp>
        <p:nvSpPr>
          <p:cNvPr id="16" name="AutoShape 16"/>
          <p:cNvSpPr/>
          <p:nvPr/>
        </p:nvSpPr>
        <p:spPr>
          <a:xfrm>
            <a:off x="6223000" y="1397000"/>
            <a:ext cx="5207000" cy="4826000"/>
          </a:xfrm>
          <a:prstGeom prst="roundRect">
            <a:avLst>
              <a:gd name="adj" fmla="val 3157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101600" dir="2700000" algn="tl" rotWithShape="0">
              <a:srgbClr val="22C55E">
                <a:alpha val="15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6540500" y="17145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▌ 核心评估指标体系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540500" y="2349500"/>
            <a:ext cx="711200" cy="711200"/>
          </a:xfrm>
          <a:prstGeom prst="ellipse">
            <a:avLst/>
          </a:prstGeom>
          <a:solidFill>
            <a:srgbClr val="DCFCE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92900" y="2501900"/>
            <a:ext cx="406400" cy="4064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7429500" y="2311400"/>
            <a:ext cx="3683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决定系数 (R-squared, R²)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衡量模型对数据变异的解释程度，越接近1表示模型拟合效果越好。</a:t>
            </a:r>
          </a:p>
        </p:txBody>
      </p:sp>
      <p:sp>
        <p:nvSpPr>
          <p:cNvPr id="21" name="AutoShape 21"/>
          <p:cNvSpPr/>
          <p:nvPr/>
        </p:nvSpPr>
        <p:spPr>
          <a:xfrm>
            <a:off x="6540500" y="3429000"/>
            <a:ext cx="711200" cy="711200"/>
          </a:xfrm>
          <a:prstGeom prst="ellipse">
            <a:avLst/>
          </a:prstGeom>
          <a:solidFill>
            <a:srgbClr val="DCFCE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692900" y="3581400"/>
            <a:ext cx="406400" cy="4064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7429500" y="3390900"/>
            <a:ext cx="3683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均方根误差 (RMSE)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衡量预测值与真实值之间的偏差大小，对异常值较为敏感，数值越小越优。</a:t>
            </a:r>
          </a:p>
        </p:txBody>
      </p:sp>
      <p:sp>
        <p:nvSpPr>
          <p:cNvPr id="24" name="AutoShape 24"/>
          <p:cNvSpPr/>
          <p:nvPr/>
        </p:nvSpPr>
        <p:spPr>
          <a:xfrm>
            <a:off x="6540500" y="4508500"/>
            <a:ext cx="711200" cy="711200"/>
          </a:xfrm>
          <a:prstGeom prst="ellipse">
            <a:avLst/>
          </a:prstGeom>
          <a:solidFill>
            <a:srgbClr val="DCFCE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692900" y="4660900"/>
            <a:ext cx="406400" cy="4064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7429500" y="4470400"/>
            <a:ext cx="3683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平均绝对误差 (MAE)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反映预测误差的实际物理单位，对异常值鲁棒性较好，直观展示误差量级。</a:t>
            </a:r>
          </a:p>
        </p:txBody>
      </p:sp>
      <p:sp>
        <p:nvSpPr>
          <p:cNvPr id="27" name="AutoShape 27"/>
          <p:cNvSpPr/>
          <p:nvPr/>
        </p:nvSpPr>
        <p:spPr>
          <a:xfrm>
            <a:off x="0" y="6781800"/>
            <a:ext cx="12192000" cy="762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7AD3D2-073C-4B80-96B9-12F942129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192F7B90-C1FD-BA07-087F-AB938F6A999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41" t="2961" r="2941" b="296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>
            <a:extLst>
              <a:ext uri="{FF2B5EF4-FFF2-40B4-BE49-F238E27FC236}">
                <a16:creationId xmlns:a16="http://schemas.microsoft.com/office/drawing/2014/main" id="{E9DA8083-3D3C-ECC6-032B-284D1DE3AA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1B306726-F284-3AEB-012D-89A997526857}"/>
              </a:ext>
            </a:extLst>
          </p:cNvPr>
          <p:cNvSpPr/>
          <p:nvPr/>
        </p:nvSpPr>
        <p:spPr>
          <a:xfrm>
            <a:off x="0" y="1016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altLang="zh-CN" sz="4800" b="1" i="0" u="none" strike="noStrike" dirty="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 dirty="0"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9ED8DD56-BAE7-9632-5A5E-2F3578769027}"/>
              </a:ext>
            </a:extLst>
          </p:cNvPr>
          <p:cNvSpPr/>
          <p:nvPr/>
        </p:nvSpPr>
        <p:spPr>
          <a:xfrm>
            <a:off x="0" y="19050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altLang="zh-CN" sz="3200" b="1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已完成工作与关键突破</a:t>
            </a:r>
            <a:endParaRPr lang="en-US" altLang="zh-CN" sz="1050" dirty="0"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5B98753F-958A-27A3-2260-0AAD34FB4381}"/>
              </a:ext>
            </a:extLst>
          </p:cNvPr>
          <p:cNvSpPr/>
          <p:nvPr/>
        </p:nvSpPr>
        <p:spPr>
          <a:xfrm>
            <a:off x="5715000" y="2794000"/>
            <a:ext cx="762000" cy="76200"/>
          </a:xfrm>
          <a:prstGeom prst="roundRect">
            <a:avLst>
              <a:gd name="adj" fmla="val 5000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82F2D44F-B5EA-CC23-370A-1B47BD89523B}"/>
              </a:ext>
            </a:extLst>
          </p:cNvPr>
          <p:cNvSpPr/>
          <p:nvPr/>
        </p:nvSpPr>
        <p:spPr>
          <a:xfrm>
            <a:off x="1651000" y="3175000"/>
            <a:ext cx="889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1600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已完成既定研究内容，核心指标表现优异，研究进展顺利，为后续工作奠定了坚实基础。</a:t>
            </a:r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217C4404-239D-0119-4DDB-88CA469A7B40}"/>
              </a:ext>
            </a:extLst>
          </p:cNvPr>
          <p:cNvSpPr/>
          <p:nvPr/>
        </p:nvSpPr>
        <p:spPr>
          <a:xfrm>
            <a:off x="762000" y="4318000"/>
            <a:ext cx="3302000" cy="1778000"/>
          </a:xfrm>
          <a:prstGeom prst="roundRect">
            <a:avLst>
              <a:gd name="adj" fmla="val 7142"/>
            </a:avLst>
          </a:prstGeom>
          <a:solidFill>
            <a:srgbClr val="F0FDF4">
              <a:alpha val="100000"/>
            </a:srgbClr>
          </a:solidFill>
          <a:ln w="12700" cap="flat" cmpd="sng">
            <a:solidFill>
              <a:srgbClr val="BBF7D0">
                <a:alpha val="10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22C55E">
                <a:alpha val="15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0" name="AutoShape 10">
            <a:extLst>
              <a:ext uri="{FF2B5EF4-FFF2-40B4-BE49-F238E27FC236}">
                <a16:creationId xmlns:a16="http://schemas.microsoft.com/office/drawing/2014/main" id="{3F7EC5CE-2B9D-569C-9290-84E59A01AF4B}"/>
              </a:ext>
            </a:extLst>
          </p:cNvPr>
          <p:cNvSpPr/>
          <p:nvPr/>
        </p:nvSpPr>
        <p:spPr>
          <a:xfrm>
            <a:off x="889000" y="5588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1600" b="1" dirty="0">
                <a:solidFill>
                  <a:srgbClr val="1F2937"/>
                </a:solidFill>
                <a:latin typeface="Noto Sans SC"/>
                <a:ea typeface="Noto Sans SC"/>
                <a:sym typeface="Noto Sans SC"/>
              </a:rPr>
              <a:t>理论构建</a:t>
            </a:r>
            <a:endParaRPr lang="en-US" sz="1100" dirty="0"/>
          </a:p>
        </p:txBody>
      </p:sp>
      <p:sp>
        <p:nvSpPr>
          <p:cNvPr id="11" name="AutoShape 11">
            <a:extLst>
              <a:ext uri="{FF2B5EF4-FFF2-40B4-BE49-F238E27FC236}">
                <a16:creationId xmlns:a16="http://schemas.microsoft.com/office/drawing/2014/main" id="{A35480C6-2067-96DD-0B58-184FA8B3D083}"/>
              </a:ext>
            </a:extLst>
          </p:cNvPr>
          <p:cNvSpPr/>
          <p:nvPr/>
        </p:nvSpPr>
        <p:spPr>
          <a:xfrm>
            <a:off x="4445000" y="4318000"/>
            <a:ext cx="3302000" cy="1778000"/>
          </a:xfrm>
          <a:prstGeom prst="roundRect">
            <a:avLst>
              <a:gd name="adj" fmla="val 7142"/>
            </a:avLst>
          </a:prstGeom>
          <a:solidFill>
            <a:srgbClr val="F0FDF4">
              <a:alpha val="100000"/>
            </a:srgbClr>
          </a:solidFill>
          <a:ln w="12700" cap="flat" cmpd="sng">
            <a:solidFill>
              <a:srgbClr val="BBF7D0">
                <a:alpha val="10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22C55E">
                <a:alpha val="15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3" name="AutoShape 13">
            <a:extLst>
              <a:ext uri="{FF2B5EF4-FFF2-40B4-BE49-F238E27FC236}">
                <a16:creationId xmlns:a16="http://schemas.microsoft.com/office/drawing/2014/main" id="{ABC1414B-75B8-F2C7-CA55-101422885EB3}"/>
              </a:ext>
            </a:extLst>
          </p:cNvPr>
          <p:cNvSpPr/>
          <p:nvPr/>
        </p:nvSpPr>
        <p:spPr>
          <a:xfrm>
            <a:off x="4572000" y="5588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1600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核心算法</a:t>
            </a:r>
            <a:endParaRPr lang="en-US" sz="1100" dirty="0"/>
          </a:p>
        </p:txBody>
      </p:sp>
      <p:sp>
        <p:nvSpPr>
          <p:cNvPr id="14" name="AutoShape 14">
            <a:extLst>
              <a:ext uri="{FF2B5EF4-FFF2-40B4-BE49-F238E27FC236}">
                <a16:creationId xmlns:a16="http://schemas.microsoft.com/office/drawing/2014/main" id="{31AD9027-0454-058D-5CD4-A48ADE1B1CEA}"/>
              </a:ext>
            </a:extLst>
          </p:cNvPr>
          <p:cNvSpPr/>
          <p:nvPr/>
        </p:nvSpPr>
        <p:spPr>
          <a:xfrm>
            <a:off x="8128000" y="4318000"/>
            <a:ext cx="3302000" cy="1778000"/>
          </a:xfrm>
          <a:prstGeom prst="roundRect">
            <a:avLst>
              <a:gd name="adj" fmla="val 7142"/>
            </a:avLst>
          </a:prstGeom>
          <a:solidFill>
            <a:srgbClr val="F0FDF4">
              <a:alpha val="100000"/>
            </a:srgbClr>
          </a:solidFill>
          <a:ln w="12700" cap="flat" cmpd="sng">
            <a:solidFill>
              <a:srgbClr val="BBF7D0">
                <a:alpha val="10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22C55E">
                <a:alpha val="15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53FB5773-ACCC-2839-CE16-9EBD255DE35C}"/>
              </a:ext>
            </a:extLst>
          </p:cNvPr>
          <p:cNvSpPr/>
          <p:nvPr/>
        </p:nvSpPr>
        <p:spPr>
          <a:xfrm>
            <a:off x="8255000" y="5588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1600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实验验证</a:t>
            </a:r>
            <a:endParaRPr lang="en-US" sz="1100" dirty="0"/>
          </a:p>
        </p:txBody>
      </p:sp>
      <p:sp>
        <p:nvSpPr>
          <p:cNvPr id="17" name="AutoShape 17">
            <a:extLst>
              <a:ext uri="{FF2B5EF4-FFF2-40B4-BE49-F238E27FC236}">
                <a16:creationId xmlns:a16="http://schemas.microsoft.com/office/drawing/2014/main" id="{D41F75B9-8171-7082-B850-268A748CB595}"/>
              </a:ext>
            </a:extLst>
          </p:cNvPr>
          <p:cNvSpPr/>
          <p:nvPr/>
        </p:nvSpPr>
        <p:spPr>
          <a:xfrm>
            <a:off x="0" y="6604000"/>
            <a:ext cx="12192000" cy="254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8">
            <a:extLst>
              <a:ext uri="{FF2B5EF4-FFF2-40B4-BE49-F238E27FC236}">
                <a16:creationId xmlns:a16="http://schemas.microsoft.com/office/drawing/2014/main" id="{BCA87142-5225-3ED6-5498-C4BF42BD3C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07660" y="4846536"/>
            <a:ext cx="609600" cy="609600"/>
          </a:xfrm>
          <a:prstGeom prst="rect">
            <a:avLst/>
          </a:prstGeom>
        </p:spPr>
      </p:pic>
      <p:pic>
        <p:nvPicPr>
          <p:cNvPr id="20" name="Picture 13">
            <a:extLst>
              <a:ext uri="{FF2B5EF4-FFF2-40B4-BE49-F238E27FC236}">
                <a16:creationId xmlns:a16="http://schemas.microsoft.com/office/drawing/2014/main" id="{FC692A04-19FE-A72B-85AF-CB7A00380ED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11736" y="4797898"/>
            <a:ext cx="609600" cy="609600"/>
          </a:xfrm>
          <a:prstGeom prst="rect">
            <a:avLst/>
          </a:prstGeom>
        </p:spPr>
      </p:pic>
      <p:pic>
        <p:nvPicPr>
          <p:cNvPr id="21" name="Picture 14">
            <a:extLst>
              <a:ext uri="{FF2B5EF4-FFF2-40B4-BE49-F238E27FC236}">
                <a16:creationId xmlns:a16="http://schemas.microsoft.com/office/drawing/2014/main" id="{ECF0E4C5-C404-0B94-19C7-6678E9DE3EE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00681" y="4848157"/>
            <a:ext cx="5080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3954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2000" t="1957" r="2000" b="195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635000" y="584200"/>
            <a:ext cx="76200" cy="4064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838200" y="508000"/>
            <a:ext cx="1016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文献调研与数据处理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35000" y="1524000"/>
            <a:ext cx="3556000" cy="4572000"/>
          </a:xfrm>
          <a:prstGeom prst="roundRect">
            <a:avLst>
              <a:gd name="adj" fmla="val 357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76200" dir="2700000" algn="tl" rotWithShape="0">
              <a:srgbClr val="22C55E">
                <a:alpha val="18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778000" y="1778000"/>
            <a:ext cx="1270000" cy="1270000"/>
          </a:xfrm>
          <a:prstGeom prst="ellipse">
            <a:avLst/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32000" y="2032000"/>
            <a:ext cx="762000" cy="762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762000" y="31750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文献调研与特征锚定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16369">
            <a:off x="1016015" y="3676650"/>
            <a:ext cx="266703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2C55E">
                <a:alpha val="3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1" name="AutoShape 11"/>
          <p:cNvSpPr/>
          <p:nvPr/>
        </p:nvSpPr>
        <p:spPr>
          <a:xfrm>
            <a:off x="825500" y="3937000"/>
            <a:ext cx="3175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检索近5年《Solar Energy》等顶刊论文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锁定影响LSC效率的四大关键特征维度：材料、基质、结构与工艺</a:t>
            </a:r>
          </a:p>
        </p:txBody>
      </p:sp>
      <p:sp>
        <p:nvSpPr>
          <p:cNvPr id="12" name="AutoShape 12"/>
          <p:cNvSpPr/>
          <p:nvPr/>
        </p:nvSpPr>
        <p:spPr>
          <a:xfrm>
            <a:off x="4572000" y="1524000"/>
            <a:ext cx="3556000" cy="4572000"/>
          </a:xfrm>
          <a:prstGeom prst="roundRect">
            <a:avLst>
              <a:gd name="adj" fmla="val 357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76200" dir="2700000" algn="tl" rotWithShape="0">
              <a:srgbClr val="22C55E">
                <a:alpha val="18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5715000" y="1778000"/>
            <a:ext cx="1270000" cy="1270000"/>
          </a:xfrm>
          <a:prstGeom prst="ellipse">
            <a:avLst/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69000" y="2032000"/>
            <a:ext cx="762000" cy="7620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4699000" y="31750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数据获取与深度清洗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16369">
            <a:off x="4953015" y="3676650"/>
            <a:ext cx="266703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2C55E">
                <a:alpha val="3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7" name="AutoShape 17"/>
          <p:cNvSpPr/>
          <p:nvPr/>
        </p:nvSpPr>
        <p:spPr>
          <a:xfrm>
            <a:off x="4762500" y="3937000"/>
            <a:ext cx="3175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痛点：原始数据存在数值污染与缺失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成效：训练集保留率</a:t>
            </a:r>
            <a:r>
              <a:rPr lang="en-US" sz="14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99.0%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，测试集保留率</a:t>
            </a:r>
            <a:r>
              <a:rPr lang="en-US" sz="14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97.7%</a:t>
            </a:r>
          </a:p>
        </p:txBody>
      </p:sp>
      <p:sp>
        <p:nvSpPr>
          <p:cNvPr id="18" name="AutoShape 18"/>
          <p:cNvSpPr/>
          <p:nvPr/>
        </p:nvSpPr>
        <p:spPr>
          <a:xfrm>
            <a:off x="8509000" y="1524000"/>
            <a:ext cx="3556000" cy="4572000"/>
          </a:xfrm>
          <a:prstGeom prst="roundRect">
            <a:avLst>
              <a:gd name="adj" fmla="val 357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76200" dir="2700000" algn="tl" rotWithShape="0">
              <a:srgbClr val="22C55E">
                <a:alpha val="18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9652000" y="1778000"/>
            <a:ext cx="1270000" cy="1270000"/>
          </a:xfrm>
          <a:prstGeom prst="ellipse">
            <a:avLst/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906000" y="2032000"/>
            <a:ext cx="762000" cy="7620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8636000" y="31750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特征工程与预处理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-16369">
            <a:off x="8890015" y="3676650"/>
            <a:ext cx="266703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2C55E">
                <a:alpha val="3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23" name="AutoShape 23"/>
          <p:cNvSpPr/>
          <p:nvPr/>
        </p:nvSpPr>
        <p:spPr>
          <a:xfrm>
            <a:off x="8699500" y="3937000"/>
            <a:ext cx="3175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筛选：7个数值特征 + 3个分类特征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输出：经标准化与独热编码，生成</a:t>
            </a:r>
            <a:r>
              <a:rPr lang="en-US" sz="14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45维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特征矩阵</a:t>
            </a:r>
          </a:p>
        </p:txBody>
      </p:sp>
      <p:sp>
        <p:nvSpPr>
          <p:cNvPr id="24" name="AutoShape 24"/>
          <p:cNvSpPr/>
          <p:nvPr/>
        </p:nvSpPr>
        <p:spPr>
          <a:xfrm>
            <a:off x="0" y="6159500"/>
            <a:ext cx="12192000" cy="698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0" y="6159500"/>
            <a:ext cx="12192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核心价值：建立标准化数据处理SOP，确保高质量数据输入模型训练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1020" t="1086" r="1020" b="108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模型构建与性能对比：集成学习 vs 深度学习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5334000" cy="2286000"/>
          </a:xfrm>
          <a:prstGeom prst="roundRect">
            <a:avLst>
              <a:gd name="adj" fmla="val 6666"/>
            </a:avLst>
          </a:prstGeom>
          <a:solidFill>
            <a:srgbClr val="F0FDF4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1651000"/>
            <a:ext cx="508000" cy="508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651000" y="1676400"/>
            <a:ext cx="3937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实验设计方案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2349500"/>
            <a:ext cx="482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控制变量法：在相同数据源、特征工程与预处理流程下，对三种模型进行同环境对比测试，确保结果的公平性与可比性。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" y="3937000"/>
            <a:ext cx="5334000" cy="2413000"/>
          </a:xfrm>
          <a:prstGeom prst="roundRect">
            <a:avLst>
              <a:gd name="adj" fmla="val 6315"/>
            </a:avLst>
          </a:prstGeom>
          <a:solidFill>
            <a:srgbClr val="FFF7ED">
              <a:alpha val="100000"/>
            </a:srgbClr>
          </a:solidFill>
          <a:ln w="12700" cap="flat" cmpd="sng">
            <a:solidFill>
              <a:srgbClr val="F97316">
                <a:alpha val="2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4191000"/>
            <a:ext cx="508000" cy="508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651000" y="4216400"/>
            <a:ext cx="3937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C2410C"/>
                </a:solidFill>
                <a:latin typeface="Noto Sans SC"/>
                <a:ea typeface="Noto Sans SC"/>
                <a:cs typeface="Noto Sans SC"/>
                <a:sym typeface="Noto Sans SC"/>
              </a:rPr>
              <a:t>结论与模型决策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016000" y="4889500"/>
            <a:ext cx="4826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 集成学习(RF/XGB)优于深度学习(ANN)，适合小样本场景。</a:t>
            </a:r>
            <a:endParaRPr lang="en-US" sz="1100"/>
          </a:p>
          <a:p>
            <a:pPr indent="0" algn="l">
              <a:lnSpc>
                <a:spcPct val="116666"/>
              </a:lnSpc>
            </a:pPr>
            <a:r>
              <a:rPr lang="en-US" sz="14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• 最终选定：XGBoost (R²=0.841) 为最优模型。</a:t>
            </a:r>
          </a:p>
        </p:txBody>
      </p:sp>
      <p:sp>
        <p:nvSpPr>
          <p:cNvPr id="13" name="AutoShape 13"/>
          <p:cNvSpPr/>
          <p:nvPr/>
        </p:nvSpPr>
        <p:spPr>
          <a:xfrm>
            <a:off x="6350000" y="1397000"/>
            <a:ext cx="5334000" cy="4953000"/>
          </a:xfrm>
          <a:prstGeom prst="roundRect">
            <a:avLst>
              <a:gd name="adj" fmla="val 307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254000" dist="127000" dir="2700000" algn="tl" rotWithShape="0">
              <a:srgbClr val="22C55E">
                <a:alpha val="15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6667500" y="17145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📊 测试集 R² 性能指标对比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0" y="6731000"/>
            <a:ext cx="12192000" cy="127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371D1D00-0642-5C98-FF90-55FE614C09A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79876" y="2345582"/>
            <a:ext cx="4391025" cy="33147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3846" t="3767" r="3846" b="376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最终模型确定与封装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08000" y="1397000"/>
            <a:ext cx="3556000" cy="5080000"/>
          </a:xfrm>
          <a:prstGeom prst="roundRect">
            <a:avLst>
              <a:gd name="adj" fmla="val 5714"/>
            </a:avLst>
          </a:prstGeom>
          <a:solidFill>
            <a:srgbClr val="FFFFFF">
              <a:alpha val="98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127000" dir="2700000" algn="tl" rotWithShape="0">
              <a:srgbClr val="22C55E">
                <a:alpha val="15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508000" y="1397000"/>
            <a:ext cx="3556000" cy="1016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78000" y="1905000"/>
            <a:ext cx="1016000" cy="10160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762000" y="3175000"/>
            <a:ext cx="304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核心模型：XGBoost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" y="3810000"/>
            <a:ext cx="3048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经过多轮超参数优化（Hyperparameter Tuning），筛选出最佳参数组合，确保模型性能达到全局最优。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572000" y="1397000"/>
            <a:ext cx="3556000" cy="5080000"/>
          </a:xfrm>
          <a:prstGeom prst="roundRect">
            <a:avLst>
              <a:gd name="adj" fmla="val 5714"/>
            </a:avLst>
          </a:prstGeom>
          <a:solidFill>
            <a:srgbClr val="FFFFFF">
              <a:alpha val="98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127000" dir="2700000" algn="tl" rotWithShape="0">
              <a:srgbClr val="22C55E">
                <a:alpha val="15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4572000" y="1397000"/>
            <a:ext cx="3556000" cy="1016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69000" y="2032000"/>
            <a:ext cx="762000" cy="762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4826000" y="3048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Pipeline 封装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826000" y="3556000"/>
            <a:ext cx="304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集成特征预处理与模型预测步骤，形成标准化工作流，消除环境依赖差异。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826000" y="4699000"/>
            <a:ext cx="304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输入：Ap、QY、Type_OC 等原始特征数据；输出：直接生成光学效率预测值。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636000" y="1397000"/>
            <a:ext cx="3556000" cy="5080000"/>
          </a:xfrm>
          <a:prstGeom prst="roundRect">
            <a:avLst>
              <a:gd name="adj" fmla="val 5714"/>
            </a:avLst>
          </a:prstGeom>
          <a:solidFill>
            <a:srgbClr val="FFFFFF">
              <a:alpha val="98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127000" dir="2700000" algn="tl" rotWithShape="0">
              <a:srgbClr val="22C55E">
                <a:alpha val="15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8636000" y="1397000"/>
            <a:ext cx="3556000" cy="1016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033000" y="2032000"/>
            <a:ext cx="762000" cy="7620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8890000" y="3048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易用性与效率提升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890000" y="3556000"/>
            <a:ext cx="3048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屏蔽复杂技术细节，用户无需掌握预处理逻辑，一键调用即可获得高精度结果。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可视化与结果分析：模型效能深度解析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143000"/>
            <a:ext cx="1016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62000" y="1524000"/>
            <a:ext cx="5207000" cy="4826000"/>
          </a:xfrm>
          <a:prstGeom prst="roundRect">
            <a:avLst>
              <a:gd name="adj" fmla="val 2631"/>
            </a:avLst>
          </a:prstGeom>
          <a:solidFill>
            <a:srgbClr val="FFFFFF">
              <a:alpha val="98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101600" dir="2700000" algn="tl" rotWithShape="0">
              <a:srgbClr val="22C55E">
                <a:alpha val="15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9500" y="1841500"/>
            <a:ext cx="355600" cy="3556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524000" y="18415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模型预测精度：真实值 vs 预测值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223000" y="1524000"/>
            <a:ext cx="5207000" cy="4826000"/>
          </a:xfrm>
          <a:prstGeom prst="roundRect">
            <a:avLst>
              <a:gd name="adj" fmla="val 2631"/>
            </a:avLst>
          </a:prstGeom>
          <a:solidFill>
            <a:srgbClr val="FFFFFF">
              <a:alpha val="98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101600" dir="2700000" algn="tl" rotWithShape="0">
              <a:srgbClr val="22C55E">
                <a:alpha val="15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40500" y="1841500"/>
            <a:ext cx="355600" cy="355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6985000" y="18415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特征重要性分析</a:t>
            </a:r>
            <a:endParaRPr lang="en-US" sz="1100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B2B7ECD0-2C1C-F7D7-0F3D-7917C33E283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6247" y="2571750"/>
            <a:ext cx="4672527" cy="3504395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A844D1AE-8CCD-5E25-04B6-4F02D630B5F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00923" y="2737119"/>
            <a:ext cx="4809112" cy="288546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1020" t="907" r="1020" b="108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0" y="762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16510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问题分析与解决策略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3103665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系统化梳理研究过程中的核心瓶颈，构建科学、可落地的突破路径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3865665"/>
            <a:ext cx="3302000" cy="2540000"/>
          </a:xfrm>
          <a:prstGeom prst="roundRect">
            <a:avLst>
              <a:gd name="adj" fmla="val 5000"/>
            </a:avLst>
          </a:prstGeom>
          <a:solidFill>
            <a:srgbClr val="F0FDF4">
              <a:alpha val="100000"/>
            </a:srgbClr>
          </a:solidFill>
          <a:ln w="12700" cap="flat" cmpd="sng">
            <a:solidFill>
              <a:srgbClr val="22C55E">
                <a:alpha val="40000"/>
              </a:srgbClr>
            </a:solidFill>
            <a:prstDash val="solid"/>
            <a:round/>
          </a:ln>
          <a:effectLst>
            <a:outerShdw blurRad="190500" dist="101600" dir="5400000" algn="tl" rotWithShape="0">
              <a:srgbClr val="22C55E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06600" y="4246665"/>
            <a:ext cx="812800" cy="812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889000" y="5199165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核心痛点洞察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5643665"/>
            <a:ext cx="279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精准定位研究过程中的效率瓶颈与数据误差来源，明确改进方向。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445000" y="3865665"/>
            <a:ext cx="3302000" cy="2540000"/>
          </a:xfrm>
          <a:prstGeom prst="roundRect">
            <a:avLst>
              <a:gd name="adj" fmla="val 5000"/>
            </a:avLst>
          </a:prstGeom>
          <a:solidFill>
            <a:srgbClr val="F0FDF4">
              <a:alpha val="100000"/>
            </a:srgbClr>
          </a:solidFill>
          <a:ln w="12700" cap="flat" cmpd="sng">
            <a:solidFill>
              <a:srgbClr val="22C55E">
                <a:alpha val="40000"/>
              </a:srgbClr>
            </a:solidFill>
            <a:prstDash val="solid"/>
            <a:round/>
          </a:ln>
          <a:effectLst>
            <a:outerShdw blurRad="190500" dist="101600" dir="5400000" algn="tl" rotWithShape="0">
              <a:srgbClr val="22C55E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89600" y="4246665"/>
            <a:ext cx="812800" cy="812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4572000" y="5199165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成因深度剖析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699000" y="5643665"/>
            <a:ext cx="279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通过控制变量法回溯实验流程，从算法逻辑与硬件性能双维度溯源。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128000" y="3865665"/>
            <a:ext cx="3302000" cy="2540000"/>
          </a:xfrm>
          <a:prstGeom prst="roundRect">
            <a:avLst>
              <a:gd name="adj" fmla="val 5000"/>
            </a:avLst>
          </a:prstGeom>
          <a:solidFill>
            <a:srgbClr val="F0FDF4">
              <a:alpha val="100000"/>
            </a:srgbClr>
          </a:solidFill>
          <a:ln w="12700" cap="flat" cmpd="sng">
            <a:solidFill>
              <a:srgbClr val="22C55E">
                <a:alpha val="40000"/>
              </a:srgbClr>
            </a:solidFill>
            <a:prstDash val="solid"/>
            <a:round/>
          </a:ln>
          <a:effectLst>
            <a:outerShdw blurRad="190500" dist="101600" dir="5400000" algn="tl" rotWithShape="0">
              <a:srgbClr val="22C55E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372600" y="4246665"/>
            <a:ext cx="812800" cy="812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8255000" y="5199165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实施策略方案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382000" y="5643665"/>
            <a:ext cx="279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引入改进算法优化模型结构，配合参数调优策略，验证方案有效性。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0" y="6667500"/>
            <a:ext cx="12192000" cy="190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6">
            <a:extLst>
              <a:ext uri="{FF2B5EF4-FFF2-40B4-BE49-F238E27FC236}">
                <a16:creationId xmlns:a16="http://schemas.microsoft.com/office/drawing/2014/main" id="{E53224D1-EBD0-D368-9F43-0AA503C582CE}"/>
              </a:ext>
            </a:extLst>
          </p:cNvPr>
          <p:cNvSpPr/>
          <p:nvPr/>
        </p:nvSpPr>
        <p:spPr>
          <a:xfrm>
            <a:off x="5715000" y="2648084"/>
            <a:ext cx="762000" cy="76200"/>
          </a:xfrm>
          <a:prstGeom prst="roundRect">
            <a:avLst>
              <a:gd name="adj" fmla="val 5000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5882" t="5882" r="5882" b="588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当前面临的核心问题与解决方案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143000"/>
            <a:ext cx="762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508000" y="1524000"/>
            <a:ext cx="3556000" cy="4318000"/>
          </a:xfrm>
          <a:prstGeom prst="roundRect">
            <a:avLst>
              <a:gd name="adj" fmla="val 3571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  <a:effectLst>
            <a:outerShdw blurRad="190500" dist="101600" dir="2700000" algn="tl" rotWithShape="0">
              <a:srgbClr val="22C55E">
                <a:alpha val="15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762000" y="1778000"/>
            <a:ext cx="762000" cy="762000"/>
          </a:xfrm>
          <a:prstGeom prst="ellipse">
            <a:avLst/>
          </a:prstGeom>
          <a:solidFill>
            <a:srgbClr val="22C55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1968500"/>
            <a:ext cx="381000" cy="381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762000" y="2667000"/>
            <a:ext cx="3048000" cy="304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000" b="1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数据分布不一致</a:t>
            </a:r>
            <a:endParaRPr lang="en-US" dirty="0"/>
          </a:p>
          <a:p>
            <a:pPr indent="0" algn="l">
              <a:lnSpc>
                <a:spcPct val="108333"/>
              </a:lnSpc>
              <a:spcBef>
                <a:spcPts val="800"/>
              </a:spcBef>
            </a:pPr>
            <a:r>
              <a:rPr lang="en-US" sz="1600" b="0" i="0" u="none" strike="noStrike" dirty="0" err="1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现象：测试集效率均值显著高于训练集，存在偏差</a:t>
            </a:r>
            <a:r>
              <a:rPr lang="en-US" sz="16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  <a:p>
            <a:pPr indent="0" algn="l">
              <a:lnSpc>
                <a:spcPct val="108333"/>
              </a:lnSpc>
              <a:spcBef>
                <a:spcPts val="800"/>
              </a:spcBef>
            </a:pPr>
            <a:r>
              <a:rPr lang="en-US" sz="1600" b="1" i="0" u="none" strike="noStrike" dirty="0" err="1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策略：采用加权损失函数优化，或补充高效率样本</a:t>
            </a:r>
            <a:r>
              <a:rPr lang="en-US" sz="1600" b="1" i="0" u="none" strike="noStrike" dirty="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4572000" y="1524000"/>
            <a:ext cx="3556000" cy="4318000"/>
          </a:xfrm>
          <a:prstGeom prst="roundRect">
            <a:avLst>
              <a:gd name="adj" fmla="val 3571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  <a:effectLst>
            <a:outerShdw blurRad="190500" dist="101600" dir="2700000" algn="tl" rotWithShape="0">
              <a:srgbClr val="22C55E">
                <a:alpha val="15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4826000" y="1778000"/>
            <a:ext cx="762000" cy="762000"/>
          </a:xfrm>
          <a:prstGeom prst="ellipse">
            <a:avLst/>
          </a:prstGeom>
          <a:solidFill>
            <a:srgbClr val="22C55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016500" y="1968500"/>
            <a:ext cx="381000" cy="381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4826000" y="2667000"/>
            <a:ext cx="3048000" cy="304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000" b="1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高基数特征难处理</a:t>
            </a:r>
            <a:endParaRPr lang="en-US" dirty="0"/>
          </a:p>
          <a:p>
            <a:pPr indent="0" algn="l">
              <a:lnSpc>
                <a:spcPct val="108333"/>
              </a:lnSpc>
              <a:spcBef>
                <a:spcPts val="800"/>
              </a:spcBef>
            </a:pPr>
            <a:r>
              <a:rPr lang="en-US" sz="1600" b="0" i="0" u="none" strike="noStrike" dirty="0" err="1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现象：化学名称类别极多，独热编码导致维度灾难</a:t>
            </a:r>
            <a:r>
              <a:rPr lang="en-US" sz="16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  <a:p>
            <a:pPr indent="0" algn="l">
              <a:lnSpc>
                <a:spcPct val="108333"/>
              </a:lnSpc>
              <a:spcBef>
                <a:spcPts val="800"/>
              </a:spcBef>
            </a:pPr>
            <a:r>
              <a:rPr lang="en-US" sz="1600" b="1" i="0" u="none" strike="noStrike" dirty="0" err="1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策略：引入目标编码等高级技术降低维度影响</a:t>
            </a:r>
            <a:r>
              <a:rPr lang="en-US" sz="1600" b="1" i="0" u="none" strike="noStrike" dirty="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14" name="AutoShape 14"/>
          <p:cNvSpPr/>
          <p:nvPr/>
        </p:nvSpPr>
        <p:spPr>
          <a:xfrm>
            <a:off x="8636000" y="1524000"/>
            <a:ext cx="3556000" cy="4318000"/>
          </a:xfrm>
          <a:prstGeom prst="roundRect">
            <a:avLst>
              <a:gd name="adj" fmla="val 3571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  <a:effectLst>
            <a:outerShdw blurRad="190500" dist="101600" dir="2700000" algn="tl" rotWithShape="0">
              <a:srgbClr val="22C55E">
                <a:alpha val="15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8890000" y="1778000"/>
            <a:ext cx="762000" cy="762000"/>
          </a:xfrm>
          <a:prstGeom prst="ellipse">
            <a:avLst/>
          </a:prstGeom>
          <a:solidFill>
            <a:srgbClr val="22C55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080500" y="1968500"/>
            <a:ext cx="381000" cy="381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8890000" y="2667000"/>
            <a:ext cx="3048000" cy="304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000" b="1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模型泛化验证不足</a:t>
            </a:r>
            <a:endParaRPr lang="en-US" dirty="0"/>
          </a:p>
          <a:p>
            <a:pPr indent="0" algn="l">
              <a:lnSpc>
                <a:spcPct val="108333"/>
              </a:lnSpc>
              <a:spcBef>
                <a:spcPts val="800"/>
              </a:spcBef>
            </a:pPr>
            <a:r>
              <a:rPr lang="en-US" sz="1600" b="0" i="0" u="none" strike="noStrike" dirty="0" err="1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现象：独立测试集样本量较小，统计置信度不够</a:t>
            </a:r>
            <a:r>
              <a:rPr lang="en-US" sz="16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  <a:p>
            <a:pPr indent="0" algn="l">
              <a:lnSpc>
                <a:spcPct val="108333"/>
              </a:lnSpc>
              <a:spcBef>
                <a:spcPts val="800"/>
              </a:spcBef>
            </a:pPr>
            <a:r>
              <a:rPr lang="en-US" sz="1600" b="1" i="0" u="none" strike="noStrike" dirty="0" err="1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策略：使用Bootstrap重采样，等待新数据外部验证</a:t>
            </a:r>
            <a:r>
              <a:rPr lang="en-US" sz="1600" b="1" i="0" u="none" strike="noStrike" dirty="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18" name="AutoShape 18"/>
          <p:cNvSpPr/>
          <p:nvPr/>
        </p:nvSpPr>
        <p:spPr>
          <a:xfrm>
            <a:off x="0" y="6477000"/>
            <a:ext cx="12192000" cy="381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0" y="6502400"/>
            <a:ext cx="12192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AI模型优化策略概览 | 2026年度技术报告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3846" t="3767" r="3846" b="376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0" y="6350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05 下一步工作计划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588000" y="1460500"/>
            <a:ext cx="1016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cap="flat" cmpd="sng">
            <a:solidFill>
              <a:srgbClr val="0CAC47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0" y="1524000"/>
            <a:ext cx="1219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任务拆解细化·关键节点排期·团队资源保障·质量闭环管控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35000" y="2032000"/>
            <a:ext cx="3302000" cy="4064000"/>
          </a:xfrm>
          <a:prstGeom prst="roundRect">
            <a:avLst>
              <a:gd name="adj" fmla="val 384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  <a:effectLst>
            <a:outerShdw blurRad="254000" dist="101600" dir="2700000" algn="tl" rotWithShape="0">
              <a:srgbClr val="22C55E">
                <a:alpha val="15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651000" y="2413000"/>
            <a:ext cx="1270000" cy="1270000"/>
          </a:xfrm>
          <a:prstGeom prst="ellipse">
            <a:avLst/>
          </a:prstGeom>
          <a:solidFill>
            <a:srgbClr val="22C55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05000" y="2667000"/>
            <a:ext cx="762000" cy="762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889000" y="39370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任务拆解细化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89000" y="4445000"/>
            <a:ext cx="279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将总目标拆解为周度里程碑，明确各模块责任人与交付标准。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445000" y="2032000"/>
            <a:ext cx="3302000" cy="4064000"/>
          </a:xfrm>
          <a:prstGeom prst="roundRect">
            <a:avLst>
              <a:gd name="adj" fmla="val 384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  <a:effectLst>
            <a:outerShdw blurRad="254000" dist="101600" dir="2700000" algn="tl" rotWithShape="0">
              <a:srgbClr val="22C55E">
                <a:alpha val="15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5461000" y="2413000"/>
            <a:ext cx="1270000" cy="1270000"/>
          </a:xfrm>
          <a:prstGeom prst="ellipse">
            <a:avLst/>
          </a:prstGeom>
          <a:solidFill>
            <a:srgbClr val="22C55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15000" y="2667000"/>
            <a:ext cx="762000" cy="7620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4699000" y="39370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关键节点排期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699000" y="4445000"/>
            <a:ext cx="279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制定详细甘特图，预留风险缓冲期，确保项目按节点推进。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255000" y="2032000"/>
            <a:ext cx="3302000" cy="4064000"/>
          </a:xfrm>
          <a:prstGeom prst="roundRect">
            <a:avLst>
              <a:gd name="adj" fmla="val 384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  <a:effectLst>
            <a:outerShdw blurRad="254000" dist="101600" dir="2700000" algn="tl" rotWithShape="0">
              <a:srgbClr val="22C55E">
                <a:alpha val="15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9271000" y="2413000"/>
            <a:ext cx="1270000" cy="1270000"/>
          </a:xfrm>
          <a:prstGeom prst="ellipse">
            <a:avLst/>
          </a:prstGeom>
          <a:solidFill>
            <a:srgbClr val="22C55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25000" y="2667000"/>
            <a:ext cx="762000" cy="7620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8509000" y="39370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团队资源保障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8509000" y="4445000"/>
            <a:ext cx="279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协调人力与硬件资源，建立跨部门沟通机制，消除协作壁垒。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0" y="6604000"/>
            <a:ext cx="12192000" cy="254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4971" t="5000" r="4971" b="499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后续研究内容与时间规划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3302000" cy="4572000"/>
          </a:xfrm>
          <a:prstGeom prst="roundRect">
            <a:avLst>
              <a:gd name="adj" fmla="val 3846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101600" dir="2700000" algn="tl" rotWithShape="0">
              <a:srgbClr val="1F2937">
                <a:alpha val="10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905000" y="1841500"/>
            <a:ext cx="1016000" cy="1016000"/>
          </a:xfrm>
          <a:prstGeom prst="ellipse">
            <a:avLst/>
          </a:prstGeom>
          <a:solidFill>
            <a:srgbClr val="22C55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59000" y="2095500"/>
            <a:ext cx="508000" cy="508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952500" y="29845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模型优化与深化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16369">
            <a:off x="1079515" y="3803650"/>
            <a:ext cx="266703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952500" y="4000500"/>
            <a:ext cx="2921000" cy="184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65100" indent="-165100" algn="l">
              <a:lnSpc>
                <a:spcPct val="116666"/>
              </a:lnSpc>
              <a:buClr>
                <a:srgbClr val="4B5563"/>
              </a:buClr>
              <a:buChar char="•"/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实施加权损失函数，提升高值样本预测精度</a:t>
            </a:r>
            <a:endParaRPr lang="en-US" sz="1100"/>
          </a:p>
          <a:p>
            <a:pPr marL="165100" indent="-165100" algn="l">
              <a:lnSpc>
                <a:spcPct val="116666"/>
              </a:lnSpc>
              <a:buClr>
                <a:srgbClr val="4B5563"/>
              </a:buClr>
              <a:buChar char="•"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探索高级特征编码，纳入 Chemical_OC 特征</a:t>
            </a:r>
          </a:p>
          <a:p>
            <a:pPr marL="165100" indent="-165100" algn="l">
              <a:lnSpc>
                <a:spcPct val="116666"/>
              </a:lnSpc>
              <a:buClr>
                <a:srgbClr val="4B5563"/>
              </a:buClr>
              <a:buChar char="•"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Bootstrap 验证，量化评估结果稳定性</a:t>
            </a:r>
          </a:p>
        </p:txBody>
      </p:sp>
      <p:sp>
        <p:nvSpPr>
          <p:cNvPr id="11" name="AutoShape 11"/>
          <p:cNvSpPr/>
          <p:nvPr/>
        </p:nvSpPr>
        <p:spPr>
          <a:xfrm>
            <a:off x="4445000" y="1524000"/>
            <a:ext cx="3302000" cy="4572000"/>
          </a:xfrm>
          <a:prstGeom prst="roundRect">
            <a:avLst>
              <a:gd name="adj" fmla="val 3846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101600" dir="2700000" algn="tl" rotWithShape="0">
              <a:srgbClr val="1F2937">
                <a:alpha val="10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5588000" y="1841500"/>
            <a:ext cx="1016000" cy="1016000"/>
          </a:xfrm>
          <a:prstGeom prst="ellipse">
            <a:avLst/>
          </a:prstGeom>
          <a:solidFill>
            <a:srgbClr val="22C55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42000" y="2095500"/>
            <a:ext cx="508000" cy="508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4635500" y="29845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验证与工具完善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16369">
            <a:off x="4762515" y="3803650"/>
            <a:ext cx="266703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4635500" y="4000500"/>
            <a:ext cx="2921000" cy="184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65100" indent="-165100" algn="l">
              <a:lnSpc>
                <a:spcPct val="116666"/>
              </a:lnSpc>
              <a:buClr>
                <a:srgbClr val="4B5563"/>
              </a:buClr>
              <a:buChar char="•"/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集成实验室新制备样品的测试数据</a:t>
            </a:r>
            <a:endParaRPr lang="en-US" sz="1100"/>
          </a:p>
          <a:p>
            <a:pPr marL="165100" indent="-165100" algn="l">
              <a:lnSpc>
                <a:spcPct val="116666"/>
              </a:lnSpc>
              <a:buClr>
                <a:srgbClr val="4B5563"/>
              </a:buClr>
              <a:buChar char="•"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利用新数据检验模型泛化能力</a:t>
            </a:r>
          </a:p>
          <a:p>
            <a:pPr marL="165100" indent="-165100" algn="l">
              <a:lnSpc>
                <a:spcPct val="116666"/>
              </a:lnSpc>
              <a:buClr>
                <a:srgbClr val="4B5563"/>
              </a:buClr>
              <a:buChar char="•"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迭代模型并开发简易图形界面 (GUI)</a:t>
            </a:r>
          </a:p>
        </p:txBody>
      </p:sp>
      <p:sp>
        <p:nvSpPr>
          <p:cNvPr id="18" name="AutoShape 18"/>
          <p:cNvSpPr/>
          <p:nvPr/>
        </p:nvSpPr>
        <p:spPr>
          <a:xfrm>
            <a:off x="8128000" y="1524000"/>
            <a:ext cx="3302000" cy="4572000"/>
          </a:xfrm>
          <a:prstGeom prst="roundRect">
            <a:avLst>
              <a:gd name="adj" fmla="val 3846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101600" dir="2700000" algn="tl" rotWithShape="0">
              <a:srgbClr val="1F2937">
                <a:alpha val="10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9271000" y="1841500"/>
            <a:ext cx="1016000" cy="1016000"/>
          </a:xfrm>
          <a:prstGeom prst="ellipse">
            <a:avLst/>
          </a:prstGeom>
          <a:solidFill>
            <a:srgbClr val="22C55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25000" y="2095500"/>
            <a:ext cx="508000" cy="5080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8318500" y="29845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论文撰写与总结</a:t>
            </a:r>
            <a:endParaRPr lang="en-US" sz="1100"/>
          </a:p>
        </p:txBody>
      </p:sp>
      <p:cxnSp>
        <p:nvCxnSpPr>
          <p:cNvPr id="23" name="Connector 23"/>
          <p:cNvCxnSpPr/>
          <p:nvPr/>
        </p:nvCxnSpPr>
        <p:spPr>
          <a:xfrm rot="-16369">
            <a:off x="8445515" y="3803650"/>
            <a:ext cx="266703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" name="AutoShape 24"/>
          <p:cNvSpPr/>
          <p:nvPr/>
        </p:nvSpPr>
        <p:spPr>
          <a:xfrm>
            <a:off x="8318500" y="4000500"/>
            <a:ext cx="2921000" cy="184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65100" indent="-165100" algn="l">
              <a:lnSpc>
                <a:spcPct val="116666"/>
              </a:lnSpc>
              <a:buClr>
                <a:srgbClr val="4B5563"/>
              </a:buClr>
              <a:buChar char="•"/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系统整理所有实验数据与中间结果</a:t>
            </a:r>
            <a:endParaRPr lang="en-US" sz="1100"/>
          </a:p>
          <a:p>
            <a:pPr marL="165100" indent="-165100" algn="l">
              <a:lnSpc>
                <a:spcPct val="116666"/>
              </a:lnSpc>
              <a:buClr>
                <a:srgbClr val="4B5563"/>
              </a:buClr>
              <a:buChar char="•"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撰写毕业论文，完成核心章节论述</a:t>
            </a:r>
          </a:p>
          <a:p>
            <a:pPr marL="165100" indent="-165100" algn="l">
              <a:lnSpc>
                <a:spcPct val="116666"/>
              </a:lnSpc>
              <a:buClr>
                <a:srgbClr val="4B5563"/>
              </a:buClr>
              <a:buChar char="•"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准备毕业答辩，优化 PPT 与汇报逻辑</a:t>
            </a:r>
          </a:p>
        </p:txBody>
      </p:sp>
      <p:sp>
        <p:nvSpPr>
          <p:cNvPr id="25" name="AutoShape 25"/>
          <p:cNvSpPr/>
          <p:nvPr/>
        </p:nvSpPr>
        <p:spPr>
          <a:xfrm>
            <a:off x="0" y="6781800"/>
            <a:ext cx="12192000" cy="762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3846" t="3931" r="3846" b="376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总结与展望：LSC光学效率预测研究进展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168400"/>
            <a:ext cx="762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508000" y="1524000"/>
            <a:ext cx="3302000" cy="4826000"/>
          </a:xfrm>
          <a:prstGeom prst="roundRect">
            <a:avLst>
              <a:gd name="adj" fmla="val 3846"/>
            </a:avLst>
          </a:prstGeom>
          <a:solidFill>
            <a:srgbClr val="F0FDF4">
              <a:alpha val="8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  <a:effectLst>
            <a:outerShdw blurRad="190500" dist="63500" dir="5400000" algn="tl" rotWithShape="0">
              <a:srgbClr val="22C55E">
                <a:alpha val="15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2000" y="1841500"/>
            <a:ext cx="457200" cy="4572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333500" y="1841500"/>
            <a:ext cx="2286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中期核心成果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15625">
            <a:off x="762014" y="2470150"/>
            <a:ext cx="2794026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762000" y="2667000"/>
            <a:ext cx="2794000" cy="330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spcBef>
                <a:spcPts val="1000"/>
              </a:spcBef>
              <a:defRPr/>
            </a:pPr>
            <a:r>
              <a:rPr lang="en-US" sz="12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● 框架搭建：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成功构建基于机器学习的LSC光学效率预测框架，实现数据驱动的性能评估。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1000"/>
              </a:spcBef>
            </a:pPr>
            <a:r>
              <a:rPr lang="en-US" sz="12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● 模型优选：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确立XGBoost为最优模型，测试集R²高达</a:t>
            </a:r>
            <a:r>
              <a:rPr lang="en-US" sz="1300" b="1" i="0" u="none" strike="noStrike">
                <a:solidFill>
                  <a:srgbClr val="16A34A"/>
                </a:solidFill>
                <a:latin typeface="Noto Sans SC"/>
                <a:ea typeface="Noto Sans SC"/>
                <a:cs typeface="Noto Sans SC"/>
                <a:sym typeface="Noto Sans SC"/>
              </a:rPr>
              <a:t>0.841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，预测精度优异。</a:t>
            </a:r>
          </a:p>
          <a:p>
            <a:pPr indent="0" algn="l">
              <a:lnSpc>
                <a:spcPct val="125000"/>
              </a:lnSpc>
              <a:spcBef>
                <a:spcPts val="1000"/>
              </a:spcBef>
            </a:pPr>
            <a:r>
              <a:rPr lang="en-US" sz="12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● 逻辑验证：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模型决策逻辑与物理规律高度吻合，验证了算法在材料科学领域的适用性。</a:t>
            </a:r>
          </a:p>
        </p:txBody>
      </p:sp>
      <p:sp>
        <p:nvSpPr>
          <p:cNvPr id="11" name="AutoShape 11"/>
          <p:cNvSpPr/>
          <p:nvPr/>
        </p:nvSpPr>
        <p:spPr>
          <a:xfrm>
            <a:off x="4572000" y="1524000"/>
            <a:ext cx="3302000" cy="4826000"/>
          </a:xfrm>
          <a:prstGeom prst="roundRect">
            <a:avLst>
              <a:gd name="adj" fmla="val 3846"/>
            </a:avLst>
          </a:prstGeom>
          <a:solidFill>
            <a:srgbClr val="F0FDF4">
              <a:alpha val="8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  <a:effectLst>
            <a:outerShdw blurRad="190500" dist="63500" dir="5400000" algn="tl" rotWithShape="0">
              <a:srgbClr val="22C55E">
                <a:alpha val="15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26000" y="1841500"/>
            <a:ext cx="457200" cy="4572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5397500" y="1841500"/>
            <a:ext cx="2286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未来应用前景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15625">
            <a:off x="4826014" y="2470150"/>
            <a:ext cx="2794026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4826000" y="2667000"/>
            <a:ext cx="2794000" cy="330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spcBef>
                <a:spcPts val="1000"/>
              </a:spcBef>
              <a:defRPr/>
            </a:pPr>
            <a:r>
              <a:rPr lang="en-US" sz="12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● 虚拟筛选：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打造LSC材料与器件的“虚拟筛选”平台，通过参数输入快速锁定潜力配方。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1000"/>
              </a:spcBef>
            </a:pPr>
            <a:r>
              <a:rPr lang="en-US" sz="12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● 降本增效：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大幅缩减实验试错周期与成本，加速高性能LSC从实验室走向商业化应用。</a:t>
            </a:r>
          </a:p>
          <a:p>
            <a:pPr indent="0" algn="l">
              <a:lnSpc>
                <a:spcPct val="125000"/>
              </a:lnSpc>
              <a:spcBef>
                <a:spcPts val="1000"/>
              </a:spcBef>
            </a:pPr>
            <a:r>
              <a:rPr lang="en-US" sz="12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● 领域推广：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方法论可迁移至钙钛矿等其他光电材料的性能预测，具备广阔的学术价值。</a:t>
            </a:r>
          </a:p>
        </p:txBody>
      </p:sp>
      <p:sp>
        <p:nvSpPr>
          <p:cNvPr id="16" name="AutoShape 16"/>
          <p:cNvSpPr/>
          <p:nvPr/>
        </p:nvSpPr>
        <p:spPr>
          <a:xfrm>
            <a:off x="8636000" y="1524000"/>
            <a:ext cx="3302000" cy="4826000"/>
          </a:xfrm>
          <a:prstGeom prst="roundRect">
            <a:avLst>
              <a:gd name="adj" fmla="val 3846"/>
            </a:avLst>
          </a:prstGeom>
          <a:solidFill>
            <a:srgbClr val="F0FDF4">
              <a:alpha val="8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  <a:effectLst>
            <a:outerShdw blurRad="190500" dist="63500" dir="5400000" algn="tl" rotWithShape="0">
              <a:srgbClr val="22C55E">
                <a:alpha val="15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890000" y="1841500"/>
            <a:ext cx="457200" cy="4572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9461500" y="1841500"/>
            <a:ext cx="2286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核心价值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-15625">
            <a:off x="8890014" y="2470150"/>
            <a:ext cx="2794026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8890000" y="2667000"/>
            <a:ext cx="2794000" cy="330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spcBef>
                <a:spcPts val="1000"/>
              </a:spcBef>
              <a:defRPr/>
            </a:pPr>
            <a:r>
              <a:rPr lang="en-US" sz="12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以AI驱动材料研发创新，开启LSC光电材料的智能设计新时代。通过数据驱动的方法，不仅提升了研发效率，更拓展了材料科学研究的新范式。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3846" t="3767" r="3846" b="376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016000" y="2286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谢谢大家！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3429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感谢各位评委老师的聆听与指导！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4318000"/>
            <a:ext cx="10160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—— 恳请各位老师批评指正 ——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0" y="6223000"/>
            <a:ext cx="12192000" cy="635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0" y="62230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汇报结束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1425</Words>
  <Application>Microsoft Office PowerPoint</Application>
  <PresentationFormat>宽屏</PresentationFormat>
  <Paragraphs>253</Paragraphs>
  <Slides>21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21</vt:i4>
      </vt:variant>
    </vt:vector>
  </HeadingPairs>
  <TitlesOfParts>
    <vt:vector size="25" baseType="lpstr">
      <vt:lpstr>Noto Sans SC</vt:lpstr>
      <vt:lpstr>Arial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Coral</cp:lastModifiedBy>
  <cp:revision>1</cp:revision>
  <dcterms:modified xsi:type="dcterms:W3CDTF">2026-04-06T10:12:34Z</dcterms:modified>
</cp:coreProperties>
</file>