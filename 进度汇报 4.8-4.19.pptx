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8"/>
  </p:notesMasterIdLst>
  <p:sldIdLst>
    <p:sldId id="415" r:id="rId2"/>
    <p:sldId id="271" r:id="rId3"/>
    <p:sldId id="426" r:id="rId4"/>
    <p:sldId id="427" r:id="rId5"/>
    <p:sldId id="428" r:id="rId6"/>
    <p:sldId id="425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E81"/>
    <a:srgbClr val="1373B7"/>
    <a:srgbClr val="115D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E67DA0-E666-47D7-B9DB-175D95660649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94550-5767-4692-896D-324420F2D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684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94550-5767-4692-896D-324420F2D2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091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A842D5-3964-4D1E-A2D9-636432CD0AB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327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E8AD7-B90A-27A4-A6BC-5042F83C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39E338-9775-40DE-572A-F6416A9CD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D2E98C-4B5E-D035-08B0-DF9DA9316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AD7F8A-A1FA-508A-07A4-41FABB0FA7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A842D5-3964-4D1E-A2D9-636432CD0AB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161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8AAE-C25B-EF58-6063-E144B3EBC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310304-AB6D-D201-B168-09587EF83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FA288B-BE42-23A1-18BF-F20C65B8B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CFC088-5CA7-12F4-F68B-338701079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A842D5-3964-4D1E-A2D9-636432CD0AB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595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46890-C244-E879-B54F-8CB57AD0B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A9ED7C-95E7-19CA-188C-AF2C5AD03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9903F9-8AA4-2420-A692-334AEAD8D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073BEA-FF74-8F9B-C054-657D2E8FE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A842D5-3964-4D1E-A2D9-636432CD0AB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941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94550-5767-4692-896D-324420F2D2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17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937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997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62967-41DD-43A9-A8A2-DBE4C7CD30D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84866-2612-44FE-BED6-48B9181DF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9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1" r:id="rId2"/>
  </p:sldLayoutIdLst>
  <mc:AlternateContent xmlns:mc="http://schemas.openxmlformats.org/markup-compatibility/2006" xmlns:p14="http://schemas.microsoft.com/office/powerpoint/2010/main">
    <mc:Choice Requires="p14">
      <p:transition spd="slow" p14:dur="3500" advTm="3000">
        <p:random/>
      </p:transition>
    </mc:Choice>
    <mc:Fallback xmlns=""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5780868" y="2161671"/>
            <a:ext cx="4559935" cy="3154454"/>
          </a:xfrm>
          <a:custGeom>
            <a:avLst/>
            <a:gdLst>
              <a:gd name="connsiteX0" fmla="*/ 66532 w 4106520"/>
              <a:gd name="connsiteY0" fmla="*/ 0 h 3154454"/>
              <a:gd name="connsiteX1" fmla="*/ 4106520 w 4106520"/>
              <a:gd name="connsiteY1" fmla="*/ 0 h 3154454"/>
              <a:gd name="connsiteX2" fmla="*/ 4106520 w 4106520"/>
              <a:gd name="connsiteY2" fmla="*/ 2522591 h 3154454"/>
              <a:gd name="connsiteX3" fmla="*/ 4092233 w 4106520"/>
              <a:gd name="connsiteY3" fmla="*/ 2530896 h 3154454"/>
              <a:gd name="connsiteX4" fmla="*/ 3749333 w 4106520"/>
              <a:gd name="connsiteY4" fmla="*/ 2828924 h 3154454"/>
              <a:gd name="connsiteX5" fmla="*/ 2820645 w 4106520"/>
              <a:gd name="connsiteY5" fmla="*/ 3071812 h 3154454"/>
              <a:gd name="connsiteX6" fmla="*/ 2642833 w 4106520"/>
              <a:gd name="connsiteY6" fmla="*/ 3121149 h 3154454"/>
              <a:gd name="connsiteX7" fmla="*/ 2521312 w 4106520"/>
              <a:gd name="connsiteY7" fmla="*/ 3154454 h 3154454"/>
              <a:gd name="connsiteX8" fmla="*/ 2318353 w 4106520"/>
              <a:gd name="connsiteY8" fmla="*/ 3144205 h 3154454"/>
              <a:gd name="connsiteX9" fmla="*/ 0 w 4106520"/>
              <a:gd name="connsiteY9" fmla="*/ 575150 h 3154454"/>
              <a:gd name="connsiteX10" fmla="*/ 52465 w 4106520"/>
              <a:gd name="connsiteY10" fmla="*/ 54709 h 315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06520" h="3154454">
                <a:moveTo>
                  <a:pt x="66532" y="0"/>
                </a:moveTo>
                <a:lnTo>
                  <a:pt x="4106520" y="0"/>
                </a:lnTo>
                <a:lnTo>
                  <a:pt x="4106520" y="2522591"/>
                </a:lnTo>
                <a:lnTo>
                  <a:pt x="4092233" y="2530896"/>
                </a:lnTo>
                <a:cubicBezTo>
                  <a:pt x="3992667" y="2606129"/>
                  <a:pt x="3922569" y="2755701"/>
                  <a:pt x="3749333" y="2828924"/>
                </a:cubicBezTo>
                <a:cubicBezTo>
                  <a:pt x="3518352" y="2926555"/>
                  <a:pt x="3061151" y="2997993"/>
                  <a:pt x="2820645" y="3071812"/>
                </a:cubicBezTo>
                <a:cubicBezTo>
                  <a:pt x="2760519" y="3090267"/>
                  <a:pt x="2700094" y="3106192"/>
                  <a:pt x="2642833" y="3121149"/>
                </a:cubicBezTo>
                <a:lnTo>
                  <a:pt x="2521312" y="3154454"/>
                </a:lnTo>
                <a:lnTo>
                  <a:pt x="2318353" y="3144205"/>
                </a:lnTo>
                <a:cubicBezTo>
                  <a:pt x="1016169" y="3011961"/>
                  <a:pt x="0" y="1912225"/>
                  <a:pt x="0" y="575150"/>
                </a:cubicBezTo>
                <a:cubicBezTo>
                  <a:pt x="0" y="396874"/>
                  <a:pt x="18065" y="222816"/>
                  <a:pt x="52465" y="54709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-1" y="2145684"/>
            <a:ext cx="8748215" cy="3157538"/>
          </a:xfrm>
          <a:custGeom>
            <a:avLst/>
            <a:gdLst>
              <a:gd name="connsiteX0" fmla="*/ 0 w 8701088"/>
              <a:gd name="connsiteY0" fmla="*/ 0 h 3157538"/>
              <a:gd name="connsiteX1" fmla="*/ 6218437 w 8701088"/>
              <a:gd name="connsiteY1" fmla="*/ 0 h 3157538"/>
              <a:gd name="connsiteX2" fmla="*/ 6204370 w 8701088"/>
              <a:gd name="connsiteY2" fmla="*/ 54709 h 3157538"/>
              <a:gd name="connsiteX3" fmla="*/ 6151905 w 8701088"/>
              <a:gd name="connsiteY3" fmla="*/ 575150 h 3157538"/>
              <a:gd name="connsiteX4" fmla="*/ 8470258 w 8701088"/>
              <a:gd name="connsiteY4" fmla="*/ 3144205 h 3157538"/>
              <a:gd name="connsiteX5" fmla="*/ 8701088 w 8701088"/>
              <a:gd name="connsiteY5" fmla="*/ 3155861 h 3157538"/>
              <a:gd name="connsiteX6" fmla="*/ 8701088 w 8701088"/>
              <a:gd name="connsiteY6" fmla="*/ 3157538 h 3157538"/>
              <a:gd name="connsiteX7" fmla="*/ 0 w 8701088"/>
              <a:gd name="connsiteY7" fmla="*/ 3157538 h 3157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01088" h="3157538">
                <a:moveTo>
                  <a:pt x="0" y="0"/>
                </a:moveTo>
                <a:lnTo>
                  <a:pt x="6218437" y="0"/>
                </a:lnTo>
                <a:lnTo>
                  <a:pt x="6204370" y="54709"/>
                </a:lnTo>
                <a:cubicBezTo>
                  <a:pt x="6169970" y="222816"/>
                  <a:pt x="6151905" y="396874"/>
                  <a:pt x="6151905" y="575150"/>
                </a:cubicBezTo>
                <a:cubicBezTo>
                  <a:pt x="6151905" y="1912225"/>
                  <a:pt x="7168074" y="3011961"/>
                  <a:pt x="8470258" y="3144205"/>
                </a:cubicBezTo>
                <a:lnTo>
                  <a:pt x="8701088" y="3155861"/>
                </a:lnTo>
                <a:lnTo>
                  <a:pt x="8701088" y="3157538"/>
                </a:lnTo>
                <a:lnTo>
                  <a:pt x="0" y="3157538"/>
                </a:lnTo>
                <a:close/>
              </a:path>
            </a:pathLst>
          </a:custGeom>
          <a:gradFill>
            <a:gsLst>
              <a:gs pos="0">
                <a:srgbClr val="1373B7"/>
              </a:gs>
              <a:gs pos="100000">
                <a:srgbClr val="115D9B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 rot="10800000">
            <a:off x="6151905" y="138447"/>
            <a:ext cx="5164774" cy="5164774"/>
          </a:xfrm>
          <a:custGeom>
            <a:avLst/>
            <a:gdLst>
              <a:gd name="connsiteX0" fmla="*/ 2299835 w 4599670"/>
              <a:gd name="connsiteY0" fmla="*/ 107476 h 4599670"/>
              <a:gd name="connsiteX1" fmla="*/ 107476 w 4599670"/>
              <a:gd name="connsiteY1" fmla="*/ 2299835 h 4599670"/>
              <a:gd name="connsiteX2" fmla="*/ 2299835 w 4599670"/>
              <a:gd name="connsiteY2" fmla="*/ 4492194 h 4599670"/>
              <a:gd name="connsiteX3" fmla="*/ 4492194 w 4599670"/>
              <a:gd name="connsiteY3" fmla="*/ 2299835 h 4599670"/>
              <a:gd name="connsiteX4" fmla="*/ 2299835 w 4599670"/>
              <a:gd name="connsiteY4" fmla="*/ 107476 h 4599670"/>
              <a:gd name="connsiteX5" fmla="*/ 2299835 w 4599670"/>
              <a:gd name="connsiteY5" fmla="*/ 0 h 4599670"/>
              <a:gd name="connsiteX6" fmla="*/ 4599670 w 4599670"/>
              <a:gd name="connsiteY6" fmla="*/ 2299835 h 4599670"/>
              <a:gd name="connsiteX7" fmla="*/ 2299835 w 4599670"/>
              <a:gd name="connsiteY7" fmla="*/ 4599670 h 4599670"/>
              <a:gd name="connsiteX8" fmla="*/ 0 w 4599670"/>
              <a:gd name="connsiteY8" fmla="*/ 2299835 h 4599670"/>
              <a:gd name="connsiteX9" fmla="*/ 2299835 w 4599670"/>
              <a:gd name="connsiteY9" fmla="*/ 0 h 4599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9670" h="4599670">
                <a:moveTo>
                  <a:pt x="2299835" y="107476"/>
                </a:moveTo>
                <a:cubicBezTo>
                  <a:pt x="1089029" y="107476"/>
                  <a:pt x="107476" y="1089029"/>
                  <a:pt x="107476" y="2299835"/>
                </a:cubicBezTo>
                <a:cubicBezTo>
                  <a:pt x="107476" y="3510641"/>
                  <a:pt x="1089029" y="4492194"/>
                  <a:pt x="2299835" y="4492194"/>
                </a:cubicBezTo>
                <a:cubicBezTo>
                  <a:pt x="3510641" y="4492194"/>
                  <a:pt x="4492194" y="3510641"/>
                  <a:pt x="4492194" y="2299835"/>
                </a:cubicBezTo>
                <a:cubicBezTo>
                  <a:pt x="4492194" y="1089029"/>
                  <a:pt x="3510641" y="107476"/>
                  <a:pt x="2299835" y="107476"/>
                </a:cubicBezTo>
                <a:close/>
                <a:moveTo>
                  <a:pt x="2299835" y="0"/>
                </a:moveTo>
                <a:cubicBezTo>
                  <a:pt x="3569999" y="0"/>
                  <a:pt x="4599670" y="1029671"/>
                  <a:pt x="4599670" y="2299835"/>
                </a:cubicBezTo>
                <a:cubicBezTo>
                  <a:pt x="4599670" y="3569999"/>
                  <a:pt x="3569999" y="4599670"/>
                  <a:pt x="2299835" y="4599670"/>
                </a:cubicBezTo>
                <a:cubicBezTo>
                  <a:pt x="1029671" y="4599670"/>
                  <a:pt x="0" y="3569999"/>
                  <a:pt x="0" y="2299835"/>
                </a:cubicBezTo>
                <a:cubicBezTo>
                  <a:pt x="0" y="1029671"/>
                  <a:pt x="1029671" y="0"/>
                  <a:pt x="2299835" y="0"/>
                </a:cubicBezTo>
                <a:close/>
              </a:path>
            </a:pathLst>
          </a:custGeom>
          <a:gradFill flip="none" rotWithShape="1">
            <a:gsLst>
              <a:gs pos="77000">
                <a:srgbClr val="1373B7"/>
              </a:gs>
              <a:gs pos="14000">
                <a:srgbClr val="1373B7">
                  <a:alpha val="0"/>
                </a:srgbClr>
              </a:gs>
              <a:gs pos="100000">
                <a:srgbClr val="115D9B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 58"/>
          <p:cNvSpPr/>
          <p:nvPr/>
        </p:nvSpPr>
        <p:spPr>
          <a:xfrm>
            <a:off x="941696" y="2620369"/>
            <a:ext cx="1801504" cy="2169994"/>
          </a:xfrm>
          <a:custGeom>
            <a:avLst/>
            <a:gdLst>
              <a:gd name="connsiteX0" fmla="*/ 0 w 1801504"/>
              <a:gd name="connsiteY0" fmla="*/ 0 h 2169994"/>
              <a:gd name="connsiteX1" fmla="*/ 1801504 w 1801504"/>
              <a:gd name="connsiteY1" fmla="*/ 0 h 2169994"/>
              <a:gd name="connsiteX2" fmla="*/ 1801504 w 1801504"/>
              <a:gd name="connsiteY2" fmla="*/ 284150 h 2169994"/>
              <a:gd name="connsiteX3" fmla="*/ 1732714 w 1801504"/>
              <a:gd name="connsiteY3" fmla="*/ 284150 h 2169994"/>
              <a:gd name="connsiteX4" fmla="*/ 1732714 w 1801504"/>
              <a:gd name="connsiteY4" fmla="*/ 71015 h 2169994"/>
              <a:gd name="connsiteX5" fmla="*/ 68790 w 1801504"/>
              <a:gd name="connsiteY5" fmla="*/ 71015 h 2169994"/>
              <a:gd name="connsiteX6" fmla="*/ 68790 w 1801504"/>
              <a:gd name="connsiteY6" fmla="*/ 2098979 h 2169994"/>
              <a:gd name="connsiteX7" fmla="*/ 1732714 w 1801504"/>
              <a:gd name="connsiteY7" fmla="*/ 2098979 h 2169994"/>
              <a:gd name="connsiteX8" fmla="*/ 1732714 w 1801504"/>
              <a:gd name="connsiteY8" fmla="*/ 1885844 h 2169994"/>
              <a:gd name="connsiteX9" fmla="*/ 1801504 w 1801504"/>
              <a:gd name="connsiteY9" fmla="*/ 1885844 h 2169994"/>
              <a:gd name="connsiteX10" fmla="*/ 1801504 w 1801504"/>
              <a:gd name="connsiteY10" fmla="*/ 2169994 h 2169994"/>
              <a:gd name="connsiteX11" fmla="*/ 0 w 1801504"/>
              <a:gd name="connsiteY11" fmla="*/ 2169994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01504" h="2169994">
                <a:moveTo>
                  <a:pt x="0" y="0"/>
                </a:moveTo>
                <a:lnTo>
                  <a:pt x="1801504" y="0"/>
                </a:lnTo>
                <a:lnTo>
                  <a:pt x="1801504" y="284150"/>
                </a:lnTo>
                <a:lnTo>
                  <a:pt x="1732714" y="284150"/>
                </a:lnTo>
                <a:lnTo>
                  <a:pt x="1732714" y="71015"/>
                </a:lnTo>
                <a:lnTo>
                  <a:pt x="68790" y="71015"/>
                </a:lnTo>
                <a:lnTo>
                  <a:pt x="68790" y="2098979"/>
                </a:lnTo>
                <a:lnTo>
                  <a:pt x="1732714" y="2098979"/>
                </a:lnTo>
                <a:lnTo>
                  <a:pt x="1732714" y="1885844"/>
                </a:lnTo>
                <a:lnTo>
                  <a:pt x="1801504" y="1885844"/>
                </a:lnTo>
                <a:lnTo>
                  <a:pt x="1801504" y="2169994"/>
                </a:lnTo>
                <a:lnTo>
                  <a:pt x="0" y="21699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E69390E-89A2-447D-BF42-CA3337F8E1F6}"/>
              </a:ext>
            </a:extLst>
          </p:cNvPr>
          <p:cNvSpPr txBox="1"/>
          <p:nvPr/>
        </p:nvSpPr>
        <p:spPr>
          <a:xfrm>
            <a:off x="1568090" y="3085838"/>
            <a:ext cx="3860431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cs typeface="+mn-ea"/>
                <a:sym typeface="+mn-lt"/>
              </a:rPr>
              <a:t>毕设进度汇报</a:t>
            </a:r>
          </a:p>
        </p:txBody>
      </p:sp>
      <p:sp>
        <p:nvSpPr>
          <p:cNvPr id="62" name="矩形 61"/>
          <p:cNvSpPr/>
          <p:nvPr/>
        </p:nvSpPr>
        <p:spPr>
          <a:xfrm>
            <a:off x="1568090" y="3863230"/>
            <a:ext cx="38562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4.8-4.19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29C6462-2B39-42F2-8936-EC15DE1DAEC3}"/>
              </a:ext>
            </a:extLst>
          </p:cNvPr>
          <p:cNvSpPr txBox="1"/>
          <p:nvPr/>
        </p:nvSpPr>
        <p:spPr>
          <a:xfrm>
            <a:off x="3193499" y="5893462"/>
            <a:ext cx="6242005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王坚泽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人工智能算法分析荧光太阳能聚光器光学效率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8685" y="407629"/>
            <a:ext cx="1636819" cy="162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7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4" grpId="0" animBg="1"/>
      <p:bldP spid="25" grpId="0" animBg="1"/>
      <p:bldP spid="59" grpId="0" animBg="1"/>
      <p:bldP spid="61" grpId="0"/>
      <p:bldP spid="62" grpId="0"/>
      <p:bldP spid="6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37933" y="453458"/>
            <a:ext cx="10316135" cy="587853"/>
            <a:chOff x="937933" y="453458"/>
            <a:chExt cx="10316135" cy="587853"/>
          </a:xfrm>
        </p:grpSpPr>
        <p:sp>
          <p:nvSpPr>
            <p:cNvPr id="34" name="矩形 33"/>
            <p:cNvSpPr/>
            <p:nvPr/>
          </p:nvSpPr>
          <p:spPr>
            <a:xfrm>
              <a:off x="4081916" y="453458"/>
              <a:ext cx="4081333" cy="58785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一、实验部分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CC28639-B7C7-49A4-AE99-CE4F03B972C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33" y="736260"/>
              <a:ext cx="346128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3E4EB0F2-71E1-460A-843C-CF97D2DD98FB}"/>
                </a:ext>
              </a:extLst>
            </p:cNvPr>
            <p:cNvCxnSpPr>
              <a:cxnSpLocks/>
            </p:cNvCxnSpPr>
            <p:nvPr/>
          </p:nvCxnSpPr>
          <p:spPr>
            <a:xfrm>
              <a:off x="7845944" y="736260"/>
              <a:ext cx="3408124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927" y="5506721"/>
            <a:ext cx="1357935" cy="135127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DA727E9-7C47-C9C2-241B-BEE7E0B6CA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5" y="1415953"/>
            <a:ext cx="7981120" cy="44043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375C83F-83A8-98B8-DBBB-F291B985FD8B}"/>
              </a:ext>
            </a:extLst>
          </p:cNvPr>
          <p:cNvSpPr txBox="1"/>
          <p:nvPr/>
        </p:nvSpPr>
        <p:spPr>
          <a:xfrm>
            <a:off x="8507896" y="1371600"/>
            <a:ext cx="32500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本周主要以</a:t>
            </a:r>
            <a:r>
              <a:rPr lang="en-US" altLang="zh-CN" dirty="0"/>
              <a:t>AIGS</a:t>
            </a:r>
            <a:r>
              <a:rPr lang="zh-CN" altLang="en-US" dirty="0"/>
              <a:t>量子点实验为主。针对材料的用量（主要为将乙酰丙酮镓的用量提高）、材料的选用（</a:t>
            </a:r>
            <a:r>
              <a:rPr lang="en-US" altLang="zh-CN" dirty="0"/>
              <a:t>S</a:t>
            </a:r>
            <a:r>
              <a:rPr lang="zh-CN" altLang="en-US" dirty="0"/>
              <a:t>储备溶液的液体分别选用</a:t>
            </a:r>
            <a:r>
              <a:rPr lang="en-US" altLang="zh-CN" dirty="0"/>
              <a:t>OAM</a:t>
            </a:r>
            <a:r>
              <a:rPr lang="zh-CN" altLang="en-US" dirty="0"/>
              <a:t>、</a:t>
            </a:r>
            <a:r>
              <a:rPr lang="en-US" altLang="zh-CN" dirty="0"/>
              <a:t>ODE</a:t>
            </a:r>
            <a:r>
              <a:rPr lang="zh-CN" altLang="en-US" dirty="0"/>
              <a:t>、</a:t>
            </a:r>
            <a:r>
              <a:rPr lang="en-US" altLang="zh-CN" dirty="0"/>
              <a:t>OAM+ODE</a:t>
            </a:r>
            <a:r>
              <a:rPr lang="zh-CN" altLang="en-US" dirty="0"/>
              <a:t>的情况）、制备步骤的改变（包括具体温度调节、时间调节等），经过约十次实验后得到较好的表现结果。</a:t>
            </a:r>
          </a:p>
        </p:txBody>
      </p:sp>
    </p:spTree>
    <p:extLst>
      <p:ext uri="{BB962C8B-B14F-4D97-AF65-F5344CB8AC3E}">
        <p14:creationId xmlns:p14="http://schemas.microsoft.com/office/powerpoint/2010/main" val="155070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87C71-9FF9-B0B9-C2E8-C3CBF7729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1175344-2CF0-B9B7-501C-682D9A228F10}"/>
              </a:ext>
            </a:extLst>
          </p:cNvPr>
          <p:cNvGrpSpPr/>
          <p:nvPr/>
        </p:nvGrpSpPr>
        <p:grpSpPr>
          <a:xfrm>
            <a:off x="937933" y="453458"/>
            <a:ext cx="10316135" cy="587853"/>
            <a:chOff x="937933" y="453458"/>
            <a:chExt cx="10316135" cy="5878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8E5C632D-640E-9D72-7A1C-0A66E6F5E035}"/>
                </a:ext>
              </a:extLst>
            </p:cNvPr>
            <p:cNvSpPr/>
            <p:nvPr/>
          </p:nvSpPr>
          <p:spPr>
            <a:xfrm>
              <a:off x="4081916" y="453458"/>
              <a:ext cx="4081333" cy="58785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一、实验部分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A26FB5E-E099-E0A5-0399-07D8390A1550}"/>
                </a:ext>
              </a:extLst>
            </p:cNvPr>
            <p:cNvCxnSpPr>
              <a:cxnSpLocks/>
            </p:cNvCxnSpPr>
            <p:nvPr/>
          </p:nvCxnSpPr>
          <p:spPr>
            <a:xfrm>
              <a:off x="937933" y="736260"/>
              <a:ext cx="346128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5D1BB351-5C8E-C881-3408-3712143ED5A2}"/>
                </a:ext>
              </a:extLst>
            </p:cNvPr>
            <p:cNvCxnSpPr>
              <a:cxnSpLocks/>
            </p:cNvCxnSpPr>
            <p:nvPr/>
          </p:nvCxnSpPr>
          <p:spPr>
            <a:xfrm>
              <a:off x="7845944" y="736260"/>
              <a:ext cx="3408124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5156E318-5B5E-E815-97D3-7E304C8744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927" y="5506721"/>
            <a:ext cx="1357935" cy="135127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F8EFE61-E45F-DB76-D83F-C07868D2500F}"/>
              </a:ext>
            </a:extLst>
          </p:cNvPr>
          <p:cNvSpPr txBox="1"/>
          <p:nvPr/>
        </p:nvSpPr>
        <p:spPr>
          <a:xfrm>
            <a:off x="397164" y="1311564"/>
            <a:ext cx="56526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目前得到的较好的实验结果，对于步骤的修改包括：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、脱气温度由</a:t>
            </a:r>
            <a:r>
              <a:rPr lang="en-US" altLang="zh-CN" dirty="0"/>
              <a:t>50</a:t>
            </a:r>
            <a:r>
              <a:rPr lang="zh-CN" altLang="en-US" dirty="0"/>
              <a:t>℃调整为</a:t>
            </a:r>
            <a:r>
              <a:rPr lang="en-US" altLang="zh-CN" dirty="0"/>
              <a:t>120</a:t>
            </a:r>
            <a:r>
              <a:rPr lang="zh-CN" altLang="en-US" dirty="0"/>
              <a:t>℃；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295</a:t>
            </a:r>
            <a:r>
              <a:rPr lang="zh-CN" altLang="en-US" dirty="0"/>
              <a:t>℃保持时间由</a:t>
            </a:r>
            <a:r>
              <a:rPr lang="en-US" altLang="zh-CN" dirty="0"/>
              <a:t>30min</a:t>
            </a:r>
            <a:r>
              <a:rPr lang="zh-CN" altLang="en-US" dirty="0"/>
              <a:t>调整为</a:t>
            </a:r>
            <a:r>
              <a:rPr lang="en-US" altLang="zh-CN" dirty="0"/>
              <a:t>40min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、离心时以丙酮作为溶剂；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E97E7A-91C4-210E-14C9-29951157E3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97" y="2572068"/>
            <a:ext cx="2353686" cy="418433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FD3296F-E9AE-675A-B911-06467DF078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767" y="2565277"/>
            <a:ext cx="2858233" cy="420035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A863687-3822-4362-8587-B9D3479686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864" y="2567708"/>
            <a:ext cx="2862862" cy="420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87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 advTm="3000">
        <p:random/>
      </p:transition>
    </mc:Choice>
    <mc:Fallback>
      <p:transition spd="slow" advTm="3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7C7F0-A90C-B73A-10C1-AEB850E27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E93CC35-2433-5AC7-2FBC-6B87E4E3E9E7}"/>
              </a:ext>
            </a:extLst>
          </p:cNvPr>
          <p:cNvGrpSpPr/>
          <p:nvPr/>
        </p:nvGrpSpPr>
        <p:grpSpPr>
          <a:xfrm>
            <a:off x="937933" y="453458"/>
            <a:ext cx="10316135" cy="587853"/>
            <a:chOff x="937933" y="453458"/>
            <a:chExt cx="10316135" cy="5878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60CDD6A-A105-6E3C-9D11-A9406E7FB940}"/>
                </a:ext>
              </a:extLst>
            </p:cNvPr>
            <p:cNvSpPr/>
            <p:nvPr/>
          </p:nvSpPr>
          <p:spPr>
            <a:xfrm>
              <a:off x="4081916" y="453458"/>
              <a:ext cx="4081333" cy="58785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一、实验部分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BD91781-5988-6212-2621-055C2EB8DAF4}"/>
                </a:ext>
              </a:extLst>
            </p:cNvPr>
            <p:cNvCxnSpPr>
              <a:cxnSpLocks/>
            </p:cNvCxnSpPr>
            <p:nvPr/>
          </p:nvCxnSpPr>
          <p:spPr>
            <a:xfrm>
              <a:off x="937933" y="736260"/>
              <a:ext cx="346128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0C95E5B7-A5B4-6490-DD09-54CEF4DAA40B}"/>
                </a:ext>
              </a:extLst>
            </p:cNvPr>
            <p:cNvCxnSpPr>
              <a:cxnSpLocks/>
            </p:cNvCxnSpPr>
            <p:nvPr/>
          </p:nvCxnSpPr>
          <p:spPr>
            <a:xfrm>
              <a:off x="7845944" y="736260"/>
              <a:ext cx="3408124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DAD6C797-62C8-CF8F-9A44-89EBDBC82D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927" y="5506721"/>
            <a:ext cx="1357935" cy="135127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C5CDD29-1898-00A6-1B8E-210CF754752D}"/>
              </a:ext>
            </a:extLst>
          </p:cNvPr>
          <p:cNvSpPr txBox="1"/>
          <p:nvPr/>
        </p:nvSpPr>
        <p:spPr>
          <a:xfrm>
            <a:off x="397164" y="1311564"/>
            <a:ext cx="56526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目前得到的较好的实验结果，对于步骤的修改包括：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、脱气温度由</a:t>
            </a:r>
            <a:r>
              <a:rPr lang="en-US" altLang="zh-CN" dirty="0"/>
              <a:t>50</a:t>
            </a:r>
            <a:r>
              <a:rPr lang="zh-CN" altLang="en-US" dirty="0"/>
              <a:t>℃调整为</a:t>
            </a:r>
            <a:r>
              <a:rPr lang="en-US" altLang="zh-CN" dirty="0"/>
              <a:t>120</a:t>
            </a:r>
            <a:r>
              <a:rPr lang="zh-CN" altLang="en-US" dirty="0"/>
              <a:t>℃；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295</a:t>
            </a:r>
            <a:r>
              <a:rPr lang="zh-CN" altLang="en-US" dirty="0"/>
              <a:t>℃保持时间由</a:t>
            </a:r>
            <a:r>
              <a:rPr lang="en-US" altLang="zh-CN" dirty="0"/>
              <a:t>30min</a:t>
            </a:r>
            <a:r>
              <a:rPr lang="zh-CN" altLang="en-US" dirty="0"/>
              <a:t>调整为</a:t>
            </a:r>
            <a:r>
              <a:rPr lang="en-US" altLang="zh-CN" dirty="0"/>
              <a:t>40min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、离心时以丙酮作为溶剂；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59EC324-589C-CBA9-04E4-7F2044A2D4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619" y="2890982"/>
            <a:ext cx="2863308" cy="381923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B177938-E635-DC5B-BD15-B116945290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048" y="2909454"/>
            <a:ext cx="2580093" cy="379152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1081F0C-C517-9F63-4566-13B5AEC57C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18" y="2912492"/>
            <a:ext cx="2601252" cy="382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44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 advTm="3000">
        <p:random/>
      </p:transition>
    </mc:Choice>
    <mc:Fallback>
      <p:transition spd="slow" advTm="3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E3001-EB90-3F7E-ECA5-ED201146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96D9035-4522-512E-FF5F-57F6C2601E6C}"/>
              </a:ext>
            </a:extLst>
          </p:cNvPr>
          <p:cNvGrpSpPr/>
          <p:nvPr/>
        </p:nvGrpSpPr>
        <p:grpSpPr>
          <a:xfrm>
            <a:off x="937933" y="453458"/>
            <a:ext cx="10316135" cy="587853"/>
            <a:chOff x="937933" y="453458"/>
            <a:chExt cx="10316135" cy="5878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BED9F75-63BA-FE1A-4338-1C1DDCAF6D82}"/>
                </a:ext>
              </a:extLst>
            </p:cNvPr>
            <p:cNvSpPr/>
            <p:nvPr/>
          </p:nvSpPr>
          <p:spPr>
            <a:xfrm>
              <a:off x="4081916" y="453458"/>
              <a:ext cx="4081333" cy="58785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二、论文部分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BF299CD9-9CE6-3D05-4D2B-BF1407B1295D}"/>
                </a:ext>
              </a:extLst>
            </p:cNvPr>
            <p:cNvCxnSpPr>
              <a:cxnSpLocks/>
            </p:cNvCxnSpPr>
            <p:nvPr/>
          </p:nvCxnSpPr>
          <p:spPr>
            <a:xfrm>
              <a:off x="937933" y="736260"/>
              <a:ext cx="346128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CD1304E-2359-B05D-B135-47E163810B35}"/>
                </a:ext>
              </a:extLst>
            </p:cNvPr>
            <p:cNvCxnSpPr>
              <a:cxnSpLocks/>
            </p:cNvCxnSpPr>
            <p:nvPr/>
          </p:nvCxnSpPr>
          <p:spPr>
            <a:xfrm>
              <a:off x="7845944" y="736260"/>
              <a:ext cx="3408124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BA6C7E68-6470-D9C7-ABB2-E109E7C1D2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927" y="5506721"/>
            <a:ext cx="1357935" cy="135127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F49C9BC-AA57-4822-B12F-6D0895D76DB0}"/>
              </a:ext>
            </a:extLst>
          </p:cNvPr>
          <p:cNvSpPr txBox="1"/>
          <p:nvPr/>
        </p:nvSpPr>
        <p:spPr>
          <a:xfrm>
            <a:off x="397164" y="1311564"/>
            <a:ext cx="56526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目前已完成提纲的编写及一些部分的初稿</a:t>
            </a:r>
            <a:endParaRPr lang="en-US" altLang="zh-CN" dirty="0"/>
          </a:p>
          <a:p>
            <a:r>
              <a:rPr lang="zh-CN" altLang="en-US" dirty="0"/>
              <a:t>整篇论文由八个部分构成，分别为：</a:t>
            </a:r>
            <a:endParaRPr lang="en-US" altLang="zh-CN" dirty="0"/>
          </a:p>
          <a:p>
            <a:r>
              <a:rPr lang="zh-CN" altLang="en-US" dirty="0"/>
              <a:t>绪论、理论及技术基础、数据部分、模型构建及对比部分、模型优化部分、实验部分、综合分析部分、总结部分。同时包括一些如核心代码清单、中英文对照表等内容。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A6CA341-5DD6-29AC-197C-C5A97B4DDB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234977"/>
              </p:ext>
            </p:extLst>
          </p:nvPr>
        </p:nvGraphicFramePr>
        <p:xfrm>
          <a:off x="1957821" y="3703492"/>
          <a:ext cx="1201015" cy="1118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4" imgW="556334" imgH="518037" progId="Package">
                  <p:embed/>
                </p:oleObj>
              </mc:Choice>
              <mc:Fallback>
                <p:oleObj name="包装程序外壳对象" showAsIcon="1" r:id="rId4" imgW="556334" imgH="518037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7821" y="3703492"/>
                        <a:ext cx="1201015" cy="11186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655217A-DA65-5E1D-60D7-1D1EF61BDB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045945"/>
              </p:ext>
            </p:extLst>
          </p:nvPr>
        </p:nvGraphicFramePr>
        <p:xfrm>
          <a:off x="645968" y="3703204"/>
          <a:ext cx="1190581" cy="1108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6" imgW="556334" imgH="518037" progId="Package">
                  <p:embed/>
                </p:oleObj>
              </mc:Choice>
              <mc:Fallback>
                <p:oleObj name="包装程序外壳对象" showAsIcon="1" r:id="rId6" imgW="556334" imgH="518037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5968" y="3703204"/>
                        <a:ext cx="1190581" cy="1108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7153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 advTm="3000">
        <p:random/>
      </p:transition>
    </mc:Choice>
    <mc:Fallback>
      <p:transition spd="slow" advTm="3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>
            <a:off x="5780868" y="2161671"/>
            <a:ext cx="4559935" cy="3154454"/>
          </a:xfrm>
          <a:custGeom>
            <a:avLst/>
            <a:gdLst>
              <a:gd name="connsiteX0" fmla="*/ 66532 w 4106520"/>
              <a:gd name="connsiteY0" fmla="*/ 0 h 3154454"/>
              <a:gd name="connsiteX1" fmla="*/ 4106520 w 4106520"/>
              <a:gd name="connsiteY1" fmla="*/ 0 h 3154454"/>
              <a:gd name="connsiteX2" fmla="*/ 4106520 w 4106520"/>
              <a:gd name="connsiteY2" fmla="*/ 2522591 h 3154454"/>
              <a:gd name="connsiteX3" fmla="*/ 4092233 w 4106520"/>
              <a:gd name="connsiteY3" fmla="*/ 2530896 h 3154454"/>
              <a:gd name="connsiteX4" fmla="*/ 3749333 w 4106520"/>
              <a:gd name="connsiteY4" fmla="*/ 2828924 h 3154454"/>
              <a:gd name="connsiteX5" fmla="*/ 2820645 w 4106520"/>
              <a:gd name="connsiteY5" fmla="*/ 3071812 h 3154454"/>
              <a:gd name="connsiteX6" fmla="*/ 2642833 w 4106520"/>
              <a:gd name="connsiteY6" fmla="*/ 3121149 h 3154454"/>
              <a:gd name="connsiteX7" fmla="*/ 2521312 w 4106520"/>
              <a:gd name="connsiteY7" fmla="*/ 3154454 h 3154454"/>
              <a:gd name="connsiteX8" fmla="*/ 2318353 w 4106520"/>
              <a:gd name="connsiteY8" fmla="*/ 3144205 h 3154454"/>
              <a:gd name="connsiteX9" fmla="*/ 0 w 4106520"/>
              <a:gd name="connsiteY9" fmla="*/ 575150 h 3154454"/>
              <a:gd name="connsiteX10" fmla="*/ 52465 w 4106520"/>
              <a:gd name="connsiteY10" fmla="*/ 54709 h 315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06520" h="3154454">
                <a:moveTo>
                  <a:pt x="66532" y="0"/>
                </a:moveTo>
                <a:lnTo>
                  <a:pt x="4106520" y="0"/>
                </a:lnTo>
                <a:lnTo>
                  <a:pt x="4106520" y="2522591"/>
                </a:lnTo>
                <a:lnTo>
                  <a:pt x="4092233" y="2530896"/>
                </a:lnTo>
                <a:cubicBezTo>
                  <a:pt x="3992667" y="2606129"/>
                  <a:pt x="3922569" y="2755701"/>
                  <a:pt x="3749333" y="2828924"/>
                </a:cubicBezTo>
                <a:cubicBezTo>
                  <a:pt x="3518352" y="2926555"/>
                  <a:pt x="3061151" y="2997993"/>
                  <a:pt x="2820645" y="3071812"/>
                </a:cubicBezTo>
                <a:cubicBezTo>
                  <a:pt x="2760519" y="3090267"/>
                  <a:pt x="2700094" y="3106192"/>
                  <a:pt x="2642833" y="3121149"/>
                </a:cubicBezTo>
                <a:lnTo>
                  <a:pt x="2521312" y="3154454"/>
                </a:lnTo>
                <a:lnTo>
                  <a:pt x="2318353" y="3144205"/>
                </a:lnTo>
                <a:cubicBezTo>
                  <a:pt x="1016169" y="3011961"/>
                  <a:pt x="0" y="1912225"/>
                  <a:pt x="0" y="575150"/>
                </a:cubicBezTo>
                <a:cubicBezTo>
                  <a:pt x="0" y="396874"/>
                  <a:pt x="18065" y="222816"/>
                  <a:pt x="52465" y="54709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-1" y="2145684"/>
            <a:ext cx="8748215" cy="3157538"/>
          </a:xfrm>
          <a:custGeom>
            <a:avLst/>
            <a:gdLst>
              <a:gd name="connsiteX0" fmla="*/ 0 w 8701088"/>
              <a:gd name="connsiteY0" fmla="*/ 0 h 3157538"/>
              <a:gd name="connsiteX1" fmla="*/ 6218437 w 8701088"/>
              <a:gd name="connsiteY1" fmla="*/ 0 h 3157538"/>
              <a:gd name="connsiteX2" fmla="*/ 6204370 w 8701088"/>
              <a:gd name="connsiteY2" fmla="*/ 54709 h 3157538"/>
              <a:gd name="connsiteX3" fmla="*/ 6151905 w 8701088"/>
              <a:gd name="connsiteY3" fmla="*/ 575150 h 3157538"/>
              <a:gd name="connsiteX4" fmla="*/ 8470258 w 8701088"/>
              <a:gd name="connsiteY4" fmla="*/ 3144205 h 3157538"/>
              <a:gd name="connsiteX5" fmla="*/ 8701088 w 8701088"/>
              <a:gd name="connsiteY5" fmla="*/ 3155861 h 3157538"/>
              <a:gd name="connsiteX6" fmla="*/ 8701088 w 8701088"/>
              <a:gd name="connsiteY6" fmla="*/ 3157538 h 3157538"/>
              <a:gd name="connsiteX7" fmla="*/ 0 w 8701088"/>
              <a:gd name="connsiteY7" fmla="*/ 3157538 h 3157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01088" h="3157538">
                <a:moveTo>
                  <a:pt x="0" y="0"/>
                </a:moveTo>
                <a:lnTo>
                  <a:pt x="6218437" y="0"/>
                </a:lnTo>
                <a:lnTo>
                  <a:pt x="6204370" y="54709"/>
                </a:lnTo>
                <a:cubicBezTo>
                  <a:pt x="6169970" y="222816"/>
                  <a:pt x="6151905" y="396874"/>
                  <a:pt x="6151905" y="575150"/>
                </a:cubicBezTo>
                <a:cubicBezTo>
                  <a:pt x="6151905" y="1912225"/>
                  <a:pt x="7168074" y="3011961"/>
                  <a:pt x="8470258" y="3144205"/>
                </a:cubicBezTo>
                <a:lnTo>
                  <a:pt x="8701088" y="3155861"/>
                </a:lnTo>
                <a:lnTo>
                  <a:pt x="8701088" y="3157538"/>
                </a:lnTo>
                <a:lnTo>
                  <a:pt x="0" y="3157538"/>
                </a:lnTo>
                <a:close/>
              </a:path>
            </a:pathLst>
          </a:custGeom>
          <a:gradFill>
            <a:gsLst>
              <a:gs pos="0">
                <a:srgbClr val="1373B7"/>
              </a:gs>
              <a:gs pos="100000">
                <a:srgbClr val="115D9B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 rot="10800000">
            <a:off x="6151905" y="138447"/>
            <a:ext cx="5164774" cy="5164774"/>
          </a:xfrm>
          <a:custGeom>
            <a:avLst/>
            <a:gdLst>
              <a:gd name="connsiteX0" fmla="*/ 2299835 w 4599670"/>
              <a:gd name="connsiteY0" fmla="*/ 107476 h 4599670"/>
              <a:gd name="connsiteX1" fmla="*/ 107476 w 4599670"/>
              <a:gd name="connsiteY1" fmla="*/ 2299835 h 4599670"/>
              <a:gd name="connsiteX2" fmla="*/ 2299835 w 4599670"/>
              <a:gd name="connsiteY2" fmla="*/ 4492194 h 4599670"/>
              <a:gd name="connsiteX3" fmla="*/ 4492194 w 4599670"/>
              <a:gd name="connsiteY3" fmla="*/ 2299835 h 4599670"/>
              <a:gd name="connsiteX4" fmla="*/ 2299835 w 4599670"/>
              <a:gd name="connsiteY4" fmla="*/ 107476 h 4599670"/>
              <a:gd name="connsiteX5" fmla="*/ 2299835 w 4599670"/>
              <a:gd name="connsiteY5" fmla="*/ 0 h 4599670"/>
              <a:gd name="connsiteX6" fmla="*/ 4599670 w 4599670"/>
              <a:gd name="connsiteY6" fmla="*/ 2299835 h 4599670"/>
              <a:gd name="connsiteX7" fmla="*/ 2299835 w 4599670"/>
              <a:gd name="connsiteY7" fmla="*/ 4599670 h 4599670"/>
              <a:gd name="connsiteX8" fmla="*/ 0 w 4599670"/>
              <a:gd name="connsiteY8" fmla="*/ 2299835 h 4599670"/>
              <a:gd name="connsiteX9" fmla="*/ 2299835 w 4599670"/>
              <a:gd name="connsiteY9" fmla="*/ 0 h 4599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9670" h="4599670">
                <a:moveTo>
                  <a:pt x="2299835" y="107476"/>
                </a:moveTo>
                <a:cubicBezTo>
                  <a:pt x="1089029" y="107476"/>
                  <a:pt x="107476" y="1089029"/>
                  <a:pt x="107476" y="2299835"/>
                </a:cubicBezTo>
                <a:cubicBezTo>
                  <a:pt x="107476" y="3510641"/>
                  <a:pt x="1089029" y="4492194"/>
                  <a:pt x="2299835" y="4492194"/>
                </a:cubicBezTo>
                <a:cubicBezTo>
                  <a:pt x="3510641" y="4492194"/>
                  <a:pt x="4492194" y="3510641"/>
                  <a:pt x="4492194" y="2299835"/>
                </a:cubicBezTo>
                <a:cubicBezTo>
                  <a:pt x="4492194" y="1089029"/>
                  <a:pt x="3510641" y="107476"/>
                  <a:pt x="2299835" y="107476"/>
                </a:cubicBezTo>
                <a:close/>
                <a:moveTo>
                  <a:pt x="2299835" y="0"/>
                </a:moveTo>
                <a:cubicBezTo>
                  <a:pt x="3569999" y="0"/>
                  <a:pt x="4599670" y="1029671"/>
                  <a:pt x="4599670" y="2299835"/>
                </a:cubicBezTo>
                <a:cubicBezTo>
                  <a:pt x="4599670" y="3569999"/>
                  <a:pt x="3569999" y="4599670"/>
                  <a:pt x="2299835" y="4599670"/>
                </a:cubicBezTo>
                <a:cubicBezTo>
                  <a:pt x="1029671" y="4599670"/>
                  <a:pt x="0" y="3569999"/>
                  <a:pt x="0" y="2299835"/>
                </a:cubicBezTo>
                <a:cubicBezTo>
                  <a:pt x="0" y="1029671"/>
                  <a:pt x="1029671" y="0"/>
                  <a:pt x="2299835" y="0"/>
                </a:cubicBezTo>
                <a:close/>
              </a:path>
            </a:pathLst>
          </a:custGeom>
          <a:gradFill flip="none" rotWithShape="1">
            <a:gsLst>
              <a:gs pos="77000">
                <a:srgbClr val="1373B7"/>
              </a:gs>
              <a:gs pos="14000">
                <a:srgbClr val="1373B7">
                  <a:alpha val="0"/>
                </a:srgbClr>
              </a:gs>
              <a:gs pos="100000">
                <a:srgbClr val="115D9B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 58"/>
          <p:cNvSpPr/>
          <p:nvPr/>
        </p:nvSpPr>
        <p:spPr>
          <a:xfrm>
            <a:off x="941696" y="2620369"/>
            <a:ext cx="1801504" cy="2169994"/>
          </a:xfrm>
          <a:custGeom>
            <a:avLst/>
            <a:gdLst>
              <a:gd name="connsiteX0" fmla="*/ 0 w 1801504"/>
              <a:gd name="connsiteY0" fmla="*/ 0 h 2169994"/>
              <a:gd name="connsiteX1" fmla="*/ 1801504 w 1801504"/>
              <a:gd name="connsiteY1" fmla="*/ 0 h 2169994"/>
              <a:gd name="connsiteX2" fmla="*/ 1801504 w 1801504"/>
              <a:gd name="connsiteY2" fmla="*/ 284150 h 2169994"/>
              <a:gd name="connsiteX3" fmla="*/ 1732714 w 1801504"/>
              <a:gd name="connsiteY3" fmla="*/ 284150 h 2169994"/>
              <a:gd name="connsiteX4" fmla="*/ 1732714 w 1801504"/>
              <a:gd name="connsiteY4" fmla="*/ 71015 h 2169994"/>
              <a:gd name="connsiteX5" fmla="*/ 68790 w 1801504"/>
              <a:gd name="connsiteY5" fmla="*/ 71015 h 2169994"/>
              <a:gd name="connsiteX6" fmla="*/ 68790 w 1801504"/>
              <a:gd name="connsiteY6" fmla="*/ 2098979 h 2169994"/>
              <a:gd name="connsiteX7" fmla="*/ 1732714 w 1801504"/>
              <a:gd name="connsiteY7" fmla="*/ 2098979 h 2169994"/>
              <a:gd name="connsiteX8" fmla="*/ 1732714 w 1801504"/>
              <a:gd name="connsiteY8" fmla="*/ 1885844 h 2169994"/>
              <a:gd name="connsiteX9" fmla="*/ 1801504 w 1801504"/>
              <a:gd name="connsiteY9" fmla="*/ 1885844 h 2169994"/>
              <a:gd name="connsiteX10" fmla="*/ 1801504 w 1801504"/>
              <a:gd name="connsiteY10" fmla="*/ 2169994 h 2169994"/>
              <a:gd name="connsiteX11" fmla="*/ 0 w 1801504"/>
              <a:gd name="connsiteY11" fmla="*/ 2169994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01504" h="2169994">
                <a:moveTo>
                  <a:pt x="0" y="0"/>
                </a:moveTo>
                <a:lnTo>
                  <a:pt x="1801504" y="0"/>
                </a:lnTo>
                <a:lnTo>
                  <a:pt x="1801504" y="284150"/>
                </a:lnTo>
                <a:lnTo>
                  <a:pt x="1732714" y="284150"/>
                </a:lnTo>
                <a:lnTo>
                  <a:pt x="1732714" y="71015"/>
                </a:lnTo>
                <a:lnTo>
                  <a:pt x="68790" y="71015"/>
                </a:lnTo>
                <a:lnTo>
                  <a:pt x="68790" y="2098979"/>
                </a:lnTo>
                <a:lnTo>
                  <a:pt x="1732714" y="2098979"/>
                </a:lnTo>
                <a:lnTo>
                  <a:pt x="1732714" y="1885844"/>
                </a:lnTo>
                <a:lnTo>
                  <a:pt x="1801504" y="1885844"/>
                </a:lnTo>
                <a:lnTo>
                  <a:pt x="1801504" y="2169994"/>
                </a:lnTo>
                <a:lnTo>
                  <a:pt x="0" y="21699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E69390E-89A2-447D-BF42-CA3337F8E1F6}"/>
              </a:ext>
            </a:extLst>
          </p:cNvPr>
          <p:cNvSpPr txBox="1"/>
          <p:nvPr/>
        </p:nvSpPr>
        <p:spPr>
          <a:xfrm>
            <a:off x="1568090" y="3085838"/>
            <a:ext cx="4623988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cs typeface="+mn-ea"/>
                <a:sym typeface="+mn-lt"/>
              </a:rPr>
              <a:t>请老师批评指正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29C6462-2B39-42F2-8936-EC15DE1DAEC3}"/>
              </a:ext>
            </a:extLst>
          </p:cNvPr>
          <p:cNvSpPr txBox="1"/>
          <p:nvPr/>
        </p:nvSpPr>
        <p:spPr>
          <a:xfrm>
            <a:off x="3193499" y="5893462"/>
            <a:ext cx="6242005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王坚泽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人工智能算法分析荧光太阳能聚光器光学效率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8685" y="407629"/>
            <a:ext cx="1636819" cy="162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3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4" grpId="0" animBg="1"/>
      <p:bldP spid="25" grpId="0" animBg="1"/>
      <p:bldP spid="59" grpId="0" animBg="1"/>
      <p:bldP spid="61" grpId="0"/>
      <p:bldP spid="6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渐变蓝色商务季度工作报告PPT模板"/>
  <p:tag name="ISPRING_FIRST_PUBLISH" val="1"/>
</p:tagLst>
</file>

<file path=ppt/theme/theme1.xml><?xml version="1.0" encoding="utf-8"?>
<a:theme xmlns:a="http://schemas.openxmlformats.org/drawingml/2006/main" name="Office Theme">
  <a:themeElements>
    <a:clrScheme name="Extre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A7F0"/>
      </a:accent1>
      <a:accent2>
        <a:srgbClr val="36D7B7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yd3b1foa">
      <a:majorFont>
        <a:latin typeface="字魂59号-创粗黑"/>
        <a:ea typeface="字魂59号-创粗黑"/>
        <a:cs typeface=""/>
      </a:majorFont>
      <a:minorFont>
        <a:latin typeface="字魂59号-创粗黑"/>
        <a:ea typeface="字魂59号-创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281</Words>
  <Application>Microsoft Office PowerPoint</Application>
  <PresentationFormat>宽屏</PresentationFormat>
  <Paragraphs>27</Paragraphs>
  <Slides>6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字魂59号-创粗黑</vt:lpstr>
      <vt:lpstr>Arial</vt:lpstr>
      <vt:lpstr>Office Theme</vt:lpstr>
      <vt:lpstr>程序包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渐变蓝色商务季度工作报告PPT模板</dc:title>
  <dc:creator>执念.</dc:creator>
  <cp:lastModifiedBy>Coral</cp:lastModifiedBy>
  <cp:revision>44</cp:revision>
  <dcterms:created xsi:type="dcterms:W3CDTF">2018-10-08T12:03:54Z</dcterms:created>
  <dcterms:modified xsi:type="dcterms:W3CDTF">2026-04-19T15:02:00Z</dcterms:modified>
</cp:coreProperties>
</file>