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theme/themeOverride4.xml" ContentType="application/vnd.openxmlformats-officedocument.themeOverride+xml"/>
  <Override PartName="/ppt/notesSlides/notesSlide4.xml" ContentType="application/vnd.openxmlformats-officedocument.presentationml.notesSlide+xml"/>
  <Override PartName="/ppt/theme/themeOverride5.xml" ContentType="application/vnd.openxmlformats-officedocument.themeOverride+xml"/>
  <Override PartName="/ppt/notesSlides/notesSlide5.xml" ContentType="application/vnd.openxmlformats-officedocument.presentationml.notesSlide+xml"/>
  <Override PartName="/ppt/theme/themeOverride6.xml" ContentType="application/vnd.openxmlformats-officedocument.themeOverride+xml"/>
  <Override PartName="/ppt/notesSlides/notesSlide6.xml" ContentType="application/vnd.openxmlformats-officedocument.presentationml.notesSlide+xml"/>
  <Override PartName="/ppt/theme/themeOverride7.xml" ContentType="application/vnd.openxmlformats-officedocument.themeOverride+xml"/>
  <Override PartName="/ppt/notesSlides/notesSlide7.xml" ContentType="application/vnd.openxmlformats-officedocument.presentationml.notesSlide+xml"/>
  <Override PartName="/ppt/theme/themeOverride8.xml" ContentType="application/vnd.openxmlformats-officedocument.themeOverride+xml"/>
  <Override PartName="/ppt/notesSlides/notesSlide8.xml" ContentType="application/vnd.openxmlformats-officedocument.presentationml.notesSlide+xml"/>
  <Override PartName="/ppt/theme/themeOverride9.xml" ContentType="application/vnd.openxmlformats-officedocument.themeOverr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Override10.xml" ContentType="application/vnd.openxmlformats-officedocument.themeOverride+xml"/>
  <Override PartName="/ppt/notesSlides/notesSlide11.xml" ContentType="application/vnd.openxmlformats-officedocument.presentationml.notesSlide+xml"/>
  <Override PartName="/ppt/theme/themeOverride11.xml" ContentType="application/vnd.openxmlformats-officedocument.themeOverride+xml"/>
  <Override PartName="/ppt/notesSlides/notesSlide12.xml" ContentType="application/vnd.openxmlformats-officedocument.presentationml.notesSlide+xml"/>
  <Override PartName="/ppt/theme/themeOverride12.xml" ContentType="application/vnd.openxmlformats-officedocument.themeOverride+xml"/>
  <Override PartName="/ppt/notesSlides/notesSlide13.xml" ContentType="application/vnd.openxmlformats-officedocument.presentationml.notesSlide+xml"/>
  <Override PartName="/ppt/theme/themeOverride13.xml" ContentType="application/vnd.openxmlformats-officedocument.themeOverride+xml"/>
  <Override PartName="/ppt/notesSlides/notesSlide14.xml" ContentType="application/vnd.openxmlformats-officedocument.presentationml.notesSlide+xml"/>
  <Override PartName="/ppt/theme/themeOverride14.xml" ContentType="application/vnd.openxmlformats-officedocument.themeOverride+xml"/>
  <Override PartName="/ppt/notesSlides/notesSlide15.xml" ContentType="application/vnd.openxmlformats-officedocument.presentationml.notesSlide+xml"/>
  <Override PartName="/ppt/theme/themeOverride15.xml" ContentType="application/vnd.openxmlformats-officedocument.themeOverride+xml"/>
  <Override PartName="/ppt/notesSlides/notesSlide16.xml" ContentType="application/vnd.openxmlformats-officedocument.presentationml.notesSlide+xml"/>
  <Override PartName="/ppt/theme/themeOverride16.xml" ContentType="application/vnd.openxmlformats-officedocument.themeOverride+xml"/>
  <Override PartName="/ppt/notesSlides/notesSlide17.xml" ContentType="application/vnd.openxmlformats-officedocument.presentationml.notesSlide+xml"/>
  <Override PartName="/ppt/theme/themeOverride17.xml" ContentType="application/vnd.openxmlformats-officedocument.themeOverride+xml"/>
  <Override PartName="/ppt/notesSlides/notesSlide18.xml" ContentType="application/vnd.openxmlformats-officedocument.presentationml.notesSlide+xml"/>
  <Override PartName="/ppt/theme/themeOverride18.xml" ContentType="application/vnd.openxmlformats-officedocument.themeOverride+xml"/>
  <Override PartName="/ppt/notesSlides/notesSlide19.xml" ContentType="application/vnd.openxmlformats-officedocument.presentationml.notesSlide+xml"/>
  <Override PartName="/ppt/theme/themeOverride19.xml" ContentType="application/vnd.openxmlformats-officedocument.themeOverr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4"/>
  </p:notesMasterIdLst>
  <p:sldIdLst>
    <p:sldId id="256" r:id="rId3"/>
    <p:sldId id="258" r:id="rId4"/>
    <p:sldId id="257" r:id="rId5"/>
    <p:sldId id="311" r:id="rId6"/>
    <p:sldId id="295" r:id="rId7"/>
    <p:sldId id="319" r:id="rId8"/>
    <p:sldId id="300" r:id="rId9"/>
    <p:sldId id="320" r:id="rId10"/>
    <p:sldId id="303" r:id="rId11"/>
    <p:sldId id="324" r:id="rId12"/>
    <p:sldId id="314" r:id="rId13"/>
    <p:sldId id="310" r:id="rId14"/>
    <p:sldId id="328" r:id="rId15"/>
    <p:sldId id="321" r:id="rId16"/>
    <p:sldId id="296" r:id="rId17"/>
    <p:sldId id="315" r:id="rId18"/>
    <p:sldId id="307" r:id="rId19"/>
    <p:sldId id="317" r:id="rId20"/>
    <p:sldId id="292" r:id="rId21"/>
    <p:sldId id="318" r:id="rId22"/>
    <p:sldId id="329" r:id="rId23"/>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3172"/>
    <a:srgbClr val="FF9C00"/>
    <a:srgbClr val="FECB30"/>
    <a:srgbClr val="B23AF9"/>
    <a:srgbClr val="6F42FF"/>
    <a:srgbClr val="2AA1FF"/>
    <a:srgbClr val="1CA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377" autoAdjust="0"/>
  </p:normalViewPr>
  <p:slideViewPr>
    <p:cSldViewPr snapToGrid="0">
      <p:cViewPr varScale="1">
        <p:scale>
          <a:sx n="77" d="100"/>
          <a:sy n="77" d="100"/>
        </p:scale>
        <p:origin x="82" y="62"/>
      </p:cViewPr>
      <p:guideLst/>
    </p:cSldViewPr>
  </p:slid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209957-232C-4C23-BD71-3CF7C12B4AAB}" type="datetimeFigureOut">
              <a:rPr lang="zh-CN" altLang="en-US" smtClean="0"/>
              <a:t>2026/1/5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D8AB2E-B972-4F63-8917-8AA4D44F9082}" type="slidenum">
              <a:rPr lang="zh-CN" altLang="en-US" smtClean="0"/>
              <a:t>‹#›</a:t>
            </a:fld>
            <a:endParaRPr lang="zh-CN" altLang="en-US"/>
          </a:p>
        </p:txBody>
      </p:sp>
    </p:spTree>
    <p:extLst>
      <p:ext uri="{BB962C8B-B14F-4D97-AF65-F5344CB8AC3E}">
        <p14:creationId xmlns:p14="http://schemas.microsoft.com/office/powerpoint/2010/main" val="3927875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DD8AB2E-B972-4F63-8917-8AA4D44F9082}" type="slidenum">
              <a:rPr lang="zh-CN" altLang="en-US" smtClean="0"/>
              <a:t>1</a:t>
            </a:fld>
            <a:endParaRPr lang="zh-CN" altLang="en-US"/>
          </a:p>
        </p:txBody>
      </p:sp>
    </p:spTree>
    <p:extLst>
      <p:ext uri="{BB962C8B-B14F-4D97-AF65-F5344CB8AC3E}">
        <p14:creationId xmlns:p14="http://schemas.microsoft.com/office/powerpoint/2010/main" val="26448243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D8E374D-6E28-41D4-B529-E46F9BB59559}" type="slidenum">
              <a:rPr lang="zh-CN" altLang="en-US" smtClean="0"/>
              <a:t>2</a:t>
            </a:fld>
            <a:endParaRPr lang="zh-CN" altLang="en-US"/>
          </a:p>
        </p:txBody>
      </p:sp>
    </p:spTree>
    <p:extLst>
      <p:ext uri="{BB962C8B-B14F-4D97-AF65-F5344CB8AC3E}">
        <p14:creationId xmlns:p14="http://schemas.microsoft.com/office/powerpoint/2010/main" val="32105906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DD8AB2E-B972-4F63-8917-8AA4D44F9082}" type="slidenum">
              <a:rPr lang="zh-CN" altLang="en-US" smtClean="0"/>
              <a:t>3</a:t>
            </a:fld>
            <a:endParaRPr lang="zh-CN" altLang="en-US"/>
          </a:p>
        </p:txBody>
      </p:sp>
    </p:spTree>
    <p:extLst>
      <p:ext uri="{BB962C8B-B14F-4D97-AF65-F5344CB8AC3E}">
        <p14:creationId xmlns:p14="http://schemas.microsoft.com/office/powerpoint/2010/main" val="3102320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目前人工智能算法在荧光太阳能聚光器光学效率预测领域正处于快速发展阶段，呈现出从传统建模向智能化、数据驱动范式转变的明显趋势。人工智能算法已深度渗透到荧光太阳能聚光器光学效率研究预测的各个环节。深度学习算法通过建立光学参数与物理相应之间的非线性映射关系，显著提升了预测精度和计算效率。贝叶斯优化算法通过建立发光效率、热稳定性与元素配比的非线性映射模型，已实现稀土掺杂荧光粉的组分自动优化。集成学习方法如</a:t>
            </a:r>
            <a:r>
              <a:rPr lang="en-US" altLang="zh-CN" sz="1200" kern="1200" dirty="0">
                <a:solidFill>
                  <a:schemeClr val="tx1"/>
                </a:solidFill>
                <a:effectLst/>
                <a:latin typeface="+mn-lt"/>
                <a:ea typeface="+mn-ea"/>
                <a:cs typeface="+mn-cs"/>
              </a:rPr>
              <a:t>XGBoost</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LightGBM</a:t>
            </a:r>
            <a:r>
              <a:rPr lang="zh-CN" altLang="zh-CN" sz="1200" kern="1200" dirty="0">
                <a:solidFill>
                  <a:schemeClr val="tx1"/>
                </a:solidFill>
                <a:effectLst/>
                <a:latin typeface="+mn-lt"/>
                <a:ea typeface="+mn-ea"/>
                <a:cs typeface="+mn-cs"/>
              </a:rPr>
              <a:t>等通过组合多个弱学习器，在预测精度和泛化能力方面表现优异，这些算法能够有效处理高维特征和噪声数据，在荧光材料光学特性预测中展现出独特优势。</a:t>
            </a: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3765" rtl="0" eaLnBrk="1" fontAlgn="auto" latinLnBrk="0" hangingPunct="1">
              <a:lnSpc>
                <a:spcPct val="100000"/>
              </a:lnSpc>
              <a:spcBef>
                <a:spcPts val="0"/>
              </a:spcBef>
              <a:spcAft>
                <a:spcPts val="0"/>
              </a:spcAft>
              <a:buClrTx/>
              <a:buSzTx/>
              <a:buFontTx/>
              <a:buNone/>
              <a:defRPr/>
            </a:pPr>
            <a:fld id="{7D8E374D-6E28-41D4-B529-E46F9BB5955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1668625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基于</a:t>
            </a:r>
            <a:r>
              <a:rPr lang="en-US" altLang="zh-CN" sz="1200" kern="1200" dirty="0">
                <a:solidFill>
                  <a:schemeClr val="tx1"/>
                </a:solidFill>
                <a:effectLst/>
                <a:latin typeface="+mn-lt"/>
                <a:ea typeface="+mn-ea"/>
                <a:cs typeface="+mn-cs"/>
              </a:rPr>
              <a:t>Transformer</a:t>
            </a:r>
            <a:r>
              <a:rPr lang="zh-CN" altLang="zh-CN" sz="1200" kern="1200" dirty="0">
                <a:solidFill>
                  <a:schemeClr val="tx1"/>
                </a:solidFill>
                <a:effectLst/>
                <a:latin typeface="+mn-lt"/>
                <a:ea typeface="+mn-ea"/>
                <a:cs typeface="+mn-cs"/>
              </a:rPr>
              <a:t>架构的材料大模型正成为下一阶段研究热点，数字孪生技术在荧光材料生产线上实现规模化应用，物理信息神经网络（</a:t>
            </a:r>
            <a:r>
              <a:rPr lang="en-US" altLang="zh-CN" sz="1200" kern="1200" dirty="0">
                <a:solidFill>
                  <a:schemeClr val="tx1"/>
                </a:solidFill>
                <a:effectLst/>
                <a:latin typeface="+mn-lt"/>
                <a:ea typeface="+mn-ea"/>
                <a:cs typeface="+mn-cs"/>
              </a:rPr>
              <a:t>PINN</a:t>
            </a:r>
            <a:r>
              <a:rPr lang="zh-CN" altLang="zh-CN" sz="1200" kern="1200" dirty="0">
                <a:solidFill>
                  <a:schemeClr val="tx1"/>
                </a:solidFill>
                <a:effectLst/>
                <a:latin typeface="+mn-lt"/>
                <a:ea typeface="+mn-ea"/>
                <a:cs typeface="+mn-cs"/>
              </a:rPr>
              <a:t>）将物理守恒方程作为约束条件嵌入神经网络训练过程，实现数据驱动与物理规律相结合，显著提高了模型的可解释性和外推能力。这些技术的发展与推进为未来荧光太阳能聚光器光学效率预测提供了强大助力。</a:t>
            </a:r>
            <a:endParaRPr lang="zh-CN" altLang="en-US" dirty="0"/>
          </a:p>
        </p:txBody>
      </p:sp>
      <p:sp>
        <p:nvSpPr>
          <p:cNvPr id="4" name="灯片编号占位符 3"/>
          <p:cNvSpPr>
            <a:spLocks noGrp="1"/>
          </p:cNvSpPr>
          <p:nvPr>
            <p:ph type="sldNum" sz="quarter" idx="10"/>
          </p:nvPr>
        </p:nvSpPr>
        <p:spPr/>
        <p:txBody>
          <a:bodyPr/>
          <a:lstStyle/>
          <a:p>
            <a:pPr marL="0" marR="0" lvl="0" indent="0" algn="r" defTabSz="913765" rtl="0" eaLnBrk="1" fontAlgn="auto" latinLnBrk="0" hangingPunct="1">
              <a:lnSpc>
                <a:spcPct val="100000"/>
              </a:lnSpc>
              <a:spcBef>
                <a:spcPts val="0"/>
              </a:spcBef>
              <a:spcAft>
                <a:spcPts val="0"/>
              </a:spcAft>
              <a:buClrTx/>
              <a:buSzTx/>
              <a:buFontTx/>
              <a:buNone/>
              <a:defRPr/>
            </a:pPr>
            <a:fld id="{7D8E374D-6E28-41D4-B529-E46F9BB5955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603722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DD8AB2E-B972-4F63-8917-8AA4D44F9082}" type="slidenum">
              <a:rPr lang="zh-CN" altLang="en-US" smtClean="0"/>
              <a:t>6</a:t>
            </a:fld>
            <a:endParaRPr lang="zh-CN" altLang="en-US"/>
          </a:p>
        </p:txBody>
      </p:sp>
    </p:spTree>
    <p:extLst>
      <p:ext uri="{BB962C8B-B14F-4D97-AF65-F5344CB8AC3E}">
        <p14:creationId xmlns:p14="http://schemas.microsoft.com/office/powerpoint/2010/main" val="2761164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荧光太阳能聚光器（</a:t>
            </a:r>
            <a:r>
              <a:rPr lang="en-US" altLang="zh-CN" sz="1200" kern="1200" dirty="0">
                <a:solidFill>
                  <a:schemeClr val="tx1"/>
                </a:solidFill>
                <a:effectLst/>
                <a:latin typeface="+mn-lt"/>
                <a:ea typeface="+mn-ea"/>
                <a:cs typeface="+mn-cs"/>
              </a:rPr>
              <a:t>LSC</a:t>
            </a:r>
            <a:r>
              <a:rPr lang="zh-CN" altLang="zh-CN" sz="1200" kern="1200" dirty="0">
                <a:solidFill>
                  <a:schemeClr val="tx1"/>
                </a:solidFill>
                <a:effectLst/>
                <a:latin typeface="+mn-lt"/>
                <a:ea typeface="+mn-ea"/>
                <a:cs typeface="+mn-cs"/>
              </a:rPr>
              <a:t>）作为第三代光伏技术，符合我国</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双碳</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战略目标。</a:t>
            </a:r>
            <a:r>
              <a:rPr lang="en-US" altLang="zh-CN" sz="1200" kern="1200" dirty="0">
                <a:solidFill>
                  <a:schemeClr val="tx1"/>
                </a:solidFill>
                <a:effectLst/>
                <a:latin typeface="+mn-lt"/>
                <a:ea typeface="+mn-ea"/>
                <a:cs typeface="+mn-cs"/>
              </a:rPr>
              <a:t>2021</a:t>
            </a:r>
            <a:r>
              <a:rPr lang="zh-CN" altLang="zh-CN" sz="1200" kern="1200" dirty="0">
                <a:solidFill>
                  <a:schemeClr val="tx1"/>
                </a:solidFill>
                <a:effectLst/>
                <a:latin typeface="+mn-lt"/>
                <a:ea typeface="+mn-ea"/>
                <a:cs typeface="+mn-cs"/>
              </a:rPr>
              <a:t>年国务院印发的《</a:t>
            </a:r>
            <a:r>
              <a:rPr lang="en-US" altLang="zh-CN" sz="1200" kern="1200" dirty="0">
                <a:solidFill>
                  <a:schemeClr val="tx1"/>
                </a:solidFill>
                <a:effectLst/>
                <a:latin typeface="+mn-lt"/>
                <a:ea typeface="+mn-ea"/>
                <a:cs typeface="+mn-cs"/>
              </a:rPr>
              <a:t>2030</a:t>
            </a:r>
            <a:r>
              <a:rPr lang="zh-CN" altLang="zh-CN" sz="1200" kern="1200" dirty="0">
                <a:solidFill>
                  <a:schemeClr val="tx1"/>
                </a:solidFill>
                <a:effectLst/>
                <a:latin typeface="+mn-lt"/>
                <a:ea typeface="+mn-ea"/>
                <a:cs typeface="+mn-cs"/>
              </a:rPr>
              <a:t>年前碳达峰行动方案》明确提出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大力发展新能源</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，要求到</a:t>
            </a:r>
            <a:r>
              <a:rPr lang="en-US" altLang="zh-CN" sz="1200" kern="1200" dirty="0">
                <a:solidFill>
                  <a:schemeClr val="tx1"/>
                </a:solidFill>
                <a:effectLst/>
                <a:latin typeface="+mn-lt"/>
                <a:ea typeface="+mn-ea"/>
                <a:cs typeface="+mn-cs"/>
              </a:rPr>
              <a:t>2030</a:t>
            </a:r>
            <a:r>
              <a:rPr lang="zh-CN" altLang="zh-CN" sz="1200" kern="1200" dirty="0">
                <a:solidFill>
                  <a:schemeClr val="tx1"/>
                </a:solidFill>
                <a:effectLst/>
                <a:latin typeface="+mn-lt"/>
                <a:ea typeface="+mn-ea"/>
                <a:cs typeface="+mn-cs"/>
              </a:rPr>
              <a:t>年非化石能源消费比重达到</a:t>
            </a:r>
            <a:r>
              <a:rPr lang="en-US" altLang="zh-CN" sz="1200" kern="1200" dirty="0">
                <a:solidFill>
                  <a:schemeClr val="tx1"/>
                </a:solidFill>
                <a:effectLst/>
                <a:latin typeface="+mn-lt"/>
                <a:ea typeface="+mn-ea"/>
                <a:cs typeface="+mn-cs"/>
              </a:rPr>
              <a:t>25%</a:t>
            </a:r>
            <a:r>
              <a:rPr lang="zh-CN" altLang="zh-CN" sz="1200" kern="1200" dirty="0">
                <a:solidFill>
                  <a:schemeClr val="tx1"/>
                </a:solidFill>
                <a:effectLst/>
                <a:latin typeface="+mn-lt"/>
                <a:ea typeface="+mn-ea"/>
                <a:cs typeface="+mn-cs"/>
              </a:rPr>
              <a:t>左右。</a:t>
            </a:r>
            <a:r>
              <a:rPr lang="en-US" altLang="zh-CN" sz="1200" kern="1200" dirty="0">
                <a:solidFill>
                  <a:schemeClr val="tx1"/>
                </a:solidFill>
                <a:effectLst/>
                <a:latin typeface="+mn-lt"/>
                <a:ea typeface="+mn-ea"/>
                <a:cs typeface="+mn-cs"/>
              </a:rPr>
              <a:t>LSC</a:t>
            </a:r>
            <a:r>
              <a:rPr lang="zh-CN" altLang="zh-CN" sz="1200" kern="1200" dirty="0">
                <a:solidFill>
                  <a:schemeClr val="tx1"/>
                </a:solidFill>
                <a:effectLst/>
                <a:latin typeface="+mn-lt"/>
                <a:ea typeface="+mn-ea"/>
                <a:cs typeface="+mn-cs"/>
              </a:rPr>
              <a:t>技术能够实现建筑光伏一体化（</a:t>
            </a:r>
            <a:r>
              <a:rPr lang="en-US" altLang="zh-CN" sz="1200" kern="1200" dirty="0">
                <a:solidFill>
                  <a:schemeClr val="tx1"/>
                </a:solidFill>
                <a:effectLst/>
                <a:latin typeface="+mn-lt"/>
                <a:ea typeface="+mn-ea"/>
                <a:cs typeface="+mn-cs"/>
              </a:rPr>
              <a:t>BIPV</a:t>
            </a:r>
            <a:r>
              <a:rPr lang="zh-CN" altLang="zh-CN" sz="1200" kern="1200" dirty="0">
                <a:solidFill>
                  <a:schemeClr val="tx1"/>
                </a:solidFill>
                <a:effectLst/>
                <a:latin typeface="+mn-lt"/>
                <a:ea typeface="+mn-ea"/>
                <a:cs typeface="+mn-cs"/>
              </a:rPr>
              <a:t>），在建筑立面、窗户等非传统光伏区域实现太阳能发电，是未来城市能源系统的重要组成部分。</a:t>
            </a:r>
            <a:endParaRPr lang="en-US" altLang="zh-CN" dirty="0"/>
          </a:p>
          <a:p>
            <a:r>
              <a:rPr lang="zh-CN" altLang="en-US" dirty="0"/>
              <a:t>传统：试错法</a:t>
            </a:r>
            <a:endParaRPr lang="en-US" altLang="zh-CN" dirty="0"/>
          </a:p>
          <a:p>
            <a:r>
              <a:rPr lang="zh-CN" altLang="en-US" dirty="0"/>
              <a:t>周期长：</a:t>
            </a:r>
            <a:r>
              <a:rPr lang="en-US" altLang="zh-CN" dirty="0"/>
              <a:t>3-5</a:t>
            </a:r>
            <a:r>
              <a:rPr lang="zh-CN" altLang="en-US" dirty="0"/>
              <a:t>年、成本高：</a:t>
            </a:r>
            <a:r>
              <a:rPr lang="zh-CN" altLang="zh-CN" sz="1200" kern="1200" dirty="0">
                <a:solidFill>
                  <a:schemeClr val="tx1"/>
                </a:solidFill>
                <a:effectLst/>
                <a:latin typeface="+mn-lt"/>
                <a:ea typeface="+mn-ea"/>
                <a:cs typeface="+mn-cs"/>
              </a:rPr>
              <a:t>单次实验成本数万元</a:t>
            </a:r>
            <a:r>
              <a:rPr lang="zh-CN" altLang="en-US" sz="1200" kern="1200" dirty="0">
                <a:solidFill>
                  <a:schemeClr val="tx1"/>
                </a:solidFill>
                <a:effectLst/>
                <a:latin typeface="+mn-lt"/>
                <a:ea typeface="+mn-ea"/>
                <a:cs typeface="+mn-cs"/>
              </a:rPr>
              <a:t>、效率低：理论效率与实际相差过大</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同时</a:t>
            </a:r>
            <a:r>
              <a:rPr lang="en-US" altLang="zh-CN" sz="1200" kern="1200" dirty="0">
                <a:solidFill>
                  <a:schemeClr val="tx1"/>
                </a:solidFill>
                <a:effectLst/>
                <a:latin typeface="+mn-lt"/>
                <a:ea typeface="+mn-ea"/>
                <a:cs typeface="+mn-cs"/>
              </a:rPr>
              <a:t>LSC</a:t>
            </a:r>
            <a:r>
              <a:rPr lang="zh-CN" altLang="zh-CN" sz="1200" kern="1200" dirty="0">
                <a:solidFill>
                  <a:schemeClr val="tx1"/>
                </a:solidFill>
                <a:effectLst/>
                <a:latin typeface="+mn-lt"/>
                <a:ea typeface="+mn-ea"/>
                <a:cs typeface="+mn-cs"/>
              </a:rPr>
              <a:t>技术推广可大幅提升城市建筑太阳能利用率，减少化石能源消耗，降低碳排放，立足国家战略需求，瞄准技术瓶颈问题，通过多学科交叉创新，具有重要的理论价值和广阔的应用前景。</a:t>
            </a:r>
            <a:endParaRPr lang="zh-CN" altLang="en-US" dirty="0"/>
          </a:p>
        </p:txBody>
      </p:sp>
      <p:sp>
        <p:nvSpPr>
          <p:cNvPr id="4" name="灯片编号占位符 3"/>
          <p:cNvSpPr>
            <a:spLocks noGrp="1"/>
          </p:cNvSpPr>
          <p:nvPr>
            <p:ph type="sldNum" sz="quarter" idx="10"/>
          </p:nvPr>
        </p:nvSpPr>
        <p:spPr/>
        <p:txBody>
          <a:bodyPr/>
          <a:lstStyle/>
          <a:p>
            <a:pPr marL="0" marR="0" lvl="0" indent="0" algn="r" defTabSz="913765" rtl="0" eaLnBrk="1" fontAlgn="auto" latinLnBrk="0" hangingPunct="1">
              <a:lnSpc>
                <a:spcPct val="100000"/>
              </a:lnSpc>
              <a:spcBef>
                <a:spcPts val="0"/>
              </a:spcBef>
              <a:spcAft>
                <a:spcPts val="0"/>
              </a:spcAft>
              <a:buClrTx/>
              <a:buSzTx/>
              <a:buFontTx/>
              <a:buNone/>
              <a:defRPr/>
            </a:pPr>
            <a:fld id="{7D8E374D-6E28-41D4-B529-E46F9BB5955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048307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DD8AB2E-B972-4F63-8917-8AA4D44F9082}" type="slidenum">
              <a:rPr lang="zh-CN" altLang="en-US" smtClean="0"/>
              <a:t>8</a:t>
            </a:fld>
            <a:endParaRPr lang="zh-CN" altLang="en-US"/>
          </a:p>
        </p:txBody>
      </p:sp>
    </p:spTree>
    <p:extLst>
      <p:ext uri="{BB962C8B-B14F-4D97-AF65-F5344CB8AC3E}">
        <p14:creationId xmlns:p14="http://schemas.microsoft.com/office/powerpoint/2010/main" val="2824509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3765" rtl="0" eaLnBrk="1" fontAlgn="auto" latinLnBrk="0" hangingPunct="1">
              <a:lnSpc>
                <a:spcPct val="100000"/>
              </a:lnSpc>
              <a:spcBef>
                <a:spcPts val="0"/>
              </a:spcBef>
              <a:spcAft>
                <a:spcPts val="0"/>
              </a:spcAft>
              <a:buClrTx/>
              <a:buSzTx/>
              <a:buFontTx/>
              <a:buNone/>
              <a:defRPr/>
            </a:pPr>
            <a:fld id="{7D8E374D-6E28-41D4-B529-E46F9BB5955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4432056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A4CC8-24D8-7B6B-C296-18FEDD3BEF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2181DA-1F76-B002-85E5-074B3B3BDC42}"/>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91C8B166-4F2B-94FF-7E81-C80CFA86096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BE51F92-1294-2707-5C2B-7BF9F4B53333}"/>
              </a:ext>
            </a:extLst>
          </p:cNvPr>
          <p:cNvSpPr>
            <a:spLocks noGrp="1"/>
          </p:cNvSpPr>
          <p:nvPr>
            <p:ph type="sldNum" sz="quarter" idx="10"/>
          </p:nvPr>
        </p:nvSpPr>
        <p:spPr/>
        <p:txBody>
          <a:bodyPr/>
          <a:lstStyle/>
          <a:p>
            <a:pPr marL="0" marR="0" lvl="0" indent="0" algn="r" defTabSz="913765" rtl="0" eaLnBrk="1" fontAlgn="auto" latinLnBrk="0" hangingPunct="1">
              <a:lnSpc>
                <a:spcPct val="100000"/>
              </a:lnSpc>
              <a:spcBef>
                <a:spcPts val="0"/>
              </a:spcBef>
              <a:spcAft>
                <a:spcPts val="0"/>
              </a:spcAft>
              <a:buClrTx/>
              <a:buSzTx/>
              <a:buFontTx/>
              <a:buNone/>
              <a:defRPr/>
            </a:pPr>
            <a:fld id="{7D8E374D-6E28-41D4-B529-E46F9BB5955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4697784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采用主成分分析（</a:t>
            </a:r>
            <a:r>
              <a:rPr lang="en-US" altLang="zh-CN" sz="1200" kern="1200" dirty="0">
                <a:solidFill>
                  <a:schemeClr val="tx1"/>
                </a:solidFill>
                <a:effectLst/>
                <a:latin typeface="+mn-lt"/>
                <a:ea typeface="+mn-ea"/>
                <a:cs typeface="+mn-cs"/>
              </a:rPr>
              <a:t>PCA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t-SNE</a:t>
            </a:r>
            <a:r>
              <a:rPr lang="zh-CN" altLang="zh-CN" sz="1200" kern="1200" dirty="0">
                <a:solidFill>
                  <a:schemeClr val="tx1"/>
                </a:solidFill>
                <a:effectLst/>
                <a:latin typeface="+mn-lt"/>
                <a:ea typeface="+mn-ea"/>
                <a:cs typeface="+mn-cs"/>
              </a:rPr>
              <a:t>、自编码器等降维技术，从高维特征中提取关键特征子集，降低模型复杂度，提高训练效率。研究特征重要性排序方法，识别对光学效率预测贡献最大的关键特征。</a:t>
            </a:r>
            <a:endParaRPr lang="zh-CN" altLang="en-US" dirty="0"/>
          </a:p>
        </p:txBody>
      </p:sp>
      <p:sp>
        <p:nvSpPr>
          <p:cNvPr id="4" name="灯片编号占位符 3"/>
          <p:cNvSpPr>
            <a:spLocks noGrp="1"/>
          </p:cNvSpPr>
          <p:nvPr>
            <p:ph type="sldNum" sz="quarter" idx="10"/>
          </p:nvPr>
        </p:nvSpPr>
        <p:spPr/>
        <p:txBody>
          <a:bodyPr/>
          <a:lstStyle/>
          <a:p>
            <a:pPr marL="0" marR="0" lvl="0" indent="0" algn="r" defTabSz="913765" rtl="0" eaLnBrk="1" fontAlgn="auto" latinLnBrk="0" hangingPunct="1">
              <a:lnSpc>
                <a:spcPct val="100000"/>
              </a:lnSpc>
              <a:spcBef>
                <a:spcPts val="0"/>
              </a:spcBef>
              <a:spcAft>
                <a:spcPts val="0"/>
              </a:spcAft>
              <a:buClrTx/>
              <a:buSzTx/>
              <a:buFontTx/>
              <a:buNone/>
              <a:defRPr/>
            </a:pPr>
            <a:fld id="{7D8E374D-6E28-41D4-B529-E46F9BB5955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015882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3765" rtl="0" eaLnBrk="1" fontAlgn="auto" latinLnBrk="0" hangingPunct="1">
              <a:lnSpc>
                <a:spcPct val="100000"/>
              </a:lnSpc>
              <a:spcBef>
                <a:spcPts val="0"/>
              </a:spcBef>
              <a:spcAft>
                <a:spcPts val="0"/>
              </a:spcAft>
              <a:buClrTx/>
              <a:buSzTx/>
              <a:buFontTx/>
              <a:buNone/>
              <a:defRPr/>
            </a:pPr>
            <a:fld id="{7D8E374D-6E28-41D4-B529-E46F9BB5955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1295516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4B389-B1DE-404B-81C7-259708B7D4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7F43FF9-96AD-87A0-BF4A-6311C99D4093}"/>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A8A90ACC-5BC9-EC95-6934-4C7C3CB2A87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2442589-2508-454E-5A16-690EC227F561}"/>
              </a:ext>
            </a:extLst>
          </p:cNvPr>
          <p:cNvSpPr>
            <a:spLocks noGrp="1"/>
          </p:cNvSpPr>
          <p:nvPr>
            <p:ph type="sldNum" sz="quarter" idx="10"/>
          </p:nvPr>
        </p:nvSpPr>
        <p:spPr/>
        <p:txBody>
          <a:bodyPr/>
          <a:lstStyle/>
          <a:p>
            <a:pPr marL="0" marR="0" lvl="0" indent="0" algn="r" defTabSz="913765" rtl="0" eaLnBrk="1" fontAlgn="auto" latinLnBrk="0" hangingPunct="1">
              <a:lnSpc>
                <a:spcPct val="100000"/>
              </a:lnSpc>
              <a:spcBef>
                <a:spcPts val="0"/>
              </a:spcBef>
              <a:spcAft>
                <a:spcPts val="0"/>
              </a:spcAft>
              <a:buClrTx/>
              <a:buSzTx/>
              <a:buFontTx/>
              <a:buNone/>
              <a:defRPr/>
            </a:pPr>
            <a:fld id="{7D8E374D-6E28-41D4-B529-E46F9BB5955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2153107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DD8AB2E-B972-4F63-8917-8AA4D44F9082}" type="slidenum">
              <a:rPr lang="zh-CN" altLang="en-US" smtClean="0"/>
              <a:t>14</a:t>
            </a:fld>
            <a:endParaRPr lang="zh-CN" altLang="en-US"/>
          </a:p>
        </p:txBody>
      </p:sp>
    </p:spTree>
    <p:extLst>
      <p:ext uri="{BB962C8B-B14F-4D97-AF65-F5344CB8AC3E}">
        <p14:creationId xmlns:p14="http://schemas.microsoft.com/office/powerpoint/2010/main" val="21627991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拟解决的关键问题包括：</a:t>
            </a:r>
          </a:p>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、多因素耦合下的光学效率精准预测难题</a:t>
            </a:r>
          </a:p>
          <a:p>
            <a:r>
              <a:rPr lang="zh-CN" altLang="zh-CN" sz="1200" kern="1200" dirty="0">
                <a:solidFill>
                  <a:schemeClr val="tx1"/>
                </a:solidFill>
                <a:effectLst/>
                <a:latin typeface="+mn-lt"/>
                <a:ea typeface="+mn-ea"/>
                <a:cs typeface="+mn-cs"/>
              </a:rPr>
              <a:t>荧光太阳能聚光器（</a:t>
            </a:r>
            <a:r>
              <a:rPr lang="en-US" altLang="zh-CN" sz="1200" kern="1200" dirty="0">
                <a:solidFill>
                  <a:schemeClr val="tx1"/>
                </a:solidFill>
                <a:effectLst/>
                <a:latin typeface="+mn-lt"/>
                <a:ea typeface="+mn-ea"/>
                <a:cs typeface="+mn-cs"/>
              </a:rPr>
              <a:t>LSC</a:t>
            </a:r>
            <a:r>
              <a:rPr lang="zh-CN" altLang="zh-CN" sz="1200" kern="1200" dirty="0">
                <a:solidFill>
                  <a:schemeClr val="tx1"/>
                </a:solidFill>
                <a:effectLst/>
                <a:latin typeface="+mn-lt"/>
                <a:ea typeface="+mn-ea"/>
                <a:cs typeface="+mn-cs"/>
              </a:rPr>
              <a:t>）的光学效率受材料特性、结构参数、环境条件等多达</a:t>
            </a:r>
            <a:r>
              <a:rPr lang="en-US" altLang="zh-CN" sz="1200" kern="1200" dirty="0">
                <a:solidFill>
                  <a:schemeClr val="tx1"/>
                </a:solidFill>
                <a:effectLst/>
                <a:latin typeface="+mn-lt"/>
                <a:ea typeface="+mn-ea"/>
                <a:cs typeface="+mn-cs"/>
              </a:rPr>
              <a:t>30-50</a:t>
            </a:r>
            <a:r>
              <a:rPr lang="zh-CN" altLang="zh-CN" sz="1200" kern="1200" dirty="0">
                <a:solidFill>
                  <a:schemeClr val="tx1"/>
                </a:solidFill>
                <a:effectLst/>
                <a:latin typeface="+mn-lt"/>
                <a:ea typeface="+mn-ea"/>
                <a:cs typeface="+mn-cs"/>
              </a:rPr>
              <a:t>个因素的复杂耦合影响，传统物理模型难以准确描述这种高维非线性关系。需要建立能够同时考虑材料光学性质、光子传输路径、自吸收损耗、波导效率等多尺度物理过程的智能预测模型；</a:t>
            </a: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、小样本数据下的模型泛化能力不足</a:t>
            </a:r>
          </a:p>
          <a:p>
            <a:r>
              <a:rPr lang="zh-CN" altLang="zh-CN" sz="1200" kern="1200" dirty="0">
                <a:solidFill>
                  <a:schemeClr val="tx1"/>
                </a:solidFill>
                <a:effectLst/>
                <a:latin typeface="+mn-lt"/>
                <a:ea typeface="+mn-ea"/>
                <a:cs typeface="+mn-cs"/>
              </a:rPr>
              <a:t>荧光材料实验数据稀缺且获取成本高，现有数据库规模有限（通常仅数百组数据），导致</a:t>
            </a:r>
            <a:r>
              <a:rPr lang="en-US" altLang="zh-CN" sz="1200" kern="1200" dirty="0">
                <a:solidFill>
                  <a:schemeClr val="tx1"/>
                </a:solidFill>
                <a:effectLst/>
                <a:latin typeface="+mn-lt"/>
                <a:ea typeface="+mn-ea"/>
                <a:cs typeface="+mn-cs"/>
              </a:rPr>
              <a:t>AI</a:t>
            </a:r>
            <a:r>
              <a:rPr lang="zh-CN" altLang="zh-CN" sz="1200" kern="1200" dirty="0">
                <a:solidFill>
                  <a:schemeClr val="tx1"/>
                </a:solidFill>
                <a:effectLst/>
                <a:latin typeface="+mn-lt"/>
                <a:ea typeface="+mn-ea"/>
                <a:cs typeface="+mn-cs"/>
              </a:rPr>
              <a:t>模型容易过拟合，泛化能力差。需要开发适用于小样本学习的迁移学习、数据增强、半监督学习等算法，提升模型在有限数据下的预测精度；</a:t>
            </a:r>
          </a:p>
          <a:p>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、模型可解释性与物理规律融合问题</a:t>
            </a:r>
          </a:p>
          <a:p>
            <a:r>
              <a:rPr lang="zh-CN" altLang="zh-CN" sz="1200" kern="1200" dirty="0">
                <a:solidFill>
                  <a:schemeClr val="tx1"/>
                </a:solidFill>
                <a:effectLst/>
                <a:latin typeface="+mn-lt"/>
                <a:ea typeface="+mn-ea"/>
                <a:cs typeface="+mn-cs"/>
              </a:rPr>
              <a:t>传统</a:t>
            </a:r>
            <a:r>
              <a:rPr lang="en-US" altLang="zh-CN" sz="1200" kern="1200" dirty="0">
                <a:solidFill>
                  <a:schemeClr val="tx1"/>
                </a:solidFill>
                <a:effectLst/>
                <a:latin typeface="+mn-lt"/>
                <a:ea typeface="+mn-ea"/>
                <a:cs typeface="+mn-cs"/>
              </a:rPr>
              <a:t>AI</a:t>
            </a:r>
            <a:r>
              <a:rPr lang="zh-CN" altLang="zh-CN" sz="1200" kern="1200" dirty="0">
                <a:solidFill>
                  <a:schemeClr val="tx1"/>
                </a:solidFill>
                <a:effectLst/>
                <a:latin typeface="+mn-lt"/>
                <a:ea typeface="+mn-ea"/>
                <a:cs typeface="+mn-cs"/>
              </a:rPr>
              <a:t>模型多为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黑箱</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模型，难以揭示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材料</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结构</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性能</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之间的内在物理机制，无法为</a:t>
            </a:r>
            <a:r>
              <a:rPr lang="en-US" altLang="zh-CN" sz="1200" kern="1200" dirty="0">
                <a:solidFill>
                  <a:schemeClr val="tx1"/>
                </a:solidFill>
                <a:effectLst/>
                <a:latin typeface="+mn-lt"/>
                <a:ea typeface="+mn-ea"/>
                <a:cs typeface="+mn-cs"/>
              </a:rPr>
              <a:t>LSC</a:t>
            </a:r>
            <a:r>
              <a:rPr lang="zh-CN" altLang="zh-CN" sz="1200" kern="1200" dirty="0">
                <a:solidFill>
                  <a:schemeClr val="tx1"/>
                </a:solidFill>
                <a:effectLst/>
                <a:latin typeface="+mn-lt"/>
                <a:ea typeface="+mn-ea"/>
                <a:cs typeface="+mn-cs"/>
              </a:rPr>
              <a:t>设计提供理论指导。需要将物理守恒方程、经验公式等先验知识嵌入模型，实现数据驱动与物理规律的双向融合；</a:t>
            </a:r>
          </a:p>
          <a:p>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、逆向设计中的多目标优化挑战</a:t>
            </a:r>
          </a:p>
          <a:p>
            <a:r>
              <a:rPr lang="en-US" altLang="zh-CN" sz="1200" kern="1200" dirty="0">
                <a:solidFill>
                  <a:schemeClr val="tx1"/>
                </a:solidFill>
                <a:effectLst/>
                <a:latin typeface="+mn-lt"/>
                <a:ea typeface="+mn-ea"/>
                <a:cs typeface="+mn-cs"/>
              </a:rPr>
              <a:t>LSC</a:t>
            </a:r>
            <a:r>
              <a:rPr lang="zh-CN" altLang="zh-CN" sz="1200" kern="1200" dirty="0">
                <a:solidFill>
                  <a:schemeClr val="tx1"/>
                </a:solidFill>
                <a:effectLst/>
                <a:latin typeface="+mn-lt"/>
                <a:ea typeface="+mn-ea"/>
                <a:cs typeface="+mn-cs"/>
              </a:rPr>
              <a:t>设计需要同时优化光学效率、成本、稳定性、制备工艺等多个目标，这些目标往往相互冲突，传统优化方法难以找到全局最优解。需要开发多目标优化算法，实现性能</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成本</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可行性的协同优化。</a:t>
            </a:r>
          </a:p>
          <a:p>
            <a:r>
              <a:rPr lang="zh-CN" altLang="zh-CN" sz="1200" kern="1200" dirty="0">
                <a:solidFill>
                  <a:schemeClr val="tx1"/>
                </a:solidFill>
                <a:effectLst/>
                <a:latin typeface="+mn-lt"/>
                <a:ea typeface="+mn-ea"/>
                <a:cs typeface="+mn-cs"/>
              </a:rPr>
              <a:t>最终目标包括：</a:t>
            </a:r>
          </a:p>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、建立高精度预测模型体系</a:t>
            </a:r>
          </a:p>
          <a:p>
            <a:r>
              <a:rPr lang="zh-CN" altLang="zh-CN" sz="1200" kern="1200" dirty="0">
                <a:solidFill>
                  <a:schemeClr val="tx1"/>
                </a:solidFill>
                <a:effectLst/>
                <a:latin typeface="+mn-lt"/>
                <a:ea typeface="+mn-ea"/>
                <a:cs typeface="+mn-cs"/>
              </a:rPr>
              <a:t>构建包含传统机器学习、深度学习、物理信息神经网络等多层次</a:t>
            </a:r>
            <a:r>
              <a:rPr lang="en-US" altLang="zh-CN" sz="1200" kern="1200" dirty="0">
                <a:solidFill>
                  <a:schemeClr val="tx1"/>
                </a:solidFill>
                <a:effectLst/>
                <a:latin typeface="+mn-lt"/>
                <a:ea typeface="+mn-ea"/>
                <a:cs typeface="+mn-cs"/>
              </a:rPr>
              <a:t>AI</a:t>
            </a:r>
            <a:r>
              <a:rPr lang="zh-CN" altLang="zh-CN" sz="1200" kern="1200" dirty="0">
                <a:solidFill>
                  <a:schemeClr val="tx1"/>
                </a:solidFill>
                <a:effectLst/>
                <a:latin typeface="+mn-lt"/>
                <a:ea typeface="+mn-ea"/>
                <a:cs typeface="+mn-cs"/>
              </a:rPr>
              <a:t>预测模型，实现</a:t>
            </a:r>
            <a:r>
              <a:rPr lang="en-US" altLang="zh-CN" sz="1200" kern="1200" dirty="0">
                <a:solidFill>
                  <a:schemeClr val="tx1"/>
                </a:solidFill>
                <a:effectLst/>
                <a:latin typeface="+mn-lt"/>
                <a:ea typeface="+mn-ea"/>
                <a:cs typeface="+mn-cs"/>
              </a:rPr>
              <a:t>LSC</a:t>
            </a:r>
            <a:r>
              <a:rPr lang="zh-CN" altLang="zh-CN" sz="1200" kern="1200" dirty="0">
                <a:solidFill>
                  <a:schemeClr val="tx1"/>
                </a:solidFill>
                <a:effectLst/>
                <a:latin typeface="+mn-lt"/>
                <a:ea typeface="+mn-ea"/>
                <a:cs typeface="+mn-cs"/>
              </a:rPr>
              <a:t>光学效率的精准预测，为</a:t>
            </a:r>
            <a:r>
              <a:rPr lang="en-US" altLang="zh-CN" sz="1200" kern="1200" dirty="0">
                <a:solidFill>
                  <a:schemeClr val="tx1"/>
                </a:solidFill>
                <a:effectLst/>
                <a:latin typeface="+mn-lt"/>
                <a:ea typeface="+mn-ea"/>
                <a:cs typeface="+mn-cs"/>
              </a:rPr>
              <a:t>LSC</a:t>
            </a:r>
            <a:r>
              <a:rPr lang="zh-CN" altLang="zh-CN" sz="1200" kern="1200" dirty="0">
                <a:solidFill>
                  <a:schemeClr val="tx1"/>
                </a:solidFill>
                <a:effectLst/>
                <a:latin typeface="+mn-lt"/>
                <a:ea typeface="+mn-ea"/>
                <a:cs typeface="+mn-cs"/>
              </a:rPr>
              <a:t>设计提供可靠的理论工具；</a:t>
            </a: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、实现实验验证与性能提升</a:t>
            </a:r>
          </a:p>
          <a:p>
            <a:r>
              <a:rPr lang="zh-CN" altLang="zh-CN" sz="1200" kern="1200" dirty="0">
                <a:solidFill>
                  <a:schemeClr val="tx1"/>
                </a:solidFill>
                <a:effectLst/>
                <a:latin typeface="+mn-lt"/>
                <a:ea typeface="+mn-ea"/>
                <a:cs typeface="+mn-cs"/>
              </a:rPr>
              <a:t>通过实验制备典型</a:t>
            </a:r>
            <a:r>
              <a:rPr lang="en-US" altLang="zh-CN" sz="1200" kern="1200" dirty="0">
                <a:solidFill>
                  <a:schemeClr val="tx1"/>
                </a:solidFill>
                <a:effectLst/>
                <a:latin typeface="+mn-lt"/>
                <a:ea typeface="+mn-ea"/>
                <a:cs typeface="+mn-cs"/>
              </a:rPr>
              <a:t>LSC</a:t>
            </a:r>
            <a:r>
              <a:rPr lang="zh-CN" altLang="zh-CN" sz="1200" kern="1200" dirty="0">
                <a:solidFill>
                  <a:schemeClr val="tx1"/>
                </a:solidFill>
                <a:effectLst/>
                <a:latin typeface="+mn-lt"/>
                <a:ea typeface="+mn-ea"/>
                <a:cs typeface="+mn-cs"/>
              </a:rPr>
              <a:t>器件，验证模型预测结果的可靠性，指导新型荧光材料开发和</a:t>
            </a:r>
            <a:r>
              <a:rPr lang="en-US" altLang="zh-CN" sz="1200" kern="1200" dirty="0">
                <a:solidFill>
                  <a:schemeClr val="tx1"/>
                </a:solidFill>
                <a:effectLst/>
                <a:latin typeface="+mn-lt"/>
                <a:ea typeface="+mn-ea"/>
                <a:cs typeface="+mn-cs"/>
              </a:rPr>
              <a:t>LSC</a:t>
            </a:r>
            <a:r>
              <a:rPr lang="zh-CN" altLang="zh-CN" sz="1200" kern="1200">
                <a:solidFill>
                  <a:schemeClr val="tx1"/>
                </a:solidFill>
                <a:effectLst/>
                <a:latin typeface="+mn-lt"/>
                <a:ea typeface="+mn-ea"/>
                <a:cs typeface="+mn-cs"/>
              </a:rPr>
              <a:t>结构优化。</a:t>
            </a:r>
          </a:p>
          <a:p>
            <a:endParaRPr lang="zh-CN" altLang="en-US"/>
          </a:p>
        </p:txBody>
      </p:sp>
      <p:sp>
        <p:nvSpPr>
          <p:cNvPr id="4" name="灯片编号占位符 3"/>
          <p:cNvSpPr>
            <a:spLocks noGrp="1"/>
          </p:cNvSpPr>
          <p:nvPr>
            <p:ph type="sldNum" sz="quarter" idx="10"/>
          </p:nvPr>
        </p:nvSpPr>
        <p:spPr/>
        <p:txBody>
          <a:bodyPr/>
          <a:lstStyle/>
          <a:p>
            <a:pPr marL="0" marR="0" lvl="0" indent="0" algn="r" defTabSz="913765" rtl="0" eaLnBrk="1" fontAlgn="auto" latinLnBrk="0" hangingPunct="1">
              <a:lnSpc>
                <a:spcPct val="100000"/>
              </a:lnSpc>
              <a:spcBef>
                <a:spcPts val="0"/>
              </a:spcBef>
              <a:spcAft>
                <a:spcPts val="0"/>
              </a:spcAft>
              <a:buClrTx/>
              <a:buSzTx/>
              <a:buFontTx/>
              <a:buNone/>
              <a:defRPr/>
            </a:pPr>
            <a:fld id="{7D8E374D-6E28-41D4-B529-E46F9BB5955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7432095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3765" rtl="0" eaLnBrk="1" fontAlgn="auto" latinLnBrk="0" hangingPunct="1">
              <a:lnSpc>
                <a:spcPct val="100000"/>
              </a:lnSpc>
              <a:spcBef>
                <a:spcPts val="0"/>
              </a:spcBef>
              <a:spcAft>
                <a:spcPts val="0"/>
              </a:spcAft>
              <a:buClrTx/>
              <a:buSzTx/>
              <a:buFontTx/>
              <a:buNone/>
              <a:defRPr/>
            </a:pPr>
            <a:fld id="{7D8E374D-6E28-41D4-B529-E46F9BB5955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8372081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3765" rtl="0" eaLnBrk="1" fontAlgn="auto" latinLnBrk="0" hangingPunct="1">
              <a:lnSpc>
                <a:spcPct val="100000"/>
              </a:lnSpc>
              <a:spcBef>
                <a:spcPts val="0"/>
              </a:spcBef>
              <a:spcAft>
                <a:spcPts val="0"/>
              </a:spcAft>
              <a:buClrTx/>
              <a:buSzTx/>
              <a:buFontTx/>
              <a:buNone/>
              <a:defRPr/>
            </a:pPr>
            <a:fld id="{7D8E374D-6E28-41D4-B529-E46F9BB5955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732541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3765" rtl="0" eaLnBrk="1" fontAlgn="auto" latinLnBrk="0" hangingPunct="1">
              <a:lnSpc>
                <a:spcPct val="100000"/>
              </a:lnSpc>
              <a:spcBef>
                <a:spcPts val="0"/>
              </a:spcBef>
              <a:spcAft>
                <a:spcPts val="0"/>
              </a:spcAft>
              <a:buClrTx/>
              <a:buSzTx/>
              <a:buFontTx/>
              <a:buNone/>
              <a:defRPr/>
            </a:pPr>
            <a:fld id="{7D8E374D-6E28-41D4-B529-E46F9BB5955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9364137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3765" rtl="0" eaLnBrk="1" fontAlgn="auto" latinLnBrk="0" hangingPunct="1">
              <a:lnSpc>
                <a:spcPct val="100000"/>
              </a:lnSpc>
              <a:spcBef>
                <a:spcPts val="0"/>
              </a:spcBef>
              <a:spcAft>
                <a:spcPts val="0"/>
              </a:spcAft>
              <a:buClrTx/>
              <a:buSzTx/>
              <a:buFontTx/>
              <a:buNone/>
              <a:defRPr/>
            </a:pPr>
            <a:fld id="{7D8E374D-6E28-41D4-B529-E46F9BB5955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6347797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3765" rtl="0" eaLnBrk="1" fontAlgn="auto" latinLnBrk="0" hangingPunct="1">
              <a:lnSpc>
                <a:spcPct val="100000"/>
              </a:lnSpc>
              <a:spcBef>
                <a:spcPts val="0"/>
              </a:spcBef>
              <a:spcAft>
                <a:spcPts val="0"/>
              </a:spcAft>
              <a:buClrTx/>
              <a:buSzTx/>
              <a:buFontTx/>
              <a:buNone/>
              <a:defRPr/>
            </a:pPr>
            <a:fld id="{7D8E374D-6E28-41D4-B529-E46F9BB5955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0214612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46862-4FF2-77E5-F49E-4476EE68B0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3A3D4D-5940-4937-A796-5C2993B72B3D}"/>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6E8CE89-529C-43E8-12DB-5461FD5AB3B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17B42D3-D6C2-BE56-1F01-1CBC033FC4A9}"/>
              </a:ext>
            </a:extLst>
          </p:cNvPr>
          <p:cNvSpPr>
            <a:spLocks noGrp="1"/>
          </p:cNvSpPr>
          <p:nvPr>
            <p:ph type="sldNum" sz="quarter" idx="10"/>
          </p:nvPr>
        </p:nvSpPr>
        <p:spPr/>
        <p:txBody>
          <a:bodyPr/>
          <a:lstStyle/>
          <a:p>
            <a:fld id="{1DD8AB2E-B972-4F63-8917-8AA4D44F9082}" type="slidenum">
              <a:rPr lang="zh-CN" altLang="en-US" smtClean="0"/>
              <a:t>21</a:t>
            </a:fld>
            <a:endParaRPr lang="zh-CN" altLang="en-US"/>
          </a:p>
        </p:txBody>
      </p:sp>
    </p:spTree>
    <p:extLst>
      <p:ext uri="{BB962C8B-B14F-4D97-AF65-F5344CB8AC3E}">
        <p14:creationId xmlns:p14="http://schemas.microsoft.com/office/powerpoint/2010/main" val="776478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62276F4B-A296-492A-8FB9-C78E7B25B44D}" type="datetimeFigureOut">
              <a:rPr lang="zh-CN" altLang="en-US" smtClean="0"/>
              <a:t>2026/1/5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588236D-BA36-4C90-BC5E-4C81E9977708}"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2276F4B-A296-492A-8FB9-C78E7B25B44D}" type="datetimeFigureOut">
              <a:rPr lang="zh-CN" altLang="en-US" smtClean="0"/>
              <a:t>2026/1/5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588236D-BA36-4C90-BC5E-4C81E9977708}"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62276F4B-A296-492A-8FB9-C78E7B25B44D}" type="datetimeFigureOut">
              <a:rPr lang="zh-CN" altLang="en-US" smtClean="0"/>
              <a:t>2026/1/5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588236D-BA36-4C90-BC5E-4C81E9977708}"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2276F4B-A296-492A-8FB9-C78E7B25B44D}" type="datetimeFigureOut">
              <a:rPr lang="zh-CN" altLang="en-US" smtClean="0"/>
              <a:t>2026/1/5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588236D-BA36-4C90-BC5E-4C81E9977708}"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2276F4B-A296-492A-8FB9-C78E7B25B44D}" type="datetimeFigureOut">
              <a:rPr lang="zh-CN" altLang="en-US" smtClean="0"/>
              <a:t>2026/1/5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588236D-BA36-4C90-BC5E-4C81E9977708}"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2276F4B-A296-492A-8FB9-C78E7B25B44D}" type="datetimeFigureOut">
              <a:rPr lang="zh-CN" altLang="en-US" smtClean="0"/>
              <a:t>2026/1/5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588236D-BA36-4C90-BC5E-4C81E9977708}"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2276F4B-A296-492A-8FB9-C78E7B25B44D}" type="datetimeFigureOut">
              <a:rPr lang="zh-CN" altLang="en-US" smtClean="0"/>
              <a:t>2026/1/5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588236D-BA36-4C90-BC5E-4C81E9977708}"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2276F4B-A296-492A-8FB9-C78E7B25B44D}" type="datetimeFigureOut">
              <a:rPr lang="zh-CN" altLang="en-US" smtClean="0"/>
              <a:t>2026/1/5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588236D-BA36-4C90-BC5E-4C81E9977708}"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2276F4B-A296-492A-8FB9-C78E7B25B44D}" type="datetimeFigureOut">
              <a:rPr lang="zh-CN" altLang="en-US" smtClean="0"/>
              <a:t>2026/1/5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588236D-BA36-4C90-BC5E-4C81E9977708}"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2276F4B-A296-492A-8FB9-C78E7B25B44D}" type="datetimeFigureOut">
              <a:rPr lang="zh-CN" altLang="en-US" smtClean="0"/>
              <a:t>2026/1/5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588236D-BA36-4C90-BC5E-4C81E9977708}"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2276F4B-A296-492A-8FB9-C78E7B25B44D}" type="datetimeFigureOut">
              <a:rPr lang="zh-CN" altLang="en-US" smtClean="0"/>
              <a:t>2026/1/5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588236D-BA36-4C90-BC5E-4C81E9977708}"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341437" y="209880"/>
            <a:ext cx="10850563" cy="663575"/>
          </a:xfrm>
          <a:prstGeom prst="rect">
            <a:avLst/>
          </a:prstGeom>
        </p:spPr>
        <p:txBody>
          <a:bodyPr anchor="b"/>
          <a:lstStyle>
            <a:lvl1pPr>
              <a:defRPr sz="2400"/>
            </a:lvl1pPr>
          </a:lstStyle>
          <a:p>
            <a:r>
              <a:rPr lang="zh-CN" altLang="en-US"/>
              <a:t>单击此处编辑母版标题样式</a:t>
            </a:r>
          </a:p>
        </p:txBody>
      </p:sp>
      <p:sp>
        <p:nvSpPr>
          <p:cNvPr id="3" name="book-and-cd_43679"/>
          <p:cNvSpPr>
            <a:spLocks noChangeAspect="1"/>
          </p:cNvSpPr>
          <p:nvPr userDrawn="1"/>
        </p:nvSpPr>
        <p:spPr bwMode="auto">
          <a:xfrm>
            <a:off x="520658" y="414668"/>
            <a:ext cx="609685" cy="488288"/>
          </a:xfrm>
          <a:custGeom>
            <a:avLst/>
            <a:gdLst>
              <a:gd name="connsiteX0" fmla="*/ 452113 w 560604"/>
              <a:gd name="connsiteY0" fmla="*/ 77314 h 448980"/>
              <a:gd name="connsiteX1" fmla="*/ 417185 w 560604"/>
              <a:gd name="connsiteY1" fmla="*/ 112165 h 448980"/>
              <a:gd name="connsiteX2" fmla="*/ 452113 w 560604"/>
              <a:gd name="connsiteY2" fmla="*/ 145726 h 448980"/>
              <a:gd name="connsiteX3" fmla="*/ 485747 w 560604"/>
              <a:gd name="connsiteY3" fmla="*/ 112165 h 448980"/>
              <a:gd name="connsiteX4" fmla="*/ 452113 w 560604"/>
              <a:gd name="connsiteY4" fmla="*/ 77314 h 448980"/>
              <a:gd name="connsiteX5" fmla="*/ 118850 w 560604"/>
              <a:gd name="connsiteY5" fmla="*/ 64516 h 448980"/>
              <a:gd name="connsiteX6" fmla="*/ 40048 w 560604"/>
              <a:gd name="connsiteY6" fmla="*/ 77417 h 448980"/>
              <a:gd name="connsiteX7" fmla="*/ 40048 w 560604"/>
              <a:gd name="connsiteY7" fmla="*/ 392214 h 448980"/>
              <a:gd name="connsiteX8" fmla="*/ 107224 w 560604"/>
              <a:gd name="connsiteY8" fmla="*/ 380602 h 448980"/>
              <a:gd name="connsiteX9" fmla="*/ 255786 w 560604"/>
              <a:gd name="connsiteY9" fmla="*/ 412856 h 448980"/>
              <a:gd name="connsiteX10" fmla="*/ 255786 w 560604"/>
              <a:gd name="connsiteY10" fmla="*/ 277390 h 448980"/>
              <a:gd name="connsiteX11" fmla="*/ 246743 w 560604"/>
              <a:gd name="connsiteY11" fmla="*/ 287711 h 448980"/>
              <a:gd name="connsiteX12" fmla="*/ 246743 w 560604"/>
              <a:gd name="connsiteY12" fmla="*/ 109671 h 448980"/>
              <a:gd name="connsiteX13" fmla="*/ 118850 w 560604"/>
              <a:gd name="connsiteY13" fmla="*/ 64516 h 448980"/>
              <a:gd name="connsiteX14" fmla="*/ 452113 w 560604"/>
              <a:gd name="connsiteY14" fmla="*/ 64406 h 448980"/>
              <a:gd name="connsiteX15" fmla="*/ 498683 w 560604"/>
              <a:gd name="connsiteY15" fmla="*/ 112165 h 448980"/>
              <a:gd name="connsiteX16" fmla="*/ 452113 w 560604"/>
              <a:gd name="connsiteY16" fmla="*/ 158634 h 448980"/>
              <a:gd name="connsiteX17" fmla="*/ 404248 w 560604"/>
              <a:gd name="connsiteY17" fmla="*/ 112165 h 448980"/>
              <a:gd name="connsiteX18" fmla="*/ 452113 w 560604"/>
              <a:gd name="connsiteY18" fmla="*/ 64406 h 448980"/>
              <a:gd name="connsiteX19" fmla="*/ 452058 w 560604"/>
              <a:gd name="connsiteY19" fmla="*/ 59344 h 448980"/>
              <a:gd name="connsiteX20" fmla="*/ 399076 w 560604"/>
              <a:gd name="connsiteY20" fmla="*/ 112237 h 448980"/>
              <a:gd name="connsiteX21" fmla="*/ 452058 w 560604"/>
              <a:gd name="connsiteY21" fmla="*/ 163840 h 448980"/>
              <a:gd name="connsiteX22" fmla="*/ 505039 w 560604"/>
              <a:gd name="connsiteY22" fmla="*/ 112237 h 448980"/>
              <a:gd name="connsiteX23" fmla="*/ 452058 w 560604"/>
              <a:gd name="connsiteY23" fmla="*/ 59344 h 448980"/>
              <a:gd name="connsiteX24" fmla="*/ 118850 w 560604"/>
              <a:gd name="connsiteY24" fmla="*/ 50324 h 448980"/>
              <a:gd name="connsiteX25" fmla="*/ 257078 w 560604"/>
              <a:gd name="connsiteY25" fmla="*/ 99350 h 448980"/>
              <a:gd name="connsiteX26" fmla="*/ 334589 w 560604"/>
              <a:gd name="connsiteY26" fmla="*/ 58065 h 448980"/>
              <a:gd name="connsiteX27" fmla="*/ 329422 w 560604"/>
              <a:gd name="connsiteY27" fmla="*/ 76127 h 448980"/>
              <a:gd name="connsiteX28" fmla="*/ 268705 w 560604"/>
              <a:gd name="connsiteY28" fmla="*/ 109671 h 448980"/>
              <a:gd name="connsiteX29" fmla="*/ 268705 w 560604"/>
              <a:gd name="connsiteY29" fmla="*/ 287711 h 448980"/>
              <a:gd name="connsiteX30" fmla="*/ 259662 w 560604"/>
              <a:gd name="connsiteY30" fmla="*/ 277390 h 448980"/>
              <a:gd name="connsiteX31" fmla="*/ 259662 w 560604"/>
              <a:gd name="connsiteY31" fmla="*/ 412856 h 448980"/>
              <a:gd name="connsiteX32" fmla="*/ 405641 w 560604"/>
              <a:gd name="connsiteY32" fmla="*/ 380602 h 448980"/>
              <a:gd name="connsiteX33" fmla="*/ 475400 w 560604"/>
              <a:gd name="connsiteY33" fmla="*/ 392214 h 448980"/>
              <a:gd name="connsiteX34" fmla="*/ 475400 w 560604"/>
              <a:gd name="connsiteY34" fmla="*/ 233525 h 448980"/>
              <a:gd name="connsiteX35" fmla="*/ 510280 w 560604"/>
              <a:gd name="connsiteY35" fmla="*/ 221914 h 448980"/>
              <a:gd name="connsiteX36" fmla="*/ 510280 w 560604"/>
              <a:gd name="connsiteY36" fmla="*/ 437369 h 448980"/>
              <a:gd name="connsiteX37" fmla="*/ 290666 w 560604"/>
              <a:gd name="connsiteY37" fmla="*/ 437369 h 448980"/>
              <a:gd name="connsiteX38" fmla="*/ 258370 w 560604"/>
              <a:gd name="connsiteY38" fmla="*/ 448980 h 448980"/>
              <a:gd name="connsiteX39" fmla="*/ 226074 w 560604"/>
              <a:gd name="connsiteY39" fmla="*/ 437369 h 448980"/>
              <a:gd name="connsiteX40" fmla="*/ 0 w 560604"/>
              <a:gd name="connsiteY40" fmla="*/ 437369 h 448980"/>
              <a:gd name="connsiteX41" fmla="*/ 0 w 560604"/>
              <a:gd name="connsiteY41" fmla="*/ 113541 h 448980"/>
              <a:gd name="connsiteX42" fmla="*/ 24545 w 560604"/>
              <a:gd name="connsiteY42" fmla="*/ 96769 h 448980"/>
              <a:gd name="connsiteX43" fmla="*/ 24545 w 560604"/>
              <a:gd name="connsiteY43" fmla="*/ 67096 h 448980"/>
              <a:gd name="connsiteX44" fmla="*/ 29713 w 560604"/>
              <a:gd name="connsiteY44" fmla="*/ 65806 h 448980"/>
              <a:gd name="connsiteX45" fmla="*/ 118850 w 560604"/>
              <a:gd name="connsiteY45" fmla="*/ 50324 h 448980"/>
              <a:gd name="connsiteX46" fmla="*/ 449473 w 560604"/>
              <a:gd name="connsiteY46" fmla="*/ 0 h 448980"/>
              <a:gd name="connsiteX47" fmla="*/ 560604 w 560604"/>
              <a:gd name="connsiteY47" fmla="*/ 109657 h 448980"/>
              <a:gd name="connsiteX48" fmla="*/ 449473 w 560604"/>
              <a:gd name="connsiteY48" fmla="*/ 219313 h 448980"/>
              <a:gd name="connsiteX49" fmla="*/ 339634 w 560604"/>
              <a:gd name="connsiteY49" fmla="*/ 109657 h 448980"/>
              <a:gd name="connsiteX50" fmla="*/ 449473 w 560604"/>
              <a:gd name="connsiteY50" fmla="*/ 0 h 448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60604" h="448980">
                <a:moveTo>
                  <a:pt x="452113" y="77314"/>
                </a:moveTo>
                <a:cubicBezTo>
                  <a:pt x="432708" y="77314"/>
                  <a:pt x="417185" y="92804"/>
                  <a:pt x="417185" y="112165"/>
                </a:cubicBezTo>
                <a:cubicBezTo>
                  <a:pt x="417185" y="130237"/>
                  <a:pt x="432708" y="145726"/>
                  <a:pt x="452113" y="145726"/>
                </a:cubicBezTo>
                <a:cubicBezTo>
                  <a:pt x="471517" y="145726"/>
                  <a:pt x="485747" y="130237"/>
                  <a:pt x="485747" y="112165"/>
                </a:cubicBezTo>
                <a:cubicBezTo>
                  <a:pt x="485747" y="92804"/>
                  <a:pt x="470223" y="77314"/>
                  <a:pt x="452113" y="77314"/>
                </a:cubicBezTo>
                <a:close/>
                <a:moveTo>
                  <a:pt x="118850" y="64516"/>
                </a:moveTo>
                <a:cubicBezTo>
                  <a:pt x="81387" y="64516"/>
                  <a:pt x="50382" y="73547"/>
                  <a:pt x="40048" y="77417"/>
                </a:cubicBezTo>
                <a:lnTo>
                  <a:pt x="40048" y="392214"/>
                </a:lnTo>
                <a:cubicBezTo>
                  <a:pt x="58133" y="384473"/>
                  <a:pt x="81387" y="380602"/>
                  <a:pt x="107224" y="380602"/>
                </a:cubicBezTo>
                <a:cubicBezTo>
                  <a:pt x="171816" y="380602"/>
                  <a:pt x="236408" y="405115"/>
                  <a:pt x="255786" y="412856"/>
                </a:cubicBezTo>
                <a:lnTo>
                  <a:pt x="255786" y="277390"/>
                </a:lnTo>
                <a:lnTo>
                  <a:pt x="246743" y="287711"/>
                </a:lnTo>
                <a:lnTo>
                  <a:pt x="246743" y="109671"/>
                </a:lnTo>
                <a:cubicBezTo>
                  <a:pt x="211863" y="79997"/>
                  <a:pt x="169232" y="64516"/>
                  <a:pt x="118850" y="64516"/>
                </a:cubicBezTo>
                <a:close/>
                <a:moveTo>
                  <a:pt x="452113" y="64406"/>
                </a:moveTo>
                <a:cubicBezTo>
                  <a:pt x="477985" y="64406"/>
                  <a:pt x="498683" y="86350"/>
                  <a:pt x="498683" y="112165"/>
                </a:cubicBezTo>
                <a:cubicBezTo>
                  <a:pt x="498683" y="137981"/>
                  <a:pt x="477985" y="158634"/>
                  <a:pt x="452113" y="158634"/>
                </a:cubicBezTo>
                <a:cubicBezTo>
                  <a:pt x="426240" y="158634"/>
                  <a:pt x="404248" y="137981"/>
                  <a:pt x="404248" y="112165"/>
                </a:cubicBezTo>
                <a:cubicBezTo>
                  <a:pt x="404248" y="86350"/>
                  <a:pt x="426240" y="64406"/>
                  <a:pt x="452113" y="64406"/>
                </a:cubicBezTo>
                <a:close/>
                <a:moveTo>
                  <a:pt x="452058" y="59344"/>
                </a:moveTo>
                <a:cubicBezTo>
                  <a:pt x="422336" y="59344"/>
                  <a:pt x="399076" y="82565"/>
                  <a:pt x="399076" y="112237"/>
                </a:cubicBezTo>
                <a:cubicBezTo>
                  <a:pt x="399076" y="140618"/>
                  <a:pt x="422336" y="163840"/>
                  <a:pt x="452058" y="163840"/>
                </a:cubicBezTo>
                <a:cubicBezTo>
                  <a:pt x="480486" y="163840"/>
                  <a:pt x="505039" y="140618"/>
                  <a:pt x="505039" y="112237"/>
                </a:cubicBezTo>
                <a:cubicBezTo>
                  <a:pt x="505039" y="82565"/>
                  <a:pt x="480486" y="59344"/>
                  <a:pt x="452058" y="59344"/>
                </a:cubicBezTo>
                <a:close/>
                <a:moveTo>
                  <a:pt x="118850" y="50324"/>
                </a:moveTo>
                <a:cubicBezTo>
                  <a:pt x="173108" y="50324"/>
                  <a:pt x="219614" y="67096"/>
                  <a:pt x="257078" y="99350"/>
                </a:cubicBezTo>
                <a:cubicBezTo>
                  <a:pt x="280331" y="79997"/>
                  <a:pt x="306168" y="65806"/>
                  <a:pt x="334589" y="58065"/>
                </a:cubicBezTo>
                <a:cubicBezTo>
                  <a:pt x="332005" y="64516"/>
                  <a:pt x="330713" y="69676"/>
                  <a:pt x="329422" y="76127"/>
                </a:cubicBezTo>
                <a:cubicBezTo>
                  <a:pt x="307460" y="82578"/>
                  <a:pt x="286791" y="94189"/>
                  <a:pt x="268705" y="109671"/>
                </a:cubicBezTo>
                <a:lnTo>
                  <a:pt x="268705" y="287711"/>
                </a:lnTo>
                <a:lnTo>
                  <a:pt x="259662" y="277390"/>
                </a:lnTo>
                <a:lnTo>
                  <a:pt x="259662" y="412856"/>
                </a:lnTo>
                <a:cubicBezTo>
                  <a:pt x="279039" y="405115"/>
                  <a:pt x="339756" y="380602"/>
                  <a:pt x="405641" y="380602"/>
                </a:cubicBezTo>
                <a:cubicBezTo>
                  <a:pt x="431478" y="380602"/>
                  <a:pt x="454731" y="384473"/>
                  <a:pt x="475400" y="392214"/>
                </a:cubicBezTo>
                <a:lnTo>
                  <a:pt x="475400" y="233525"/>
                </a:lnTo>
                <a:cubicBezTo>
                  <a:pt x="488319" y="230945"/>
                  <a:pt x="499945" y="227074"/>
                  <a:pt x="510280" y="221914"/>
                </a:cubicBezTo>
                <a:lnTo>
                  <a:pt x="510280" y="437369"/>
                </a:lnTo>
                <a:lnTo>
                  <a:pt x="290666" y="437369"/>
                </a:lnTo>
                <a:cubicBezTo>
                  <a:pt x="282915" y="445110"/>
                  <a:pt x="271288" y="448980"/>
                  <a:pt x="258370" y="448980"/>
                </a:cubicBezTo>
                <a:cubicBezTo>
                  <a:pt x="245451" y="448980"/>
                  <a:pt x="233825" y="445110"/>
                  <a:pt x="226074" y="437369"/>
                </a:cubicBezTo>
                <a:lnTo>
                  <a:pt x="0" y="437369"/>
                </a:lnTo>
                <a:lnTo>
                  <a:pt x="0" y="113541"/>
                </a:lnTo>
                <a:cubicBezTo>
                  <a:pt x="0" y="105800"/>
                  <a:pt x="9043" y="100640"/>
                  <a:pt x="24545" y="96769"/>
                </a:cubicBezTo>
                <a:lnTo>
                  <a:pt x="24545" y="67096"/>
                </a:lnTo>
                <a:lnTo>
                  <a:pt x="29713" y="65806"/>
                </a:lnTo>
                <a:cubicBezTo>
                  <a:pt x="31005" y="64516"/>
                  <a:pt x="68468" y="50324"/>
                  <a:pt x="118850" y="50324"/>
                </a:cubicBezTo>
                <a:close/>
                <a:moveTo>
                  <a:pt x="449473" y="0"/>
                </a:moveTo>
                <a:cubicBezTo>
                  <a:pt x="510208" y="0"/>
                  <a:pt x="560604" y="49023"/>
                  <a:pt x="560604" y="109657"/>
                </a:cubicBezTo>
                <a:cubicBezTo>
                  <a:pt x="560604" y="170290"/>
                  <a:pt x="510208" y="219313"/>
                  <a:pt x="449473" y="219313"/>
                </a:cubicBezTo>
                <a:cubicBezTo>
                  <a:pt x="388739" y="219313"/>
                  <a:pt x="339634" y="170290"/>
                  <a:pt x="339634" y="109657"/>
                </a:cubicBezTo>
                <a:cubicBezTo>
                  <a:pt x="339634" y="49023"/>
                  <a:pt x="388739" y="0"/>
                  <a:pt x="449473" y="0"/>
                </a:cubicBezTo>
                <a:close/>
              </a:path>
            </a:pathLst>
          </a:custGeom>
          <a:solidFill>
            <a:srgbClr val="1A3172"/>
          </a:solidFill>
          <a:ln>
            <a:noFill/>
          </a:ln>
        </p:spPr>
        <p:txBody>
          <a:bodyPr/>
          <a:lstStyle/>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2276F4B-A296-492A-8FB9-C78E7B25B44D}" type="datetimeFigureOut">
              <a:rPr lang="zh-CN" altLang="en-US" smtClean="0"/>
              <a:t>2026/1/5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588236D-BA36-4C90-BC5E-4C81E9977708}" type="slidenum">
              <a:rPr lang="zh-CN" altLang="en-US" smtClean="0"/>
              <a:t>‹#›</a:t>
            </a:fld>
            <a:endParaRPr lang="zh-CN" altLang="en-US"/>
          </a:p>
        </p:txBody>
      </p:sp>
    </p:spTree>
    <p:extLst>
      <p:ext uri="{BB962C8B-B14F-4D97-AF65-F5344CB8AC3E}">
        <p14:creationId xmlns:p14="http://schemas.microsoft.com/office/powerpoint/2010/main" val="11318043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0" name="矩形 9"/>
          <p:cNvSpPr/>
          <p:nvPr userDrawn="1"/>
        </p:nvSpPr>
        <p:spPr>
          <a:xfrm>
            <a:off x="0" y="0"/>
            <a:ext cx="12192000" cy="3848100"/>
          </a:xfrm>
          <a:prstGeom prst="rect">
            <a:avLst/>
          </a:prstGeom>
          <a:solidFill>
            <a:srgbClr val="1A31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276F4B-A296-492A-8FB9-C78E7B25B44D}" type="datetimeFigureOut">
              <a:rPr lang="zh-CN" altLang="en-US" smtClean="0"/>
              <a:t>2026/1/5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88236D-BA36-4C90-BC5E-4C81E997770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lvl1pPr algn="l" defTabSz="913765"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3765"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3765"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3765"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3765"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hemeOverride" Target="../theme/themeOverride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hemeOverride" Target="../theme/themeOverride3.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hemeOverride" Target="../theme/themeOverride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hemeOverride" Target="../theme/themeOverride5.xml"/><Relationship Id="rId5" Type="http://schemas.openxmlformats.org/officeDocument/2006/relationships/image" Target="../media/image3.pn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hemeOverride" Target="../theme/themeOverride6.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hemeOverride" Target="../theme/themeOverride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hemeOverride" Target="../theme/themeOverride8.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hemeOverride" Target="../theme/themeOverride9.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notesSlide" Target="../notesSlides/notesSlide11.xml"/><Relationship Id="rId7" Type="http://schemas.openxmlformats.org/officeDocument/2006/relationships/image" Target="../media/image9.jpeg"/><Relationship Id="rId2" Type="http://schemas.openxmlformats.org/officeDocument/2006/relationships/slideLayout" Target="../slideLayouts/slideLayout13.xml"/><Relationship Id="rId1" Type="http://schemas.openxmlformats.org/officeDocument/2006/relationships/themeOverride" Target="../theme/themeOverride10.xml"/><Relationship Id="rId6" Type="http://schemas.openxmlformats.org/officeDocument/2006/relationships/image" Target="../media/image8.jpeg"/><Relationship Id="rId5" Type="http://schemas.openxmlformats.org/officeDocument/2006/relationships/image" Target="../media/image7.jpeg"/><Relationship Id="rId10" Type="http://schemas.openxmlformats.org/officeDocument/2006/relationships/image" Target="../media/image3.png"/><Relationship Id="rId4" Type="http://schemas.openxmlformats.org/officeDocument/2006/relationships/image" Target="../media/image6.jpeg"/><Relationship Id="rId9"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hemeOverride" Target="../theme/themeOverride11.xml"/><Relationship Id="rId5" Type="http://schemas.openxmlformats.org/officeDocument/2006/relationships/image" Target="../media/image1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hemeOverride" Target="../theme/themeOverride12.xml"/><Relationship Id="rId5" Type="http://schemas.openxmlformats.org/officeDocument/2006/relationships/image" Target="../media/image13.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hemeOverride" Target="../theme/themeOverride13.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hemeOverride" Target="../theme/themeOverride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hemeOverride" Target="../theme/themeOverride15.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hemeOverride" Target="../theme/themeOverride16.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hemeOverride" Target="../theme/themeOverride17.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hemeOverride" Target="../theme/themeOverride18.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hemeOverride" Target="../theme/themeOverride19.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4.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17" name="矩形 116"/>
          <p:cNvSpPr/>
          <p:nvPr/>
        </p:nvSpPr>
        <p:spPr>
          <a:xfrm flipH="1">
            <a:off x="677419" y="598161"/>
            <a:ext cx="10825884" cy="5667826"/>
          </a:xfrm>
          <a:prstGeom prst="rect">
            <a:avLst/>
          </a:prstGeom>
          <a:blipFill dpi="0" rotWithShape="1">
            <a:blip r:embed="rId4">
              <a:alphaModFix amt="85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5" name="矩形 114"/>
          <p:cNvSpPr/>
          <p:nvPr/>
        </p:nvSpPr>
        <p:spPr>
          <a:xfrm>
            <a:off x="716532" y="4900965"/>
            <a:ext cx="10825884" cy="14083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32" name="组合 131"/>
          <p:cNvGrpSpPr/>
          <p:nvPr/>
        </p:nvGrpSpPr>
        <p:grpSpPr>
          <a:xfrm>
            <a:off x="1026052" y="5394358"/>
            <a:ext cx="2879011" cy="406487"/>
            <a:chOff x="1038752" y="5253033"/>
            <a:chExt cx="2879011" cy="406487"/>
          </a:xfrm>
        </p:grpSpPr>
        <p:grpSp>
          <p:nvGrpSpPr>
            <p:cNvPr id="131" name="组合 130"/>
            <p:cNvGrpSpPr/>
            <p:nvPr/>
          </p:nvGrpSpPr>
          <p:grpSpPr>
            <a:xfrm>
              <a:off x="1546569" y="5253033"/>
              <a:ext cx="1855688" cy="391431"/>
              <a:chOff x="1546569" y="5326964"/>
              <a:chExt cx="1855688" cy="317500"/>
            </a:xfrm>
          </p:grpSpPr>
          <p:sp>
            <p:nvSpPr>
              <p:cNvPr id="118" name="矩形 117"/>
              <p:cNvSpPr/>
              <p:nvPr/>
            </p:nvSpPr>
            <p:spPr>
              <a:xfrm>
                <a:off x="1692618" y="5326964"/>
                <a:ext cx="1571281" cy="317500"/>
              </a:xfrm>
              <a:prstGeom prst="rect">
                <a:avLst/>
              </a:prstGeom>
              <a:solidFill>
                <a:srgbClr val="FF9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9" name="椭圆 118"/>
              <p:cNvSpPr/>
              <p:nvPr/>
            </p:nvSpPr>
            <p:spPr>
              <a:xfrm>
                <a:off x="1546569" y="5326964"/>
                <a:ext cx="292100" cy="317500"/>
              </a:xfrm>
              <a:prstGeom prst="ellipse">
                <a:avLst/>
              </a:prstGeom>
              <a:solidFill>
                <a:srgbClr val="FF9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6" name="椭圆 125"/>
              <p:cNvSpPr/>
              <p:nvPr/>
            </p:nvSpPr>
            <p:spPr>
              <a:xfrm>
                <a:off x="3110157" y="5326964"/>
                <a:ext cx="292100" cy="317500"/>
              </a:xfrm>
              <a:prstGeom prst="ellipse">
                <a:avLst/>
              </a:prstGeom>
              <a:solidFill>
                <a:srgbClr val="FF9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24" name="文本占位符 1110"/>
            <p:cNvSpPr txBox="1"/>
            <p:nvPr/>
          </p:nvSpPr>
          <p:spPr>
            <a:xfrm>
              <a:off x="1038752" y="5268089"/>
              <a:ext cx="2879011" cy="391431"/>
            </a:xfrm>
            <a:prstGeom prst="rect">
              <a:avLst/>
            </a:prstGeom>
          </p:spPr>
          <p:txBody>
            <a:bodyPr vert="horz" lIns="91440" tIns="45720" rIns="91440" bIns="45720" rtlCol="0" anchor="ctr">
              <a:noAutofit/>
            </a:bodyPr>
            <a:lstStyle>
              <a:lvl1pPr marL="0" indent="0" algn="r" defTabSz="913765" rtl="0" eaLnBrk="1" latinLnBrk="0" hangingPunct="1">
                <a:lnSpc>
                  <a:spcPct val="90000"/>
                </a:lnSpc>
                <a:spcBef>
                  <a:spcPts val="1000"/>
                </a:spcBef>
                <a:buFont typeface="Arial" panose="020B0604020202020204" pitchFamily="34" charset="0"/>
                <a:buNone/>
                <a:defRPr sz="1500" b="0" kern="1200">
                  <a:solidFill>
                    <a:srgbClr val="08A0E2"/>
                  </a:solidFill>
                  <a:latin typeface="+mn-lt"/>
                  <a:ea typeface="+mn-ea"/>
                  <a:cs typeface="+mn-cs"/>
                </a:defRPr>
              </a:lvl1pPr>
              <a:lvl2pPr marL="457200" indent="0" algn="l" defTabSz="913765"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3765"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3765"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3765"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3765"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1800" b="1" i="0" u="none" strike="noStrike" kern="1200" cap="none" spc="0" normalizeH="0" baseline="0" noProof="0" dirty="0">
                  <a:ln>
                    <a:noFill/>
                  </a:ln>
                  <a:solidFill>
                    <a:schemeClr val="bg1"/>
                  </a:solidFill>
                  <a:effectLst>
                    <a:outerShdw blurRad="355600" dist="88900" dir="2700000" algn="tl" rotWithShape="0">
                      <a:prstClr val="black">
                        <a:alpha val="28000"/>
                      </a:prstClr>
                    </a:outerShdw>
                  </a:effectLst>
                  <a:uLnTx/>
                  <a:uFillTx/>
                  <a:cs typeface="+mn-ea"/>
                  <a:sym typeface="+mn-lt"/>
                </a:rPr>
                <a:t>汇报人：</a:t>
              </a:r>
              <a:r>
                <a:rPr lang="zh-CN" altLang="en-US" sz="1800" b="1" dirty="0">
                  <a:solidFill>
                    <a:schemeClr val="bg1"/>
                  </a:solidFill>
                  <a:effectLst>
                    <a:outerShdw blurRad="355600" dist="88900" dir="2700000" algn="tl" rotWithShape="0">
                      <a:prstClr val="black">
                        <a:alpha val="28000"/>
                      </a:prstClr>
                    </a:outerShdw>
                  </a:effectLst>
                  <a:cs typeface="+mn-ea"/>
                  <a:sym typeface="+mn-lt"/>
                </a:rPr>
                <a:t>王坚泽</a:t>
              </a:r>
              <a:endParaRPr kumimoji="0" lang="en-US" altLang="zh-CN" sz="1800" b="1" i="0" u="none" strike="noStrike" kern="1200" cap="none" spc="0" normalizeH="0" baseline="0" noProof="0" dirty="0">
                <a:ln>
                  <a:noFill/>
                </a:ln>
                <a:solidFill>
                  <a:schemeClr val="bg1"/>
                </a:solidFill>
                <a:effectLst>
                  <a:outerShdw blurRad="355600" dist="88900" dir="2700000" algn="tl" rotWithShape="0">
                    <a:prstClr val="black">
                      <a:alpha val="28000"/>
                    </a:prstClr>
                  </a:outerShdw>
                </a:effectLst>
                <a:uLnTx/>
                <a:uFillTx/>
                <a:cs typeface="+mn-ea"/>
                <a:sym typeface="+mn-lt"/>
              </a:endParaRPr>
            </a:p>
          </p:txBody>
        </p:sp>
      </p:grpSp>
      <p:grpSp>
        <p:nvGrpSpPr>
          <p:cNvPr id="138" name="组合 137"/>
          <p:cNvGrpSpPr/>
          <p:nvPr/>
        </p:nvGrpSpPr>
        <p:grpSpPr>
          <a:xfrm>
            <a:off x="5772220" y="5396770"/>
            <a:ext cx="2879011" cy="401662"/>
            <a:chOff x="6064368" y="-979684"/>
            <a:chExt cx="3102362" cy="401662"/>
          </a:xfrm>
        </p:grpSpPr>
        <p:grpSp>
          <p:nvGrpSpPr>
            <p:cNvPr id="137" name="组合 136"/>
            <p:cNvGrpSpPr/>
            <p:nvPr/>
          </p:nvGrpSpPr>
          <p:grpSpPr>
            <a:xfrm>
              <a:off x="6196432" y="-979684"/>
              <a:ext cx="2858407" cy="391432"/>
              <a:chOff x="6196432" y="-979684"/>
              <a:chExt cx="2858407" cy="391432"/>
            </a:xfrm>
          </p:grpSpPr>
          <p:sp>
            <p:nvSpPr>
              <p:cNvPr id="133" name="矩形 132"/>
              <p:cNvSpPr/>
              <p:nvPr/>
            </p:nvSpPr>
            <p:spPr>
              <a:xfrm>
                <a:off x="6322310" y="-979684"/>
                <a:ext cx="2586479" cy="391431"/>
              </a:xfrm>
              <a:prstGeom prst="rect">
                <a:avLst/>
              </a:prstGeom>
              <a:solidFill>
                <a:srgbClr val="FF9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4" name="椭圆 133"/>
              <p:cNvSpPr/>
              <p:nvPr/>
            </p:nvSpPr>
            <p:spPr>
              <a:xfrm>
                <a:off x="6196432" y="-979683"/>
                <a:ext cx="292100" cy="391431"/>
              </a:xfrm>
              <a:prstGeom prst="ellipse">
                <a:avLst/>
              </a:prstGeom>
              <a:solidFill>
                <a:srgbClr val="FF9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5" name="椭圆 134"/>
              <p:cNvSpPr/>
              <p:nvPr/>
            </p:nvSpPr>
            <p:spPr>
              <a:xfrm>
                <a:off x="8762739" y="-979683"/>
                <a:ext cx="292100" cy="391431"/>
              </a:xfrm>
              <a:prstGeom prst="ellipse">
                <a:avLst/>
              </a:prstGeom>
              <a:solidFill>
                <a:srgbClr val="FF9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25" name="文本占位符 1111"/>
            <p:cNvSpPr txBox="1"/>
            <p:nvPr/>
          </p:nvSpPr>
          <p:spPr>
            <a:xfrm>
              <a:off x="6064368" y="-969453"/>
              <a:ext cx="3102362" cy="391431"/>
            </a:xfrm>
            <a:prstGeom prst="rect">
              <a:avLst/>
            </a:prstGeom>
          </p:spPr>
          <p:txBody>
            <a:bodyPr vert="horz" lIns="91440" tIns="45720" rIns="91440" bIns="45720" rtlCol="0" anchor="ctr">
              <a:noAutofit/>
            </a:bodyPr>
            <a:lstStyle>
              <a:lvl1pPr marL="0" indent="0" algn="r" defTabSz="913765" rtl="0" eaLnBrk="1" latinLnBrk="0" hangingPunct="1">
                <a:lnSpc>
                  <a:spcPct val="90000"/>
                </a:lnSpc>
                <a:spcBef>
                  <a:spcPts val="1000"/>
                </a:spcBef>
                <a:buFont typeface="Arial" panose="020B0604020202020204" pitchFamily="34" charset="0"/>
                <a:buNone/>
                <a:defRPr sz="1500" b="0" kern="1200">
                  <a:solidFill>
                    <a:srgbClr val="08A0E2"/>
                  </a:solidFill>
                  <a:latin typeface="+mn-lt"/>
                  <a:ea typeface="+mn-ea"/>
                  <a:cs typeface="+mn-cs"/>
                </a:defRPr>
              </a:lvl1pPr>
              <a:lvl2pPr marL="457200" indent="0" algn="l" defTabSz="913765"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3765"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3765"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3765"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3765"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1800" b="1" i="0" u="none" strike="noStrike" kern="1200" cap="none" spc="0" normalizeH="0" baseline="0" noProof="0" dirty="0">
                  <a:ln>
                    <a:noFill/>
                  </a:ln>
                  <a:solidFill>
                    <a:schemeClr val="bg1"/>
                  </a:solidFill>
                  <a:effectLst>
                    <a:outerShdw blurRad="355600" dist="88900" dir="2700000" algn="tl" rotWithShape="0">
                      <a:prstClr val="black">
                        <a:alpha val="28000"/>
                      </a:prstClr>
                    </a:outerShdw>
                  </a:effectLst>
                  <a:uLnTx/>
                  <a:uFillTx/>
                  <a:cs typeface="+mn-ea"/>
                  <a:sym typeface="+mn-lt"/>
                </a:rPr>
                <a:t>汇报时间：</a:t>
              </a:r>
              <a:r>
                <a:rPr kumimoji="0" lang="en-US" altLang="zh-CN" sz="1800" b="1" i="0" u="none" strike="noStrike" kern="1200" cap="none" spc="0" normalizeH="0" baseline="0" noProof="0" dirty="0">
                  <a:ln>
                    <a:noFill/>
                  </a:ln>
                  <a:solidFill>
                    <a:schemeClr val="bg1"/>
                  </a:solidFill>
                  <a:effectLst>
                    <a:outerShdw blurRad="355600" dist="88900" dir="2700000" algn="tl" rotWithShape="0">
                      <a:prstClr val="black">
                        <a:alpha val="28000"/>
                      </a:prstClr>
                    </a:outerShdw>
                  </a:effectLst>
                  <a:uLnTx/>
                  <a:uFillTx/>
                  <a:cs typeface="+mn-ea"/>
                  <a:sym typeface="+mn-lt"/>
                </a:rPr>
                <a:t>2026</a:t>
              </a:r>
              <a:r>
                <a:rPr kumimoji="0" lang="zh-CN" altLang="en-US" sz="1800" b="1" i="0" u="none" strike="noStrike" kern="1200" cap="none" spc="0" normalizeH="0" baseline="0" noProof="0" dirty="0">
                  <a:ln>
                    <a:noFill/>
                  </a:ln>
                  <a:solidFill>
                    <a:schemeClr val="bg1"/>
                  </a:solidFill>
                  <a:effectLst>
                    <a:outerShdw blurRad="355600" dist="88900" dir="2700000" algn="tl" rotWithShape="0">
                      <a:prstClr val="black">
                        <a:alpha val="28000"/>
                      </a:prstClr>
                    </a:outerShdw>
                  </a:effectLst>
                  <a:uLnTx/>
                  <a:uFillTx/>
                  <a:cs typeface="+mn-ea"/>
                  <a:sym typeface="+mn-lt"/>
                </a:rPr>
                <a:t>年</a:t>
              </a:r>
              <a:r>
                <a:rPr lang="en-US" altLang="zh-CN" sz="1800" b="1" dirty="0">
                  <a:solidFill>
                    <a:schemeClr val="bg1"/>
                  </a:solidFill>
                  <a:effectLst>
                    <a:outerShdw blurRad="355600" dist="88900" dir="2700000" algn="tl" rotWithShape="0">
                      <a:prstClr val="black">
                        <a:alpha val="28000"/>
                      </a:prstClr>
                    </a:outerShdw>
                  </a:effectLst>
                  <a:cs typeface="+mn-ea"/>
                  <a:sym typeface="+mn-lt"/>
                </a:rPr>
                <a:t>1</a:t>
              </a:r>
              <a:r>
                <a:rPr kumimoji="0" lang="zh-CN" altLang="en-US" sz="1800" b="1" i="0" u="none" strike="noStrike" kern="1200" cap="none" spc="0" normalizeH="0" baseline="0" noProof="0" dirty="0">
                  <a:ln>
                    <a:noFill/>
                  </a:ln>
                  <a:solidFill>
                    <a:schemeClr val="bg1"/>
                  </a:solidFill>
                  <a:effectLst>
                    <a:outerShdw blurRad="355600" dist="88900" dir="2700000" algn="tl" rotWithShape="0">
                      <a:prstClr val="black">
                        <a:alpha val="28000"/>
                      </a:prstClr>
                    </a:outerShdw>
                  </a:effectLst>
                  <a:uLnTx/>
                  <a:uFillTx/>
                  <a:cs typeface="+mn-ea"/>
                  <a:sym typeface="+mn-lt"/>
                </a:rPr>
                <a:t>月</a:t>
              </a:r>
              <a:endParaRPr kumimoji="0" lang="en-US" altLang="en-US" sz="1800" b="1" i="0" u="none" strike="noStrike" kern="1200" cap="none" spc="0" normalizeH="0" baseline="0" noProof="0" dirty="0">
                <a:ln>
                  <a:noFill/>
                </a:ln>
                <a:solidFill>
                  <a:schemeClr val="bg1"/>
                </a:solidFill>
                <a:effectLst>
                  <a:outerShdw blurRad="355600" dist="88900" dir="2700000" algn="tl" rotWithShape="0">
                    <a:prstClr val="black">
                      <a:alpha val="28000"/>
                    </a:prstClr>
                  </a:outerShdw>
                </a:effectLst>
                <a:uLnTx/>
                <a:uFillTx/>
                <a:cs typeface="+mn-ea"/>
                <a:sym typeface="+mn-lt"/>
              </a:endParaRPr>
            </a:p>
          </p:txBody>
        </p:sp>
      </p:grpSp>
      <p:grpSp>
        <p:nvGrpSpPr>
          <p:cNvPr id="150" name="组合 149"/>
          <p:cNvGrpSpPr/>
          <p:nvPr/>
        </p:nvGrpSpPr>
        <p:grpSpPr>
          <a:xfrm>
            <a:off x="7076661" y="837908"/>
            <a:ext cx="4162838" cy="457054"/>
            <a:chOff x="7076661" y="837908"/>
            <a:chExt cx="4162838" cy="457054"/>
          </a:xfrm>
        </p:grpSpPr>
        <p:grpSp>
          <p:nvGrpSpPr>
            <p:cNvPr id="143" name="组合 142"/>
            <p:cNvGrpSpPr/>
            <p:nvPr/>
          </p:nvGrpSpPr>
          <p:grpSpPr>
            <a:xfrm>
              <a:off x="10795050" y="837908"/>
              <a:ext cx="444449" cy="457054"/>
              <a:chOff x="10795050" y="837908"/>
              <a:chExt cx="444449" cy="457054"/>
            </a:xfrm>
          </p:grpSpPr>
          <p:sp>
            <p:nvSpPr>
              <p:cNvPr id="141" name="businessman_57134"/>
              <p:cNvSpPr>
                <a:spLocks noChangeAspect="1"/>
              </p:cNvSpPr>
              <p:nvPr/>
            </p:nvSpPr>
            <p:spPr bwMode="auto">
              <a:xfrm>
                <a:off x="10884001" y="895204"/>
                <a:ext cx="279300" cy="304842"/>
              </a:xfrm>
              <a:custGeom>
                <a:avLst/>
                <a:gdLst>
                  <a:gd name="connsiteX0" fmla="*/ 243589 w 557114"/>
                  <a:gd name="connsiteY0" fmla="*/ 355438 h 608062"/>
                  <a:gd name="connsiteX1" fmla="*/ 277656 w 557114"/>
                  <a:gd name="connsiteY1" fmla="*/ 355438 h 608062"/>
                  <a:gd name="connsiteX2" fmla="*/ 277940 w 557114"/>
                  <a:gd name="connsiteY2" fmla="*/ 355438 h 608062"/>
                  <a:gd name="connsiteX3" fmla="*/ 278604 w 557114"/>
                  <a:gd name="connsiteY3" fmla="*/ 355438 h 608062"/>
                  <a:gd name="connsiteX4" fmla="*/ 279174 w 557114"/>
                  <a:gd name="connsiteY4" fmla="*/ 355438 h 608062"/>
                  <a:gd name="connsiteX5" fmla="*/ 279458 w 557114"/>
                  <a:gd name="connsiteY5" fmla="*/ 355438 h 608062"/>
                  <a:gd name="connsiteX6" fmla="*/ 279553 w 557114"/>
                  <a:gd name="connsiteY6" fmla="*/ 355438 h 608062"/>
                  <a:gd name="connsiteX7" fmla="*/ 313620 w 557114"/>
                  <a:gd name="connsiteY7" fmla="*/ 355438 h 608062"/>
                  <a:gd name="connsiteX8" fmla="*/ 324438 w 557114"/>
                  <a:gd name="connsiteY8" fmla="*/ 375432 h 608062"/>
                  <a:gd name="connsiteX9" fmla="*/ 298152 w 557114"/>
                  <a:gd name="connsiteY9" fmla="*/ 430202 h 608062"/>
                  <a:gd name="connsiteX10" fmla="*/ 301948 w 557114"/>
                  <a:gd name="connsiteY10" fmla="*/ 510272 h 608062"/>
                  <a:gd name="connsiteX11" fmla="*/ 356891 w 557114"/>
                  <a:gd name="connsiteY11" fmla="*/ 389172 h 608062"/>
                  <a:gd name="connsiteX12" fmla="*/ 356986 w 557114"/>
                  <a:gd name="connsiteY12" fmla="*/ 389172 h 608062"/>
                  <a:gd name="connsiteX13" fmla="*/ 376628 w 557114"/>
                  <a:gd name="connsiteY13" fmla="*/ 375337 h 608062"/>
                  <a:gd name="connsiteX14" fmla="*/ 383556 w 557114"/>
                  <a:gd name="connsiteY14" fmla="*/ 376474 h 608062"/>
                  <a:gd name="connsiteX15" fmla="*/ 383745 w 557114"/>
                  <a:gd name="connsiteY15" fmla="*/ 376569 h 608062"/>
                  <a:gd name="connsiteX16" fmla="*/ 518588 w 557114"/>
                  <a:gd name="connsiteY16" fmla="*/ 438920 h 608062"/>
                  <a:gd name="connsiteX17" fmla="*/ 557114 w 557114"/>
                  <a:gd name="connsiteY17" fmla="*/ 482224 h 608062"/>
                  <a:gd name="connsiteX18" fmla="*/ 557114 w 557114"/>
                  <a:gd name="connsiteY18" fmla="*/ 608062 h 608062"/>
                  <a:gd name="connsiteX19" fmla="*/ 279743 w 557114"/>
                  <a:gd name="connsiteY19" fmla="*/ 608062 h 608062"/>
                  <a:gd name="connsiteX20" fmla="*/ 279458 w 557114"/>
                  <a:gd name="connsiteY20" fmla="*/ 608062 h 608062"/>
                  <a:gd name="connsiteX21" fmla="*/ 279364 w 557114"/>
                  <a:gd name="connsiteY21" fmla="*/ 608062 h 608062"/>
                  <a:gd name="connsiteX22" fmla="*/ 279174 w 557114"/>
                  <a:gd name="connsiteY22" fmla="*/ 608062 h 608062"/>
                  <a:gd name="connsiteX23" fmla="*/ 278984 w 557114"/>
                  <a:gd name="connsiteY23" fmla="*/ 608062 h 608062"/>
                  <a:gd name="connsiteX24" fmla="*/ 278604 w 557114"/>
                  <a:gd name="connsiteY24" fmla="*/ 608062 h 608062"/>
                  <a:gd name="connsiteX25" fmla="*/ 278130 w 557114"/>
                  <a:gd name="connsiteY25" fmla="*/ 608062 h 608062"/>
                  <a:gd name="connsiteX26" fmla="*/ 277940 w 557114"/>
                  <a:gd name="connsiteY26" fmla="*/ 608062 h 608062"/>
                  <a:gd name="connsiteX27" fmla="*/ 277845 w 557114"/>
                  <a:gd name="connsiteY27" fmla="*/ 608062 h 608062"/>
                  <a:gd name="connsiteX28" fmla="*/ 277750 w 557114"/>
                  <a:gd name="connsiteY28" fmla="*/ 608062 h 608062"/>
                  <a:gd name="connsiteX29" fmla="*/ 277656 w 557114"/>
                  <a:gd name="connsiteY29" fmla="*/ 608062 h 608062"/>
                  <a:gd name="connsiteX30" fmla="*/ 277371 w 557114"/>
                  <a:gd name="connsiteY30" fmla="*/ 608062 h 608062"/>
                  <a:gd name="connsiteX31" fmla="*/ 0 w 557114"/>
                  <a:gd name="connsiteY31" fmla="*/ 608062 h 608062"/>
                  <a:gd name="connsiteX32" fmla="*/ 0 w 557114"/>
                  <a:gd name="connsiteY32" fmla="*/ 482224 h 608062"/>
                  <a:gd name="connsiteX33" fmla="*/ 38621 w 557114"/>
                  <a:gd name="connsiteY33" fmla="*/ 438920 h 608062"/>
                  <a:gd name="connsiteX34" fmla="*/ 173464 w 557114"/>
                  <a:gd name="connsiteY34" fmla="*/ 376569 h 608062"/>
                  <a:gd name="connsiteX35" fmla="*/ 173558 w 557114"/>
                  <a:gd name="connsiteY35" fmla="*/ 376474 h 608062"/>
                  <a:gd name="connsiteX36" fmla="*/ 180486 w 557114"/>
                  <a:gd name="connsiteY36" fmla="*/ 375337 h 608062"/>
                  <a:gd name="connsiteX37" fmla="*/ 200223 w 557114"/>
                  <a:gd name="connsiteY37" fmla="*/ 389172 h 608062"/>
                  <a:gd name="connsiteX38" fmla="*/ 255166 w 557114"/>
                  <a:gd name="connsiteY38" fmla="*/ 510272 h 608062"/>
                  <a:gd name="connsiteX39" fmla="*/ 258962 w 557114"/>
                  <a:gd name="connsiteY39" fmla="*/ 430202 h 608062"/>
                  <a:gd name="connsiteX40" fmla="*/ 232676 w 557114"/>
                  <a:gd name="connsiteY40" fmla="*/ 375432 h 608062"/>
                  <a:gd name="connsiteX41" fmla="*/ 243589 w 557114"/>
                  <a:gd name="connsiteY41" fmla="*/ 355438 h 608062"/>
                  <a:gd name="connsiteX42" fmla="*/ 276250 w 557114"/>
                  <a:gd name="connsiteY42" fmla="*/ 0 h 608062"/>
                  <a:gd name="connsiteX43" fmla="*/ 277674 w 557114"/>
                  <a:gd name="connsiteY43" fmla="*/ 0 h 608062"/>
                  <a:gd name="connsiteX44" fmla="*/ 277863 w 557114"/>
                  <a:gd name="connsiteY44" fmla="*/ 0 h 608062"/>
                  <a:gd name="connsiteX45" fmla="*/ 277958 w 557114"/>
                  <a:gd name="connsiteY45" fmla="*/ 0 h 608062"/>
                  <a:gd name="connsiteX46" fmla="*/ 279382 w 557114"/>
                  <a:gd name="connsiteY46" fmla="*/ 0 h 608062"/>
                  <a:gd name="connsiteX47" fmla="*/ 402570 w 557114"/>
                  <a:gd name="connsiteY47" fmla="*/ 104895 h 608062"/>
                  <a:gd name="connsiteX48" fmla="*/ 394693 w 557114"/>
                  <a:gd name="connsiteY48" fmla="*/ 159001 h 608062"/>
                  <a:gd name="connsiteX49" fmla="*/ 405892 w 557114"/>
                  <a:gd name="connsiteY49" fmla="*/ 184774 h 608062"/>
                  <a:gd name="connsiteX50" fmla="*/ 377040 w 557114"/>
                  <a:gd name="connsiteY50" fmla="*/ 236890 h 608062"/>
                  <a:gd name="connsiteX51" fmla="*/ 315731 w 557114"/>
                  <a:gd name="connsiteY51" fmla="*/ 311274 h 608062"/>
                  <a:gd name="connsiteX52" fmla="*/ 277958 w 557114"/>
                  <a:gd name="connsiteY52" fmla="*/ 319707 h 608062"/>
                  <a:gd name="connsiteX53" fmla="*/ 277958 w 557114"/>
                  <a:gd name="connsiteY53" fmla="*/ 319802 h 608062"/>
                  <a:gd name="connsiteX54" fmla="*/ 277863 w 557114"/>
                  <a:gd name="connsiteY54" fmla="*/ 319802 h 608062"/>
                  <a:gd name="connsiteX55" fmla="*/ 277674 w 557114"/>
                  <a:gd name="connsiteY55" fmla="*/ 319802 h 608062"/>
                  <a:gd name="connsiteX56" fmla="*/ 277674 w 557114"/>
                  <a:gd name="connsiteY56" fmla="*/ 319707 h 608062"/>
                  <a:gd name="connsiteX57" fmla="*/ 239901 w 557114"/>
                  <a:gd name="connsiteY57" fmla="*/ 311274 h 608062"/>
                  <a:gd name="connsiteX58" fmla="*/ 178592 w 557114"/>
                  <a:gd name="connsiteY58" fmla="*/ 236890 h 608062"/>
                  <a:gd name="connsiteX59" fmla="*/ 149740 w 557114"/>
                  <a:gd name="connsiteY59" fmla="*/ 184774 h 608062"/>
                  <a:gd name="connsiteX60" fmla="*/ 161034 w 557114"/>
                  <a:gd name="connsiteY60" fmla="*/ 159001 h 608062"/>
                  <a:gd name="connsiteX61" fmla="*/ 153062 w 557114"/>
                  <a:gd name="connsiteY61" fmla="*/ 104895 h 608062"/>
                  <a:gd name="connsiteX62" fmla="*/ 276250 w 557114"/>
                  <a:gd name="connsiteY62" fmla="*/ 0 h 608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57114" h="608062">
                    <a:moveTo>
                      <a:pt x="243589" y="355438"/>
                    </a:moveTo>
                    <a:lnTo>
                      <a:pt x="277656" y="355438"/>
                    </a:lnTo>
                    <a:lnTo>
                      <a:pt x="277940" y="355438"/>
                    </a:lnTo>
                    <a:lnTo>
                      <a:pt x="278604" y="355438"/>
                    </a:lnTo>
                    <a:lnTo>
                      <a:pt x="279174" y="355438"/>
                    </a:lnTo>
                    <a:lnTo>
                      <a:pt x="279458" y="355438"/>
                    </a:lnTo>
                    <a:lnTo>
                      <a:pt x="279553" y="355438"/>
                    </a:lnTo>
                    <a:lnTo>
                      <a:pt x="313620" y="355438"/>
                    </a:lnTo>
                    <a:cubicBezTo>
                      <a:pt x="325007" y="355438"/>
                      <a:pt x="330511" y="364630"/>
                      <a:pt x="324438" y="375432"/>
                    </a:cubicBezTo>
                    <a:cubicBezTo>
                      <a:pt x="321781" y="379980"/>
                      <a:pt x="298152" y="430202"/>
                      <a:pt x="298152" y="430202"/>
                    </a:cubicBezTo>
                    <a:lnTo>
                      <a:pt x="301948" y="510272"/>
                    </a:lnTo>
                    <a:cubicBezTo>
                      <a:pt x="317700" y="481655"/>
                      <a:pt x="343131" y="422432"/>
                      <a:pt x="356891" y="389172"/>
                    </a:cubicBezTo>
                    <a:cubicBezTo>
                      <a:pt x="356891" y="389172"/>
                      <a:pt x="356891" y="389172"/>
                      <a:pt x="356986" y="389172"/>
                    </a:cubicBezTo>
                    <a:cubicBezTo>
                      <a:pt x="359832" y="381117"/>
                      <a:pt x="367519" y="375337"/>
                      <a:pt x="376628" y="375337"/>
                    </a:cubicBezTo>
                    <a:cubicBezTo>
                      <a:pt x="379096" y="375337"/>
                      <a:pt x="381373" y="375716"/>
                      <a:pt x="383556" y="376474"/>
                    </a:cubicBezTo>
                    <a:cubicBezTo>
                      <a:pt x="383650" y="376474"/>
                      <a:pt x="383650" y="376474"/>
                      <a:pt x="383745" y="376569"/>
                    </a:cubicBezTo>
                    <a:cubicBezTo>
                      <a:pt x="387446" y="377706"/>
                      <a:pt x="464973" y="411724"/>
                      <a:pt x="518588" y="438920"/>
                    </a:cubicBezTo>
                    <a:cubicBezTo>
                      <a:pt x="542595" y="451049"/>
                      <a:pt x="557114" y="466305"/>
                      <a:pt x="557114" y="482224"/>
                    </a:cubicBezTo>
                    <a:lnTo>
                      <a:pt x="557114" y="608062"/>
                    </a:lnTo>
                    <a:lnTo>
                      <a:pt x="279743" y="608062"/>
                    </a:lnTo>
                    <a:lnTo>
                      <a:pt x="279458" y="608062"/>
                    </a:lnTo>
                    <a:lnTo>
                      <a:pt x="279364" y="608062"/>
                    </a:lnTo>
                    <a:lnTo>
                      <a:pt x="279174" y="608062"/>
                    </a:lnTo>
                    <a:lnTo>
                      <a:pt x="278984" y="608062"/>
                    </a:lnTo>
                    <a:lnTo>
                      <a:pt x="278604" y="608062"/>
                    </a:lnTo>
                    <a:lnTo>
                      <a:pt x="278130" y="608062"/>
                    </a:lnTo>
                    <a:lnTo>
                      <a:pt x="277940" y="608062"/>
                    </a:lnTo>
                    <a:lnTo>
                      <a:pt x="277845" y="608062"/>
                    </a:lnTo>
                    <a:lnTo>
                      <a:pt x="277750" y="608062"/>
                    </a:lnTo>
                    <a:lnTo>
                      <a:pt x="277656" y="608062"/>
                    </a:lnTo>
                    <a:lnTo>
                      <a:pt x="277371" y="608062"/>
                    </a:lnTo>
                    <a:lnTo>
                      <a:pt x="0" y="608062"/>
                    </a:lnTo>
                    <a:lnTo>
                      <a:pt x="0" y="482224"/>
                    </a:lnTo>
                    <a:cubicBezTo>
                      <a:pt x="0" y="466305"/>
                      <a:pt x="14519" y="451049"/>
                      <a:pt x="38621" y="438920"/>
                    </a:cubicBezTo>
                    <a:cubicBezTo>
                      <a:pt x="92141" y="411724"/>
                      <a:pt x="169668" y="377706"/>
                      <a:pt x="173464" y="376569"/>
                    </a:cubicBezTo>
                    <a:cubicBezTo>
                      <a:pt x="173464" y="376474"/>
                      <a:pt x="173464" y="376474"/>
                      <a:pt x="173558" y="376474"/>
                    </a:cubicBezTo>
                    <a:cubicBezTo>
                      <a:pt x="175741" y="375716"/>
                      <a:pt x="178018" y="375337"/>
                      <a:pt x="180486" y="375337"/>
                    </a:cubicBezTo>
                    <a:cubicBezTo>
                      <a:pt x="189595" y="375337"/>
                      <a:pt x="197282" y="381117"/>
                      <a:pt x="200223" y="389172"/>
                    </a:cubicBezTo>
                    <a:cubicBezTo>
                      <a:pt x="214078" y="422432"/>
                      <a:pt x="239414" y="481655"/>
                      <a:pt x="255166" y="510272"/>
                    </a:cubicBezTo>
                    <a:lnTo>
                      <a:pt x="258962" y="430202"/>
                    </a:lnTo>
                    <a:cubicBezTo>
                      <a:pt x="258962" y="430202"/>
                      <a:pt x="235333" y="379980"/>
                      <a:pt x="232676" y="375432"/>
                    </a:cubicBezTo>
                    <a:cubicBezTo>
                      <a:pt x="226603" y="364630"/>
                      <a:pt x="232107" y="355438"/>
                      <a:pt x="243589" y="355438"/>
                    </a:cubicBezTo>
                    <a:close/>
                    <a:moveTo>
                      <a:pt x="276250" y="0"/>
                    </a:moveTo>
                    <a:cubicBezTo>
                      <a:pt x="276725" y="0"/>
                      <a:pt x="277199" y="0"/>
                      <a:pt x="277674" y="0"/>
                    </a:cubicBezTo>
                    <a:cubicBezTo>
                      <a:pt x="277769" y="0"/>
                      <a:pt x="277769" y="0"/>
                      <a:pt x="277863" y="0"/>
                    </a:cubicBezTo>
                    <a:cubicBezTo>
                      <a:pt x="277863" y="0"/>
                      <a:pt x="277863" y="0"/>
                      <a:pt x="277958" y="0"/>
                    </a:cubicBezTo>
                    <a:cubicBezTo>
                      <a:pt x="278433" y="0"/>
                      <a:pt x="278907" y="0"/>
                      <a:pt x="279382" y="0"/>
                    </a:cubicBezTo>
                    <a:cubicBezTo>
                      <a:pt x="385487" y="0"/>
                      <a:pt x="405417" y="75615"/>
                      <a:pt x="402570" y="104895"/>
                    </a:cubicBezTo>
                    <a:cubicBezTo>
                      <a:pt x="400387" y="128395"/>
                      <a:pt x="394693" y="159001"/>
                      <a:pt x="394693" y="159001"/>
                    </a:cubicBezTo>
                    <a:cubicBezTo>
                      <a:pt x="394693" y="159001"/>
                      <a:pt x="405892" y="164118"/>
                      <a:pt x="405892" y="184774"/>
                    </a:cubicBezTo>
                    <a:cubicBezTo>
                      <a:pt x="402001" y="236511"/>
                      <a:pt x="381311" y="214149"/>
                      <a:pt x="377040" y="236890"/>
                    </a:cubicBezTo>
                    <a:cubicBezTo>
                      <a:pt x="370017" y="274603"/>
                      <a:pt x="336610" y="301893"/>
                      <a:pt x="315731" y="311274"/>
                    </a:cubicBezTo>
                    <a:cubicBezTo>
                      <a:pt x="303583" y="316770"/>
                      <a:pt x="291055" y="319518"/>
                      <a:pt x="277958" y="319707"/>
                    </a:cubicBezTo>
                    <a:lnTo>
                      <a:pt x="277958" y="319802"/>
                    </a:lnTo>
                    <a:cubicBezTo>
                      <a:pt x="277863" y="319802"/>
                      <a:pt x="277863" y="319802"/>
                      <a:pt x="277863" y="319802"/>
                    </a:cubicBezTo>
                    <a:cubicBezTo>
                      <a:pt x="277769" y="319802"/>
                      <a:pt x="277769" y="319802"/>
                      <a:pt x="277674" y="319802"/>
                    </a:cubicBezTo>
                    <a:lnTo>
                      <a:pt x="277674" y="319707"/>
                    </a:lnTo>
                    <a:cubicBezTo>
                      <a:pt x="264577" y="319518"/>
                      <a:pt x="252049" y="316770"/>
                      <a:pt x="239901" y="311274"/>
                    </a:cubicBezTo>
                    <a:cubicBezTo>
                      <a:pt x="219022" y="301893"/>
                      <a:pt x="185615" y="274603"/>
                      <a:pt x="178592" y="236890"/>
                    </a:cubicBezTo>
                    <a:cubicBezTo>
                      <a:pt x="174321" y="214149"/>
                      <a:pt x="153631" y="236511"/>
                      <a:pt x="149740" y="184774"/>
                    </a:cubicBezTo>
                    <a:cubicBezTo>
                      <a:pt x="149740" y="164118"/>
                      <a:pt x="161034" y="159001"/>
                      <a:pt x="161034" y="159001"/>
                    </a:cubicBezTo>
                    <a:cubicBezTo>
                      <a:pt x="161034" y="159001"/>
                      <a:pt x="155245" y="128395"/>
                      <a:pt x="153062" y="104895"/>
                    </a:cubicBezTo>
                    <a:cubicBezTo>
                      <a:pt x="150215" y="75615"/>
                      <a:pt x="170145" y="0"/>
                      <a:pt x="276250" y="0"/>
                    </a:cubicBezTo>
                    <a:close/>
                  </a:path>
                </a:pathLst>
              </a:custGeom>
              <a:solidFill>
                <a:srgbClr val="1A3172"/>
              </a:solidFill>
              <a:ln>
                <a:noFill/>
              </a:ln>
            </p:spPr>
            <p:txBody>
              <a:bodyPr/>
              <a:lstStyle/>
              <a:p>
                <a:endParaRPr lang="zh-CN" altLang="en-US">
                  <a:cs typeface="+mn-ea"/>
                  <a:sym typeface="+mn-lt"/>
                </a:endParaRPr>
              </a:p>
            </p:txBody>
          </p:sp>
          <p:sp>
            <p:nvSpPr>
              <p:cNvPr id="142" name="椭圆 141"/>
              <p:cNvSpPr/>
              <p:nvPr/>
            </p:nvSpPr>
            <p:spPr>
              <a:xfrm>
                <a:off x="10795050" y="837908"/>
                <a:ext cx="444449" cy="457054"/>
              </a:xfrm>
              <a:prstGeom prst="ellipse">
                <a:avLst/>
              </a:prstGeom>
              <a:noFill/>
              <a:ln w="25400">
                <a:solidFill>
                  <a:srgbClr val="1A31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44" name="文本框 143"/>
            <p:cNvSpPr txBox="1"/>
            <p:nvPr/>
          </p:nvSpPr>
          <p:spPr>
            <a:xfrm>
              <a:off x="7076661" y="915813"/>
              <a:ext cx="3673913" cy="369332"/>
            </a:xfrm>
            <a:prstGeom prst="rect">
              <a:avLst/>
            </a:prstGeom>
            <a:noFill/>
          </p:spPr>
          <p:txBody>
            <a:bodyPr wrap="square" rtlCol="0">
              <a:spAutoFit/>
            </a:bodyPr>
            <a:lstStyle/>
            <a:p>
              <a:pPr algn="r"/>
              <a:r>
                <a:rPr lang="zh-CN" altLang="en-US" dirty="0">
                  <a:solidFill>
                    <a:schemeClr val="tx1">
                      <a:lumMod val="85000"/>
                      <a:lumOff val="15000"/>
                    </a:schemeClr>
                  </a:solidFill>
                  <a:cs typeface="+mn-ea"/>
                  <a:sym typeface="+mn-lt"/>
                </a:rPr>
                <a:t>电子科技大学光电科学与工程学院</a:t>
              </a:r>
            </a:p>
          </p:txBody>
        </p:sp>
      </p:grpSp>
      <p:cxnSp>
        <p:nvCxnSpPr>
          <p:cNvPr id="146" name="直接连接符 145"/>
          <p:cNvCxnSpPr/>
          <p:nvPr/>
        </p:nvCxnSpPr>
        <p:spPr>
          <a:xfrm>
            <a:off x="1651343" y="4943475"/>
            <a:ext cx="663232" cy="0"/>
          </a:xfrm>
          <a:prstGeom prst="line">
            <a:avLst/>
          </a:prstGeom>
          <a:ln w="38100">
            <a:solidFill>
              <a:srgbClr val="FF9C00"/>
            </a:solidFill>
          </a:ln>
        </p:spPr>
        <p:style>
          <a:lnRef idx="1">
            <a:schemeClr val="accent1"/>
          </a:lnRef>
          <a:fillRef idx="0">
            <a:schemeClr val="accent1"/>
          </a:fillRef>
          <a:effectRef idx="0">
            <a:schemeClr val="accent1"/>
          </a:effectRef>
          <a:fontRef idx="minor">
            <a:schemeClr val="tx1"/>
          </a:fontRef>
        </p:style>
      </p:cxnSp>
      <p:grpSp>
        <p:nvGrpSpPr>
          <p:cNvPr id="149" name="组合 148"/>
          <p:cNvGrpSpPr/>
          <p:nvPr/>
        </p:nvGrpSpPr>
        <p:grpSpPr>
          <a:xfrm>
            <a:off x="1508469" y="2587244"/>
            <a:ext cx="8802410" cy="1927566"/>
            <a:chOff x="1508469" y="2587244"/>
            <a:chExt cx="8802410" cy="1927566"/>
          </a:xfrm>
        </p:grpSpPr>
        <p:sp>
          <p:nvSpPr>
            <p:cNvPr id="123" name="标题 1104"/>
            <p:cNvSpPr txBox="1"/>
            <p:nvPr/>
          </p:nvSpPr>
          <p:spPr>
            <a:xfrm>
              <a:off x="1533869" y="2891804"/>
              <a:ext cx="6188531" cy="478635"/>
            </a:xfrm>
            <a:prstGeom prst="rect">
              <a:avLst/>
            </a:prstGeom>
          </p:spPr>
          <p:txBody>
            <a:bodyPr vert="horz" lIns="91440" tIns="45720" rIns="91440" bIns="45720" rtlCol="0" anchor="ctr">
              <a:normAutofit/>
            </a:bodyPr>
            <a:lstStyle>
              <a:lvl1pPr algn="r" defTabSz="913765" rtl="0" eaLnBrk="1" latinLnBrk="0" hangingPunct="1">
                <a:lnSpc>
                  <a:spcPct val="90000"/>
                </a:lnSpc>
                <a:spcBef>
                  <a:spcPct val="0"/>
                </a:spcBef>
                <a:buNone/>
                <a:defRPr sz="4000" b="1" kern="1200">
                  <a:solidFill>
                    <a:srgbClr val="08A0E2"/>
                  </a:solidFill>
                  <a:latin typeface="+mj-lt"/>
                  <a:ea typeface="+mj-ea"/>
                  <a:cs typeface="+mj-cs"/>
                </a:defRPr>
              </a:lvl1pPr>
            </a:lstStyle>
            <a:p>
              <a:pPr marL="0" marR="0" lvl="0" indent="0" algn="l" defTabSz="913765" rtl="0" eaLnBrk="1" fontAlgn="auto" latinLnBrk="0" hangingPunct="1">
                <a:lnSpc>
                  <a:spcPct val="90000"/>
                </a:lnSpc>
                <a:spcBef>
                  <a:spcPct val="0"/>
                </a:spcBef>
                <a:spcAft>
                  <a:spcPts val="0"/>
                </a:spcAft>
                <a:buClrTx/>
                <a:buSzTx/>
                <a:buFontTx/>
                <a:buNone/>
                <a:defRPr/>
              </a:pPr>
              <a:endParaRPr kumimoji="0" lang="zh-CN" altLang="en-US" sz="2800" i="0" u="none" strike="noStrike" kern="1200" cap="none" spc="0" normalizeH="0" baseline="0" noProof="0" dirty="0">
                <a:ln>
                  <a:noFill/>
                </a:ln>
                <a:solidFill>
                  <a:schemeClr val="tx1">
                    <a:lumMod val="85000"/>
                    <a:lumOff val="15000"/>
                  </a:schemeClr>
                </a:solidFill>
                <a:uLnTx/>
                <a:uFillTx/>
                <a:latin typeface="+mn-lt"/>
                <a:ea typeface="+mn-ea"/>
                <a:cs typeface="+mn-ea"/>
                <a:sym typeface="+mn-lt"/>
              </a:endParaRPr>
            </a:p>
          </p:txBody>
        </p:sp>
        <p:sp>
          <p:nvSpPr>
            <p:cNvPr id="5" name="矩形 4"/>
            <p:cNvSpPr/>
            <p:nvPr/>
          </p:nvSpPr>
          <p:spPr>
            <a:xfrm>
              <a:off x="1508469" y="3308709"/>
              <a:ext cx="8802410" cy="830997"/>
            </a:xfrm>
            <a:prstGeom prst="rect">
              <a:avLst/>
            </a:prstGeom>
          </p:spPr>
          <p:txBody>
            <a:bodyPr wrap="none">
              <a:spAutoFit/>
            </a:bodyPr>
            <a:lstStyle/>
            <a:p>
              <a:r>
                <a:rPr lang="zh-CN" altLang="en-US" sz="4800" b="1" dirty="0">
                  <a:solidFill>
                    <a:schemeClr val="tx1">
                      <a:lumMod val="85000"/>
                      <a:lumOff val="15000"/>
                    </a:schemeClr>
                  </a:solidFill>
                  <a:cs typeface="+mn-ea"/>
                  <a:sym typeface="+mn-lt"/>
                </a:rPr>
                <a:t>荧光太阳能聚光器光学效率研究</a:t>
              </a:r>
            </a:p>
          </p:txBody>
        </p:sp>
        <p:sp>
          <p:nvSpPr>
            <p:cNvPr id="140" name="矩形 139"/>
            <p:cNvSpPr/>
            <p:nvPr/>
          </p:nvSpPr>
          <p:spPr>
            <a:xfrm>
              <a:off x="1533869" y="4126242"/>
              <a:ext cx="6281320" cy="388568"/>
            </a:xfrm>
            <a:prstGeom prst="rect">
              <a:avLst/>
            </a:prstGeom>
          </p:spPr>
          <p:txBody>
            <a:bodyPr wrap="square">
              <a:spAutoFit/>
            </a:bodyPr>
            <a:lstStyle/>
            <a:p>
              <a:pPr>
                <a:lnSpc>
                  <a:spcPct val="150000"/>
                </a:lnSpc>
              </a:pPr>
              <a:endParaRPr lang="en-US" altLang="zh-CN" sz="1400" dirty="0">
                <a:solidFill>
                  <a:schemeClr val="tx1">
                    <a:lumMod val="75000"/>
                    <a:lumOff val="25000"/>
                  </a:schemeClr>
                </a:solidFill>
                <a:cs typeface="+mn-ea"/>
                <a:sym typeface="+mn-lt"/>
              </a:endParaRPr>
            </a:p>
          </p:txBody>
        </p:sp>
        <p:sp>
          <p:nvSpPr>
            <p:cNvPr id="147" name="文本框 146"/>
            <p:cNvSpPr txBox="1"/>
            <p:nvPr/>
          </p:nvSpPr>
          <p:spPr>
            <a:xfrm>
              <a:off x="1508469" y="2587244"/>
              <a:ext cx="6983966" cy="830997"/>
            </a:xfrm>
            <a:prstGeom prst="rect">
              <a:avLst/>
            </a:prstGeom>
            <a:noFill/>
          </p:spPr>
          <p:txBody>
            <a:bodyPr wrap="square" rtlCol="0">
              <a:spAutoFit/>
            </a:bodyPr>
            <a:lstStyle/>
            <a:p>
              <a:r>
                <a:rPr lang="zh-CN" altLang="en-US" sz="4800" b="1" dirty="0">
                  <a:solidFill>
                    <a:schemeClr val="tx1">
                      <a:lumMod val="85000"/>
                      <a:lumOff val="15000"/>
                    </a:schemeClr>
                  </a:solidFill>
                  <a:cs typeface="+mn-ea"/>
                  <a:sym typeface="+mn-lt"/>
                </a:rPr>
                <a:t>人工智能算法预测</a:t>
              </a:r>
            </a:p>
          </p:txBody>
        </p:sp>
      </p:grpSp>
      <p:pic>
        <p:nvPicPr>
          <p:cNvPr id="2" name="图片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275960" y="4876901"/>
            <a:ext cx="1305133" cy="1298735"/>
          </a:xfrm>
          <a:prstGeom prst="rect">
            <a:avLst/>
          </a:prstGeom>
        </p:spPr>
      </p:pic>
      <p:grpSp>
        <p:nvGrpSpPr>
          <p:cNvPr id="3" name="组合 2">
            <a:extLst>
              <a:ext uri="{FF2B5EF4-FFF2-40B4-BE49-F238E27FC236}">
                <a16:creationId xmlns:a16="http://schemas.microsoft.com/office/drawing/2014/main" id="{EC8CBA63-0854-1B5E-2372-500283548E69}"/>
              </a:ext>
            </a:extLst>
          </p:cNvPr>
          <p:cNvGrpSpPr/>
          <p:nvPr/>
        </p:nvGrpSpPr>
        <p:grpSpPr>
          <a:xfrm>
            <a:off x="3250048" y="5394358"/>
            <a:ext cx="2879011" cy="406487"/>
            <a:chOff x="1038752" y="5253033"/>
            <a:chExt cx="2879011" cy="406487"/>
          </a:xfrm>
        </p:grpSpPr>
        <p:grpSp>
          <p:nvGrpSpPr>
            <p:cNvPr id="4" name="组合 3">
              <a:extLst>
                <a:ext uri="{FF2B5EF4-FFF2-40B4-BE49-F238E27FC236}">
                  <a16:creationId xmlns:a16="http://schemas.microsoft.com/office/drawing/2014/main" id="{15DBB6A2-CC9D-F215-3947-3D7DEC87C354}"/>
                </a:ext>
              </a:extLst>
            </p:cNvPr>
            <p:cNvGrpSpPr/>
            <p:nvPr/>
          </p:nvGrpSpPr>
          <p:grpSpPr>
            <a:xfrm>
              <a:off x="1546569" y="5253033"/>
              <a:ext cx="1855688" cy="391431"/>
              <a:chOff x="1546569" y="5326964"/>
              <a:chExt cx="1855688" cy="317500"/>
            </a:xfrm>
          </p:grpSpPr>
          <p:sp>
            <p:nvSpPr>
              <p:cNvPr id="7" name="矩形 6">
                <a:extLst>
                  <a:ext uri="{FF2B5EF4-FFF2-40B4-BE49-F238E27FC236}">
                    <a16:creationId xmlns:a16="http://schemas.microsoft.com/office/drawing/2014/main" id="{CAA4D917-A124-DF68-6C8E-D5349B60770D}"/>
                  </a:ext>
                </a:extLst>
              </p:cNvPr>
              <p:cNvSpPr/>
              <p:nvPr/>
            </p:nvSpPr>
            <p:spPr>
              <a:xfrm>
                <a:off x="1692618" y="5326964"/>
                <a:ext cx="1571281" cy="317500"/>
              </a:xfrm>
              <a:prstGeom prst="rect">
                <a:avLst/>
              </a:prstGeom>
              <a:solidFill>
                <a:srgbClr val="FF9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椭圆 7">
                <a:extLst>
                  <a:ext uri="{FF2B5EF4-FFF2-40B4-BE49-F238E27FC236}">
                    <a16:creationId xmlns:a16="http://schemas.microsoft.com/office/drawing/2014/main" id="{125B3EE1-C979-A153-97A3-971726204164}"/>
                  </a:ext>
                </a:extLst>
              </p:cNvPr>
              <p:cNvSpPr/>
              <p:nvPr/>
            </p:nvSpPr>
            <p:spPr>
              <a:xfrm>
                <a:off x="1546569" y="5326964"/>
                <a:ext cx="292100" cy="317500"/>
              </a:xfrm>
              <a:prstGeom prst="ellipse">
                <a:avLst/>
              </a:prstGeom>
              <a:solidFill>
                <a:srgbClr val="FF9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椭圆 8">
                <a:extLst>
                  <a:ext uri="{FF2B5EF4-FFF2-40B4-BE49-F238E27FC236}">
                    <a16:creationId xmlns:a16="http://schemas.microsoft.com/office/drawing/2014/main" id="{BD6E335B-D523-22AA-A4EA-BA30F6DA552B}"/>
                  </a:ext>
                </a:extLst>
              </p:cNvPr>
              <p:cNvSpPr/>
              <p:nvPr/>
            </p:nvSpPr>
            <p:spPr>
              <a:xfrm>
                <a:off x="3110157" y="5326964"/>
                <a:ext cx="292100" cy="317500"/>
              </a:xfrm>
              <a:prstGeom prst="ellipse">
                <a:avLst/>
              </a:prstGeom>
              <a:solidFill>
                <a:srgbClr val="FF9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6" name="文本占位符 1110">
              <a:extLst>
                <a:ext uri="{FF2B5EF4-FFF2-40B4-BE49-F238E27FC236}">
                  <a16:creationId xmlns:a16="http://schemas.microsoft.com/office/drawing/2014/main" id="{ED29A77F-028F-310B-FCC6-BD4007283A45}"/>
                </a:ext>
              </a:extLst>
            </p:cNvPr>
            <p:cNvSpPr txBox="1"/>
            <p:nvPr/>
          </p:nvSpPr>
          <p:spPr>
            <a:xfrm>
              <a:off x="1038752" y="5268089"/>
              <a:ext cx="2879011" cy="391431"/>
            </a:xfrm>
            <a:prstGeom prst="rect">
              <a:avLst/>
            </a:prstGeom>
          </p:spPr>
          <p:txBody>
            <a:bodyPr vert="horz" lIns="91440" tIns="45720" rIns="91440" bIns="45720" rtlCol="0" anchor="ctr">
              <a:noAutofit/>
            </a:bodyPr>
            <a:lstStyle>
              <a:lvl1pPr marL="0" indent="0" algn="r" defTabSz="913765" rtl="0" eaLnBrk="1" latinLnBrk="0" hangingPunct="1">
                <a:lnSpc>
                  <a:spcPct val="90000"/>
                </a:lnSpc>
                <a:spcBef>
                  <a:spcPts val="1000"/>
                </a:spcBef>
                <a:buFont typeface="Arial" panose="020B0604020202020204" pitchFamily="34" charset="0"/>
                <a:buNone/>
                <a:defRPr sz="1500" b="0" kern="1200">
                  <a:solidFill>
                    <a:srgbClr val="08A0E2"/>
                  </a:solidFill>
                  <a:latin typeface="+mn-lt"/>
                  <a:ea typeface="+mn-ea"/>
                  <a:cs typeface="+mn-cs"/>
                </a:defRPr>
              </a:lvl1pPr>
              <a:lvl2pPr marL="457200" indent="0" algn="l" defTabSz="913765"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3765"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3765"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3765"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3765"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1800" b="1" i="0" u="none" strike="noStrike" kern="1200" cap="none" spc="0" normalizeH="0" baseline="0" noProof="0" dirty="0">
                  <a:ln>
                    <a:noFill/>
                  </a:ln>
                  <a:solidFill>
                    <a:schemeClr val="bg1"/>
                  </a:solidFill>
                  <a:effectLst>
                    <a:outerShdw blurRad="355600" dist="88900" dir="2700000" algn="tl" rotWithShape="0">
                      <a:prstClr val="black">
                        <a:alpha val="28000"/>
                      </a:prstClr>
                    </a:outerShdw>
                  </a:effectLst>
                  <a:uLnTx/>
                  <a:uFillTx/>
                  <a:cs typeface="+mn-ea"/>
                  <a:sym typeface="+mn-lt"/>
                </a:rPr>
                <a:t>指导老师：罗消</a:t>
              </a:r>
              <a:endParaRPr kumimoji="0" lang="en-US" altLang="zh-CN" sz="1800" b="1" i="0" u="none" strike="noStrike" kern="1200" cap="none" spc="0" normalizeH="0" baseline="0" noProof="0" dirty="0">
                <a:ln>
                  <a:noFill/>
                </a:ln>
                <a:solidFill>
                  <a:schemeClr val="bg1"/>
                </a:solidFill>
                <a:effectLst>
                  <a:outerShdw blurRad="355600" dist="88900" dir="2700000" algn="tl" rotWithShape="0">
                    <a:prstClr val="black">
                      <a:alpha val="28000"/>
                    </a:prstClr>
                  </a:outerShdw>
                </a:effectLst>
                <a:uLnTx/>
                <a:uFillTx/>
                <a:cs typeface="+mn-ea"/>
                <a:sym typeface="+mn-lt"/>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7"/>
                                        </p:tgtEl>
                                        <p:attrNameLst>
                                          <p:attrName>style.visibility</p:attrName>
                                        </p:attrNameLst>
                                      </p:cBhvr>
                                      <p:to>
                                        <p:strVal val="visible"/>
                                      </p:to>
                                    </p:set>
                                    <p:anim calcmode="lin" valueType="num">
                                      <p:cBhvr additive="base">
                                        <p:cTn id="7" dur="500" fill="hold"/>
                                        <p:tgtEl>
                                          <p:spTgt spid="117"/>
                                        </p:tgtEl>
                                        <p:attrNameLst>
                                          <p:attrName>ppt_x</p:attrName>
                                        </p:attrNameLst>
                                      </p:cBhvr>
                                      <p:tavLst>
                                        <p:tav tm="0">
                                          <p:val>
                                            <p:strVal val="#ppt_x"/>
                                          </p:val>
                                        </p:tav>
                                        <p:tav tm="100000">
                                          <p:val>
                                            <p:strVal val="#ppt_x"/>
                                          </p:val>
                                        </p:tav>
                                      </p:tavLst>
                                    </p:anim>
                                    <p:anim calcmode="lin" valueType="num">
                                      <p:cBhvr additive="base">
                                        <p:cTn id="8" dur="500" fill="hold"/>
                                        <p:tgtEl>
                                          <p:spTgt spid="11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4" presetClass="entr" presetSubtype="10" fill="hold" nodeType="afterEffect">
                                  <p:stCondLst>
                                    <p:cond delay="0"/>
                                  </p:stCondLst>
                                  <p:childTnLst>
                                    <p:set>
                                      <p:cBhvr>
                                        <p:cTn id="11" dur="1" fill="hold">
                                          <p:stCondLst>
                                            <p:cond delay="0"/>
                                          </p:stCondLst>
                                        </p:cTn>
                                        <p:tgtEl>
                                          <p:spTgt spid="149"/>
                                        </p:tgtEl>
                                        <p:attrNameLst>
                                          <p:attrName>style.visibility</p:attrName>
                                        </p:attrNameLst>
                                      </p:cBhvr>
                                      <p:to>
                                        <p:strVal val="visible"/>
                                      </p:to>
                                    </p:set>
                                    <p:animEffect transition="in" filter="randombar(horizontal)">
                                      <p:cBhvr>
                                        <p:cTn id="12" dur="500"/>
                                        <p:tgtEl>
                                          <p:spTgt spid="149"/>
                                        </p:tgtEl>
                                      </p:cBhvr>
                                    </p:animEffect>
                                  </p:childTnLst>
                                </p:cTn>
                              </p:par>
                            </p:childTnLst>
                          </p:cTn>
                        </p:par>
                        <p:par>
                          <p:cTn id="13" fill="hold">
                            <p:stCondLst>
                              <p:cond delay="1000"/>
                            </p:stCondLst>
                            <p:childTnLst>
                              <p:par>
                                <p:cTn id="14" presetID="14" presetClass="entr" presetSubtype="10" fill="hold" nodeType="afterEffect">
                                  <p:stCondLst>
                                    <p:cond delay="0"/>
                                  </p:stCondLst>
                                  <p:childTnLst>
                                    <p:set>
                                      <p:cBhvr>
                                        <p:cTn id="15" dur="1" fill="hold">
                                          <p:stCondLst>
                                            <p:cond delay="0"/>
                                          </p:stCondLst>
                                        </p:cTn>
                                        <p:tgtEl>
                                          <p:spTgt spid="146"/>
                                        </p:tgtEl>
                                        <p:attrNameLst>
                                          <p:attrName>style.visibility</p:attrName>
                                        </p:attrNameLst>
                                      </p:cBhvr>
                                      <p:to>
                                        <p:strVal val="visible"/>
                                      </p:to>
                                    </p:set>
                                    <p:animEffect transition="in" filter="randombar(horizontal)">
                                      <p:cBhvr>
                                        <p:cTn id="16" dur="500"/>
                                        <p:tgtEl>
                                          <p:spTgt spid="146"/>
                                        </p:tgtEl>
                                      </p:cBhvr>
                                    </p:animEffect>
                                  </p:childTnLst>
                                </p:cTn>
                              </p:par>
                            </p:childTnLst>
                          </p:cTn>
                        </p:par>
                        <p:par>
                          <p:cTn id="17" fill="hold">
                            <p:stCondLst>
                              <p:cond delay="1500"/>
                            </p:stCondLst>
                            <p:childTnLst>
                              <p:par>
                                <p:cTn id="18" presetID="42" presetClass="entr" presetSubtype="0" fill="hold" nodeType="afterEffect">
                                  <p:stCondLst>
                                    <p:cond delay="0"/>
                                  </p:stCondLst>
                                  <p:childTnLst>
                                    <p:set>
                                      <p:cBhvr>
                                        <p:cTn id="19" dur="1" fill="hold">
                                          <p:stCondLst>
                                            <p:cond delay="0"/>
                                          </p:stCondLst>
                                        </p:cTn>
                                        <p:tgtEl>
                                          <p:spTgt spid="132"/>
                                        </p:tgtEl>
                                        <p:attrNameLst>
                                          <p:attrName>style.visibility</p:attrName>
                                        </p:attrNameLst>
                                      </p:cBhvr>
                                      <p:to>
                                        <p:strVal val="visible"/>
                                      </p:to>
                                    </p:set>
                                    <p:animEffect transition="in" filter="fade">
                                      <p:cBhvr>
                                        <p:cTn id="20" dur="1000"/>
                                        <p:tgtEl>
                                          <p:spTgt spid="132"/>
                                        </p:tgtEl>
                                      </p:cBhvr>
                                    </p:animEffect>
                                    <p:anim calcmode="lin" valueType="num">
                                      <p:cBhvr>
                                        <p:cTn id="21" dur="1000" fill="hold"/>
                                        <p:tgtEl>
                                          <p:spTgt spid="132"/>
                                        </p:tgtEl>
                                        <p:attrNameLst>
                                          <p:attrName>ppt_x</p:attrName>
                                        </p:attrNameLst>
                                      </p:cBhvr>
                                      <p:tavLst>
                                        <p:tav tm="0">
                                          <p:val>
                                            <p:strVal val="#ppt_x"/>
                                          </p:val>
                                        </p:tav>
                                        <p:tav tm="100000">
                                          <p:val>
                                            <p:strVal val="#ppt_x"/>
                                          </p:val>
                                        </p:tav>
                                      </p:tavLst>
                                    </p:anim>
                                    <p:anim calcmode="lin" valueType="num">
                                      <p:cBhvr>
                                        <p:cTn id="22" dur="1000" fill="hold"/>
                                        <p:tgtEl>
                                          <p:spTgt spid="132"/>
                                        </p:tgtEl>
                                        <p:attrNameLst>
                                          <p:attrName>ppt_y</p:attrName>
                                        </p:attrNameLst>
                                      </p:cBhvr>
                                      <p:tavLst>
                                        <p:tav tm="0">
                                          <p:val>
                                            <p:strVal val="#ppt_y+.1"/>
                                          </p:val>
                                        </p:tav>
                                        <p:tav tm="100000">
                                          <p:val>
                                            <p:strVal val="#ppt_y"/>
                                          </p:val>
                                        </p:tav>
                                      </p:tavLst>
                                    </p:anim>
                                  </p:childTnLst>
                                </p:cTn>
                              </p:par>
                            </p:childTnLst>
                          </p:cTn>
                        </p:par>
                        <p:par>
                          <p:cTn id="23" fill="hold">
                            <p:stCondLst>
                              <p:cond delay="2500"/>
                            </p:stCondLst>
                            <p:childTnLst>
                              <p:par>
                                <p:cTn id="24" presetID="42" presetClass="entr" presetSubtype="0"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1000"/>
                                        <p:tgtEl>
                                          <p:spTgt spid="3"/>
                                        </p:tgtEl>
                                      </p:cBhvr>
                                    </p:animEffect>
                                    <p:anim calcmode="lin" valueType="num">
                                      <p:cBhvr>
                                        <p:cTn id="27" dur="1000" fill="hold"/>
                                        <p:tgtEl>
                                          <p:spTgt spid="3"/>
                                        </p:tgtEl>
                                        <p:attrNameLst>
                                          <p:attrName>ppt_x</p:attrName>
                                        </p:attrNameLst>
                                      </p:cBhvr>
                                      <p:tavLst>
                                        <p:tav tm="0">
                                          <p:val>
                                            <p:strVal val="#ppt_x"/>
                                          </p:val>
                                        </p:tav>
                                        <p:tav tm="100000">
                                          <p:val>
                                            <p:strVal val="#ppt_x"/>
                                          </p:val>
                                        </p:tav>
                                      </p:tavLst>
                                    </p:anim>
                                    <p:anim calcmode="lin" valueType="num">
                                      <p:cBhvr>
                                        <p:cTn id="28" dur="1000" fill="hold"/>
                                        <p:tgtEl>
                                          <p:spTgt spid="3"/>
                                        </p:tgtEl>
                                        <p:attrNameLst>
                                          <p:attrName>ppt_y</p:attrName>
                                        </p:attrNameLst>
                                      </p:cBhvr>
                                      <p:tavLst>
                                        <p:tav tm="0">
                                          <p:val>
                                            <p:strVal val="#ppt_y+.1"/>
                                          </p:val>
                                        </p:tav>
                                        <p:tav tm="100000">
                                          <p:val>
                                            <p:strVal val="#ppt_y"/>
                                          </p:val>
                                        </p:tav>
                                      </p:tavLst>
                                    </p:anim>
                                  </p:childTnLst>
                                </p:cTn>
                              </p:par>
                            </p:childTnLst>
                          </p:cTn>
                        </p:par>
                        <p:par>
                          <p:cTn id="29" fill="hold">
                            <p:stCondLst>
                              <p:cond delay="3500"/>
                            </p:stCondLst>
                            <p:childTnLst>
                              <p:par>
                                <p:cTn id="30" presetID="42" presetClass="entr" presetSubtype="0" fill="hold" nodeType="afterEffect">
                                  <p:stCondLst>
                                    <p:cond delay="0"/>
                                  </p:stCondLst>
                                  <p:childTnLst>
                                    <p:set>
                                      <p:cBhvr>
                                        <p:cTn id="31" dur="1" fill="hold">
                                          <p:stCondLst>
                                            <p:cond delay="0"/>
                                          </p:stCondLst>
                                        </p:cTn>
                                        <p:tgtEl>
                                          <p:spTgt spid="138"/>
                                        </p:tgtEl>
                                        <p:attrNameLst>
                                          <p:attrName>style.visibility</p:attrName>
                                        </p:attrNameLst>
                                      </p:cBhvr>
                                      <p:to>
                                        <p:strVal val="visible"/>
                                      </p:to>
                                    </p:set>
                                    <p:animEffect transition="in" filter="fade">
                                      <p:cBhvr>
                                        <p:cTn id="32" dur="1000"/>
                                        <p:tgtEl>
                                          <p:spTgt spid="138"/>
                                        </p:tgtEl>
                                      </p:cBhvr>
                                    </p:animEffect>
                                    <p:anim calcmode="lin" valueType="num">
                                      <p:cBhvr>
                                        <p:cTn id="33" dur="1000" fill="hold"/>
                                        <p:tgtEl>
                                          <p:spTgt spid="138"/>
                                        </p:tgtEl>
                                        <p:attrNameLst>
                                          <p:attrName>ppt_x</p:attrName>
                                        </p:attrNameLst>
                                      </p:cBhvr>
                                      <p:tavLst>
                                        <p:tav tm="0">
                                          <p:val>
                                            <p:strVal val="#ppt_x"/>
                                          </p:val>
                                        </p:tav>
                                        <p:tav tm="100000">
                                          <p:val>
                                            <p:strVal val="#ppt_x"/>
                                          </p:val>
                                        </p:tav>
                                      </p:tavLst>
                                    </p:anim>
                                    <p:anim calcmode="lin" valueType="num">
                                      <p:cBhvr>
                                        <p:cTn id="34" dur="1000" fill="hold"/>
                                        <p:tgtEl>
                                          <p:spTgt spid="138"/>
                                        </p:tgtEl>
                                        <p:attrNameLst>
                                          <p:attrName>ppt_y</p:attrName>
                                        </p:attrNameLst>
                                      </p:cBhvr>
                                      <p:tavLst>
                                        <p:tav tm="0">
                                          <p:val>
                                            <p:strVal val="#ppt_y+.1"/>
                                          </p:val>
                                        </p:tav>
                                        <p:tav tm="100000">
                                          <p:val>
                                            <p:strVal val="#ppt_y"/>
                                          </p:val>
                                        </p:tav>
                                      </p:tavLst>
                                    </p:anim>
                                  </p:childTnLst>
                                </p:cTn>
                              </p:par>
                            </p:childTnLst>
                          </p:cTn>
                        </p:par>
                        <p:par>
                          <p:cTn id="35" fill="hold">
                            <p:stCondLst>
                              <p:cond delay="4500"/>
                            </p:stCondLst>
                            <p:childTnLst>
                              <p:par>
                                <p:cTn id="36" presetID="14" presetClass="entr" presetSubtype="10" fill="hold" nodeType="afterEffect">
                                  <p:stCondLst>
                                    <p:cond delay="0"/>
                                  </p:stCondLst>
                                  <p:childTnLst>
                                    <p:set>
                                      <p:cBhvr>
                                        <p:cTn id="37" dur="1" fill="hold">
                                          <p:stCondLst>
                                            <p:cond delay="0"/>
                                          </p:stCondLst>
                                        </p:cTn>
                                        <p:tgtEl>
                                          <p:spTgt spid="150"/>
                                        </p:tgtEl>
                                        <p:attrNameLst>
                                          <p:attrName>style.visibility</p:attrName>
                                        </p:attrNameLst>
                                      </p:cBhvr>
                                      <p:to>
                                        <p:strVal val="visible"/>
                                      </p:to>
                                    </p:set>
                                    <p:animEffect transition="in" filter="randombar(horizontal)">
                                      <p:cBhvr>
                                        <p:cTn id="38" dur="500"/>
                                        <p:tgtEl>
                                          <p:spTgt spid="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0"/>
            <a:ext cx="67151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矩形 1"/>
          <p:cNvSpPr/>
          <p:nvPr/>
        </p:nvSpPr>
        <p:spPr>
          <a:xfrm>
            <a:off x="671512" y="0"/>
            <a:ext cx="1152048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5"/>
          <p:cNvSpPr/>
          <p:nvPr/>
        </p:nvSpPr>
        <p:spPr>
          <a:xfrm>
            <a:off x="1680377" y="371475"/>
            <a:ext cx="10033350" cy="6115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1" name="组合 20"/>
          <p:cNvGrpSpPr/>
          <p:nvPr/>
        </p:nvGrpSpPr>
        <p:grpSpPr>
          <a:xfrm>
            <a:off x="6277005" y="5218247"/>
            <a:ext cx="5125668" cy="771282"/>
            <a:chOff x="6277005" y="5218247"/>
            <a:chExt cx="5125668" cy="771282"/>
          </a:xfrm>
        </p:grpSpPr>
        <p:sp>
          <p:nvSpPr>
            <p:cNvPr id="30" name="菱形 29"/>
            <p:cNvSpPr/>
            <p:nvPr/>
          </p:nvSpPr>
          <p:spPr bwMode="auto">
            <a:xfrm>
              <a:off x="6277005" y="5218247"/>
              <a:ext cx="771282" cy="771282"/>
            </a:xfrm>
            <a:prstGeom prst="diamond">
              <a:avLst/>
            </a:prstGeom>
            <a:solidFill>
              <a:srgbClr val="1A3172"/>
            </a:solidFill>
            <a:ln w="38100">
              <a:noFill/>
            </a:ln>
            <a:effectLst>
              <a:outerShdw blurRad="355600" dist="88900" dir="2700000" algn="tl" rotWithShape="0">
                <a:srgbClr val="1A3172">
                  <a:alpha val="27000"/>
                </a:srgbClr>
              </a:outerShdw>
            </a:effectLst>
          </p:spPr>
          <p:style>
            <a:lnRef idx="2">
              <a:schemeClr val="dk1"/>
            </a:lnRef>
            <a:fillRef idx="1">
              <a:schemeClr val="lt1"/>
            </a:fillRef>
            <a:effectRef idx="0">
              <a:schemeClr val="dk1"/>
            </a:effectRef>
            <a:fontRef idx="minor">
              <a:schemeClr val="dk1"/>
            </a:fontRef>
          </p:style>
          <p:txBody>
            <a:bodyPr wrap="none" rtlCol="0" anchor="ctr">
              <a:noAutofit/>
            </a:bodyPr>
            <a:lstStyle/>
            <a:p>
              <a:pPr algn="ctr"/>
              <a:r>
                <a:rPr lang="en-US" altLang="zh-CN" sz="2400" dirty="0">
                  <a:solidFill>
                    <a:schemeClr val="bg1"/>
                  </a:solidFill>
                  <a:cs typeface="+mn-ea"/>
                  <a:sym typeface="+mn-lt"/>
                </a:rPr>
                <a:t>04</a:t>
              </a:r>
              <a:endParaRPr lang="zh-CN" altLang="en-US" sz="2400" dirty="0">
                <a:solidFill>
                  <a:schemeClr val="bg1"/>
                </a:solidFill>
                <a:cs typeface="+mn-ea"/>
                <a:sym typeface="+mn-lt"/>
              </a:endParaRPr>
            </a:p>
          </p:txBody>
        </p:sp>
        <p:sp>
          <p:nvSpPr>
            <p:cNvPr id="32" name="TextBox 31"/>
            <p:cNvSpPr txBox="1"/>
            <p:nvPr/>
          </p:nvSpPr>
          <p:spPr bwMode="auto">
            <a:xfrm>
              <a:off x="7281987" y="5239828"/>
              <a:ext cx="4120686" cy="749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3600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lnSpc>
                  <a:spcPct val="150000"/>
                </a:lnSpc>
              </a:pPr>
              <a:r>
                <a:rPr lang="zh-CN" altLang="en-US" sz="3200" spc="600" dirty="0">
                  <a:solidFill>
                    <a:srgbClr val="1A3172"/>
                  </a:solidFill>
                  <a:cs typeface="+mn-ea"/>
                  <a:sym typeface="+mn-lt"/>
                </a:rPr>
                <a:t>详细实现</a:t>
              </a:r>
              <a:endParaRPr lang="en-US" altLang="zh-CN" sz="3200" spc="600" dirty="0">
                <a:solidFill>
                  <a:srgbClr val="1A3172"/>
                </a:solidFill>
                <a:cs typeface="+mn-ea"/>
                <a:sym typeface="+mn-lt"/>
              </a:endParaRPr>
            </a:p>
          </p:txBody>
        </p:sp>
      </p:grpSp>
      <p:grpSp>
        <p:nvGrpSpPr>
          <p:cNvPr id="17" name="组合 16"/>
          <p:cNvGrpSpPr/>
          <p:nvPr/>
        </p:nvGrpSpPr>
        <p:grpSpPr>
          <a:xfrm>
            <a:off x="6277005" y="1119176"/>
            <a:ext cx="5125668" cy="887669"/>
            <a:chOff x="6277005" y="1119176"/>
            <a:chExt cx="5125668" cy="887669"/>
          </a:xfrm>
        </p:grpSpPr>
        <p:sp>
          <p:nvSpPr>
            <p:cNvPr id="16" name="菱形 15"/>
            <p:cNvSpPr/>
            <p:nvPr/>
          </p:nvSpPr>
          <p:spPr bwMode="auto">
            <a:xfrm>
              <a:off x="6277005" y="1235563"/>
              <a:ext cx="771282" cy="771282"/>
            </a:xfrm>
            <a:prstGeom prst="diamond">
              <a:avLst/>
            </a:prstGeom>
            <a:solidFill>
              <a:srgbClr val="1A3172"/>
            </a:solidFill>
            <a:ln w="38100">
              <a:noFill/>
            </a:ln>
            <a:effectLst>
              <a:outerShdw blurRad="355600" dist="88900" dir="2700000" algn="tl" rotWithShape="0">
                <a:srgbClr val="1A3172">
                  <a:alpha val="27000"/>
                </a:srgbClr>
              </a:outerShdw>
            </a:effectLst>
          </p:spPr>
          <p:style>
            <a:lnRef idx="2">
              <a:schemeClr val="dk1"/>
            </a:lnRef>
            <a:fillRef idx="1">
              <a:schemeClr val="lt1"/>
            </a:fillRef>
            <a:effectRef idx="0">
              <a:schemeClr val="dk1"/>
            </a:effectRef>
            <a:fontRef idx="minor">
              <a:schemeClr val="dk1"/>
            </a:fontRef>
          </p:style>
          <p:txBody>
            <a:bodyPr wrap="none" rtlCol="0" anchor="ctr">
              <a:noAutofit/>
            </a:bodyPr>
            <a:lstStyle/>
            <a:p>
              <a:pPr algn="ctr"/>
              <a:r>
                <a:rPr lang="en-US" altLang="zh-CN" sz="2400" dirty="0">
                  <a:solidFill>
                    <a:schemeClr val="bg1"/>
                  </a:solidFill>
                  <a:cs typeface="+mn-ea"/>
                  <a:sym typeface="+mn-lt"/>
                </a:rPr>
                <a:t>01</a:t>
              </a:r>
              <a:endParaRPr lang="zh-CN" altLang="en-US" sz="2400" dirty="0">
                <a:solidFill>
                  <a:schemeClr val="bg1"/>
                </a:solidFill>
                <a:cs typeface="+mn-ea"/>
                <a:sym typeface="+mn-lt"/>
              </a:endParaRPr>
            </a:p>
          </p:txBody>
        </p:sp>
        <p:sp>
          <p:nvSpPr>
            <p:cNvPr id="19" name="TextBox 31"/>
            <p:cNvSpPr txBox="1"/>
            <p:nvPr/>
          </p:nvSpPr>
          <p:spPr bwMode="auto">
            <a:xfrm>
              <a:off x="7281987" y="1119176"/>
              <a:ext cx="4120686" cy="749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3600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lnSpc>
                  <a:spcPct val="150000"/>
                </a:lnSpc>
              </a:pPr>
              <a:r>
                <a:rPr lang="zh-CN" altLang="en-US" sz="3200" spc="600" dirty="0">
                  <a:solidFill>
                    <a:srgbClr val="1A3172"/>
                  </a:solidFill>
                  <a:cs typeface="+mn-ea"/>
                  <a:sym typeface="+mn-lt"/>
                </a:rPr>
                <a:t>研究现状及发展态势</a:t>
              </a:r>
              <a:endParaRPr lang="en-US" altLang="zh-CN" sz="3200" spc="600" dirty="0">
                <a:solidFill>
                  <a:srgbClr val="1A3172"/>
                </a:solidFill>
                <a:cs typeface="+mn-ea"/>
                <a:sym typeface="+mn-lt"/>
              </a:endParaRPr>
            </a:p>
          </p:txBody>
        </p:sp>
        <p:cxnSp>
          <p:nvCxnSpPr>
            <p:cNvPr id="34" name="直接连接符 33"/>
            <p:cNvCxnSpPr/>
            <p:nvPr/>
          </p:nvCxnSpPr>
          <p:spPr>
            <a:xfrm>
              <a:off x="7340054" y="2006845"/>
              <a:ext cx="3984488" cy="0"/>
            </a:xfrm>
            <a:prstGeom prst="line">
              <a:avLst/>
            </a:prstGeom>
            <a:ln w="6350" cap="rnd">
              <a:solidFill>
                <a:schemeClr val="tx1">
                  <a:lumMod val="75000"/>
                  <a:lumOff val="2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6277005" y="2597253"/>
            <a:ext cx="5125668" cy="771282"/>
            <a:chOff x="6277005" y="2597253"/>
            <a:chExt cx="5125668" cy="771282"/>
          </a:xfrm>
        </p:grpSpPr>
        <p:sp>
          <p:nvSpPr>
            <p:cNvPr id="22" name="菱形 21"/>
            <p:cNvSpPr/>
            <p:nvPr/>
          </p:nvSpPr>
          <p:spPr bwMode="auto">
            <a:xfrm>
              <a:off x="6277005" y="2597253"/>
              <a:ext cx="771282" cy="771282"/>
            </a:xfrm>
            <a:prstGeom prst="diamond">
              <a:avLst/>
            </a:prstGeom>
            <a:solidFill>
              <a:srgbClr val="1A3172"/>
            </a:solidFill>
            <a:ln w="38100">
              <a:noFill/>
            </a:ln>
            <a:effectLst>
              <a:outerShdw blurRad="355600" dist="88900" dir="2700000" algn="tl" rotWithShape="0">
                <a:srgbClr val="1A3172">
                  <a:alpha val="27000"/>
                </a:srgbClr>
              </a:outerShdw>
            </a:effectLst>
          </p:spPr>
          <p:style>
            <a:lnRef idx="2">
              <a:schemeClr val="dk1"/>
            </a:lnRef>
            <a:fillRef idx="1">
              <a:schemeClr val="lt1"/>
            </a:fillRef>
            <a:effectRef idx="0">
              <a:schemeClr val="dk1"/>
            </a:effectRef>
            <a:fontRef idx="minor">
              <a:schemeClr val="dk1"/>
            </a:fontRef>
          </p:style>
          <p:txBody>
            <a:bodyPr wrap="none" rtlCol="0" anchor="ctr">
              <a:noAutofit/>
            </a:bodyPr>
            <a:lstStyle/>
            <a:p>
              <a:pPr algn="ctr"/>
              <a:r>
                <a:rPr lang="en-US" altLang="zh-CN" sz="2400" dirty="0">
                  <a:solidFill>
                    <a:schemeClr val="bg1"/>
                  </a:solidFill>
                  <a:cs typeface="+mn-ea"/>
                  <a:sym typeface="+mn-lt"/>
                </a:rPr>
                <a:t>02</a:t>
              </a:r>
              <a:endParaRPr lang="zh-CN" altLang="en-US" sz="2400" dirty="0">
                <a:solidFill>
                  <a:schemeClr val="bg1"/>
                </a:solidFill>
                <a:cs typeface="+mn-ea"/>
                <a:sym typeface="+mn-lt"/>
              </a:endParaRPr>
            </a:p>
          </p:txBody>
        </p:sp>
        <p:sp>
          <p:nvSpPr>
            <p:cNvPr id="24" name="TextBox 31"/>
            <p:cNvSpPr txBox="1"/>
            <p:nvPr/>
          </p:nvSpPr>
          <p:spPr bwMode="auto">
            <a:xfrm>
              <a:off x="7281987" y="2618834"/>
              <a:ext cx="4120686" cy="749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3600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spcBef>
                  <a:spcPct val="0"/>
                </a:spcBef>
              </a:pPr>
              <a:r>
                <a:rPr lang="zh-CN" altLang="en-US" sz="3200" spc="600" dirty="0">
                  <a:solidFill>
                    <a:srgbClr val="1A3172"/>
                  </a:solidFill>
                  <a:cs typeface="+mn-ea"/>
                  <a:sym typeface="+mn-lt"/>
                </a:rPr>
                <a:t>选题依据及意义</a:t>
              </a:r>
              <a:endParaRPr lang="en-US" altLang="zh-CN" sz="3200" spc="600" dirty="0">
                <a:solidFill>
                  <a:srgbClr val="1A3172"/>
                </a:solidFill>
                <a:cs typeface="+mn-ea"/>
                <a:sym typeface="+mn-lt"/>
              </a:endParaRPr>
            </a:p>
          </p:txBody>
        </p:sp>
        <p:cxnSp>
          <p:nvCxnSpPr>
            <p:cNvPr id="37" name="直接连接符 36"/>
            <p:cNvCxnSpPr/>
            <p:nvPr/>
          </p:nvCxnSpPr>
          <p:spPr>
            <a:xfrm>
              <a:off x="7340054" y="3368535"/>
              <a:ext cx="3984488" cy="0"/>
            </a:xfrm>
            <a:prstGeom prst="line">
              <a:avLst/>
            </a:prstGeom>
            <a:ln w="6350" cap="rnd">
              <a:solidFill>
                <a:schemeClr val="tx1">
                  <a:lumMod val="75000"/>
                  <a:lumOff val="2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a:off x="6277005" y="3958943"/>
            <a:ext cx="5125668" cy="771282"/>
            <a:chOff x="6277005" y="3958943"/>
            <a:chExt cx="5125668" cy="771282"/>
          </a:xfrm>
        </p:grpSpPr>
        <p:sp>
          <p:nvSpPr>
            <p:cNvPr id="26" name="菱形 25"/>
            <p:cNvSpPr/>
            <p:nvPr/>
          </p:nvSpPr>
          <p:spPr bwMode="auto">
            <a:xfrm>
              <a:off x="6277005" y="3958943"/>
              <a:ext cx="771282" cy="771282"/>
            </a:xfrm>
            <a:prstGeom prst="diamond">
              <a:avLst/>
            </a:prstGeom>
            <a:solidFill>
              <a:srgbClr val="1A3172"/>
            </a:solidFill>
            <a:ln w="38100">
              <a:noFill/>
            </a:ln>
            <a:effectLst>
              <a:outerShdw blurRad="355600" dist="88900" dir="2700000" algn="tl" rotWithShape="0">
                <a:srgbClr val="1A3172">
                  <a:alpha val="27000"/>
                </a:srgbClr>
              </a:outerShdw>
            </a:effectLst>
          </p:spPr>
          <p:style>
            <a:lnRef idx="2">
              <a:schemeClr val="dk1"/>
            </a:lnRef>
            <a:fillRef idx="1">
              <a:schemeClr val="lt1"/>
            </a:fillRef>
            <a:effectRef idx="0">
              <a:schemeClr val="dk1"/>
            </a:effectRef>
            <a:fontRef idx="minor">
              <a:schemeClr val="dk1"/>
            </a:fontRef>
          </p:style>
          <p:txBody>
            <a:bodyPr wrap="none" rtlCol="0" anchor="ctr">
              <a:noAutofit/>
            </a:bodyPr>
            <a:lstStyle/>
            <a:p>
              <a:pPr algn="ctr"/>
              <a:r>
                <a:rPr lang="en-US" altLang="zh-CN" sz="2400" dirty="0">
                  <a:solidFill>
                    <a:schemeClr val="bg1"/>
                  </a:solidFill>
                  <a:cs typeface="+mn-ea"/>
                  <a:sym typeface="+mn-lt"/>
                </a:rPr>
                <a:t>03</a:t>
              </a:r>
              <a:endParaRPr lang="zh-CN" altLang="en-US" sz="2400" dirty="0">
                <a:solidFill>
                  <a:schemeClr val="bg1"/>
                </a:solidFill>
                <a:cs typeface="+mn-ea"/>
                <a:sym typeface="+mn-lt"/>
              </a:endParaRPr>
            </a:p>
          </p:txBody>
        </p:sp>
        <p:sp>
          <p:nvSpPr>
            <p:cNvPr id="28" name="TextBox 31"/>
            <p:cNvSpPr txBox="1"/>
            <p:nvPr/>
          </p:nvSpPr>
          <p:spPr bwMode="auto">
            <a:xfrm>
              <a:off x="7281987" y="3980524"/>
              <a:ext cx="4120686" cy="749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3600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spcBef>
                  <a:spcPct val="0"/>
                </a:spcBef>
              </a:pPr>
              <a:r>
                <a:rPr lang="zh-CN" altLang="en-US" sz="3200" spc="600" dirty="0">
                  <a:solidFill>
                    <a:srgbClr val="1A3172"/>
                  </a:solidFill>
                  <a:cs typeface="+mn-ea"/>
                  <a:sym typeface="+mn-lt"/>
                </a:rPr>
                <a:t>课题研究内容</a:t>
              </a:r>
              <a:endParaRPr lang="en-US" altLang="zh-CN" sz="3200" spc="600" dirty="0">
                <a:solidFill>
                  <a:srgbClr val="1A3172"/>
                </a:solidFill>
                <a:cs typeface="+mn-ea"/>
                <a:sym typeface="+mn-lt"/>
              </a:endParaRPr>
            </a:p>
          </p:txBody>
        </p:sp>
        <p:cxnSp>
          <p:nvCxnSpPr>
            <p:cNvPr id="38" name="直接连接符 37"/>
            <p:cNvCxnSpPr/>
            <p:nvPr/>
          </p:nvCxnSpPr>
          <p:spPr>
            <a:xfrm>
              <a:off x="7340054" y="4724350"/>
              <a:ext cx="3984488" cy="0"/>
            </a:xfrm>
            <a:prstGeom prst="line">
              <a:avLst/>
            </a:prstGeom>
            <a:ln w="6350" cap="rnd">
              <a:solidFill>
                <a:schemeClr val="tx1">
                  <a:lumMod val="75000"/>
                  <a:lumOff val="2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333378" y="1405691"/>
            <a:ext cx="4216744" cy="4311372"/>
            <a:chOff x="1329535" y="2086986"/>
            <a:chExt cx="2851930" cy="2999852"/>
          </a:xfrm>
        </p:grpSpPr>
        <p:sp>
          <p:nvSpPr>
            <p:cNvPr id="9" name="矩形 8"/>
            <p:cNvSpPr/>
            <p:nvPr/>
          </p:nvSpPr>
          <p:spPr>
            <a:xfrm>
              <a:off x="1485000" y="2799000"/>
              <a:ext cx="2541000" cy="562912"/>
            </a:xfrm>
            <a:prstGeom prst="rect">
              <a:avLst/>
            </a:prstGeom>
            <a:noFill/>
          </p:spPr>
          <p:txBody>
            <a:bodyPr wrap="none" anchor="ctr">
              <a:normAutofit/>
            </a:bodyPr>
            <a:lstStyle/>
            <a:p>
              <a:pPr algn="ctr"/>
              <a:r>
                <a:rPr lang="en-US" altLang="zh-CN" sz="2800" b="1" dirty="0">
                  <a:solidFill>
                    <a:schemeClr val="bg1"/>
                  </a:solidFill>
                  <a:cs typeface="+mn-ea"/>
                  <a:sym typeface="+mn-lt"/>
                </a:rPr>
                <a:t>CONTENTS</a:t>
              </a:r>
            </a:p>
          </p:txBody>
        </p:sp>
        <p:sp>
          <p:nvSpPr>
            <p:cNvPr id="56" name="菱形 55"/>
            <p:cNvSpPr/>
            <p:nvPr/>
          </p:nvSpPr>
          <p:spPr bwMode="auto">
            <a:xfrm>
              <a:off x="1329535" y="2086986"/>
              <a:ext cx="2851930" cy="2999852"/>
            </a:xfrm>
            <a:prstGeom prst="diamond">
              <a:avLst/>
            </a:prstGeom>
            <a:solidFill>
              <a:srgbClr val="1A3172"/>
            </a:solidFill>
            <a:ln w="38100">
              <a:noFill/>
            </a:ln>
            <a:effectLst>
              <a:outerShdw blurRad="355600" dist="88900" dir="2700000" algn="tl" rotWithShape="0">
                <a:srgbClr val="1A3172">
                  <a:alpha val="27000"/>
                </a:srgbClr>
              </a:outerShdw>
            </a:effectLst>
          </p:spPr>
          <p:style>
            <a:lnRef idx="2">
              <a:schemeClr val="dk1"/>
            </a:lnRef>
            <a:fillRef idx="1">
              <a:schemeClr val="lt1"/>
            </a:fillRef>
            <a:effectRef idx="0">
              <a:schemeClr val="dk1"/>
            </a:effectRef>
            <a:fontRef idx="minor">
              <a:schemeClr val="dk1"/>
            </a:fontRef>
          </p:style>
          <p:txBody>
            <a:bodyPr wrap="none" rtlCol="0" anchor="ctr">
              <a:noAutofit/>
            </a:bodyPr>
            <a:lstStyle/>
            <a:p>
              <a:pPr algn="ctr"/>
              <a:endParaRPr lang="zh-CN" altLang="en-US" sz="2400" dirty="0">
                <a:solidFill>
                  <a:schemeClr val="bg1"/>
                </a:solidFill>
                <a:cs typeface="+mn-ea"/>
                <a:sym typeface="+mn-lt"/>
              </a:endParaRPr>
            </a:p>
          </p:txBody>
        </p:sp>
        <p:sp>
          <p:nvSpPr>
            <p:cNvPr id="10" name="文本框 9"/>
            <p:cNvSpPr txBox="1"/>
            <p:nvPr/>
          </p:nvSpPr>
          <p:spPr>
            <a:xfrm>
              <a:off x="2240557" y="3361912"/>
              <a:ext cx="900000" cy="450000"/>
            </a:xfrm>
            <a:prstGeom prst="rect">
              <a:avLst/>
            </a:prstGeom>
            <a:noFill/>
          </p:spPr>
          <p:txBody>
            <a:bodyPr wrap="none" rtlCol="0" anchor="ctr">
              <a:normAutofit fontScale="92500" lnSpcReduction="20000"/>
            </a:bodyPr>
            <a:lstStyle/>
            <a:p>
              <a:pPr algn="ctr"/>
              <a:r>
                <a:rPr lang="zh-CN" altLang="en-US" sz="4400" dirty="0">
                  <a:solidFill>
                    <a:schemeClr val="bg1">
                      <a:lumMod val="95000"/>
                    </a:schemeClr>
                  </a:solidFill>
                  <a:cs typeface="+mn-ea"/>
                  <a:sym typeface="+mn-lt"/>
                </a:rPr>
                <a:t>目录</a:t>
              </a:r>
              <a:endParaRPr lang="en-US" altLang="zh-CN" sz="4400" dirty="0">
                <a:solidFill>
                  <a:schemeClr val="bg1">
                    <a:lumMod val="95000"/>
                  </a:schemeClr>
                </a:solidFill>
                <a:cs typeface="+mn-ea"/>
                <a:sym typeface="+mn-lt"/>
              </a:endParaRPr>
            </a:p>
          </p:txBody>
        </p:sp>
        <p:cxnSp>
          <p:nvCxnSpPr>
            <p:cNvPr id="12" name="直接连接符 11"/>
            <p:cNvCxnSpPr>
              <a:stCxn id="10" idx="1"/>
            </p:cNvCxnSpPr>
            <p:nvPr/>
          </p:nvCxnSpPr>
          <p:spPr>
            <a:xfrm flipH="1">
              <a:off x="1655557" y="3586912"/>
              <a:ext cx="585000" cy="0"/>
            </a:xfrm>
            <a:prstGeom prst="line">
              <a:avLst/>
            </a:prstGeom>
            <a:ln w="6350"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0" idx="3"/>
            </p:cNvCxnSpPr>
            <p:nvPr/>
          </p:nvCxnSpPr>
          <p:spPr>
            <a:xfrm>
              <a:off x="3140557" y="3586912"/>
              <a:ext cx="586800" cy="0"/>
            </a:xfrm>
            <a:prstGeom prst="line">
              <a:avLst/>
            </a:prstGeom>
            <a:ln w="6350"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cxnSp>
        <p:nvCxnSpPr>
          <p:cNvPr id="13" name="直接连接符 12"/>
          <p:cNvCxnSpPr/>
          <p:nvPr/>
        </p:nvCxnSpPr>
        <p:spPr>
          <a:xfrm flipH="1">
            <a:off x="1407501" y="568813"/>
            <a:ext cx="1034249" cy="1123950"/>
          </a:xfrm>
          <a:prstGeom prst="line">
            <a:avLst/>
          </a:prstGeom>
          <a:ln w="25400">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2003458" y="1034216"/>
            <a:ext cx="438292" cy="434758"/>
          </a:xfrm>
          <a:prstGeom prst="line">
            <a:avLst/>
          </a:prstGeom>
          <a:ln w="25400">
            <a:solidFill>
              <a:srgbClr val="FF9C00"/>
            </a:solidFill>
            <a:tailEnd type="ova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2389134" y="5524259"/>
            <a:ext cx="1034249" cy="1123950"/>
          </a:xfrm>
          <a:prstGeom prst="line">
            <a:avLst/>
          </a:prstGeom>
          <a:ln w="25400">
            <a:solidFill>
              <a:schemeClr val="tx1">
                <a:lumMod val="85000"/>
                <a:lumOff val="15000"/>
              </a:schemeClr>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2490345" y="5650502"/>
            <a:ext cx="438292" cy="434758"/>
          </a:xfrm>
          <a:prstGeom prst="line">
            <a:avLst/>
          </a:prstGeom>
          <a:ln w="25400">
            <a:solidFill>
              <a:srgbClr val="FF9C00"/>
            </a:solidFill>
            <a:headEnd type="oval"/>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4" presetClass="entr" presetSubtype="10" fill="hold"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randombar(horizontal)">
                                      <p:cBhvr>
                                        <p:cTn id="13" dur="500"/>
                                        <p:tgtEl>
                                          <p:spTgt spid="13"/>
                                        </p:tgtEl>
                                      </p:cBhvr>
                                    </p:animEffect>
                                  </p:childTnLst>
                                </p:cTn>
                              </p:par>
                            </p:childTnLst>
                          </p:cTn>
                        </p:par>
                        <p:par>
                          <p:cTn id="14" fill="hold">
                            <p:stCondLst>
                              <p:cond delay="1500"/>
                            </p:stCondLst>
                            <p:childTnLst>
                              <p:par>
                                <p:cTn id="15" presetID="14" presetClass="entr" presetSubtype="10" fill="hold" nodeType="afterEffect">
                                  <p:stCondLst>
                                    <p:cond delay="0"/>
                                  </p:stCondLst>
                                  <p:childTnLst>
                                    <p:set>
                                      <p:cBhvr>
                                        <p:cTn id="16" dur="1" fill="hold">
                                          <p:stCondLst>
                                            <p:cond delay="0"/>
                                          </p:stCondLst>
                                        </p:cTn>
                                        <p:tgtEl>
                                          <p:spTgt spid="60"/>
                                        </p:tgtEl>
                                        <p:attrNameLst>
                                          <p:attrName>style.visibility</p:attrName>
                                        </p:attrNameLst>
                                      </p:cBhvr>
                                      <p:to>
                                        <p:strVal val="visible"/>
                                      </p:to>
                                    </p:set>
                                    <p:animEffect transition="in" filter="randombar(horizontal)">
                                      <p:cBhvr>
                                        <p:cTn id="17" dur="500"/>
                                        <p:tgtEl>
                                          <p:spTgt spid="60"/>
                                        </p:tgtEl>
                                      </p:cBhvr>
                                    </p:animEffect>
                                  </p:childTnLst>
                                </p:cTn>
                              </p:par>
                            </p:childTnLst>
                          </p:cTn>
                        </p:par>
                        <p:par>
                          <p:cTn id="18" fill="hold">
                            <p:stCondLst>
                              <p:cond delay="2000"/>
                            </p:stCondLst>
                            <p:childTnLst>
                              <p:par>
                                <p:cTn id="19" presetID="21" presetClass="entr" presetSubtype="1"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heel(1)">
                                      <p:cBhvr>
                                        <p:cTn id="21" dur="2000"/>
                                        <p:tgtEl>
                                          <p:spTgt spid="8"/>
                                        </p:tgtEl>
                                      </p:cBhvr>
                                    </p:animEffect>
                                  </p:childTnLst>
                                </p:cTn>
                              </p:par>
                            </p:childTnLst>
                          </p:cTn>
                        </p:par>
                        <p:par>
                          <p:cTn id="22" fill="hold">
                            <p:stCondLst>
                              <p:cond delay="4000"/>
                            </p:stCondLst>
                            <p:childTnLst>
                              <p:par>
                                <p:cTn id="23" presetID="14" presetClass="entr" presetSubtype="10" fill="hold" nodeType="afterEffect">
                                  <p:stCondLst>
                                    <p:cond delay="0"/>
                                  </p:stCondLst>
                                  <p:childTnLst>
                                    <p:set>
                                      <p:cBhvr>
                                        <p:cTn id="24" dur="1" fill="hold">
                                          <p:stCondLst>
                                            <p:cond delay="0"/>
                                          </p:stCondLst>
                                        </p:cTn>
                                        <p:tgtEl>
                                          <p:spTgt spid="63"/>
                                        </p:tgtEl>
                                        <p:attrNameLst>
                                          <p:attrName>style.visibility</p:attrName>
                                        </p:attrNameLst>
                                      </p:cBhvr>
                                      <p:to>
                                        <p:strVal val="visible"/>
                                      </p:to>
                                    </p:set>
                                    <p:animEffect transition="in" filter="randombar(horizontal)">
                                      <p:cBhvr>
                                        <p:cTn id="25" dur="500"/>
                                        <p:tgtEl>
                                          <p:spTgt spid="63"/>
                                        </p:tgtEl>
                                      </p:cBhvr>
                                    </p:animEffect>
                                  </p:childTnLst>
                                </p:cTn>
                              </p:par>
                            </p:childTnLst>
                          </p:cTn>
                        </p:par>
                        <p:par>
                          <p:cTn id="26" fill="hold">
                            <p:stCondLst>
                              <p:cond delay="4500"/>
                            </p:stCondLst>
                            <p:childTnLst>
                              <p:par>
                                <p:cTn id="27" presetID="14" presetClass="entr" presetSubtype="10" fill="hold" nodeType="afterEffect">
                                  <p:stCondLst>
                                    <p:cond delay="0"/>
                                  </p:stCondLst>
                                  <p:childTnLst>
                                    <p:set>
                                      <p:cBhvr>
                                        <p:cTn id="28" dur="1" fill="hold">
                                          <p:stCondLst>
                                            <p:cond delay="0"/>
                                          </p:stCondLst>
                                        </p:cTn>
                                        <p:tgtEl>
                                          <p:spTgt spid="62"/>
                                        </p:tgtEl>
                                        <p:attrNameLst>
                                          <p:attrName>style.visibility</p:attrName>
                                        </p:attrNameLst>
                                      </p:cBhvr>
                                      <p:to>
                                        <p:strVal val="visible"/>
                                      </p:to>
                                    </p:set>
                                    <p:animEffect transition="in" filter="randombar(horizontal)">
                                      <p:cBhvr>
                                        <p:cTn id="29" dur="500"/>
                                        <p:tgtEl>
                                          <p:spTgt spid="62"/>
                                        </p:tgtEl>
                                      </p:cBhvr>
                                    </p:animEffect>
                                  </p:childTnLst>
                                </p:cTn>
                              </p:par>
                            </p:childTnLst>
                          </p:cTn>
                        </p:par>
                        <p:par>
                          <p:cTn id="30" fill="hold">
                            <p:stCondLst>
                              <p:cond delay="5000"/>
                            </p:stCondLst>
                            <p:childTnLst>
                              <p:par>
                                <p:cTn id="31" presetID="42" presetClass="entr" presetSubtype="0" fill="hold" nodeType="after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1000"/>
                                        <p:tgtEl>
                                          <p:spTgt spid="17"/>
                                        </p:tgtEl>
                                      </p:cBhvr>
                                    </p:animEffect>
                                    <p:anim calcmode="lin" valueType="num">
                                      <p:cBhvr>
                                        <p:cTn id="34" dur="1000" fill="hold"/>
                                        <p:tgtEl>
                                          <p:spTgt spid="17"/>
                                        </p:tgtEl>
                                        <p:attrNameLst>
                                          <p:attrName>ppt_x</p:attrName>
                                        </p:attrNameLst>
                                      </p:cBhvr>
                                      <p:tavLst>
                                        <p:tav tm="0">
                                          <p:val>
                                            <p:strVal val="#ppt_x"/>
                                          </p:val>
                                        </p:tav>
                                        <p:tav tm="100000">
                                          <p:val>
                                            <p:strVal val="#ppt_x"/>
                                          </p:val>
                                        </p:tav>
                                      </p:tavLst>
                                    </p:anim>
                                    <p:anim calcmode="lin" valueType="num">
                                      <p:cBhvr>
                                        <p:cTn id="35" dur="1000" fill="hold"/>
                                        <p:tgtEl>
                                          <p:spTgt spid="17"/>
                                        </p:tgtEl>
                                        <p:attrNameLst>
                                          <p:attrName>ppt_y</p:attrName>
                                        </p:attrNameLst>
                                      </p:cBhvr>
                                      <p:tavLst>
                                        <p:tav tm="0">
                                          <p:val>
                                            <p:strVal val="#ppt_y+.1"/>
                                          </p:val>
                                        </p:tav>
                                        <p:tav tm="100000">
                                          <p:val>
                                            <p:strVal val="#ppt_y"/>
                                          </p:val>
                                        </p:tav>
                                      </p:tavLst>
                                    </p:anim>
                                  </p:childTnLst>
                                </p:cTn>
                              </p:par>
                            </p:childTnLst>
                          </p:cTn>
                        </p:par>
                        <p:par>
                          <p:cTn id="36" fill="hold">
                            <p:stCondLst>
                              <p:cond delay="6000"/>
                            </p:stCondLst>
                            <p:childTnLst>
                              <p:par>
                                <p:cTn id="37" presetID="42" presetClass="entr" presetSubtype="0" fill="hold"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1000"/>
                                        <p:tgtEl>
                                          <p:spTgt spid="18"/>
                                        </p:tgtEl>
                                      </p:cBhvr>
                                    </p:animEffect>
                                    <p:anim calcmode="lin" valueType="num">
                                      <p:cBhvr>
                                        <p:cTn id="40" dur="1000" fill="hold"/>
                                        <p:tgtEl>
                                          <p:spTgt spid="18"/>
                                        </p:tgtEl>
                                        <p:attrNameLst>
                                          <p:attrName>ppt_x</p:attrName>
                                        </p:attrNameLst>
                                      </p:cBhvr>
                                      <p:tavLst>
                                        <p:tav tm="0">
                                          <p:val>
                                            <p:strVal val="#ppt_x"/>
                                          </p:val>
                                        </p:tav>
                                        <p:tav tm="100000">
                                          <p:val>
                                            <p:strVal val="#ppt_x"/>
                                          </p:val>
                                        </p:tav>
                                      </p:tavLst>
                                    </p:anim>
                                    <p:anim calcmode="lin" valueType="num">
                                      <p:cBhvr>
                                        <p:cTn id="41" dur="1000" fill="hold"/>
                                        <p:tgtEl>
                                          <p:spTgt spid="18"/>
                                        </p:tgtEl>
                                        <p:attrNameLst>
                                          <p:attrName>ppt_y</p:attrName>
                                        </p:attrNameLst>
                                      </p:cBhvr>
                                      <p:tavLst>
                                        <p:tav tm="0">
                                          <p:val>
                                            <p:strVal val="#ppt_y+.1"/>
                                          </p:val>
                                        </p:tav>
                                        <p:tav tm="100000">
                                          <p:val>
                                            <p:strVal val="#ppt_y"/>
                                          </p:val>
                                        </p:tav>
                                      </p:tavLst>
                                    </p:anim>
                                  </p:childTnLst>
                                </p:cTn>
                              </p:par>
                            </p:childTnLst>
                          </p:cTn>
                        </p:par>
                        <p:par>
                          <p:cTn id="42" fill="hold">
                            <p:stCondLst>
                              <p:cond delay="7000"/>
                            </p:stCondLst>
                            <p:childTnLst>
                              <p:par>
                                <p:cTn id="43" presetID="42" presetClass="entr" presetSubtype="0" fill="hold" nodeType="after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1000"/>
                                        <p:tgtEl>
                                          <p:spTgt spid="20"/>
                                        </p:tgtEl>
                                      </p:cBhvr>
                                    </p:animEffect>
                                    <p:anim calcmode="lin" valueType="num">
                                      <p:cBhvr>
                                        <p:cTn id="46" dur="1000" fill="hold"/>
                                        <p:tgtEl>
                                          <p:spTgt spid="20"/>
                                        </p:tgtEl>
                                        <p:attrNameLst>
                                          <p:attrName>ppt_x</p:attrName>
                                        </p:attrNameLst>
                                      </p:cBhvr>
                                      <p:tavLst>
                                        <p:tav tm="0">
                                          <p:val>
                                            <p:strVal val="#ppt_x"/>
                                          </p:val>
                                        </p:tav>
                                        <p:tav tm="100000">
                                          <p:val>
                                            <p:strVal val="#ppt_x"/>
                                          </p:val>
                                        </p:tav>
                                      </p:tavLst>
                                    </p:anim>
                                    <p:anim calcmode="lin" valueType="num">
                                      <p:cBhvr>
                                        <p:cTn id="47" dur="1000" fill="hold"/>
                                        <p:tgtEl>
                                          <p:spTgt spid="20"/>
                                        </p:tgtEl>
                                        <p:attrNameLst>
                                          <p:attrName>ppt_y</p:attrName>
                                        </p:attrNameLst>
                                      </p:cBhvr>
                                      <p:tavLst>
                                        <p:tav tm="0">
                                          <p:val>
                                            <p:strVal val="#ppt_y+.1"/>
                                          </p:val>
                                        </p:tav>
                                        <p:tav tm="100000">
                                          <p:val>
                                            <p:strVal val="#ppt_y"/>
                                          </p:val>
                                        </p:tav>
                                      </p:tavLst>
                                    </p:anim>
                                  </p:childTnLst>
                                </p:cTn>
                              </p:par>
                            </p:childTnLst>
                          </p:cTn>
                        </p:par>
                        <p:par>
                          <p:cTn id="48" fill="hold">
                            <p:stCondLst>
                              <p:cond delay="8000"/>
                            </p:stCondLst>
                            <p:childTnLst>
                              <p:par>
                                <p:cTn id="49" presetID="42" presetClass="entr" presetSubtype="0" fill="hold" nodeType="after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1000"/>
                                        <p:tgtEl>
                                          <p:spTgt spid="21"/>
                                        </p:tgtEl>
                                      </p:cBhvr>
                                    </p:animEffect>
                                    <p:anim calcmode="lin" valueType="num">
                                      <p:cBhvr>
                                        <p:cTn id="52" dur="1000" fill="hold"/>
                                        <p:tgtEl>
                                          <p:spTgt spid="21"/>
                                        </p:tgtEl>
                                        <p:attrNameLst>
                                          <p:attrName>ppt_x</p:attrName>
                                        </p:attrNameLst>
                                      </p:cBhvr>
                                      <p:tavLst>
                                        <p:tav tm="0">
                                          <p:val>
                                            <p:strVal val="#ppt_x"/>
                                          </p:val>
                                        </p:tav>
                                        <p:tav tm="100000">
                                          <p:val>
                                            <p:strVal val="#ppt_x"/>
                                          </p:val>
                                        </p:tav>
                                      </p:tavLst>
                                    </p:anim>
                                    <p:anim calcmode="lin" valueType="num">
                                      <p:cBhvr>
                                        <p:cTn id="53"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77419" y="598161"/>
            <a:ext cx="10825884" cy="5667826"/>
          </a:xfrm>
          <a:prstGeom prst="rect">
            <a:avLst/>
          </a:prstGeom>
          <a:blipFill dpi="0" rotWithShape="1">
            <a:blip r:embed="rId4">
              <a:alphaModFix amt="85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 name="组合 10"/>
          <p:cNvGrpSpPr/>
          <p:nvPr/>
        </p:nvGrpSpPr>
        <p:grpSpPr>
          <a:xfrm>
            <a:off x="5015410" y="1465053"/>
            <a:ext cx="2149901" cy="2149901"/>
            <a:chOff x="5015408" y="1196255"/>
            <a:chExt cx="2149901" cy="2149901"/>
          </a:xfrm>
        </p:grpSpPr>
        <p:sp>
          <p:nvSpPr>
            <p:cNvPr id="10" name="菱形 9"/>
            <p:cNvSpPr/>
            <p:nvPr/>
          </p:nvSpPr>
          <p:spPr bwMode="auto">
            <a:xfrm>
              <a:off x="5015408" y="1196255"/>
              <a:ext cx="2149901" cy="2149901"/>
            </a:xfrm>
            <a:prstGeom prst="diamond">
              <a:avLst/>
            </a:prstGeom>
            <a:solidFill>
              <a:srgbClr val="1A3172"/>
            </a:solidFill>
            <a:ln w="38100">
              <a:solidFill>
                <a:srgbClr val="1A3172"/>
              </a:solidFill>
            </a:ln>
          </p:spPr>
          <p:style>
            <a:lnRef idx="2">
              <a:schemeClr val="dk1"/>
            </a:lnRef>
            <a:fillRef idx="1">
              <a:schemeClr val="lt1"/>
            </a:fillRef>
            <a:effectRef idx="0">
              <a:schemeClr val="dk1"/>
            </a:effectRef>
            <a:fontRef idx="minor">
              <a:schemeClr val="dk1"/>
            </a:fontRef>
          </p:style>
          <p:txBody>
            <a:bodyPr wrap="none" rtlCol="0" anchor="ctr">
              <a:noAutofit/>
            </a:bodyPr>
            <a:lstStyle/>
            <a:p>
              <a:pPr algn="ctr"/>
              <a:endParaRPr lang="zh-CN" altLang="en-US" sz="2400" dirty="0">
                <a:solidFill>
                  <a:schemeClr val="tx1">
                    <a:lumMod val="85000"/>
                    <a:lumOff val="15000"/>
                  </a:schemeClr>
                </a:solidFill>
                <a:cs typeface="+mn-ea"/>
                <a:sym typeface="+mn-lt"/>
              </a:endParaRPr>
            </a:p>
          </p:txBody>
        </p:sp>
        <p:sp>
          <p:nvSpPr>
            <p:cNvPr id="7" name="矩形 6"/>
            <p:cNvSpPr/>
            <p:nvPr/>
          </p:nvSpPr>
          <p:spPr>
            <a:xfrm>
              <a:off x="5465056" y="1671042"/>
              <a:ext cx="1261884" cy="1200329"/>
            </a:xfrm>
            <a:prstGeom prst="rect">
              <a:avLst/>
            </a:prstGeom>
          </p:spPr>
          <p:txBody>
            <a:bodyPr wrap="none">
              <a:spAutoFit/>
            </a:bodyPr>
            <a:lstStyle/>
            <a:p>
              <a:pPr lvl="0" algn="ctr"/>
              <a:r>
                <a:rPr lang="en-US" altLang="zh-CN" sz="7200" b="1" spc="600" dirty="0">
                  <a:solidFill>
                    <a:schemeClr val="bg1"/>
                  </a:solidFill>
                  <a:cs typeface="+mn-ea"/>
                  <a:sym typeface="+mn-lt"/>
                </a:rPr>
                <a:t>01</a:t>
              </a:r>
              <a:endParaRPr lang="zh-CN" altLang="en-US" sz="7200" b="1" spc="600" dirty="0">
                <a:solidFill>
                  <a:schemeClr val="bg1"/>
                </a:solidFill>
                <a:cs typeface="+mn-ea"/>
                <a:sym typeface="+mn-lt"/>
              </a:endParaRPr>
            </a:p>
          </p:txBody>
        </p:sp>
      </p:grpSp>
      <p:sp>
        <p:nvSpPr>
          <p:cNvPr id="8" name="矩形 7"/>
          <p:cNvSpPr/>
          <p:nvPr/>
        </p:nvSpPr>
        <p:spPr>
          <a:xfrm>
            <a:off x="2949700" y="3743491"/>
            <a:ext cx="6260098" cy="988347"/>
          </a:xfrm>
          <a:prstGeom prst="rect">
            <a:avLst/>
          </a:prstGeom>
        </p:spPr>
        <p:txBody>
          <a:bodyPr wrap="square">
            <a:spAutoFit/>
          </a:bodyPr>
          <a:lstStyle/>
          <a:p>
            <a:pPr algn="ctr">
              <a:lnSpc>
                <a:spcPct val="150000"/>
              </a:lnSpc>
            </a:pPr>
            <a:r>
              <a:rPr lang="zh-CN" altLang="en-US" sz="4400" b="1" spc="600" dirty="0">
                <a:solidFill>
                  <a:schemeClr val="tx1">
                    <a:lumMod val="85000"/>
                    <a:lumOff val="15000"/>
                  </a:schemeClr>
                </a:solidFill>
                <a:cs typeface="+mn-ea"/>
                <a:sym typeface="+mn-lt"/>
              </a:rPr>
              <a:t>研究现状及发展态势</a:t>
            </a:r>
          </a:p>
        </p:txBody>
      </p:sp>
      <p:sp>
        <p:nvSpPr>
          <p:cNvPr id="17" name="矩形 16"/>
          <p:cNvSpPr/>
          <p:nvPr/>
        </p:nvSpPr>
        <p:spPr>
          <a:xfrm>
            <a:off x="2960980" y="4910084"/>
            <a:ext cx="6281320" cy="377411"/>
          </a:xfrm>
          <a:prstGeom prst="rect">
            <a:avLst/>
          </a:prstGeom>
        </p:spPr>
        <p:txBody>
          <a:bodyPr wrap="square">
            <a:spAutoFit/>
          </a:bodyPr>
          <a:lstStyle/>
          <a:p>
            <a:pPr algn="ctr">
              <a:lnSpc>
                <a:spcPct val="150000"/>
              </a:lnSpc>
            </a:pPr>
            <a:r>
              <a:rPr lang="en-US" altLang="zh-CN" sz="1400" dirty="0">
                <a:solidFill>
                  <a:schemeClr val="tx1">
                    <a:lumMod val="85000"/>
                    <a:lumOff val="15000"/>
                  </a:schemeClr>
                </a:solidFill>
                <a:cs typeface="+mn-ea"/>
                <a:sym typeface="+mn-lt"/>
              </a:rPr>
              <a:t>Research Status and Development Trends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1" presetClass="entr" presetSubtype="1"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2000"/>
                                        <p:tgtEl>
                                          <p:spTgt spid="11"/>
                                        </p:tgtEl>
                                      </p:cBhvr>
                                    </p:animEffect>
                                  </p:childTnLst>
                                </p:cTn>
                              </p:par>
                            </p:childTnLst>
                          </p:cTn>
                        </p:par>
                        <p:par>
                          <p:cTn id="14" fill="hold">
                            <p:stCondLst>
                              <p:cond delay="3000"/>
                            </p:stCondLst>
                            <p:childTnLst>
                              <p:par>
                                <p:cTn id="15" presetID="42"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par>
                          <p:cTn id="20" fill="hold">
                            <p:stCondLst>
                              <p:cond delay="4000"/>
                            </p:stCondLst>
                            <p:childTnLst>
                              <p:par>
                                <p:cTn id="21" presetID="42" presetClass="entr" presetSubtype="0"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1000"/>
                                        <p:tgtEl>
                                          <p:spTgt spid="17"/>
                                        </p:tgtEl>
                                      </p:cBhvr>
                                    </p:animEffect>
                                    <p:anim calcmode="lin" valueType="num">
                                      <p:cBhvr>
                                        <p:cTn id="24" dur="1000" fill="hold"/>
                                        <p:tgtEl>
                                          <p:spTgt spid="17"/>
                                        </p:tgtEl>
                                        <p:attrNameLst>
                                          <p:attrName>ppt_x</p:attrName>
                                        </p:attrNameLst>
                                      </p:cBhvr>
                                      <p:tavLst>
                                        <p:tav tm="0">
                                          <p:val>
                                            <p:strVal val="#ppt_x"/>
                                          </p:val>
                                        </p:tav>
                                        <p:tav tm="100000">
                                          <p:val>
                                            <p:strVal val="#ppt_x"/>
                                          </p:val>
                                        </p:tav>
                                      </p:tavLst>
                                    </p:anim>
                                    <p:anim calcmode="lin" valueType="num">
                                      <p:cBhvr>
                                        <p:cTn id="2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669925" y="1799176"/>
            <a:ext cx="10867917" cy="4344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is1îḍé_1"/>
          <p:cNvSpPr/>
          <p:nvPr/>
        </p:nvSpPr>
        <p:spPr>
          <a:xfrm>
            <a:off x="669926" y="1123951"/>
            <a:ext cx="10850562" cy="1838548"/>
          </a:xfrm>
          <a:prstGeom prst="rect">
            <a:avLst/>
          </a:prstGeom>
          <a:solidFill>
            <a:srgbClr val="1A317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FFFFFF"/>
              </a:solidFill>
              <a:effectLst/>
              <a:uLnTx/>
              <a:uFillTx/>
              <a:cs typeface="+mn-ea"/>
              <a:sym typeface="+mn-lt"/>
            </a:endParaRPr>
          </a:p>
        </p:txBody>
      </p:sp>
      <p:sp>
        <p:nvSpPr>
          <p:cNvPr id="4" name="矩形 3"/>
          <p:cNvSpPr/>
          <p:nvPr/>
        </p:nvSpPr>
        <p:spPr>
          <a:xfrm>
            <a:off x="687280" y="1368958"/>
            <a:ext cx="10833208" cy="134853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0000" anchor="ctr" anchorCtr="0">
            <a:normAutofit/>
          </a:bodyPr>
          <a:lstStyle/>
          <a:p>
            <a:pPr marL="171450" marR="0" lvl="0" indent="-171450" algn="l" defTabSz="913765" rtl="0" eaLnBrk="1" fontAlgn="auto" latinLnBrk="0" hangingPunct="1">
              <a:lnSpc>
                <a:spcPct val="150000"/>
              </a:lnSpc>
              <a:spcBef>
                <a:spcPct val="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rgbClr val="FFFFFF"/>
                </a:solidFill>
                <a:effectLst/>
                <a:uLnTx/>
                <a:uFillTx/>
                <a:cs typeface="+mn-ea"/>
                <a:sym typeface="+mn-lt"/>
              </a:rPr>
              <a:t>人工智能算法正推动荧光太阳能聚光器（</a:t>
            </a:r>
            <a:r>
              <a:rPr kumimoji="0" lang="en-US" altLang="zh-CN" sz="2400" b="0" i="0" u="none" strike="noStrike" kern="1200" cap="none" spc="0" normalizeH="0" baseline="0" noProof="0" dirty="0">
                <a:ln>
                  <a:noFill/>
                </a:ln>
                <a:solidFill>
                  <a:srgbClr val="FFFFFF"/>
                </a:solidFill>
                <a:effectLst/>
                <a:uLnTx/>
                <a:uFillTx/>
                <a:cs typeface="+mn-ea"/>
                <a:sym typeface="+mn-lt"/>
              </a:rPr>
              <a:t>LSC</a:t>
            </a:r>
            <a:r>
              <a:rPr kumimoji="0" lang="zh-CN" altLang="en-US" sz="2400" b="0" i="0" u="none" strike="noStrike" kern="1200" cap="none" spc="0" normalizeH="0" baseline="0" noProof="0" dirty="0">
                <a:ln>
                  <a:noFill/>
                </a:ln>
                <a:solidFill>
                  <a:srgbClr val="FFFFFF"/>
                </a:solidFill>
                <a:effectLst/>
                <a:uLnTx/>
                <a:uFillTx/>
                <a:cs typeface="+mn-ea"/>
                <a:sym typeface="+mn-lt"/>
              </a:rPr>
              <a:t>）光学效率预测从传统建模转向智能化、数据驱动范式。</a:t>
            </a:r>
            <a:endParaRPr kumimoji="0" lang="en-US" altLang="zh-CN" sz="2400" b="0" i="0" u="none" strike="noStrike" kern="1200" cap="none" spc="0" normalizeH="0" baseline="0" noProof="0" dirty="0">
              <a:ln>
                <a:noFill/>
              </a:ln>
              <a:solidFill>
                <a:srgbClr val="FFFFFF"/>
              </a:solidFill>
              <a:effectLst/>
              <a:uLnTx/>
              <a:uFillTx/>
              <a:cs typeface="+mn-ea"/>
              <a:sym typeface="+mn-lt"/>
            </a:endParaRPr>
          </a:p>
        </p:txBody>
      </p:sp>
      <p:sp>
        <p:nvSpPr>
          <p:cNvPr id="8" name="í$ḻiḓe"/>
          <p:cNvSpPr/>
          <p:nvPr/>
        </p:nvSpPr>
        <p:spPr>
          <a:xfrm>
            <a:off x="669925" y="3518201"/>
            <a:ext cx="3432742" cy="2625423"/>
          </a:xfrm>
          <a:prstGeom prst="roundRect">
            <a:avLst>
              <a:gd name="adj" fmla="val 2415"/>
            </a:avLst>
          </a:prstGeom>
          <a:solidFill>
            <a:schemeClr val="accent1">
              <a:lumMod val="20000"/>
              <a:lumOff val="80000"/>
              <a:alpha val="40000"/>
            </a:schemeClr>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tIns="46800" anchor="t">
            <a:normAutofit/>
          </a:bodyPr>
          <a:lstStyle/>
          <a:p>
            <a:pPr marL="0" marR="0" lvl="0" indent="0" algn="l" defTabSz="913765" rtl="0" eaLnBrk="1" fontAlgn="auto" latinLnBrk="0" hangingPunct="1">
              <a:lnSpc>
                <a:spcPct val="120000"/>
              </a:lnSpc>
              <a:spcBef>
                <a:spcPts val="0"/>
              </a:spcBef>
              <a:spcAft>
                <a:spcPts val="0"/>
              </a:spcAft>
              <a:buClrTx/>
              <a:buSzTx/>
              <a:buFontTx/>
              <a:buNone/>
              <a:defRPr/>
            </a:pPr>
            <a:br>
              <a:rPr kumimoji="0" lang="zh-CN" altLang="en-US" sz="1000" b="0" i="0" u="none" strike="noStrike" kern="1200" cap="none" spc="0" normalizeH="0" baseline="0" noProof="0" dirty="0">
                <a:ln>
                  <a:noFill/>
                </a:ln>
                <a:solidFill>
                  <a:srgbClr val="333639"/>
                </a:solidFill>
                <a:effectLst/>
                <a:uLnTx/>
                <a:uFillTx/>
                <a:cs typeface="+mn-ea"/>
                <a:sym typeface="+mn-lt"/>
              </a:rPr>
            </a:br>
            <a:br>
              <a:rPr kumimoji="0" lang="zh-CN" altLang="en-US" sz="1000" b="0" i="0" u="none" strike="noStrike" kern="1200" cap="none" spc="0" normalizeH="0" baseline="0" noProof="0" dirty="0">
                <a:ln>
                  <a:noFill/>
                </a:ln>
                <a:solidFill>
                  <a:srgbClr val="333639"/>
                </a:solidFill>
                <a:effectLst/>
                <a:uLnTx/>
                <a:uFillTx/>
                <a:cs typeface="+mn-ea"/>
                <a:sym typeface="+mn-lt"/>
              </a:rPr>
            </a:br>
            <a:endParaRPr kumimoji="0" lang="zh-CN" altLang="en-US" sz="1000" b="0" i="0" u="none" strike="noStrike" kern="1200" cap="none" spc="0" normalizeH="0" baseline="0" noProof="0" dirty="0">
              <a:ln>
                <a:noFill/>
              </a:ln>
              <a:solidFill>
                <a:srgbClr val="333639"/>
              </a:solidFill>
              <a:effectLst/>
              <a:uLnTx/>
              <a:uFillTx/>
              <a:cs typeface="+mn-ea"/>
              <a:sym typeface="+mn-lt"/>
            </a:endParaRPr>
          </a:p>
        </p:txBody>
      </p:sp>
      <p:sp>
        <p:nvSpPr>
          <p:cNvPr id="9" name="ïS1iďê"/>
          <p:cNvSpPr/>
          <p:nvPr/>
        </p:nvSpPr>
        <p:spPr>
          <a:xfrm>
            <a:off x="823355" y="3294000"/>
            <a:ext cx="1307937" cy="385277"/>
          </a:xfrm>
          <a:prstGeom prst="roundRect">
            <a:avLst>
              <a:gd name="adj" fmla="val 14195"/>
            </a:avLst>
          </a:prstGeom>
          <a:solidFill>
            <a:srgbClr val="1A3172"/>
          </a:solidFill>
          <a:ln w="127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cs typeface="+mn-ea"/>
                <a:sym typeface="+mn-lt"/>
              </a:rPr>
              <a:t>深度学习</a:t>
            </a:r>
          </a:p>
        </p:txBody>
      </p:sp>
      <p:sp>
        <p:nvSpPr>
          <p:cNvPr id="10" name="îşḻíḑe"/>
          <p:cNvSpPr txBox="1"/>
          <p:nvPr/>
        </p:nvSpPr>
        <p:spPr bwMode="auto">
          <a:xfrm>
            <a:off x="1354169" y="3391607"/>
            <a:ext cx="73" cy="221599"/>
          </a:xfrm>
          <a:prstGeom prst="rect">
            <a:avLst/>
          </a:prstGeom>
          <a:noFill/>
          <a:scene3d>
            <a:camera prst="orthographicFront">
              <a:rot lat="0" lon="0" rev="0"/>
            </a:camera>
            <a:lightRig rig="threePt" dir="t"/>
          </a:scene3d>
          <a:sp3d prstMaterial="matte">
            <a:bevelT w="1270" h="1270"/>
          </a:sp3d>
        </p:spPr>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7" name="îṣľídê"/>
          <p:cNvSpPr/>
          <p:nvPr/>
        </p:nvSpPr>
        <p:spPr bwMode="auto">
          <a:xfrm>
            <a:off x="823355" y="3895501"/>
            <a:ext cx="3279312" cy="2248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rIns="9000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lvl="0" indent="-171450">
              <a:lnSpc>
                <a:spcPct val="150000"/>
              </a:lnSpc>
              <a:buFont typeface="Arial" panose="020B0604020202020204" pitchFamily="34" charset="0"/>
              <a:buChar char="•"/>
              <a:defRPr/>
            </a:pPr>
            <a:r>
              <a:rPr lang="zh-CN" altLang="zh-CN" dirty="0">
                <a:cs typeface="+mn-ea"/>
                <a:sym typeface="+mn-lt"/>
              </a:rPr>
              <a:t>通过建立</a:t>
            </a:r>
            <a:r>
              <a:rPr lang="zh-CN" altLang="zh-CN" dirty="0">
                <a:solidFill>
                  <a:srgbClr val="FF0000"/>
                </a:solidFill>
                <a:cs typeface="+mn-ea"/>
                <a:sym typeface="+mn-lt"/>
              </a:rPr>
              <a:t>光学参数</a:t>
            </a:r>
            <a:r>
              <a:rPr lang="zh-CN" altLang="zh-CN" dirty="0">
                <a:cs typeface="+mn-ea"/>
                <a:sym typeface="+mn-lt"/>
              </a:rPr>
              <a:t>与</a:t>
            </a:r>
            <a:r>
              <a:rPr lang="zh-CN" altLang="zh-CN" dirty="0">
                <a:solidFill>
                  <a:srgbClr val="FF0000"/>
                </a:solidFill>
                <a:cs typeface="+mn-ea"/>
                <a:sym typeface="+mn-lt"/>
              </a:rPr>
              <a:t>物理</a:t>
            </a:r>
            <a:r>
              <a:rPr lang="zh-CN" altLang="en-US" dirty="0">
                <a:solidFill>
                  <a:srgbClr val="FF0000"/>
                </a:solidFill>
                <a:cs typeface="+mn-ea"/>
                <a:sym typeface="+mn-lt"/>
              </a:rPr>
              <a:t>响</a:t>
            </a:r>
            <a:r>
              <a:rPr lang="zh-CN" altLang="zh-CN" dirty="0">
                <a:solidFill>
                  <a:srgbClr val="FF0000"/>
                </a:solidFill>
                <a:cs typeface="+mn-ea"/>
                <a:sym typeface="+mn-lt"/>
              </a:rPr>
              <a:t>应</a:t>
            </a:r>
            <a:r>
              <a:rPr lang="zh-CN" altLang="zh-CN" dirty="0">
                <a:cs typeface="+mn-ea"/>
                <a:sym typeface="+mn-lt"/>
              </a:rPr>
              <a:t>之间的非线性映射关系，显著提升了</a:t>
            </a:r>
            <a:r>
              <a:rPr lang="zh-CN" altLang="zh-CN" dirty="0">
                <a:solidFill>
                  <a:srgbClr val="FF0000"/>
                </a:solidFill>
                <a:cs typeface="+mn-ea"/>
                <a:sym typeface="+mn-lt"/>
              </a:rPr>
              <a:t>预测精度</a:t>
            </a:r>
            <a:r>
              <a:rPr lang="zh-CN" altLang="zh-CN" dirty="0">
                <a:cs typeface="+mn-ea"/>
                <a:sym typeface="+mn-lt"/>
              </a:rPr>
              <a:t>和</a:t>
            </a:r>
            <a:r>
              <a:rPr lang="zh-CN" altLang="zh-CN" dirty="0">
                <a:solidFill>
                  <a:srgbClr val="FF0000"/>
                </a:solidFill>
                <a:cs typeface="+mn-ea"/>
                <a:sym typeface="+mn-lt"/>
              </a:rPr>
              <a:t>计算效率</a:t>
            </a:r>
            <a:r>
              <a:rPr lang="zh-CN" altLang="zh-CN" dirty="0">
                <a:cs typeface="+mn-ea"/>
                <a:sym typeface="+mn-lt"/>
              </a:rPr>
              <a:t>。</a:t>
            </a:r>
            <a:endParaRPr lang="en-US" altLang="zh-CN" sz="1200" dirty="0">
              <a:solidFill>
                <a:srgbClr val="000000"/>
              </a:solidFill>
              <a:cs typeface="+mn-ea"/>
              <a:sym typeface="+mn-lt"/>
            </a:endParaRPr>
          </a:p>
        </p:txBody>
      </p:sp>
      <p:sp>
        <p:nvSpPr>
          <p:cNvPr id="23" name="í$ḻiḓe"/>
          <p:cNvSpPr/>
          <p:nvPr/>
        </p:nvSpPr>
        <p:spPr>
          <a:xfrm>
            <a:off x="4378835" y="3518201"/>
            <a:ext cx="3432742" cy="2625423"/>
          </a:xfrm>
          <a:prstGeom prst="roundRect">
            <a:avLst>
              <a:gd name="adj" fmla="val 2415"/>
            </a:avLst>
          </a:prstGeom>
          <a:solidFill>
            <a:schemeClr val="accent3">
              <a:lumMod val="20000"/>
              <a:lumOff val="80000"/>
              <a:alpha val="40000"/>
            </a:schemeClr>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tIns="46800" anchor="t">
            <a:normAutofit/>
          </a:bodyPr>
          <a:lstStyle/>
          <a:p>
            <a:pPr marL="0" marR="0" lvl="0" indent="0" algn="l" defTabSz="913765" rtl="0" eaLnBrk="1" fontAlgn="auto" latinLnBrk="0" hangingPunct="1">
              <a:lnSpc>
                <a:spcPct val="120000"/>
              </a:lnSpc>
              <a:spcBef>
                <a:spcPts val="0"/>
              </a:spcBef>
              <a:spcAft>
                <a:spcPts val="0"/>
              </a:spcAft>
              <a:buClrTx/>
              <a:buSzTx/>
              <a:buFontTx/>
              <a:buNone/>
              <a:defRPr/>
            </a:pPr>
            <a:br>
              <a:rPr kumimoji="0" lang="zh-CN" altLang="en-US" sz="1000" b="0" i="0" u="none" strike="noStrike" kern="1200" cap="none" spc="0" normalizeH="0" baseline="0" noProof="0" dirty="0">
                <a:ln>
                  <a:noFill/>
                </a:ln>
                <a:solidFill>
                  <a:srgbClr val="333639"/>
                </a:solidFill>
                <a:effectLst/>
                <a:uLnTx/>
                <a:uFillTx/>
                <a:cs typeface="+mn-ea"/>
                <a:sym typeface="+mn-lt"/>
              </a:rPr>
            </a:br>
            <a:br>
              <a:rPr kumimoji="0" lang="zh-CN" altLang="en-US" sz="1000" b="0" i="0" u="none" strike="noStrike" kern="1200" cap="none" spc="0" normalizeH="0" baseline="0" noProof="0" dirty="0">
                <a:ln>
                  <a:noFill/>
                </a:ln>
                <a:solidFill>
                  <a:srgbClr val="333639"/>
                </a:solidFill>
                <a:effectLst/>
                <a:uLnTx/>
                <a:uFillTx/>
                <a:cs typeface="+mn-ea"/>
                <a:sym typeface="+mn-lt"/>
              </a:rPr>
            </a:br>
            <a:endParaRPr kumimoji="0" lang="zh-CN" altLang="en-US" sz="1000" b="0" i="0" u="none" strike="noStrike" kern="1200" cap="none" spc="0" normalizeH="0" baseline="0" noProof="0" dirty="0">
              <a:ln>
                <a:noFill/>
              </a:ln>
              <a:solidFill>
                <a:srgbClr val="333639"/>
              </a:solidFill>
              <a:effectLst/>
              <a:uLnTx/>
              <a:uFillTx/>
              <a:cs typeface="+mn-ea"/>
              <a:sym typeface="+mn-lt"/>
            </a:endParaRPr>
          </a:p>
        </p:txBody>
      </p:sp>
      <p:sp>
        <p:nvSpPr>
          <p:cNvPr id="24" name="ïS1iďê"/>
          <p:cNvSpPr/>
          <p:nvPr/>
        </p:nvSpPr>
        <p:spPr>
          <a:xfrm>
            <a:off x="4532265" y="3294000"/>
            <a:ext cx="1307937" cy="385277"/>
          </a:xfrm>
          <a:prstGeom prst="roundRect">
            <a:avLst>
              <a:gd name="adj" fmla="val 14195"/>
            </a:avLst>
          </a:prstGeom>
          <a:solidFill>
            <a:srgbClr val="1A3172"/>
          </a:solidFill>
          <a:ln w="127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cs typeface="+mn-ea"/>
                <a:sym typeface="+mn-lt"/>
              </a:rPr>
              <a:t>贝叶斯算法</a:t>
            </a:r>
          </a:p>
        </p:txBody>
      </p:sp>
      <p:sp>
        <p:nvSpPr>
          <p:cNvPr id="25" name="îşḻíḑe"/>
          <p:cNvSpPr txBox="1"/>
          <p:nvPr/>
        </p:nvSpPr>
        <p:spPr bwMode="auto">
          <a:xfrm>
            <a:off x="5063079" y="3391607"/>
            <a:ext cx="73" cy="221599"/>
          </a:xfrm>
          <a:prstGeom prst="rect">
            <a:avLst/>
          </a:prstGeom>
          <a:noFill/>
          <a:scene3d>
            <a:camera prst="orthographicFront">
              <a:rot lat="0" lon="0" rev="0"/>
            </a:camera>
            <a:lightRig rig="threePt" dir="t"/>
          </a:scene3d>
          <a:sp3d prstMaterial="matte">
            <a:bevelT w="1270" h="1270"/>
          </a:sp3d>
        </p:spPr>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26" name="îṣľídê"/>
          <p:cNvSpPr/>
          <p:nvPr/>
        </p:nvSpPr>
        <p:spPr bwMode="auto">
          <a:xfrm>
            <a:off x="4532265" y="3895501"/>
            <a:ext cx="3279312" cy="2248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rIns="9000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lvl="0" indent="-171450">
              <a:lnSpc>
                <a:spcPct val="150000"/>
              </a:lnSpc>
              <a:buFont typeface="Arial" panose="020B0604020202020204" pitchFamily="34" charset="0"/>
              <a:buChar char="•"/>
              <a:defRPr/>
            </a:pPr>
            <a:r>
              <a:rPr lang="zh-CN" altLang="zh-CN" dirty="0">
                <a:cs typeface="+mn-ea"/>
                <a:sym typeface="+mn-lt"/>
              </a:rPr>
              <a:t>建立</a:t>
            </a:r>
            <a:r>
              <a:rPr lang="zh-CN" altLang="zh-CN" dirty="0">
                <a:solidFill>
                  <a:srgbClr val="FF0000"/>
                </a:solidFill>
                <a:cs typeface="+mn-ea"/>
                <a:sym typeface="+mn-lt"/>
              </a:rPr>
              <a:t>发光效率</a:t>
            </a:r>
            <a:r>
              <a:rPr lang="zh-CN" altLang="zh-CN" dirty="0">
                <a:cs typeface="+mn-ea"/>
                <a:sym typeface="+mn-lt"/>
              </a:rPr>
              <a:t>、</a:t>
            </a:r>
            <a:r>
              <a:rPr lang="zh-CN" altLang="zh-CN" dirty="0">
                <a:solidFill>
                  <a:srgbClr val="FF0000"/>
                </a:solidFill>
                <a:cs typeface="+mn-ea"/>
                <a:sym typeface="+mn-lt"/>
              </a:rPr>
              <a:t>热稳定性</a:t>
            </a:r>
            <a:r>
              <a:rPr lang="zh-CN" altLang="zh-CN" dirty="0">
                <a:cs typeface="+mn-ea"/>
                <a:sym typeface="+mn-lt"/>
              </a:rPr>
              <a:t>与</a:t>
            </a:r>
            <a:r>
              <a:rPr lang="zh-CN" altLang="zh-CN" dirty="0">
                <a:solidFill>
                  <a:srgbClr val="FF0000"/>
                </a:solidFill>
                <a:cs typeface="+mn-ea"/>
                <a:sym typeface="+mn-lt"/>
              </a:rPr>
              <a:t>元素配比</a:t>
            </a:r>
            <a:r>
              <a:rPr lang="zh-CN" altLang="zh-CN" dirty="0">
                <a:cs typeface="+mn-ea"/>
                <a:sym typeface="+mn-lt"/>
              </a:rPr>
              <a:t>的非线性映射模型，已实现</a:t>
            </a:r>
            <a:r>
              <a:rPr lang="zh-CN" altLang="zh-CN" dirty="0">
                <a:solidFill>
                  <a:srgbClr val="FF0000"/>
                </a:solidFill>
                <a:cs typeface="+mn-ea"/>
                <a:sym typeface="+mn-lt"/>
              </a:rPr>
              <a:t>稀土掺杂荧光粉</a:t>
            </a:r>
            <a:r>
              <a:rPr lang="zh-CN" altLang="zh-CN" dirty="0">
                <a:cs typeface="+mn-ea"/>
                <a:sym typeface="+mn-lt"/>
              </a:rPr>
              <a:t>的组分自动优化。</a:t>
            </a:r>
            <a:endParaRPr lang="en-US" altLang="zh-CN" sz="1200" dirty="0">
              <a:solidFill>
                <a:srgbClr val="000000"/>
              </a:solidFill>
              <a:cs typeface="+mn-ea"/>
              <a:sym typeface="+mn-lt"/>
            </a:endParaRPr>
          </a:p>
        </p:txBody>
      </p:sp>
      <p:sp>
        <p:nvSpPr>
          <p:cNvPr id="28" name="í$ḻiḓe"/>
          <p:cNvSpPr/>
          <p:nvPr/>
        </p:nvSpPr>
        <p:spPr>
          <a:xfrm>
            <a:off x="8087746" y="3518201"/>
            <a:ext cx="3432742" cy="2625423"/>
          </a:xfrm>
          <a:prstGeom prst="roundRect">
            <a:avLst>
              <a:gd name="adj" fmla="val 2415"/>
            </a:avLst>
          </a:prstGeom>
          <a:solidFill>
            <a:schemeClr val="accent1">
              <a:lumMod val="20000"/>
              <a:lumOff val="80000"/>
              <a:alpha val="40000"/>
            </a:schemeClr>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tIns="46800" anchor="t">
            <a:normAutofit/>
          </a:bodyPr>
          <a:lstStyle/>
          <a:p>
            <a:pPr marL="0" marR="0" lvl="0" indent="0" algn="l" defTabSz="913765" rtl="0" eaLnBrk="1" fontAlgn="auto" latinLnBrk="0" hangingPunct="1">
              <a:lnSpc>
                <a:spcPct val="120000"/>
              </a:lnSpc>
              <a:spcBef>
                <a:spcPts val="0"/>
              </a:spcBef>
              <a:spcAft>
                <a:spcPts val="0"/>
              </a:spcAft>
              <a:buClrTx/>
              <a:buSzTx/>
              <a:buFontTx/>
              <a:buNone/>
              <a:defRPr/>
            </a:pPr>
            <a:br>
              <a:rPr kumimoji="0" lang="zh-CN" altLang="en-US" sz="1000" b="0" i="0" u="none" strike="noStrike" kern="1200" cap="none" spc="0" normalizeH="0" baseline="0" noProof="0" dirty="0">
                <a:ln>
                  <a:noFill/>
                </a:ln>
                <a:solidFill>
                  <a:srgbClr val="333639"/>
                </a:solidFill>
                <a:effectLst/>
                <a:uLnTx/>
                <a:uFillTx/>
                <a:cs typeface="+mn-ea"/>
                <a:sym typeface="+mn-lt"/>
              </a:rPr>
            </a:br>
            <a:br>
              <a:rPr kumimoji="0" lang="zh-CN" altLang="en-US" sz="1000" b="0" i="0" u="none" strike="noStrike" kern="1200" cap="none" spc="0" normalizeH="0" baseline="0" noProof="0" dirty="0">
                <a:ln>
                  <a:noFill/>
                </a:ln>
                <a:solidFill>
                  <a:srgbClr val="333639"/>
                </a:solidFill>
                <a:effectLst/>
                <a:uLnTx/>
                <a:uFillTx/>
                <a:cs typeface="+mn-ea"/>
                <a:sym typeface="+mn-lt"/>
              </a:rPr>
            </a:br>
            <a:endParaRPr kumimoji="0" lang="zh-CN" altLang="en-US" sz="1000" b="0" i="0" u="none" strike="noStrike" kern="1200" cap="none" spc="0" normalizeH="0" baseline="0" noProof="0" dirty="0">
              <a:ln>
                <a:noFill/>
              </a:ln>
              <a:solidFill>
                <a:srgbClr val="333639"/>
              </a:solidFill>
              <a:effectLst/>
              <a:uLnTx/>
              <a:uFillTx/>
              <a:cs typeface="+mn-ea"/>
              <a:sym typeface="+mn-lt"/>
            </a:endParaRPr>
          </a:p>
        </p:txBody>
      </p:sp>
      <p:sp>
        <p:nvSpPr>
          <p:cNvPr id="29" name="ïS1iďê"/>
          <p:cNvSpPr/>
          <p:nvPr/>
        </p:nvSpPr>
        <p:spPr>
          <a:xfrm>
            <a:off x="8241175" y="3294000"/>
            <a:ext cx="1438533" cy="385277"/>
          </a:xfrm>
          <a:prstGeom prst="roundRect">
            <a:avLst>
              <a:gd name="adj" fmla="val 14195"/>
            </a:avLst>
          </a:prstGeom>
          <a:solidFill>
            <a:srgbClr val="1A3172"/>
          </a:solidFill>
          <a:ln w="127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cs typeface="+mn-ea"/>
                <a:sym typeface="+mn-lt"/>
              </a:rPr>
              <a:t>集成学习方法</a:t>
            </a:r>
          </a:p>
        </p:txBody>
      </p:sp>
      <p:sp>
        <p:nvSpPr>
          <p:cNvPr id="30" name="îşḻíḑe"/>
          <p:cNvSpPr txBox="1"/>
          <p:nvPr/>
        </p:nvSpPr>
        <p:spPr bwMode="auto">
          <a:xfrm>
            <a:off x="8771990" y="3391607"/>
            <a:ext cx="73" cy="221599"/>
          </a:xfrm>
          <a:prstGeom prst="rect">
            <a:avLst/>
          </a:prstGeom>
          <a:noFill/>
          <a:scene3d>
            <a:camera prst="orthographicFront">
              <a:rot lat="0" lon="0" rev="0"/>
            </a:camera>
            <a:lightRig rig="threePt" dir="t"/>
          </a:scene3d>
          <a:sp3d prstMaterial="matte">
            <a:bevelT w="1270" h="1270"/>
          </a:sp3d>
        </p:spPr>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31" name="îṣľídê"/>
          <p:cNvSpPr/>
          <p:nvPr/>
        </p:nvSpPr>
        <p:spPr bwMode="auto">
          <a:xfrm>
            <a:off x="8241176" y="3895501"/>
            <a:ext cx="3279312" cy="2248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rIns="9000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lvl="0" indent="-171450">
              <a:lnSpc>
                <a:spcPct val="150000"/>
              </a:lnSpc>
              <a:buFont typeface="Arial" panose="020B0604020202020204" pitchFamily="34" charset="0"/>
              <a:buChar char="•"/>
              <a:defRPr/>
            </a:pPr>
            <a:r>
              <a:rPr lang="zh-CN" altLang="zh-CN" dirty="0">
                <a:cs typeface="+mn-ea"/>
                <a:sym typeface="+mn-lt"/>
              </a:rPr>
              <a:t>通过</a:t>
            </a:r>
            <a:r>
              <a:rPr lang="zh-CN" altLang="zh-CN" dirty="0">
                <a:solidFill>
                  <a:srgbClr val="FF0000"/>
                </a:solidFill>
                <a:cs typeface="+mn-ea"/>
                <a:sym typeface="+mn-lt"/>
              </a:rPr>
              <a:t>组合多个弱学习器</a:t>
            </a:r>
            <a:r>
              <a:rPr lang="zh-CN" altLang="zh-CN" dirty="0">
                <a:cs typeface="+mn-ea"/>
                <a:sym typeface="+mn-lt"/>
              </a:rPr>
              <a:t>，在</a:t>
            </a:r>
            <a:r>
              <a:rPr lang="zh-CN" altLang="zh-CN" dirty="0">
                <a:solidFill>
                  <a:srgbClr val="FF0000"/>
                </a:solidFill>
                <a:cs typeface="+mn-ea"/>
                <a:sym typeface="+mn-lt"/>
              </a:rPr>
              <a:t>预测精度</a:t>
            </a:r>
            <a:r>
              <a:rPr lang="zh-CN" altLang="zh-CN" dirty="0">
                <a:cs typeface="+mn-ea"/>
                <a:sym typeface="+mn-lt"/>
              </a:rPr>
              <a:t>和</a:t>
            </a:r>
            <a:r>
              <a:rPr lang="zh-CN" altLang="zh-CN" dirty="0">
                <a:solidFill>
                  <a:srgbClr val="FF0000"/>
                </a:solidFill>
                <a:cs typeface="+mn-ea"/>
                <a:sym typeface="+mn-lt"/>
              </a:rPr>
              <a:t>泛化能力</a:t>
            </a:r>
            <a:r>
              <a:rPr lang="zh-CN" altLang="zh-CN" dirty="0">
                <a:cs typeface="+mn-ea"/>
                <a:sym typeface="+mn-lt"/>
              </a:rPr>
              <a:t>方面表现优异</a:t>
            </a:r>
            <a:r>
              <a:rPr lang="zh-CN" altLang="en-US" dirty="0">
                <a:cs typeface="+mn-ea"/>
                <a:sym typeface="+mn-lt"/>
              </a:rPr>
              <a:t>，</a:t>
            </a:r>
            <a:r>
              <a:rPr lang="zh-CN" altLang="zh-CN" dirty="0">
                <a:cs typeface="+mn-ea"/>
                <a:sym typeface="+mn-lt"/>
              </a:rPr>
              <a:t>有效处理</a:t>
            </a:r>
            <a:r>
              <a:rPr lang="zh-CN" altLang="zh-CN" dirty="0">
                <a:solidFill>
                  <a:srgbClr val="FF0000"/>
                </a:solidFill>
                <a:cs typeface="+mn-ea"/>
                <a:sym typeface="+mn-lt"/>
              </a:rPr>
              <a:t>高维特征</a:t>
            </a:r>
            <a:r>
              <a:rPr lang="zh-CN" altLang="zh-CN" dirty="0">
                <a:cs typeface="+mn-ea"/>
                <a:sym typeface="+mn-lt"/>
              </a:rPr>
              <a:t>和</a:t>
            </a:r>
            <a:r>
              <a:rPr lang="zh-CN" altLang="zh-CN" dirty="0">
                <a:solidFill>
                  <a:srgbClr val="FF0000"/>
                </a:solidFill>
                <a:cs typeface="+mn-ea"/>
                <a:sym typeface="+mn-lt"/>
              </a:rPr>
              <a:t>噪声数据</a:t>
            </a:r>
            <a:r>
              <a:rPr lang="zh-CN" altLang="en-US" dirty="0">
                <a:cs typeface="+mn-ea"/>
                <a:sym typeface="+mn-lt"/>
              </a:rPr>
              <a:t>。</a:t>
            </a:r>
            <a:endParaRPr lang="en-US" altLang="zh-CN" sz="1200" dirty="0">
              <a:solidFill>
                <a:srgbClr val="000000"/>
              </a:solidFill>
              <a:cs typeface="+mn-ea"/>
              <a:sym typeface="+mn-lt"/>
            </a:endParaRPr>
          </a:p>
        </p:txBody>
      </p:sp>
      <p:sp>
        <p:nvSpPr>
          <p:cNvPr id="5" name="标题 4"/>
          <p:cNvSpPr>
            <a:spLocks noGrp="1"/>
          </p:cNvSpPr>
          <p:nvPr>
            <p:ph type="title"/>
          </p:nvPr>
        </p:nvSpPr>
        <p:spPr>
          <a:xfrm>
            <a:off x="1328737" y="235280"/>
            <a:ext cx="10850563" cy="663575"/>
          </a:xfrm>
        </p:spPr>
        <p:txBody>
          <a:bodyPr/>
          <a:lstStyle/>
          <a:p>
            <a:r>
              <a:rPr lang="zh-CN" altLang="en-US" sz="2800" dirty="0">
                <a:latin typeface="+mn-lt"/>
                <a:ea typeface="+mn-ea"/>
                <a:cs typeface="+mn-ea"/>
                <a:sym typeface="+mn-lt"/>
              </a:rPr>
              <a:t>研究现状</a:t>
            </a:r>
          </a:p>
        </p:txBody>
      </p:sp>
      <p:pic>
        <p:nvPicPr>
          <p:cNvPr id="19" name="图片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11230" y="0"/>
            <a:ext cx="1180770" cy="11749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0" y="1412240"/>
            <a:ext cx="12192000" cy="431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任意多边形: 形状 8"/>
          <p:cNvSpPr/>
          <p:nvPr/>
        </p:nvSpPr>
        <p:spPr>
          <a:xfrm>
            <a:off x="1506000" y="3338776"/>
            <a:ext cx="990000" cy="180449"/>
          </a:xfrm>
          <a:custGeom>
            <a:avLst/>
            <a:gdLst>
              <a:gd name="connsiteX0" fmla="*/ 3749516 w 7629525"/>
              <a:gd name="connsiteY0" fmla="*/ 1391222 h 1390650"/>
              <a:gd name="connsiteX1" fmla="*/ 3667601 w 7629525"/>
              <a:gd name="connsiteY1" fmla="*/ 1331215 h 1390650"/>
              <a:gd name="connsiteX2" fmla="*/ 3477101 w 7629525"/>
              <a:gd name="connsiteY2" fmla="*/ 754000 h 1390650"/>
              <a:gd name="connsiteX3" fmla="*/ 3404711 w 7629525"/>
              <a:gd name="connsiteY3" fmla="*/ 923545 h 1390650"/>
              <a:gd name="connsiteX4" fmla="*/ 3324701 w 7629525"/>
              <a:gd name="connsiteY4" fmla="*/ 975932 h 1390650"/>
              <a:gd name="connsiteX5" fmla="*/ 7144 w 7629525"/>
              <a:gd name="connsiteY5" fmla="*/ 975932 h 1390650"/>
              <a:gd name="connsiteX6" fmla="*/ 7144 w 7629525"/>
              <a:gd name="connsiteY6" fmla="*/ 802577 h 1390650"/>
              <a:gd name="connsiteX7" fmla="*/ 3267551 w 7629525"/>
              <a:gd name="connsiteY7" fmla="*/ 802577 h 1390650"/>
              <a:gd name="connsiteX8" fmla="*/ 3408521 w 7629525"/>
              <a:gd name="connsiteY8" fmla="*/ 474917 h 1390650"/>
              <a:gd name="connsiteX9" fmla="*/ 3492341 w 7629525"/>
              <a:gd name="connsiteY9" fmla="*/ 422530 h 1390650"/>
              <a:gd name="connsiteX10" fmla="*/ 3571399 w 7629525"/>
              <a:gd name="connsiteY10" fmla="*/ 482537 h 1390650"/>
              <a:gd name="connsiteX11" fmla="*/ 3724751 w 7629525"/>
              <a:gd name="connsiteY11" fmla="*/ 949262 h 1390650"/>
              <a:gd name="connsiteX12" fmla="*/ 3877151 w 7629525"/>
              <a:gd name="connsiteY12" fmla="*/ 78677 h 1390650"/>
              <a:gd name="connsiteX13" fmla="*/ 3960019 w 7629525"/>
              <a:gd name="connsiteY13" fmla="*/ 7240 h 1390650"/>
              <a:gd name="connsiteX14" fmla="*/ 4046696 w 7629525"/>
              <a:gd name="connsiteY14" fmla="*/ 73915 h 1390650"/>
              <a:gd name="connsiteX15" fmla="*/ 4223862 w 7629525"/>
              <a:gd name="connsiteY15" fmla="*/ 813055 h 1390650"/>
              <a:gd name="connsiteX16" fmla="*/ 4375309 w 7629525"/>
              <a:gd name="connsiteY16" fmla="*/ 813055 h 1390650"/>
              <a:gd name="connsiteX17" fmla="*/ 4530566 w 7629525"/>
              <a:gd name="connsiteY17" fmla="*/ 450152 h 1390650"/>
              <a:gd name="connsiteX18" fmla="*/ 4614387 w 7629525"/>
              <a:gd name="connsiteY18" fmla="*/ 397765 h 1390650"/>
              <a:gd name="connsiteX19" fmla="*/ 4693444 w 7629525"/>
              <a:gd name="connsiteY19" fmla="*/ 457772 h 1390650"/>
              <a:gd name="connsiteX20" fmla="*/ 4852512 w 7629525"/>
              <a:gd name="connsiteY20" fmla="*/ 946405 h 1390650"/>
              <a:gd name="connsiteX21" fmla="*/ 5004912 w 7629525"/>
              <a:gd name="connsiteY21" fmla="*/ 78677 h 1390650"/>
              <a:gd name="connsiteX22" fmla="*/ 5086826 w 7629525"/>
              <a:gd name="connsiteY22" fmla="*/ 7240 h 1390650"/>
              <a:gd name="connsiteX23" fmla="*/ 5174456 w 7629525"/>
              <a:gd name="connsiteY23" fmla="*/ 71057 h 1390650"/>
              <a:gd name="connsiteX24" fmla="*/ 5379244 w 7629525"/>
              <a:gd name="connsiteY24" fmla="*/ 832105 h 1390650"/>
              <a:gd name="connsiteX25" fmla="*/ 7627144 w 7629525"/>
              <a:gd name="connsiteY25" fmla="*/ 832105 h 1390650"/>
              <a:gd name="connsiteX26" fmla="*/ 7627144 w 7629525"/>
              <a:gd name="connsiteY26" fmla="*/ 1005460 h 1390650"/>
              <a:gd name="connsiteX27" fmla="*/ 5311617 w 7629525"/>
              <a:gd name="connsiteY27" fmla="*/ 1005460 h 1390650"/>
              <a:gd name="connsiteX28" fmla="*/ 5227796 w 7629525"/>
              <a:gd name="connsiteY28" fmla="*/ 941642 h 1390650"/>
              <a:gd name="connsiteX29" fmla="*/ 5106829 w 7629525"/>
              <a:gd name="connsiteY29" fmla="*/ 493967 h 1390650"/>
              <a:gd name="connsiteX30" fmla="*/ 4962049 w 7629525"/>
              <a:gd name="connsiteY30" fmla="*/ 1319785 h 1390650"/>
              <a:gd name="connsiteX31" fmla="*/ 4882991 w 7629525"/>
              <a:gd name="connsiteY31" fmla="*/ 1391222 h 1390650"/>
              <a:gd name="connsiteX32" fmla="*/ 4794409 w 7629525"/>
              <a:gd name="connsiteY32" fmla="*/ 1331215 h 1390650"/>
              <a:gd name="connsiteX33" fmla="*/ 4598194 w 7629525"/>
              <a:gd name="connsiteY33" fmla="*/ 730187 h 1390650"/>
              <a:gd name="connsiteX34" fmla="*/ 4511516 w 7629525"/>
              <a:gd name="connsiteY34" fmla="*/ 933070 h 1390650"/>
              <a:gd name="connsiteX35" fmla="*/ 4431506 w 7629525"/>
              <a:gd name="connsiteY35" fmla="*/ 985457 h 1390650"/>
              <a:gd name="connsiteX36" fmla="*/ 4155281 w 7629525"/>
              <a:gd name="connsiteY36" fmla="*/ 985457 h 1390650"/>
              <a:gd name="connsiteX37" fmla="*/ 4070509 w 7629525"/>
              <a:gd name="connsiteY37" fmla="*/ 918782 h 1390650"/>
              <a:gd name="connsiteX38" fmla="*/ 3975259 w 7629525"/>
              <a:gd name="connsiteY38" fmla="*/ 520637 h 1390650"/>
              <a:gd name="connsiteX39" fmla="*/ 3835241 w 7629525"/>
              <a:gd name="connsiteY39" fmla="*/ 1318832 h 1390650"/>
              <a:gd name="connsiteX40" fmla="*/ 3756184 w 7629525"/>
              <a:gd name="connsiteY40" fmla="*/ 1390270 h 1390650"/>
              <a:gd name="connsiteX41" fmla="*/ 3749516 w 7629525"/>
              <a:gd name="connsiteY41" fmla="*/ 1391222 h 139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629525" h="1390650">
                <a:moveTo>
                  <a:pt x="3749516" y="1391222"/>
                </a:moveTo>
                <a:cubicBezTo>
                  <a:pt x="3712369" y="1391222"/>
                  <a:pt x="3679031" y="1367410"/>
                  <a:pt x="3667601" y="1331215"/>
                </a:cubicBezTo>
                <a:lnTo>
                  <a:pt x="3477101" y="754000"/>
                </a:lnTo>
                <a:lnTo>
                  <a:pt x="3404711" y="923545"/>
                </a:lnTo>
                <a:cubicBezTo>
                  <a:pt x="3391376" y="954977"/>
                  <a:pt x="3359944" y="975932"/>
                  <a:pt x="3324701" y="975932"/>
                </a:cubicBezTo>
                <a:lnTo>
                  <a:pt x="7144" y="975932"/>
                </a:lnTo>
                <a:lnTo>
                  <a:pt x="7144" y="802577"/>
                </a:lnTo>
                <a:lnTo>
                  <a:pt x="3267551" y="802577"/>
                </a:lnTo>
                <a:lnTo>
                  <a:pt x="3408521" y="474917"/>
                </a:lnTo>
                <a:cubicBezTo>
                  <a:pt x="3422809" y="441580"/>
                  <a:pt x="3456146" y="420625"/>
                  <a:pt x="3492341" y="422530"/>
                </a:cubicBezTo>
                <a:cubicBezTo>
                  <a:pt x="3528536" y="424435"/>
                  <a:pt x="3559969" y="448247"/>
                  <a:pt x="3571399" y="482537"/>
                </a:cubicBezTo>
                <a:lnTo>
                  <a:pt x="3724751" y="949262"/>
                </a:lnTo>
                <a:lnTo>
                  <a:pt x="3877151" y="78677"/>
                </a:lnTo>
                <a:cubicBezTo>
                  <a:pt x="3883819" y="37720"/>
                  <a:pt x="3919061" y="8192"/>
                  <a:pt x="3960019" y="7240"/>
                </a:cubicBezTo>
                <a:cubicBezTo>
                  <a:pt x="4000976" y="6287"/>
                  <a:pt x="4037171" y="33910"/>
                  <a:pt x="4046696" y="73915"/>
                </a:cubicBezTo>
                <a:lnTo>
                  <a:pt x="4223862" y="813055"/>
                </a:lnTo>
                <a:lnTo>
                  <a:pt x="4375309" y="813055"/>
                </a:lnTo>
                <a:lnTo>
                  <a:pt x="4530566" y="450152"/>
                </a:lnTo>
                <a:cubicBezTo>
                  <a:pt x="4544854" y="416815"/>
                  <a:pt x="4578191" y="395860"/>
                  <a:pt x="4614387" y="397765"/>
                </a:cubicBezTo>
                <a:cubicBezTo>
                  <a:pt x="4650581" y="399670"/>
                  <a:pt x="4682014" y="423482"/>
                  <a:pt x="4693444" y="457772"/>
                </a:cubicBezTo>
                <a:lnTo>
                  <a:pt x="4852512" y="946405"/>
                </a:lnTo>
                <a:lnTo>
                  <a:pt x="5004912" y="78677"/>
                </a:lnTo>
                <a:cubicBezTo>
                  <a:pt x="5011579" y="38672"/>
                  <a:pt x="5045869" y="9145"/>
                  <a:pt x="5086826" y="7240"/>
                </a:cubicBezTo>
                <a:cubicBezTo>
                  <a:pt x="5127784" y="5335"/>
                  <a:pt x="5163979" y="32005"/>
                  <a:pt x="5174456" y="71057"/>
                </a:cubicBezTo>
                <a:lnTo>
                  <a:pt x="5379244" y="832105"/>
                </a:lnTo>
                <a:lnTo>
                  <a:pt x="7627144" y="832105"/>
                </a:lnTo>
                <a:lnTo>
                  <a:pt x="7627144" y="1005460"/>
                </a:lnTo>
                <a:lnTo>
                  <a:pt x="5311617" y="1005460"/>
                </a:lnTo>
                <a:cubicBezTo>
                  <a:pt x="5272564" y="1005460"/>
                  <a:pt x="5238274" y="978790"/>
                  <a:pt x="5227796" y="941642"/>
                </a:cubicBezTo>
                <a:lnTo>
                  <a:pt x="5106829" y="493967"/>
                </a:lnTo>
                <a:lnTo>
                  <a:pt x="4962049" y="1319785"/>
                </a:lnTo>
                <a:cubicBezTo>
                  <a:pt x="4955381" y="1358837"/>
                  <a:pt x="4922044" y="1388365"/>
                  <a:pt x="4882991" y="1391222"/>
                </a:cubicBezTo>
                <a:cubicBezTo>
                  <a:pt x="4842987" y="1394080"/>
                  <a:pt x="4806791" y="1369315"/>
                  <a:pt x="4794409" y="1331215"/>
                </a:cubicBezTo>
                <a:lnTo>
                  <a:pt x="4598194" y="730187"/>
                </a:lnTo>
                <a:lnTo>
                  <a:pt x="4511516" y="933070"/>
                </a:lnTo>
                <a:cubicBezTo>
                  <a:pt x="4498181" y="964502"/>
                  <a:pt x="4466749" y="985457"/>
                  <a:pt x="4431506" y="985457"/>
                </a:cubicBezTo>
                <a:lnTo>
                  <a:pt x="4155281" y="985457"/>
                </a:lnTo>
                <a:cubicBezTo>
                  <a:pt x="4115276" y="985457"/>
                  <a:pt x="4080034" y="957835"/>
                  <a:pt x="4070509" y="918782"/>
                </a:cubicBezTo>
                <a:lnTo>
                  <a:pt x="3975259" y="520637"/>
                </a:lnTo>
                <a:lnTo>
                  <a:pt x="3835241" y="1318832"/>
                </a:lnTo>
                <a:cubicBezTo>
                  <a:pt x="3828574" y="1357885"/>
                  <a:pt x="3796189" y="1387412"/>
                  <a:pt x="3756184" y="1390270"/>
                </a:cubicBezTo>
                <a:cubicBezTo>
                  <a:pt x="3754279" y="1391222"/>
                  <a:pt x="3752374" y="1391222"/>
                  <a:pt x="3749516" y="1391222"/>
                </a:cubicBezTo>
                <a:close/>
              </a:path>
            </a:pathLst>
          </a:custGeom>
          <a:solidFill>
            <a:schemeClr val="bg1">
              <a:lumMod val="75000"/>
            </a:schemeClr>
          </a:solidFill>
          <a:ln w="9525" cap="flat">
            <a:noFill/>
            <a:prstDash val="solid"/>
            <a:miter/>
          </a:ln>
        </p:spPr>
        <p:txBody>
          <a:bodyPr rtlCol="0" anchor="ct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 name="椭圆 1"/>
          <p:cNvSpPr/>
          <p:nvPr/>
        </p:nvSpPr>
        <p:spPr bwMode="auto">
          <a:xfrm>
            <a:off x="669925" y="2934000"/>
            <a:ext cx="990000" cy="990000"/>
          </a:xfrm>
          <a:prstGeom prst="ellipse">
            <a:avLst/>
          </a:prstGeom>
          <a:solidFill>
            <a:srgbClr val="1A3172"/>
          </a:solidFill>
          <a:ln w="38100">
            <a:noFill/>
          </a:ln>
        </p:spPr>
        <p:style>
          <a:lnRef idx="2">
            <a:schemeClr val="dk1"/>
          </a:lnRef>
          <a:fillRef idx="1">
            <a:schemeClr val="lt1"/>
          </a:fillRef>
          <a:effectRef idx="0">
            <a:schemeClr val="dk1"/>
          </a:effectRef>
          <a:fontRef idx="minor">
            <a:schemeClr val="dk1"/>
          </a:fontRef>
        </p:style>
        <p:txBody>
          <a:bodyPr wrap="none" rtlCol="0" anchor="ct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FFFFFF"/>
                </a:solidFill>
                <a:effectLst/>
                <a:uLnTx/>
                <a:uFillTx/>
                <a:cs typeface="+mn-ea"/>
                <a:sym typeface="+mn-lt"/>
              </a:rPr>
              <a:t>Keyword</a:t>
            </a:r>
            <a:endParaRPr kumimoji="0" lang="zh-CN" altLang="en-US" sz="1400" b="1" i="0" u="none" strike="noStrike" kern="1200" cap="none" spc="0" normalizeH="0" baseline="0" noProof="0" dirty="0">
              <a:ln>
                <a:noFill/>
              </a:ln>
              <a:solidFill>
                <a:srgbClr val="FFFFFF"/>
              </a:solidFill>
              <a:effectLst/>
              <a:uLnTx/>
              <a:uFillTx/>
              <a:cs typeface="+mn-ea"/>
              <a:sym typeface="+mn-lt"/>
            </a:endParaRPr>
          </a:p>
        </p:txBody>
      </p:sp>
      <p:sp>
        <p:nvSpPr>
          <p:cNvPr id="11" name="矩形 10"/>
          <p:cNvSpPr/>
          <p:nvPr/>
        </p:nvSpPr>
        <p:spPr bwMode="auto">
          <a:xfrm>
            <a:off x="4936800" y="1925782"/>
            <a:ext cx="6583688" cy="1000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lvl="0" indent="-171450">
              <a:lnSpc>
                <a:spcPct val="150000"/>
              </a:lnSpc>
              <a:buFont typeface="Arial" panose="020B0604020202020204" pitchFamily="34" charset="0"/>
              <a:buChar char="•"/>
              <a:defRPr/>
            </a:pPr>
            <a:r>
              <a:rPr lang="zh-CN" altLang="zh-CN" dirty="0">
                <a:cs typeface="+mn-ea"/>
                <a:sym typeface="+mn-lt"/>
              </a:rPr>
              <a:t>基于</a:t>
            </a:r>
            <a:r>
              <a:rPr lang="en-US" altLang="zh-CN" dirty="0">
                <a:cs typeface="+mn-ea"/>
                <a:sym typeface="+mn-lt"/>
              </a:rPr>
              <a:t>Transformer</a:t>
            </a:r>
            <a:r>
              <a:rPr lang="zh-CN" altLang="zh-CN" dirty="0">
                <a:cs typeface="+mn-ea"/>
                <a:sym typeface="+mn-lt"/>
              </a:rPr>
              <a:t>架构的材料大模型正成为下一阶段研究热点</a:t>
            </a:r>
            <a:endParaRPr lang="en-US" altLang="zh-CN" sz="1200" dirty="0">
              <a:solidFill>
                <a:srgbClr val="000000"/>
              </a:solidFill>
              <a:cs typeface="+mn-ea"/>
              <a:sym typeface="+mn-lt"/>
            </a:endParaRPr>
          </a:p>
        </p:txBody>
      </p:sp>
      <p:sp>
        <p:nvSpPr>
          <p:cNvPr id="10" name="椭圆 9"/>
          <p:cNvSpPr/>
          <p:nvPr/>
        </p:nvSpPr>
        <p:spPr>
          <a:xfrm>
            <a:off x="4304554" y="2207400"/>
            <a:ext cx="436806" cy="436812"/>
          </a:xfrm>
          <a:prstGeom prst="ellipse">
            <a:avLst/>
          </a:prstGeom>
          <a:solidFill>
            <a:srgbClr val="1A317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FFFFFF"/>
                </a:solidFill>
                <a:effectLst/>
                <a:uLnTx/>
                <a:uFillTx/>
                <a:cs typeface="+mn-ea"/>
                <a:sym typeface="+mn-lt"/>
              </a:rPr>
              <a:t>1</a:t>
            </a:r>
            <a:endParaRPr kumimoji="0" lang="zh-CN" altLang="en-US" sz="1600" b="1" i="0" u="none" strike="noStrike" kern="1200" cap="none" spc="0" normalizeH="0" baseline="0" noProof="0" dirty="0">
              <a:ln>
                <a:noFill/>
              </a:ln>
              <a:solidFill>
                <a:srgbClr val="FFFFFF"/>
              </a:solidFill>
              <a:effectLst/>
              <a:uLnTx/>
              <a:uFillTx/>
              <a:cs typeface="+mn-ea"/>
              <a:sym typeface="+mn-lt"/>
            </a:endParaRPr>
          </a:p>
        </p:txBody>
      </p:sp>
      <p:sp>
        <p:nvSpPr>
          <p:cNvPr id="12" name="椭圆 11"/>
          <p:cNvSpPr/>
          <p:nvPr/>
        </p:nvSpPr>
        <p:spPr>
          <a:xfrm>
            <a:off x="4774870" y="3210594"/>
            <a:ext cx="436806" cy="436812"/>
          </a:xfrm>
          <a:prstGeom prst="ellipse">
            <a:avLst/>
          </a:prstGeom>
          <a:solidFill>
            <a:srgbClr val="1A317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FFFFFF"/>
                </a:solidFill>
                <a:effectLst/>
                <a:uLnTx/>
                <a:uFillTx/>
                <a:cs typeface="+mn-ea"/>
                <a:sym typeface="+mn-lt"/>
              </a:rPr>
              <a:t>2</a:t>
            </a:r>
            <a:endParaRPr kumimoji="0" lang="zh-CN" altLang="en-US" sz="1600" b="1" i="0" u="none" strike="noStrike" kern="1200" cap="none" spc="0" normalizeH="0" baseline="0" noProof="0" dirty="0">
              <a:ln>
                <a:noFill/>
              </a:ln>
              <a:solidFill>
                <a:srgbClr val="FFFFFF"/>
              </a:solidFill>
              <a:effectLst/>
              <a:uLnTx/>
              <a:uFillTx/>
              <a:cs typeface="+mn-ea"/>
              <a:sym typeface="+mn-lt"/>
            </a:endParaRPr>
          </a:p>
        </p:txBody>
      </p:sp>
      <p:sp>
        <p:nvSpPr>
          <p:cNvPr id="13" name="矩形 12"/>
          <p:cNvSpPr/>
          <p:nvPr/>
        </p:nvSpPr>
        <p:spPr bwMode="auto">
          <a:xfrm>
            <a:off x="5211676" y="2934000"/>
            <a:ext cx="6308812" cy="1000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lvl="0" indent="-171450">
              <a:lnSpc>
                <a:spcPct val="150000"/>
              </a:lnSpc>
              <a:buFont typeface="Arial" panose="020B0604020202020204" pitchFamily="34" charset="0"/>
              <a:buChar char="•"/>
              <a:defRPr/>
            </a:pPr>
            <a:r>
              <a:rPr lang="zh-CN" altLang="zh-CN" dirty="0">
                <a:cs typeface="+mn-ea"/>
                <a:sym typeface="+mn-lt"/>
              </a:rPr>
              <a:t>数字孪生技术在荧光材料生产线上实现规模化应用</a:t>
            </a:r>
            <a:endParaRPr lang="en-US" altLang="zh-CN" sz="1200" dirty="0">
              <a:solidFill>
                <a:srgbClr val="000000"/>
              </a:solidFill>
              <a:cs typeface="+mn-ea"/>
              <a:sym typeface="+mn-lt"/>
            </a:endParaRPr>
          </a:p>
        </p:txBody>
      </p:sp>
      <p:sp>
        <p:nvSpPr>
          <p:cNvPr id="14" name="矩形 13"/>
          <p:cNvSpPr/>
          <p:nvPr/>
        </p:nvSpPr>
        <p:spPr bwMode="auto">
          <a:xfrm>
            <a:off x="4936800" y="3924000"/>
            <a:ext cx="6583688" cy="1000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lvl="0" indent="-171450">
              <a:lnSpc>
                <a:spcPct val="150000"/>
              </a:lnSpc>
              <a:buFont typeface="Arial" panose="020B0604020202020204" pitchFamily="34" charset="0"/>
              <a:buChar char="•"/>
              <a:defRPr/>
            </a:pPr>
            <a:r>
              <a:rPr lang="zh-CN" altLang="zh-CN" dirty="0">
                <a:cs typeface="+mn-ea"/>
                <a:sym typeface="+mn-lt"/>
              </a:rPr>
              <a:t>物理信息神经网络（</a:t>
            </a:r>
            <a:r>
              <a:rPr lang="en-US" altLang="zh-CN" dirty="0">
                <a:cs typeface="+mn-ea"/>
                <a:sym typeface="+mn-lt"/>
              </a:rPr>
              <a:t>PINN</a:t>
            </a:r>
            <a:r>
              <a:rPr lang="zh-CN" altLang="zh-CN" dirty="0">
                <a:cs typeface="+mn-ea"/>
                <a:sym typeface="+mn-lt"/>
              </a:rPr>
              <a:t>）将物理守恒方程作为约束条件嵌入神经网络训练过程，实现数据驱动与物理规律相结合</a:t>
            </a:r>
            <a:endParaRPr lang="en-US" altLang="zh-CN" sz="1200" dirty="0">
              <a:solidFill>
                <a:srgbClr val="000000"/>
              </a:solidFill>
              <a:cs typeface="+mn-ea"/>
              <a:sym typeface="+mn-lt"/>
            </a:endParaRPr>
          </a:p>
        </p:txBody>
      </p:sp>
      <p:sp>
        <p:nvSpPr>
          <p:cNvPr id="15" name="椭圆 14"/>
          <p:cNvSpPr/>
          <p:nvPr/>
        </p:nvSpPr>
        <p:spPr>
          <a:xfrm>
            <a:off x="4304554" y="4205618"/>
            <a:ext cx="436806" cy="436812"/>
          </a:xfrm>
          <a:prstGeom prst="ellipse">
            <a:avLst/>
          </a:prstGeom>
          <a:solidFill>
            <a:srgbClr val="1A317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FFFFFF"/>
                </a:solidFill>
                <a:effectLst/>
                <a:uLnTx/>
                <a:uFillTx/>
                <a:cs typeface="+mn-ea"/>
                <a:sym typeface="+mn-lt"/>
              </a:rPr>
              <a:t>3</a:t>
            </a:r>
            <a:endParaRPr kumimoji="0" lang="zh-CN" altLang="en-US" sz="1600" b="1" i="0" u="none" strike="noStrike" kern="1200" cap="none" spc="0" normalizeH="0" baseline="0" noProof="0" dirty="0">
              <a:ln>
                <a:noFill/>
              </a:ln>
              <a:solidFill>
                <a:srgbClr val="FFFFFF"/>
              </a:solidFill>
              <a:effectLst/>
              <a:uLnTx/>
              <a:uFillTx/>
              <a:cs typeface="+mn-ea"/>
              <a:sym typeface="+mn-lt"/>
            </a:endParaRPr>
          </a:p>
        </p:txBody>
      </p:sp>
      <p:cxnSp>
        <p:nvCxnSpPr>
          <p:cNvPr id="17" name="直接连接符 16"/>
          <p:cNvCxnSpPr/>
          <p:nvPr/>
        </p:nvCxnSpPr>
        <p:spPr>
          <a:xfrm>
            <a:off x="5106000" y="2925830"/>
            <a:ext cx="6414488"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106000" y="4014000"/>
            <a:ext cx="6414488"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 name="标题 3"/>
          <p:cNvSpPr>
            <a:spLocks noGrp="1"/>
          </p:cNvSpPr>
          <p:nvPr>
            <p:ph type="title"/>
          </p:nvPr>
        </p:nvSpPr>
        <p:spPr>
          <a:xfrm>
            <a:off x="1341437" y="260213"/>
            <a:ext cx="10850563" cy="663575"/>
          </a:xfrm>
        </p:spPr>
        <p:txBody>
          <a:bodyPr/>
          <a:lstStyle/>
          <a:p>
            <a:r>
              <a:rPr lang="zh-CN" altLang="en-US" sz="2800" dirty="0">
                <a:latin typeface="+mn-lt"/>
                <a:ea typeface="+mn-ea"/>
                <a:cs typeface="+mn-ea"/>
                <a:sym typeface="+mn-lt"/>
              </a:rPr>
              <a:t>发展态势</a:t>
            </a:r>
          </a:p>
        </p:txBody>
      </p:sp>
      <p:pic>
        <p:nvPicPr>
          <p:cNvPr id="6" name="图片 5" descr="图片包含 餐桌, 人员, 室内, 人物&#10;&#10;已生成极高可信度的说明"/>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96000" y="2425810"/>
            <a:ext cx="2278870" cy="1991202"/>
          </a:xfrm>
          <a:prstGeom prst="ellipse">
            <a:avLst/>
          </a:prstGeom>
        </p:spPr>
      </p:pic>
      <p:pic>
        <p:nvPicPr>
          <p:cNvPr id="19" name="图片 1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930103" y="102955"/>
            <a:ext cx="1180770" cy="11749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77419" y="598161"/>
            <a:ext cx="10825884" cy="5667826"/>
          </a:xfrm>
          <a:prstGeom prst="rect">
            <a:avLst/>
          </a:prstGeom>
          <a:blipFill dpi="0" rotWithShape="1">
            <a:blip r:embed="rId4">
              <a:alphaModFix amt="85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 name="组合 10"/>
          <p:cNvGrpSpPr/>
          <p:nvPr/>
        </p:nvGrpSpPr>
        <p:grpSpPr>
          <a:xfrm>
            <a:off x="5015410" y="1465053"/>
            <a:ext cx="2149901" cy="2149901"/>
            <a:chOff x="5015408" y="1196255"/>
            <a:chExt cx="2149901" cy="2149901"/>
          </a:xfrm>
        </p:grpSpPr>
        <p:sp>
          <p:nvSpPr>
            <p:cNvPr id="10" name="菱形 9"/>
            <p:cNvSpPr/>
            <p:nvPr/>
          </p:nvSpPr>
          <p:spPr bwMode="auto">
            <a:xfrm>
              <a:off x="5015408" y="1196255"/>
              <a:ext cx="2149901" cy="2149901"/>
            </a:xfrm>
            <a:prstGeom prst="diamond">
              <a:avLst/>
            </a:prstGeom>
            <a:solidFill>
              <a:srgbClr val="1A3172"/>
            </a:solidFill>
            <a:ln w="38100">
              <a:solidFill>
                <a:srgbClr val="1A3172"/>
              </a:solidFill>
            </a:ln>
          </p:spPr>
          <p:style>
            <a:lnRef idx="2">
              <a:schemeClr val="dk1"/>
            </a:lnRef>
            <a:fillRef idx="1">
              <a:schemeClr val="lt1"/>
            </a:fillRef>
            <a:effectRef idx="0">
              <a:schemeClr val="dk1"/>
            </a:effectRef>
            <a:fontRef idx="minor">
              <a:schemeClr val="dk1"/>
            </a:fontRef>
          </p:style>
          <p:txBody>
            <a:bodyPr wrap="none" rtlCol="0" anchor="ctr">
              <a:noAutofit/>
            </a:bodyPr>
            <a:lstStyle/>
            <a:p>
              <a:pPr algn="ctr"/>
              <a:endParaRPr lang="zh-CN" altLang="en-US" sz="2400" dirty="0">
                <a:solidFill>
                  <a:schemeClr val="tx1">
                    <a:lumMod val="85000"/>
                    <a:lumOff val="15000"/>
                  </a:schemeClr>
                </a:solidFill>
                <a:cs typeface="+mn-ea"/>
                <a:sym typeface="+mn-lt"/>
              </a:endParaRPr>
            </a:p>
          </p:txBody>
        </p:sp>
        <p:sp>
          <p:nvSpPr>
            <p:cNvPr id="7" name="矩形 6"/>
            <p:cNvSpPr/>
            <p:nvPr/>
          </p:nvSpPr>
          <p:spPr>
            <a:xfrm>
              <a:off x="5465056" y="1671042"/>
              <a:ext cx="1261884" cy="1200329"/>
            </a:xfrm>
            <a:prstGeom prst="rect">
              <a:avLst/>
            </a:prstGeom>
          </p:spPr>
          <p:txBody>
            <a:bodyPr wrap="none">
              <a:spAutoFit/>
            </a:bodyPr>
            <a:lstStyle/>
            <a:p>
              <a:pPr lvl="0" algn="ctr"/>
              <a:r>
                <a:rPr lang="en-US" altLang="zh-CN" sz="7200" b="1" spc="600" dirty="0">
                  <a:solidFill>
                    <a:schemeClr val="bg1"/>
                  </a:solidFill>
                  <a:cs typeface="+mn-ea"/>
                  <a:sym typeface="+mn-lt"/>
                </a:rPr>
                <a:t>02</a:t>
              </a:r>
              <a:endParaRPr lang="zh-CN" altLang="en-US" sz="7200" b="1" spc="600" dirty="0">
                <a:solidFill>
                  <a:schemeClr val="bg1"/>
                </a:solidFill>
                <a:cs typeface="+mn-ea"/>
                <a:sym typeface="+mn-lt"/>
              </a:endParaRPr>
            </a:p>
          </p:txBody>
        </p:sp>
      </p:grpSp>
      <p:sp>
        <p:nvSpPr>
          <p:cNvPr id="8" name="矩形 7"/>
          <p:cNvSpPr/>
          <p:nvPr/>
        </p:nvSpPr>
        <p:spPr>
          <a:xfrm>
            <a:off x="2960980" y="3718091"/>
            <a:ext cx="6260098" cy="1191993"/>
          </a:xfrm>
          <a:prstGeom prst="rect">
            <a:avLst/>
          </a:prstGeom>
        </p:spPr>
        <p:txBody>
          <a:bodyPr wrap="square">
            <a:spAutoFit/>
          </a:bodyPr>
          <a:lstStyle/>
          <a:p>
            <a:pPr algn="ctr">
              <a:lnSpc>
                <a:spcPct val="150000"/>
              </a:lnSpc>
            </a:pPr>
            <a:r>
              <a:rPr lang="zh-CN" altLang="en-US" sz="5400" b="1" spc="600" dirty="0">
                <a:solidFill>
                  <a:schemeClr val="tx1">
                    <a:lumMod val="85000"/>
                    <a:lumOff val="15000"/>
                  </a:schemeClr>
                </a:solidFill>
                <a:cs typeface="+mn-ea"/>
                <a:sym typeface="+mn-lt"/>
              </a:rPr>
              <a:t>选题依据及意义</a:t>
            </a:r>
          </a:p>
        </p:txBody>
      </p:sp>
      <p:sp>
        <p:nvSpPr>
          <p:cNvPr id="17" name="矩形 16"/>
          <p:cNvSpPr/>
          <p:nvPr/>
        </p:nvSpPr>
        <p:spPr>
          <a:xfrm>
            <a:off x="2960980" y="4910084"/>
            <a:ext cx="6281320" cy="377411"/>
          </a:xfrm>
          <a:prstGeom prst="rect">
            <a:avLst/>
          </a:prstGeom>
        </p:spPr>
        <p:txBody>
          <a:bodyPr wrap="square">
            <a:spAutoFit/>
          </a:bodyPr>
          <a:lstStyle/>
          <a:p>
            <a:pPr algn="ctr">
              <a:lnSpc>
                <a:spcPct val="150000"/>
              </a:lnSpc>
            </a:pPr>
            <a:r>
              <a:rPr lang="en-US" altLang="zh-CN" sz="1400" dirty="0">
                <a:solidFill>
                  <a:schemeClr val="tx1">
                    <a:lumMod val="85000"/>
                    <a:lumOff val="15000"/>
                  </a:schemeClr>
                </a:solidFill>
                <a:cs typeface="+mn-ea"/>
                <a:sym typeface="+mn-lt"/>
              </a:rPr>
              <a:t>The basis and significance of the topic selection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1" presetClass="entr" presetSubtype="1"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2000"/>
                                        <p:tgtEl>
                                          <p:spTgt spid="11"/>
                                        </p:tgtEl>
                                      </p:cBhvr>
                                    </p:animEffect>
                                  </p:childTnLst>
                                </p:cTn>
                              </p:par>
                            </p:childTnLst>
                          </p:cTn>
                        </p:par>
                        <p:par>
                          <p:cTn id="14" fill="hold">
                            <p:stCondLst>
                              <p:cond delay="3000"/>
                            </p:stCondLst>
                            <p:childTnLst>
                              <p:par>
                                <p:cTn id="15" presetID="42"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par>
                          <p:cTn id="20" fill="hold">
                            <p:stCondLst>
                              <p:cond delay="4000"/>
                            </p:stCondLst>
                            <p:childTnLst>
                              <p:par>
                                <p:cTn id="21" presetID="42" presetClass="entr" presetSubtype="0"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1000"/>
                                        <p:tgtEl>
                                          <p:spTgt spid="17"/>
                                        </p:tgtEl>
                                      </p:cBhvr>
                                    </p:animEffect>
                                    <p:anim calcmode="lin" valueType="num">
                                      <p:cBhvr>
                                        <p:cTn id="24" dur="1000" fill="hold"/>
                                        <p:tgtEl>
                                          <p:spTgt spid="17"/>
                                        </p:tgtEl>
                                        <p:attrNameLst>
                                          <p:attrName>ppt_x</p:attrName>
                                        </p:attrNameLst>
                                      </p:cBhvr>
                                      <p:tavLst>
                                        <p:tav tm="0">
                                          <p:val>
                                            <p:strVal val="#ppt_x"/>
                                          </p:val>
                                        </p:tav>
                                        <p:tav tm="100000">
                                          <p:val>
                                            <p:strVal val="#ppt_x"/>
                                          </p:val>
                                        </p:tav>
                                      </p:tavLst>
                                    </p:anim>
                                    <p:anim calcmode="lin" valueType="num">
                                      <p:cBhvr>
                                        <p:cTn id="2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矩形 547"/>
          <p:cNvSpPr/>
          <p:nvPr/>
        </p:nvSpPr>
        <p:spPr bwMode="auto">
          <a:xfrm>
            <a:off x="-1" y="10385"/>
            <a:ext cx="12192001" cy="6820280"/>
          </a:xfrm>
          <a:prstGeom prst="rect">
            <a:avLst/>
          </a:prstGeom>
          <a:solidFill>
            <a:schemeClr val="bg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cs typeface="+mn-ea"/>
              <a:sym typeface="+mn-lt"/>
            </a:endParaRPr>
          </a:p>
        </p:txBody>
      </p:sp>
      <p:sp>
        <p:nvSpPr>
          <p:cNvPr id="552" name="矩形 551"/>
          <p:cNvSpPr/>
          <p:nvPr/>
        </p:nvSpPr>
        <p:spPr bwMode="auto">
          <a:xfrm>
            <a:off x="6273943" y="4340803"/>
            <a:ext cx="5646000" cy="1683009"/>
          </a:xfrm>
          <a:prstGeom prst="rect">
            <a:avLst/>
          </a:prstGeom>
          <a:solidFill>
            <a:schemeClr val="bg1">
              <a:lumMod val="95000"/>
            </a:schemeClr>
          </a:solidFill>
          <a:ln w="38100">
            <a:noFill/>
          </a:ln>
          <a:effectLst>
            <a:outerShdw blurRad="355600" dist="88900" dir="2700000" algn="tl" rotWithShape="0">
              <a:prstClr val="black">
                <a:alpha val="28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cs typeface="+mn-ea"/>
              <a:sym typeface="+mn-lt"/>
            </a:endParaRPr>
          </a:p>
        </p:txBody>
      </p:sp>
      <p:sp>
        <p:nvSpPr>
          <p:cNvPr id="551" name="矩形 550"/>
          <p:cNvSpPr/>
          <p:nvPr/>
        </p:nvSpPr>
        <p:spPr bwMode="auto">
          <a:xfrm>
            <a:off x="6273943" y="2603082"/>
            <a:ext cx="5646000" cy="1683009"/>
          </a:xfrm>
          <a:prstGeom prst="rect">
            <a:avLst/>
          </a:prstGeom>
          <a:solidFill>
            <a:schemeClr val="bg1">
              <a:lumMod val="95000"/>
            </a:schemeClr>
          </a:solidFill>
          <a:ln w="38100">
            <a:noFill/>
          </a:ln>
          <a:effectLst>
            <a:outerShdw blurRad="355600" dist="88900" dir="2700000" algn="tl" rotWithShape="0">
              <a:prstClr val="black">
                <a:alpha val="28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cs typeface="+mn-ea"/>
              <a:sym typeface="+mn-lt"/>
            </a:endParaRPr>
          </a:p>
        </p:txBody>
      </p:sp>
      <p:sp>
        <p:nvSpPr>
          <p:cNvPr id="550" name="矩形 549"/>
          <p:cNvSpPr/>
          <p:nvPr/>
        </p:nvSpPr>
        <p:spPr bwMode="auto">
          <a:xfrm>
            <a:off x="6273943" y="857520"/>
            <a:ext cx="5646000" cy="1683009"/>
          </a:xfrm>
          <a:prstGeom prst="rect">
            <a:avLst/>
          </a:prstGeom>
          <a:solidFill>
            <a:schemeClr val="bg1">
              <a:lumMod val="95000"/>
            </a:schemeClr>
          </a:solidFill>
          <a:ln w="38100">
            <a:noFill/>
          </a:ln>
          <a:effectLst>
            <a:outerShdw blurRad="355600" dist="88900" dir="2700000" algn="tl" rotWithShape="0">
              <a:prstClr val="black">
                <a:alpha val="28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cs typeface="+mn-ea"/>
              <a:sym typeface="+mn-lt"/>
            </a:endParaRPr>
          </a:p>
        </p:txBody>
      </p:sp>
      <p:sp>
        <p:nvSpPr>
          <p:cNvPr id="544" name="矩形 543"/>
          <p:cNvSpPr/>
          <p:nvPr/>
        </p:nvSpPr>
        <p:spPr bwMode="auto">
          <a:xfrm>
            <a:off x="674804" y="1265584"/>
            <a:ext cx="4445128" cy="4878041"/>
          </a:xfrm>
          <a:prstGeom prst="rect">
            <a:avLst/>
          </a:prstGeom>
          <a:solidFill>
            <a:schemeClr val="bg1">
              <a:lumMod val="95000"/>
            </a:schemeClr>
          </a:solidFill>
          <a:ln w="38100">
            <a:noFill/>
          </a:ln>
          <a:effectLst>
            <a:outerShdw blurRad="355600" dist="88900" dir="2700000" algn="tl" rotWithShape="0">
              <a:prstClr val="black">
                <a:alpha val="28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cs typeface="+mn-ea"/>
              <a:sym typeface="+mn-lt"/>
            </a:endParaRPr>
          </a:p>
        </p:txBody>
      </p:sp>
      <p:sp>
        <p:nvSpPr>
          <p:cNvPr id="2" name="Rectangle 30"/>
          <p:cNvSpPr/>
          <p:nvPr/>
        </p:nvSpPr>
        <p:spPr bwMode="auto">
          <a:xfrm>
            <a:off x="6477382" y="1718220"/>
            <a:ext cx="5320365" cy="969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lvl="0" indent="-171450">
              <a:lnSpc>
                <a:spcPct val="160000"/>
              </a:lnSpc>
              <a:spcBef>
                <a:spcPct val="0"/>
              </a:spcBef>
              <a:buFont typeface="Arial" panose="020B0604020202020204" pitchFamily="34" charset="0"/>
              <a:buChar char="•"/>
              <a:defRPr/>
            </a:pPr>
            <a:r>
              <a:rPr lang="zh-CN" altLang="en-US" dirty="0">
                <a:solidFill>
                  <a:srgbClr val="000000"/>
                </a:solidFill>
                <a:cs typeface="+mn-ea"/>
                <a:sym typeface="+mn-lt"/>
              </a:rPr>
              <a:t>构建数据驱动的</a:t>
            </a:r>
            <a:r>
              <a:rPr lang="en-US" altLang="zh-CN" dirty="0">
                <a:solidFill>
                  <a:srgbClr val="000000"/>
                </a:solidFill>
                <a:cs typeface="+mn-ea"/>
                <a:sym typeface="+mn-lt"/>
              </a:rPr>
              <a:t>LSC</a:t>
            </a:r>
            <a:r>
              <a:rPr lang="zh-CN" altLang="en-US" dirty="0">
                <a:solidFill>
                  <a:srgbClr val="000000"/>
                </a:solidFill>
                <a:cs typeface="+mn-ea"/>
                <a:sym typeface="+mn-lt"/>
              </a:rPr>
              <a:t>光学效率预测理论框架，为复杂光电系统建模提供新思路</a:t>
            </a:r>
          </a:p>
        </p:txBody>
      </p:sp>
      <p:sp>
        <p:nvSpPr>
          <p:cNvPr id="3" name="TextBox 31"/>
          <p:cNvSpPr txBox="1"/>
          <p:nvPr/>
        </p:nvSpPr>
        <p:spPr bwMode="auto">
          <a:xfrm>
            <a:off x="6477383" y="1265584"/>
            <a:ext cx="5049392"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ct val="0"/>
              </a:spcBef>
              <a:spcAft>
                <a:spcPts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cs typeface="+mn-ea"/>
                <a:sym typeface="+mn-lt"/>
              </a:rPr>
              <a:t>突破传统物理模型局限</a:t>
            </a:r>
            <a:endParaRPr kumimoji="0" lang="en-US" altLang="zh-CN" sz="2000" b="1" i="0" u="none" strike="noStrike" kern="1200" cap="none" spc="0" normalizeH="0" baseline="0" noProof="0" dirty="0">
              <a:ln>
                <a:noFill/>
              </a:ln>
              <a:solidFill>
                <a:srgbClr val="000000"/>
              </a:solidFill>
              <a:effectLst/>
              <a:uLnTx/>
              <a:uFillTx/>
              <a:cs typeface="+mn-ea"/>
              <a:sym typeface="+mn-lt"/>
            </a:endParaRPr>
          </a:p>
        </p:txBody>
      </p:sp>
      <p:cxnSp>
        <p:nvCxnSpPr>
          <p:cNvPr id="4" name="直接连接符 3"/>
          <p:cNvCxnSpPr/>
          <p:nvPr/>
        </p:nvCxnSpPr>
        <p:spPr>
          <a:xfrm>
            <a:off x="6477383" y="1718220"/>
            <a:ext cx="5049392"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5" name="Rectangle 30"/>
          <p:cNvSpPr/>
          <p:nvPr/>
        </p:nvSpPr>
        <p:spPr bwMode="auto">
          <a:xfrm>
            <a:off x="6477383" y="3496040"/>
            <a:ext cx="5191156" cy="969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lvl="0" indent="-171450">
              <a:lnSpc>
                <a:spcPct val="160000"/>
              </a:lnSpc>
              <a:spcBef>
                <a:spcPct val="0"/>
              </a:spcBef>
              <a:buFont typeface="Arial" panose="020B0604020202020204" pitchFamily="34" charset="0"/>
              <a:buChar char="•"/>
              <a:defRPr/>
            </a:pPr>
            <a:r>
              <a:rPr lang="zh-CN" altLang="en-US" dirty="0">
                <a:solidFill>
                  <a:srgbClr val="000000"/>
                </a:solidFill>
                <a:cs typeface="+mn-ea"/>
                <a:sym typeface="+mn-lt"/>
              </a:rPr>
              <a:t>丰富材料基因工程的理论体系，为其他功能材料设计提供借鉴</a:t>
            </a:r>
          </a:p>
        </p:txBody>
      </p:sp>
      <p:sp>
        <p:nvSpPr>
          <p:cNvPr id="6" name="TextBox 31"/>
          <p:cNvSpPr txBox="1"/>
          <p:nvPr/>
        </p:nvSpPr>
        <p:spPr bwMode="auto">
          <a:xfrm>
            <a:off x="6477383" y="3043404"/>
            <a:ext cx="5049392"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ct val="0"/>
              </a:spcBef>
              <a:spcAft>
                <a:spcPts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cs typeface="+mn-ea"/>
                <a:sym typeface="+mn-lt"/>
              </a:rPr>
              <a:t>与材料科学深度融合</a:t>
            </a:r>
            <a:endParaRPr kumimoji="0" lang="en-US" altLang="zh-CN" sz="2000" b="1" i="0" u="none" strike="noStrike" kern="1200" cap="none" spc="0" normalizeH="0" baseline="0" noProof="0" dirty="0">
              <a:ln>
                <a:noFill/>
              </a:ln>
              <a:solidFill>
                <a:srgbClr val="000000"/>
              </a:solidFill>
              <a:effectLst/>
              <a:uLnTx/>
              <a:uFillTx/>
              <a:cs typeface="+mn-ea"/>
              <a:sym typeface="+mn-lt"/>
            </a:endParaRPr>
          </a:p>
        </p:txBody>
      </p:sp>
      <p:cxnSp>
        <p:nvCxnSpPr>
          <p:cNvPr id="7" name="直接连接符 6"/>
          <p:cNvCxnSpPr/>
          <p:nvPr/>
        </p:nvCxnSpPr>
        <p:spPr>
          <a:xfrm>
            <a:off x="6477383" y="3496040"/>
            <a:ext cx="5049392"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8" name="Rectangle 30"/>
          <p:cNvSpPr/>
          <p:nvPr/>
        </p:nvSpPr>
        <p:spPr bwMode="auto">
          <a:xfrm>
            <a:off x="6477383" y="5273860"/>
            <a:ext cx="5310426" cy="969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lvl="0" indent="-171450">
              <a:lnSpc>
                <a:spcPct val="160000"/>
              </a:lnSpc>
              <a:spcBef>
                <a:spcPct val="0"/>
              </a:spcBef>
              <a:buFont typeface="Arial" panose="020B0604020202020204" pitchFamily="34" charset="0"/>
              <a:buChar char="•"/>
              <a:defRPr/>
            </a:pPr>
            <a:r>
              <a:rPr lang="zh-CN" altLang="en-US" dirty="0">
                <a:solidFill>
                  <a:srgbClr val="000000"/>
                </a:solidFill>
                <a:cs typeface="+mn-ea"/>
                <a:sym typeface="+mn-lt"/>
              </a:rPr>
              <a:t>有效提升</a:t>
            </a:r>
            <a:r>
              <a:rPr lang="en-US" altLang="zh-CN" dirty="0">
                <a:solidFill>
                  <a:srgbClr val="000000"/>
                </a:solidFill>
                <a:cs typeface="+mn-ea"/>
                <a:sym typeface="+mn-lt"/>
              </a:rPr>
              <a:t>LSC</a:t>
            </a:r>
            <a:r>
              <a:rPr lang="zh-CN" altLang="en-US" dirty="0">
                <a:solidFill>
                  <a:srgbClr val="000000"/>
                </a:solidFill>
                <a:cs typeface="+mn-ea"/>
                <a:sym typeface="+mn-lt"/>
              </a:rPr>
              <a:t>光学效率，显著提高太阳能利用率</a:t>
            </a:r>
          </a:p>
        </p:txBody>
      </p:sp>
      <p:sp>
        <p:nvSpPr>
          <p:cNvPr id="9" name="TextBox 31"/>
          <p:cNvSpPr txBox="1"/>
          <p:nvPr/>
        </p:nvSpPr>
        <p:spPr bwMode="auto">
          <a:xfrm>
            <a:off x="6477383" y="4821224"/>
            <a:ext cx="5049392"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dirty="0">
                <a:ln>
                  <a:noFill/>
                </a:ln>
                <a:solidFill>
                  <a:srgbClr val="000000"/>
                </a:solidFill>
                <a:effectLst/>
                <a:uLnTx/>
                <a:uFillTx/>
                <a:cs typeface="+mn-ea"/>
                <a:sym typeface="+mn-lt"/>
              </a:rPr>
              <a:t>AI</a:t>
            </a:r>
            <a:r>
              <a:rPr kumimoji="0" lang="zh-CN" altLang="en-US" sz="2000" b="1" i="0" u="none" strike="noStrike" kern="1200" cap="none" spc="0" normalizeH="0" baseline="0" noProof="0" dirty="0">
                <a:ln>
                  <a:noFill/>
                </a:ln>
                <a:solidFill>
                  <a:srgbClr val="000000"/>
                </a:solidFill>
                <a:effectLst/>
                <a:uLnTx/>
                <a:uFillTx/>
                <a:cs typeface="+mn-ea"/>
                <a:sym typeface="+mn-lt"/>
              </a:rPr>
              <a:t>优化设计</a:t>
            </a:r>
            <a:endParaRPr kumimoji="0" lang="en-US" altLang="zh-CN" sz="2000" b="1" i="0" u="none" strike="noStrike" kern="1200" cap="none" spc="0" normalizeH="0" baseline="0" noProof="0" dirty="0">
              <a:ln>
                <a:noFill/>
              </a:ln>
              <a:solidFill>
                <a:srgbClr val="000000"/>
              </a:solidFill>
              <a:effectLst/>
              <a:uLnTx/>
              <a:uFillTx/>
              <a:cs typeface="+mn-ea"/>
              <a:sym typeface="+mn-lt"/>
            </a:endParaRPr>
          </a:p>
        </p:txBody>
      </p:sp>
      <p:cxnSp>
        <p:nvCxnSpPr>
          <p:cNvPr id="10" name="直接连接符 9"/>
          <p:cNvCxnSpPr/>
          <p:nvPr/>
        </p:nvCxnSpPr>
        <p:spPr>
          <a:xfrm>
            <a:off x="6477383" y="5273860"/>
            <a:ext cx="5049392"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1" name="archives_232650"/>
          <p:cNvSpPr>
            <a:spLocks noChangeAspect="1"/>
          </p:cNvSpPr>
          <p:nvPr/>
        </p:nvSpPr>
        <p:spPr bwMode="auto">
          <a:xfrm>
            <a:off x="11046000" y="1134000"/>
            <a:ext cx="471197" cy="544464"/>
          </a:xfrm>
          <a:custGeom>
            <a:avLst/>
            <a:gdLst>
              <a:gd name="connsiteX0" fmla="*/ 382817 w 525077"/>
              <a:gd name="connsiteY0" fmla="*/ 436659 h 606722"/>
              <a:gd name="connsiteX1" fmla="*/ 409138 w 525077"/>
              <a:gd name="connsiteY1" fmla="*/ 462945 h 606722"/>
              <a:gd name="connsiteX2" fmla="*/ 382817 w 525077"/>
              <a:gd name="connsiteY2" fmla="*/ 489231 h 606722"/>
              <a:gd name="connsiteX3" fmla="*/ 356496 w 525077"/>
              <a:gd name="connsiteY3" fmla="*/ 462945 h 606722"/>
              <a:gd name="connsiteX4" fmla="*/ 382817 w 525077"/>
              <a:gd name="connsiteY4" fmla="*/ 436659 h 606722"/>
              <a:gd name="connsiteX5" fmla="*/ 145718 w 525077"/>
              <a:gd name="connsiteY5" fmla="*/ 436659 h 606722"/>
              <a:gd name="connsiteX6" fmla="*/ 172039 w 525077"/>
              <a:gd name="connsiteY6" fmla="*/ 462945 h 606722"/>
              <a:gd name="connsiteX7" fmla="*/ 145718 w 525077"/>
              <a:gd name="connsiteY7" fmla="*/ 489231 h 606722"/>
              <a:gd name="connsiteX8" fmla="*/ 119397 w 525077"/>
              <a:gd name="connsiteY8" fmla="*/ 462945 h 606722"/>
              <a:gd name="connsiteX9" fmla="*/ 145718 w 525077"/>
              <a:gd name="connsiteY9" fmla="*/ 436659 h 606722"/>
              <a:gd name="connsiteX10" fmla="*/ 382817 w 525077"/>
              <a:gd name="connsiteY10" fmla="*/ 122713 h 606722"/>
              <a:gd name="connsiteX11" fmla="*/ 409138 w 525077"/>
              <a:gd name="connsiteY11" fmla="*/ 149020 h 606722"/>
              <a:gd name="connsiteX12" fmla="*/ 409138 w 525077"/>
              <a:gd name="connsiteY12" fmla="*/ 359474 h 606722"/>
              <a:gd name="connsiteX13" fmla="*/ 382817 w 525077"/>
              <a:gd name="connsiteY13" fmla="*/ 385781 h 606722"/>
              <a:gd name="connsiteX14" fmla="*/ 356496 w 525077"/>
              <a:gd name="connsiteY14" fmla="*/ 359474 h 606722"/>
              <a:gd name="connsiteX15" fmla="*/ 356496 w 525077"/>
              <a:gd name="connsiteY15" fmla="*/ 149020 h 606722"/>
              <a:gd name="connsiteX16" fmla="*/ 382817 w 525077"/>
              <a:gd name="connsiteY16" fmla="*/ 122713 h 606722"/>
              <a:gd name="connsiteX17" fmla="*/ 145718 w 525077"/>
              <a:gd name="connsiteY17" fmla="*/ 122713 h 606722"/>
              <a:gd name="connsiteX18" fmla="*/ 172039 w 525077"/>
              <a:gd name="connsiteY18" fmla="*/ 149020 h 606722"/>
              <a:gd name="connsiteX19" fmla="*/ 172039 w 525077"/>
              <a:gd name="connsiteY19" fmla="*/ 359474 h 606722"/>
              <a:gd name="connsiteX20" fmla="*/ 145718 w 525077"/>
              <a:gd name="connsiteY20" fmla="*/ 385781 h 606722"/>
              <a:gd name="connsiteX21" fmla="*/ 119397 w 525077"/>
              <a:gd name="connsiteY21" fmla="*/ 359474 h 606722"/>
              <a:gd name="connsiteX22" fmla="*/ 119397 w 525077"/>
              <a:gd name="connsiteY22" fmla="*/ 149020 h 606722"/>
              <a:gd name="connsiteX23" fmla="*/ 145718 w 525077"/>
              <a:gd name="connsiteY23" fmla="*/ 122713 h 606722"/>
              <a:gd name="connsiteX24" fmla="*/ 289731 w 525077"/>
              <a:gd name="connsiteY24" fmla="*/ 52611 h 606722"/>
              <a:gd name="connsiteX25" fmla="*/ 289731 w 525077"/>
              <a:gd name="connsiteY25" fmla="*/ 554111 h 606722"/>
              <a:gd name="connsiteX26" fmla="*/ 474163 w 525077"/>
              <a:gd name="connsiteY26" fmla="*/ 554111 h 606722"/>
              <a:gd name="connsiteX27" fmla="*/ 474163 w 525077"/>
              <a:gd name="connsiteY27" fmla="*/ 52611 h 606722"/>
              <a:gd name="connsiteX28" fmla="*/ 52695 w 525077"/>
              <a:gd name="connsiteY28" fmla="*/ 52611 h 606722"/>
              <a:gd name="connsiteX29" fmla="*/ 52695 w 525077"/>
              <a:gd name="connsiteY29" fmla="*/ 554111 h 606722"/>
              <a:gd name="connsiteX30" fmla="*/ 237037 w 525077"/>
              <a:gd name="connsiteY30" fmla="*/ 554111 h 606722"/>
              <a:gd name="connsiteX31" fmla="*/ 237037 w 525077"/>
              <a:gd name="connsiteY31" fmla="*/ 52611 h 606722"/>
              <a:gd name="connsiteX32" fmla="*/ 26347 w 525077"/>
              <a:gd name="connsiteY32" fmla="*/ 0 h 606722"/>
              <a:gd name="connsiteX33" fmla="*/ 498730 w 525077"/>
              <a:gd name="connsiteY33" fmla="*/ 0 h 606722"/>
              <a:gd name="connsiteX34" fmla="*/ 525077 w 525077"/>
              <a:gd name="connsiteY34" fmla="*/ 26306 h 606722"/>
              <a:gd name="connsiteX35" fmla="*/ 525077 w 525077"/>
              <a:gd name="connsiteY35" fmla="*/ 580416 h 606722"/>
              <a:gd name="connsiteX36" fmla="*/ 498730 w 525077"/>
              <a:gd name="connsiteY36" fmla="*/ 606722 h 606722"/>
              <a:gd name="connsiteX37" fmla="*/ 26347 w 525077"/>
              <a:gd name="connsiteY37" fmla="*/ 606722 h 606722"/>
              <a:gd name="connsiteX38" fmla="*/ 0 w 525077"/>
              <a:gd name="connsiteY38" fmla="*/ 580416 h 606722"/>
              <a:gd name="connsiteX39" fmla="*/ 0 w 525077"/>
              <a:gd name="connsiteY39" fmla="*/ 26306 h 606722"/>
              <a:gd name="connsiteX40" fmla="*/ 26347 w 525077"/>
              <a:gd name="connsiteY40"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25077" h="606722">
                <a:moveTo>
                  <a:pt x="382817" y="436659"/>
                </a:moveTo>
                <a:cubicBezTo>
                  <a:pt x="397354" y="436659"/>
                  <a:pt x="409138" y="448428"/>
                  <a:pt x="409138" y="462945"/>
                </a:cubicBezTo>
                <a:cubicBezTo>
                  <a:pt x="409138" y="477462"/>
                  <a:pt x="397354" y="489231"/>
                  <a:pt x="382817" y="489231"/>
                </a:cubicBezTo>
                <a:cubicBezTo>
                  <a:pt x="368280" y="489231"/>
                  <a:pt x="356496" y="477462"/>
                  <a:pt x="356496" y="462945"/>
                </a:cubicBezTo>
                <a:cubicBezTo>
                  <a:pt x="356496" y="448428"/>
                  <a:pt x="368280" y="436659"/>
                  <a:pt x="382817" y="436659"/>
                </a:cubicBezTo>
                <a:close/>
                <a:moveTo>
                  <a:pt x="145718" y="436659"/>
                </a:moveTo>
                <a:cubicBezTo>
                  <a:pt x="160255" y="436659"/>
                  <a:pt x="172039" y="448428"/>
                  <a:pt x="172039" y="462945"/>
                </a:cubicBezTo>
                <a:cubicBezTo>
                  <a:pt x="172039" y="477462"/>
                  <a:pt x="160255" y="489231"/>
                  <a:pt x="145718" y="489231"/>
                </a:cubicBezTo>
                <a:cubicBezTo>
                  <a:pt x="131181" y="489231"/>
                  <a:pt x="119397" y="477462"/>
                  <a:pt x="119397" y="462945"/>
                </a:cubicBezTo>
                <a:cubicBezTo>
                  <a:pt x="119397" y="448428"/>
                  <a:pt x="131181" y="436659"/>
                  <a:pt x="145718" y="436659"/>
                </a:cubicBezTo>
                <a:close/>
                <a:moveTo>
                  <a:pt x="382817" y="122713"/>
                </a:moveTo>
                <a:cubicBezTo>
                  <a:pt x="397311" y="122713"/>
                  <a:pt x="409138" y="134534"/>
                  <a:pt x="409138" y="149020"/>
                </a:cubicBezTo>
                <a:lnTo>
                  <a:pt x="409138" y="359474"/>
                </a:lnTo>
                <a:cubicBezTo>
                  <a:pt x="409138" y="373961"/>
                  <a:pt x="397311" y="385781"/>
                  <a:pt x="382817" y="385781"/>
                </a:cubicBezTo>
                <a:cubicBezTo>
                  <a:pt x="368234" y="385781"/>
                  <a:pt x="356496" y="373961"/>
                  <a:pt x="356496" y="359474"/>
                </a:cubicBezTo>
                <a:lnTo>
                  <a:pt x="356496" y="149020"/>
                </a:lnTo>
                <a:cubicBezTo>
                  <a:pt x="356496" y="134534"/>
                  <a:pt x="368234" y="122713"/>
                  <a:pt x="382817" y="122713"/>
                </a:cubicBezTo>
                <a:close/>
                <a:moveTo>
                  <a:pt x="145718" y="122713"/>
                </a:moveTo>
                <a:cubicBezTo>
                  <a:pt x="160301" y="122713"/>
                  <a:pt x="172039" y="134534"/>
                  <a:pt x="172039" y="149020"/>
                </a:cubicBezTo>
                <a:lnTo>
                  <a:pt x="172039" y="359474"/>
                </a:lnTo>
                <a:cubicBezTo>
                  <a:pt x="172039" y="373961"/>
                  <a:pt x="160301" y="385781"/>
                  <a:pt x="145718" y="385781"/>
                </a:cubicBezTo>
                <a:cubicBezTo>
                  <a:pt x="131224" y="385781"/>
                  <a:pt x="119397" y="373961"/>
                  <a:pt x="119397" y="359474"/>
                </a:cubicBezTo>
                <a:lnTo>
                  <a:pt x="119397" y="149020"/>
                </a:lnTo>
                <a:cubicBezTo>
                  <a:pt x="119397" y="134534"/>
                  <a:pt x="131224" y="122713"/>
                  <a:pt x="145718" y="122713"/>
                </a:cubicBezTo>
                <a:close/>
                <a:moveTo>
                  <a:pt x="289731" y="52611"/>
                </a:moveTo>
                <a:lnTo>
                  <a:pt x="289731" y="554111"/>
                </a:lnTo>
                <a:lnTo>
                  <a:pt x="474163" y="554111"/>
                </a:lnTo>
                <a:lnTo>
                  <a:pt x="474163" y="52611"/>
                </a:lnTo>
                <a:close/>
                <a:moveTo>
                  <a:pt x="52695" y="52611"/>
                </a:moveTo>
                <a:lnTo>
                  <a:pt x="52695" y="554111"/>
                </a:lnTo>
                <a:lnTo>
                  <a:pt x="237037" y="554111"/>
                </a:lnTo>
                <a:lnTo>
                  <a:pt x="237037" y="52611"/>
                </a:lnTo>
                <a:close/>
                <a:moveTo>
                  <a:pt x="26347" y="0"/>
                </a:moveTo>
                <a:lnTo>
                  <a:pt x="498730" y="0"/>
                </a:lnTo>
                <a:cubicBezTo>
                  <a:pt x="513239" y="0"/>
                  <a:pt x="525077" y="11820"/>
                  <a:pt x="525077" y="26306"/>
                </a:cubicBezTo>
                <a:lnTo>
                  <a:pt x="525077" y="580416"/>
                </a:lnTo>
                <a:cubicBezTo>
                  <a:pt x="525077" y="594902"/>
                  <a:pt x="513328" y="606722"/>
                  <a:pt x="498730" y="606722"/>
                </a:cubicBezTo>
                <a:lnTo>
                  <a:pt x="26347" y="606722"/>
                </a:lnTo>
                <a:cubicBezTo>
                  <a:pt x="11749" y="606722"/>
                  <a:pt x="0" y="594902"/>
                  <a:pt x="0" y="580416"/>
                </a:cubicBezTo>
                <a:lnTo>
                  <a:pt x="0" y="26306"/>
                </a:lnTo>
                <a:cubicBezTo>
                  <a:pt x="0" y="11820"/>
                  <a:pt x="11749" y="0"/>
                  <a:pt x="26347" y="0"/>
                </a:cubicBezTo>
                <a:close/>
              </a:path>
            </a:pathLst>
          </a:custGeom>
          <a:solidFill>
            <a:srgbClr val="1A3172"/>
          </a:solidFill>
          <a:ln>
            <a:noFill/>
          </a:ln>
        </p:spPr>
        <p:txBody>
          <a:bodyPr/>
          <a:lstStyle/>
          <a:p>
            <a:endParaRPr lang="zh-CN" altLang="en-US">
              <a:cs typeface="+mn-ea"/>
              <a:sym typeface="+mn-lt"/>
            </a:endParaRPr>
          </a:p>
        </p:txBody>
      </p:sp>
      <p:sp>
        <p:nvSpPr>
          <p:cNvPr id="12" name="archives_232650"/>
          <p:cNvSpPr>
            <a:spLocks noChangeAspect="1"/>
          </p:cNvSpPr>
          <p:nvPr/>
        </p:nvSpPr>
        <p:spPr bwMode="auto">
          <a:xfrm>
            <a:off x="11046000" y="2911820"/>
            <a:ext cx="471197" cy="544464"/>
          </a:xfrm>
          <a:custGeom>
            <a:avLst/>
            <a:gdLst>
              <a:gd name="connsiteX0" fmla="*/ 382817 w 525077"/>
              <a:gd name="connsiteY0" fmla="*/ 436659 h 606722"/>
              <a:gd name="connsiteX1" fmla="*/ 409138 w 525077"/>
              <a:gd name="connsiteY1" fmla="*/ 462945 h 606722"/>
              <a:gd name="connsiteX2" fmla="*/ 382817 w 525077"/>
              <a:gd name="connsiteY2" fmla="*/ 489231 h 606722"/>
              <a:gd name="connsiteX3" fmla="*/ 356496 w 525077"/>
              <a:gd name="connsiteY3" fmla="*/ 462945 h 606722"/>
              <a:gd name="connsiteX4" fmla="*/ 382817 w 525077"/>
              <a:gd name="connsiteY4" fmla="*/ 436659 h 606722"/>
              <a:gd name="connsiteX5" fmla="*/ 145718 w 525077"/>
              <a:gd name="connsiteY5" fmla="*/ 436659 h 606722"/>
              <a:gd name="connsiteX6" fmla="*/ 172039 w 525077"/>
              <a:gd name="connsiteY6" fmla="*/ 462945 h 606722"/>
              <a:gd name="connsiteX7" fmla="*/ 145718 w 525077"/>
              <a:gd name="connsiteY7" fmla="*/ 489231 h 606722"/>
              <a:gd name="connsiteX8" fmla="*/ 119397 w 525077"/>
              <a:gd name="connsiteY8" fmla="*/ 462945 h 606722"/>
              <a:gd name="connsiteX9" fmla="*/ 145718 w 525077"/>
              <a:gd name="connsiteY9" fmla="*/ 436659 h 606722"/>
              <a:gd name="connsiteX10" fmla="*/ 382817 w 525077"/>
              <a:gd name="connsiteY10" fmla="*/ 122713 h 606722"/>
              <a:gd name="connsiteX11" fmla="*/ 409138 w 525077"/>
              <a:gd name="connsiteY11" fmla="*/ 149020 h 606722"/>
              <a:gd name="connsiteX12" fmla="*/ 409138 w 525077"/>
              <a:gd name="connsiteY12" fmla="*/ 359474 h 606722"/>
              <a:gd name="connsiteX13" fmla="*/ 382817 w 525077"/>
              <a:gd name="connsiteY13" fmla="*/ 385781 h 606722"/>
              <a:gd name="connsiteX14" fmla="*/ 356496 w 525077"/>
              <a:gd name="connsiteY14" fmla="*/ 359474 h 606722"/>
              <a:gd name="connsiteX15" fmla="*/ 356496 w 525077"/>
              <a:gd name="connsiteY15" fmla="*/ 149020 h 606722"/>
              <a:gd name="connsiteX16" fmla="*/ 382817 w 525077"/>
              <a:gd name="connsiteY16" fmla="*/ 122713 h 606722"/>
              <a:gd name="connsiteX17" fmla="*/ 145718 w 525077"/>
              <a:gd name="connsiteY17" fmla="*/ 122713 h 606722"/>
              <a:gd name="connsiteX18" fmla="*/ 172039 w 525077"/>
              <a:gd name="connsiteY18" fmla="*/ 149020 h 606722"/>
              <a:gd name="connsiteX19" fmla="*/ 172039 w 525077"/>
              <a:gd name="connsiteY19" fmla="*/ 359474 h 606722"/>
              <a:gd name="connsiteX20" fmla="*/ 145718 w 525077"/>
              <a:gd name="connsiteY20" fmla="*/ 385781 h 606722"/>
              <a:gd name="connsiteX21" fmla="*/ 119397 w 525077"/>
              <a:gd name="connsiteY21" fmla="*/ 359474 h 606722"/>
              <a:gd name="connsiteX22" fmla="*/ 119397 w 525077"/>
              <a:gd name="connsiteY22" fmla="*/ 149020 h 606722"/>
              <a:gd name="connsiteX23" fmla="*/ 145718 w 525077"/>
              <a:gd name="connsiteY23" fmla="*/ 122713 h 606722"/>
              <a:gd name="connsiteX24" fmla="*/ 289731 w 525077"/>
              <a:gd name="connsiteY24" fmla="*/ 52611 h 606722"/>
              <a:gd name="connsiteX25" fmla="*/ 289731 w 525077"/>
              <a:gd name="connsiteY25" fmla="*/ 554111 h 606722"/>
              <a:gd name="connsiteX26" fmla="*/ 474163 w 525077"/>
              <a:gd name="connsiteY26" fmla="*/ 554111 h 606722"/>
              <a:gd name="connsiteX27" fmla="*/ 474163 w 525077"/>
              <a:gd name="connsiteY27" fmla="*/ 52611 h 606722"/>
              <a:gd name="connsiteX28" fmla="*/ 52695 w 525077"/>
              <a:gd name="connsiteY28" fmla="*/ 52611 h 606722"/>
              <a:gd name="connsiteX29" fmla="*/ 52695 w 525077"/>
              <a:gd name="connsiteY29" fmla="*/ 554111 h 606722"/>
              <a:gd name="connsiteX30" fmla="*/ 237037 w 525077"/>
              <a:gd name="connsiteY30" fmla="*/ 554111 h 606722"/>
              <a:gd name="connsiteX31" fmla="*/ 237037 w 525077"/>
              <a:gd name="connsiteY31" fmla="*/ 52611 h 606722"/>
              <a:gd name="connsiteX32" fmla="*/ 26347 w 525077"/>
              <a:gd name="connsiteY32" fmla="*/ 0 h 606722"/>
              <a:gd name="connsiteX33" fmla="*/ 498730 w 525077"/>
              <a:gd name="connsiteY33" fmla="*/ 0 h 606722"/>
              <a:gd name="connsiteX34" fmla="*/ 525077 w 525077"/>
              <a:gd name="connsiteY34" fmla="*/ 26306 h 606722"/>
              <a:gd name="connsiteX35" fmla="*/ 525077 w 525077"/>
              <a:gd name="connsiteY35" fmla="*/ 580416 h 606722"/>
              <a:gd name="connsiteX36" fmla="*/ 498730 w 525077"/>
              <a:gd name="connsiteY36" fmla="*/ 606722 h 606722"/>
              <a:gd name="connsiteX37" fmla="*/ 26347 w 525077"/>
              <a:gd name="connsiteY37" fmla="*/ 606722 h 606722"/>
              <a:gd name="connsiteX38" fmla="*/ 0 w 525077"/>
              <a:gd name="connsiteY38" fmla="*/ 580416 h 606722"/>
              <a:gd name="connsiteX39" fmla="*/ 0 w 525077"/>
              <a:gd name="connsiteY39" fmla="*/ 26306 h 606722"/>
              <a:gd name="connsiteX40" fmla="*/ 26347 w 525077"/>
              <a:gd name="connsiteY40"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25077" h="606722">
                <a:moveTo>
                  <a:pt x="382817" y="436659"/>
                </a:moveTo>
                <a:cubicBezTo>
                  <a:pt x="397354" y="436659"/>
                  <a:pt x="409138" y="448428"/>
                  <a:pt x="409138" y="462945"/>
                </a:cubicBezTo>
                <a:cubicBezTo>
                  <a:pt x="409138" y="477462"/>
                  <a:pt x="397354" y="489231"/>
                  <a:pt x="382817" y="489231"/>
                </a:cubicBezTo>
                <a:cubicBezTo>
                  <a:pt x="368280" y="489231"/>
                  <a:pt x="356496" y="477462"/>
                  <a:pt x="356496" y="462945"/>
                </a:cubicBezTo>
                <a:cubicBezTo>
                  <a:pt x="356496" y="448428"/>
                  <a:pt x="368280" y="436659"/>
                  <a:pt x="382817" y="436659"/>
                </a:cubicBezTo>
                <a:close/>
                <a:moveTo>
                  <a:pt x="145718" y="436659"/>
                </a:moveTo>
                <a:cubicBezTo>
                  <a:pt x="160255" y="436659"/>
                  <a:pt x="172039" y="448428"/>
                  <a:pt x="172039" y="462945"/>
                </a:cubicBezTo>
                <a:cubicBezTo>
                  <a:pt x="172039" y="477462"/>
                  <a:pt x="160255" y="489231"/>
                  <a:pt x="145718" y="489231"/>
                </a:cubicBezTo>
                <a:cubicBezTo>
                  <a:pt x="131181" y="489231"/>
                  <a:pt x="119397" y="477462"/>
                  <a:pt x="119397" y="462945"/>
                </a:cubicBezTo>
                <a:cubicBezTo>
                  <a:pt x="119397" y="448428"/>
                  <a:pt x="131181" y="436659"/>
                  <a:pt x="145718" y="436659"/>
                </a:cubicBezTo>
                <a:close/>
                <a:moveTo>
                  <a:pt x="382817" y="122713"/>
                </a:moveTo>
                <a:cubicBezTo>
                  <a:pt x="397311" y="122713"/>
                  <a:pt x="409138" y="134534"/>
                  <a:pt x="409138" y="149020"/>
                </a:cubicBezTo>
                <a:lnTo>
                  <a:pt x="409138" y="359474"/>
                </a:lnTo>
                <a:cubicBezTo>
                  <a:pt x="409138" y="373961"/>
                  <a:pt x="397311" y="385781"/>
                  <a:pt x="382817" y="385781"/>
                </a:cubicBezTo>
                <a:cubicBezTo>
                  <a:pt x="368234" y="385781"/>
                  <a:pt x="356496" y="373961"/>
                  <a:pt x="356496" y="359474"/>
                </a:cubicBezTo>
                <a:lnTo>
                  <a:pt x="356496" y="149020"/>
                </a:lnTo>
                <a:cubicBezTo>
                  <a:pt x="356496" y="134534"/>
                  <a:pt x="368234" y="122713"/>
                  <a:pt x="382817" y="122713"/>
                </a:cubicBezTo>
                <a:close/>
                <a:moveTo>
                  <a:pt x="145718" y="122713"/>
                </a:moveTo>
                <a:cubicBezTo>
                  <a:pt x="160301" y="122713"/>
                  <a:pt x="172039" y="134534"/>
                  <a:pt x="172039" y="149020"/>
                </a:cubicBezTo>
                <a:lnTo>
                  <a:pt x="172039" y="359474"/>
                </a:lnTo>
                <a:cubicBezTo>
                  <a:pt x="172039" y="373961"/>
                  <a:pt x="160301" y="385781"/>
                  <a:pt x="145718" y="385781"/>
                </a:cubicBezTo>
                <a:cubicBezTo>
                  <a:pt x="131224" y="385781"/>
                  <a:pt x="119397" y="373961"/>
                  <a:pt x="119397" y="359474"/>
                </a:cubicBezTo>
                <a:lnTo>
                  <a:pt x="119397" y="149020"/>
                </a:lnTo>
                <a:cubicBezTo>
                  <a:pt x="119397" y="134534"/>
                  <a:pt x="131224" y="122713"/>
                  <a:pt x="145718" y="122713"/>
                </a:cubicBezTo>
                <a:close/>
                <a:moveTo>
                  <a:pt x="289731" y="52611"/>
                </a:moveTo>
                <a:lnTo>
                  <a:pt x="289731" y="554111"/>
                </a:lnTo>
                <a:lnTo>
                  <a:pt x="474163" y="554111"/>
                </a:lnTo>
                <a:lnTo>
                  <a:pt x="474163" y="52611"/>
                </a:lnTo>
                <a:close/>
                <a:moveTo>
                  <a:pt x="52695" y="52611"/>
                </a:moveTo>
                <a:lnTo>
                  <a:pt x="52695" y="554111"/>
                </a:lnTo>
                <a:lnTo>
                  <a:pt x="237037" y="554111"/>
                </a:lnTo>
                <a:lnTo>
                  <a:pt x="237037" y="52611"/>
                </a:lnTo>
                <a:close/>
                <a:moveTo>
                  <a:pt x="26347" y="0"/>
                </a:moveTo>
                <a:lnTo>
                  <a:pt x="498730" y="0"/>
                </a:lnTo>
                <a:cubicBezTo>
                  <a:pt x="513239" y="0"/>
                  <a:pt x="525077" y="11820"/>
                  <a:pt x="525077" y="26306"/>
                </a:cubicBezTo>
                <a:lnTo>
                  <a:pt x="525077" y="580416"/>
                </a:lnTo>
                <a:cubicBezTo>
                  <a:pt x="525077" y="594902"/>
                  <a:pt x="513328" y="606722"/>
                  <a:pt x="498730" y="606722"/>
                </a:cubicBezTo>
                <a:lnTo>
                  <a:pt x="26347" y="606722"/>
                </a:lnTo>
                <a:cubicBezTo>
                  <a:pt x="11749" y="606722"/>
                  <a:pt x="0" y="594902"/>
                  <a:pt x="0" y="580416"/>
                </a:cubicBezTo>
                <a:lnTo>
                  <a:pt x="0" y="26306"/>
                </a:lnTo>
                <a:cubicBezTo>
                  <a:pt x="0" y="11820"/>
                  <a:pt x="11749" y="0"/>
                  <a:pt x="26347" y="0"/>
                </a:cubicBezTo>
                <a:close/>
              </a:path>
            </a:pathLst>
          </a:custGeom>
          <a:solidFill>
            <a:srgbClr val="1A3172"/>
          </a:solidFill>
          <a:ln>
            <a:noFill/>
          </a:ln>
        </p:spPr>
        <p:txBody>
          <a:bodyPr/>
          <a:lstStyle/>
          <a:p>
            <a:endParaRPr lang="zh-CN" altLang="en-US">
              <a:cs typeface="+mn-ea"/>
              <a:sym typeface="+mn-lt"/>
            </a:endParaRPr>
          </a:p>
        </p:txBody>
      </p:sp>
      <p:sp>
        <p:nvSpPr>
          <p:cNvPr id="13" name="archives_232650"/>
          <p:cNvSpPr>
            <a:spLocks noChangeAspect="1"/>
          </p:cNvSpPr>
          <p:nvPr/>
        </p:nvSpPr>
        <p:spPr bwMode="auto">
          <a:xfrm>
            <a:off x="11046000" y="4689640"/>
            <a:ext cx="471197" cy="544464"/>
          </a:xfrm>
          <a:custGeom>
            <a:avLst/>
            <a:gdLst>
              <a:gd name="connsiteX0" fmla="*/ 382817 w 525077"/>
              <a:gd name="connsiteY0" fmla="*/ 436659 h 606722"/>
              <a:gd name="connsiteX1" fmla="*/ 409138 w 525077"/>
              <a:gd name="connsiteY1" fmla="*/ 462945 h 606722"/>
              <a:gd name="connsiteX2" fmla="*/ 382817 w 525077"/>
              <a:gd name="connsiteY2" fmla="*/ 489231 h 606722"/>
              <a:gd name="connsiteX3" fmla="*/ 356496 w 525077"/>
              <a:gd name="connsiteY3" fmla="*/ 462945 h 606722"/>
              <a:gd name="connsiteX4" fmla="*/ 382817 w 525077"/>
              <a:gd name="connsiteY4" fmla="*/ 436659 h 606722"/>
              <a:gd name="connsiteX5" fmla="*/ 145718 w 525077"/>
              <a:gd name="connsiteY5" fmla="*/ 436659 h 606722"/>
              <a:gd name="connsiteX6" fmla="*/ 172039 w 525077"/>
              <a:gd name="connsiteY6" fmla="*/ 462945 h 606722"/>
              <a:gd name="connsiteX7" fmla="*/ 145718 w 525077"/>
              <a:gd name="connsiteY7" fmla="*/ 489231 h 606722"/>
              <a:gd name="connsiteX8" fmla="*/ 119397 w 525077"/>
              <a:gd name="connsiteY8" fmla="*/ 462945 h 606722"/>
              <a:gd name="connsiteX9" fmla="*/ 145718 w 525077"/>
              <a:gd name="connsiteY9" fmla="*/ 436659 h 606722"/>
              <a:gd name="connsiteX10" fmla="*/ 382817 w 525077"/>
              <a:gd name="connsiteY10" fmla="*/ 122713 h 606722"/>
              <a:gd name="connsiteX11" fmla="*/ 409138 w 525077"/>
              <a:gd name="connsiteY11" fmla="*/ 149020 h 606722"/>
              <a:gd name="connsiteX12" fmla="*/ 409138 w 525077"/>
              <a:gd name="connsiteY12" fmla="*/ 359474 h 606722"/>
              <a:gd name="connsiteX13" fmla="*/ 382817 w 525077"/>
              <a:gd name="connsiteY13" fmla="*/ 385781 h 606722"/>
              <a:gd name="connsiteX14" fmla="*/ 356496 w 525077"/>
              <a:gd name="connsiteY14" fmla="*/ 359474 h 606722"/>
              <a:gd name="connsiteX15" fmla="*/ 356496 w 525077"/>
              <a:gd name="connsiteY15" fmla="*/ 149020 h 606722"/>
              <a:gd name="connsiteX16" fmla="*/ 382817 w 525077"/>
              <a:gd name="connsiteY16" fmla="*/ 122713 h 606722"/>
              <a:gd name="connsiteX17" fmla="*/ 145718 w 525077"/>
              <a:gd name="connsiteY17" fmla="*/ 122713 h 606722"/>
              <a:gd name="connsiteX18" fmla="*/ 172039 w 525077"/>
              <a:gd name="connsiteY18" fmla="*/ 149020 h 606722"/>
              <a:gd name="connsiteX19" fmla="*/ 172039 w 525077"/>
              <a:gd name="connsiteY19" fmla="*/ 359474 h 606722"/>
              <a:gd name="connsiteX20" fmla="*/ 145718 w 525077"/>
              <a:gd name="connsiteY20" fmla="*/ 385781 h 606722"/>
              <a:gd name="connsiteX21" fmla="*/ 119397 w 525077"/>
              <a:gd name="connsiteY21" fmla="*/ 359474 h 606722"/>
              <a:gd name="connsiteX22" fmla="*/ 119397 w 525077"/>
              <a:gd name="connsiteY22" fmla="*/ 149020 h 606722"/>
              <a:gd name="connsiteX23" fmla="*/ 145718 w 525077"/>
              <a:gd name="connsiteY23" fmla="*/ 122713 h 606722"/>
              <a:gd name="connsiteX24" fmla="*/ 289731 w 525077"/>
              <a:gd name="connsiteY24" fmla="*/ 52611 h 606722"/>
              <a:gd name="connsiteX25" fmla="*/ 289731 w 525077"/>
              <a:gd name="connsiteY25" fmla="*/ 554111 h 606722"/>
              <a:gd name="connsiteX26" fmla="*/ 474163 w 525077"/>
              <a:gd name="connsiteY26" fmla="*/ 554111 h 606722"/>
              <a:gd name="connsiteX27" fmla="*/ 474163 w 525077"/>
              <a:gd name="connsiteY27" fmla="*/ 52611 h 606722"/>
              <a:gd name="connsiteX28" fmla="*/ 52695 w 525077"/>
              <a:gd name="connsiteY28" fmla="*/ 52611 h 606722"/>
              <a:gd name="connsiteX29" fmla="*/ 52695 w 525077"/>
              <a:gd name="connsiteY29" fmla="*/ 554111 h 606722"/>
              <a:gd name="connsiteX30" fmla="*/ 237037 w 525077"/>
              <a:gd name="connsiteY30" fmla="*/ 554111 h 606722"/>
              <a:gd name="connsiteX31" fmla="*/ 237037 w 525077"/>
              <a:gd name="connsiteY31" fmla="*/ 52611 h 606722"/>
              <a:gd name="connsiteX32" fmla="*/ 26347 w 525077"/>
              <a:gd name="connsiteY32" fmla="*/ 0 h 606722"/>
              <a:gd name="connsiteX33" fmla="*/ 498730 w 525077"/>
              <a:gd name="connsiteY33" fmla="*/ 0 h 606722"/>
              <a:gd name="connsiteX34" fmla="*/ 525077 w 525077"/>
              <a:gd name="connsiteY34" fmla="*/ 26306 h 606722"/>
              <a:gd name="connsiteX35" fmla="*/ 525077 w 525077"/>
              <a:gd name="connsiteY35" fmla="*/ 580416 h 606722"/>
              <a:gd name="connsiteX36" fmla="*/ 498730 w 525077"/>
              <a:gd name="connsiteY36" fmla="*/ 606722 h 606722"/>
              <a:gd name="connsiteX37" fmla="*/ 26347 w 525077"/>
              <a:gd name="connsiteY37" fmla="*/ 606722 h 606722"/>
              <a:gd name="connsiteX38" fmla="*/ 0 w 525077"/>
              <a:gd name="connsiteY38" fmla="*/ 580416 h 606722"/>
              <a:gd name="connsiteX39" fmla="*/ 0 w 525077"/>
              <a:gd name="connsiteY39" fmla="*/ 26306 h 606722"/>
              <a:gd name="connsiteX40" fmla="*/ 26347 w 525077"/>
              <a:gd name="connsiteY40"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25077" h="606722">
                <a:moveTo>
                  <a:pt x="382817" y="436659"/>
                </a:moveTo>
                <a:cubicBezTo>
                  <a:pt x="397354" y="436659"/>
                  <a:pt x="409138" y="448428"/>
                  <a:pt x="409138" y="462945"/>
                </a:cubicBezTo>
                <a:cubicBezTo>
                  <a:pt x="409138" y="477462"/>
                  <a:pt x="397354" y="489231"/>
                  <a:pt x="382817" y="489231"/>
                </a:cubicBezTo>
                <a:cubicBezTo>
                  <a:pt x="368280" y="489231"/>
                  <a:pt x="356496" y="477462"/>
                  <a:pt x="356496" y="462945"/>
                </a:cubicBezTo>
                <a:cubicBezTo>
                  <a:pt x="356496" y="448428"/>
                  <a:pt x="368280" y="436659"/>
                  <a:pt x="382817" y="436659"/>
                </a:cubicBezTo>
                <a:close/>
                <a:moveTo>
                  <a:pt x="145718" y="436659"/>
                </a:moveTo>
                <a:cubicBezTo>
                  <a:pt x="160255" y="436659"/>
                  <a:pt x="172039" y="448428"/>
                  <a:pt x="172039" y="462945"/>
                </a:cubicBezTo>
                <a:cubicBezTo>
                  <a:pt x="172039" y="477462"/>
                  <a:pt x="160255" y="489231"/>
                  <a:pt x="145718" y="489231"/>
                </a:cubicBezTo>
                <a:cubicBezTo>
                  <a:pt x="131181" y="489231"/>
                  <a:pt x="119397" y="477462"/>
                  <a:pt x="119397" y="462945"/>
                </a:cubicBezTo>
                <a:cubicBezTo>
                  <a:pt x="119397" y="448428"/>
                  <a:pt x="131181" y="436659"/>
                  <a:pt x="145718" y="436659"/>
                </a:cubicBezTo>
                <a:close/>
                <a:moveTo>
                  <a:pt x="382817" y="122713"/>
                </a:moveTo>
                <a:cubicBezTo>
                  <a:pt x="397311" y="122713"/>
                  <a:pt x="409138" y="134534"/>
                  <a:pt x="409138" y="149020"/>
                </a:cubicBezTo>
                <a:lnTo>
                  <a:pt x="409138" y="359474"/>
                </a:lnTo>
                <a:cubicBezTo>
                  <a:pt x="409138" y="373961"/>
                  <a:pt x="397311" y="385781"/>
                  <a:pt x="382817" y="385781"/>
                </a:cubicBezTo>
                <a:cubicBezTo>
                  <a:pt x="368234" y="385781"/>
                  <a:pt x="356496" y="373961"/>
                  <a:pt x="356496" y="359474"/>
                </a:cubicBezTo>
                <a:lnTo>
                  <a:pt x="356496" y="149020"/>
                </a:lnTo>
                <a:cubicBezTo>
                  <a:pt x="356496" y="134534"/>
                  <a:pt x="368234" y="122713"/>
                  <a:pt x="382817" y="122713"/>
                </a:cubicBezTo>
                <a:close/>
                <a:moveTo>
                  <a:pt x="145718" y="122713"/>
                </a:moveTo>
                <a:cubicBezTo>
                  <a:pt x="160301" y="122713"/>
                  <a:pt x="172039" y="134534"/>
                  <a:pt x="172039" y="149020"/>
                </a:cubicBezTo>
                <a:lnTo>
                  <a:pt x="172039" y="359474"/>
                </a:lnTo>
                <a:cubicBezTo>
                  <a:pt x="172039" y="373961"/>
                  <a:pt x="160301" y="385781"/>
                  <a:pt x="145718" y="385781"/>
                </a:cubicBezTo>
                <a:cubicBezTo>
                  <a:pt x="131224" y="385781"/>
                  <a:pt x="119397" y="373961"/>
                  <a:pt x="119397" y="359474"/>
                </a:cubicBezTo>
                <a:lnTo>
                  <a:pt x="119397" y="149020"/>
                </a:lnTo>
                <a:cubicBezTo>
                  <a:pt x="119397" y="134534"/>
                  <a:pt x="131224" y="122713"/>
                  <a:pt x="145718" y="122713"/>
                </a:cubicBezTo>
                <a:close/>
                <a:moveTo>
                  <a:pt x="289731" y="52611"/>
                </a:moveTo>
                <a:lnTo>
                  <a:pt x="289731" y="554111"/>
                </a:lnTo>
                <a:lnTo>
                  <a:pt x="474163" y="554111"/>
                </a:lnTo>
                <a:lnTo>
                  <a:pt x="474163" y="52611"/>
                </a:lnTo>
                <a:close/>
                <a:moveTo>
                  <a:pt x="52695" y="52611"/>
                </a:moveTo>
                <a:lnTo>
                  <a:pt x="52695" y="554111"/>
                </a:lnTo>
                <a:lnTo>
                  <a:pt x="237037" y="554111"/>
                </a:lnTo>
                <a:lnTo>
                  <a:pt x="237037" y="52611"/>
                </a:lnTo>
                <a:close/>
                <a:moveTo>
                  <a:pt x="26347" y="0"/>
                </a:moveTo>
                <a:lnTo>
                  <a:pt x="498730" y="0"/>
                </a:lnTo>
                <a:cubicBezTo>
                  <a:pt x="513239" y="0"/>
                  <a:pt x="525077" y="11820"/>
                  <a:pt x="525077" y="26306"/>
                </a:cubicBezTo>
                <a:lnTo>
                  <a:pt x="525077" y="580416"/>
                </a:lnTo>
                <a:cubicBezTo>
                  <a:pt x="525077" y="594902"/>
                  <a:pt x="513328" y="606722"/>
                  <a:pt x="498730" y="606722"/>
                </a:cubicBezTo>
                <a:lnTo>
                  <a:pt x="26347" y="606722"/>
                </a:lnTo>
                <a:cubicBezTo>
                  <a:pt x="11749" y="606722"/>
                  <a:pt x="0" y="594902"/>
                  <a:pt x="0" y="580416"/>
                </a:cubicBezTo>
                <a:lnTo>
                  <a:pt x="0" y="26306"/>
                </a:lnTo>
                <a:cubicBezTo>
                  <a:pt x="0" y="11820"/>
                  <a:pt x="11749" y="0"/>
                  <a:pt x="26347" y="0"/>
                </a:cubicBezTo>
                <a:close/>
              </a:path>
            </a:pathLst>
          </a:custGeom>
          <a:solidFill>
            <a:srgbClr val="1A3172"/>
          </a:solidFill>
          <a:ln>
            <a:noFill/>
          </a:ln>
        </p:spPr>
        <p:txBody>
          <a:bodyPr/>
          <a:lstStyle/>
          <a:p>
            <a:endParaRPr lang="zh-CN" altLang="en-US">
              <a:cs typeface="+mn-ea"/>
              <a:sym typeface="+mn-lt"/>
            </a:endParaRPr>
          </a:p>
        </p:txBody>
      </p:sp>
      <p:cxnSp>
        <p:nvCxnSpPr>
          <p:cNvPr id="14" name="直接连接符 13"/>
          <p:cNvCxnSpPr/>
          <p:nvPr/>
        </p:nvCxnSpPr>
        <p:spPr>
          <a:xfrm>
            <a:off x="5646000" y="1134847"/>
            <a:ext cx="0" cy="5008778"/>
          </a:xfrm>
          <a:prstGeom prst="line">
            <a:avLst/>
          </a:prstGeom>
          <a:ln w="25400" cap="rnd">
            <a:solidFill>
              <a:schemeClr val="tx1">
                <a:lumMod val="75000"/>
                <a:lumOff val="2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7" name="ïSḻiḍè"/>
          <p:cNvSpPr/>
          <p:nvPr/>
        </p:nvSpPr>
        <p:spPr bwMode="auto">
          <a:xfrm>
            <a:off x="1418001" y="2738346"/>
            <a:ext cx="1827684" cy="1587805"/>
          </a:xfrm>
          <a:custGeom>
            <a:avLst/>
            <a:gdLst>
              <a:gd name="T0" fmla="*/ 188 w 2781"/>
              <a:gd name="T1" fmla="*/ 699 h 2416"/>
              <a:gd name="T2" fmla="*/ 659 w 2781"/>
              <a:gd name="T3" fmla="*/ 2416 h 2416"/>
              <a:gd name="T4" fmla="*/ 2781 w 2781"/>
              <a:gd name="T5" fmla="*/ 1834 h 2416"/>
              <a:gd name="T6" fmla="*/ 2597 w 2781"/>
              <a:gd name="T7" fmla="*/ 1803 h 2416"/>
              <a:gd name="T8" fmla="*/ 680 w 2781"/>
              <a:gd name="T9" fmla="*/ 2327 h 2416"/>
              <a:gd name="T10" fmla="*/ 235 w 2781"/>
              <a:gd name="T11" fmla="*/ 703 h 2416"/>
              <a:gd name="T12" fmla="*/ 188 w 2781"/>
              <a:gd name="T13" fmla="*/ 699 h 2416"/>
              <a:gd name="T14" fmla="*/ 42 w 2781"/>
              <a:gd name="T15" fmla="*/ 0 h 2416"/>
              <a:gd name="T16" fmla="*/ 0 w 2781"/>
              <a:gd name="T17" fmla="*/ 11 h 2416"/>
              <a:gd name="T18" fmla="*/ 117 w 2781"/>
              <a:gd name="T19" fmla="*/ 437 h 2416"/>
              <a:gd name="T20" fmla="*/ 129 w 2781"/>
              <a:gd name="T21" fmla="*/ 319 h 2416"/>
              <a:gd name="T22" fmla="*/ 42 w 2781"/>
              <a:gd name="T23" fmla="*/ 0 h 2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81" h="2416">
                <a:moveTo>
                  <a:pt x="188" y="699"/>
                </a:moveTo>
                <a:lnTo>
                  <a:pt x="659" y="2416"/>
                </a:lnTo>
                <a:lnTo>
                  <a:pt x="2781" y="1834"/>
                </a:lnTo>
                <a:lnTo>
                  <a:pt x="2597" y="1803"/>
                </a:lnTo>
                <a:lnTo>
                  <a:pt x="680" y="2327"/>
                </a:lnTo>
                <a:lnTo>
                  <a:pt x="235" y="703"/>
                </a:lnTo>
                <a:lnTo>
                  <a:pt x="188" y="699"/>
                </a:lnTo>
                <a:moveTo>
                  <a:pt x="42" y="0"/>
                </a:moveTo>
                <a:lnTo>
                  <a:pt x="0" y="11"/>
                </a:lnTo>
                <a:lnTo>
                  <a:pt x="117" y="437"/>
                </a:lnTo>
                <a:lnTo>
                  <a:pt x="129" y="319"/>
                </a:lnTo>
                <a:lnTo>
                  <a:pt x="4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542" name="Rectangle 30"/>
          <p:cNvSpPr/>
          <p:nvPr/>
        </p:nvSpPr>
        <p:spPr bwMode="auto">
          <a:xfrm>
            <a:off x="674803" y="2555628"/>
            <a:ext cx="4445128" cy="302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fontScale="92500" lnSpcReduction="1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ctr" defTabSz="913765" rtl="0" eaLnBrk="1" fontAlgn="auto" latinLnBrk="0" hangingPunct="1">
              <a:lnSpc>
                <a:spcPct val="150000"/>
              </a:lnSpc>
              <a:spcBef>
                <a:spcPct val="0"/>
              </a:spcBef>
              <a:spcAft>
                <a:spcPts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cs typeface="+mn-ea"/>
                <a:sym typeface="+mn-lt"/>
              </a:rPr>
              <a:t>荧光太阳能聚光器（</a:t>
            </a:r>
            <a:r>
              <a:rPr kumimoji="0" lang="en-US" altLang="zh-CN" sz="2400" b="0" i="0" u="none" strike="noStrike" kern="1200" cap="none" spc="0" normalizeH="0" baseline="0" noProof="0" dirty="0">
                <a:ln>
                  <a:noFill/>
                </a:ln>
                <a:solidFill>
                  <a:srgbClr val="000000"/>
                </a:solidFill>
                <a:effectLst/>
                <a:uLnTx/>
                <a:uFillTx/>
                <a:cs typeface="+mn-ea"/>
                <a:sym typeface="+mn-lt"/>
              </a:rPr>
              <a:t>LSC</a:t>
            </a:r>
            <a:r>
              <a:rPr kumimoji="0" lang="zh-CN" altLang="en-US" sz="2400" b="0" i="0" u="none" strike="noStrike" kern="1200" cap="none" spc="0" normalizeH="0" baseline="0" noProof="0" dirty="0">
                <a:ln>
                  <a:noFill/>
                </a:ln>
                <a:solidFill>
                  <a:srgbClr val="000000"/>
                </a:solidFill>
                <a:effectLst/>
                <a:uLnTx/>
                <a:uFillTx/>
                <a:cs typeface="+mn-ea"/>
                <a:sym typeface="+mn-lt"/>
              </a:rPr>
              <a:t>）作为第三代光伏技术，符合我国“双碳”战略目标，尤其在建筑光伏一体化（</a:t>
            </a:r>
            <a:r>
              <a:rPr kumimoji="0" lang="en-US" altLang="zh-CN" sz="2400" b="0" i="0" u="none" strike="noStrike" kern="1200" cap="none" spc="0" normalizeH="0" baseline="0" noProof="0" dirty="0">
                <a:ln>
                  <a:noFill/>
                </a:ln>
                <a:solidFill>
                  <a:srgbClr val="000000"/>
                </a:solidFill>
                <a:effectLst/>
                <a:uLnTx/>
                <a:uFillTx/>
                <a:cs typeface="+mn-ea"/>
                <a:sym typeface="+mn-lt"/>
              </a:rPr>
              <a:t>BIPV</a:t>
            </a:r>
            <a:r>
              <a:rPr kumimoji="0" lang="zh-CN" altLang="en-US" sz="2400" b="0" i="0" u="none" strike="noStrike" kern="1200" cap="none" spc="0" normalizeH="0" baseline="0" noProof="0" dirty="0">
                <a:ln>
                  <a:noFill/>
                </a:ln>
                <a:solidFill>
                  <a:srgbClr val="000000"/>
                </a:solidFill>
                <a:effectLst/>
                <a:uLnTx/>
                <a:uFillTx/>
                <a:cs typeface="+mn-ea"/>
                <a:sym typeface="+mn-lt"/>
              </a:rPr>
              <a:t>）中潜力巨大。传统</a:t>
            </a:r>
            <a:r>
              <a:rPr kumimoji="0" lang="en-US" altLang="zh-CN" sz="2400" b="0" i="0" u="none" strike="noStrike" kern="1200" cap="none" spc="0" normalizeH="0" baseline="0" noProof="0" dirty="0">
                <a:ln>
                  <a:noFill/>
                </a:ln>
                <a:solidFill>
                  <a:srgbClr val="000000"/>
                </a:solidFill>
                <a:effectLst/>
                <a:uLnTx/>
                <a:uFillTx/>
                <a:cs typeface="+mn-ea"/>
                <a:sym typeface="+mn-lt"/>
              </a:rPr>
              <a:t>LSC</a:t>
            </a:r>
            <a:r>
              <a:rPr kumimoji="0" lang="zh-CN" altLang="en-US" sz="2400" b="0" i="0" u="none" strike="noStrike" kern="1200" cap="none" spc="0" normalizeH="0" baseline="0" noProof="0" dirty="0">
                <a:ln>
                  <a:noFill/>
                </a:ln>
                <a:solidFill>
                  <a:srgbClr val="000000"/>
                </a:solidFill>
                <a:effectLst/>
                <a:uLnTx/>
                <a:uFillTx/>
                <a:cs typeface="+mn-ea"/>
                <a:sym typeface="+mn-lt"/>
              </a:rPr>
              <a:t>研发周期长、成本高、效率低，严重制约了其商业化进程。</a:t>
            </a:r>
          </a:p>
        </p:txBody>
      </p:sp>
      <p:sp>
        <p:nvSpPr>
          <p:cNvPr id="543" name="TextBox 31"/>
          <p:cNvSpPr txBox="1"/>
          <p:nvPr/>
        </p:nvSpPr>
        <p:spPr bwMode="auto">
          <a:xfrm>
            <a:off x="674803" y="1779104"/>
            <a:ext cx="4445128" cy="808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ctr" defTabSz="913765" rtl="0" eaLnBrk="1" fontAlgn="auto" latinLnBrk="0" hangingPunct="1">
              <a:lnSpc>
                <a:spcPct val="100000"/>
              </a:lnSpc>
              <a:spcBef>
                <a:spcPct val="0"/>
              </a:spcBef>
              <a:spcAft>
                <a:spcPts val="0"/>
              </a:spcAft>
              <a:buClrTx/>
              <a:buSzTx/>
              <a:buFontTx/>
              <a:buNone/>
              <a:defRPr/>
            </a:pPr>
            <a:r>
              <a:rPr lang="zh-CN" altLang="en-US" sz="3600" b="1" dirty="0">
                <a:solidFill>
                  <a:srgbClr val="000000"/>
                </a:solidFill>
                <a:cs typeface="+mn-ea"/>
                <a:sym typeface="+mn-lt"/>
              </a:rPr>
              <a:t>总述</a:t>
            </a:r>
            <a:endParaRPr kumimoji="0" lang="en-US" altLang="zh-CN" sz="3600" b="1" i="0" u="none" strike="noStrike" kern="1200" cap="none" spc="0" normalizeH="0" baseline="0" noProof="0" dirty="0">
              <a:ln>
                <a:noFill/>
              </a:ln>
              <a:solidFill>
                <a:srgbClr val="000000"/>
              </a:solidFill>
              <a:effectLst/>
              <a:uLnTx/>
              <a:uFillTx/>
              <a:cs typeface="+mn-ea"/>
              <a:sym typeface="+mn-lt"/>
            </a:endParaRPr>
          </a:p>
        </p:txBody>
      </p:sp>
      <p:sp>
        <p:nvSpPr>
          <p:cNvPr id="15" name="标题 14"/>
          <p:cNvSpPr>
            <a:spLocks noGrp="1"/>
          </p:cNvSpPr>
          <p:nvPr>
            <p:ph type="title"/>
          </p:nvPr>
        </p:nvSpPr>
        <p:spPr>
          <a:xfrm>
            <a:off x="1341437" y="235280"/>
            <a:ext cx="10850563" cy="663575"/>
          </a:xfrm>
        </p:spPr>
        <p:txBody>
          <a:bodyPr/>
          <a:lstStyle/>
          <a:p>
            <a:r>
              <a:rPr lang="zh-CN" altLang="en-US" sz="2800" dirty="0">
                <a:latin typeface="+mn-lt"/>
                <a:ea typeface="+mn-ea"/>
                <a:cs typeface="+mn-ea"/>
                <a:sym typeface="+mn-lt"/>
              </a:rPr>
              <a:t>选题依据及意义</a:t>
            </a:r>
          </a:p>
        </p:txBody>
      </p:sp>
      <p:sp>
        <p:nvSpPr>
          <p:cNvPr id="546" name="four-dots-horizontally-aligned-as-a-line_56969"/>
          <p:cNvSpPr>
            <a:spLocks noChangeAspect="1"/>
          </p:cNvSpPr>
          <p:nvPr/>
        </p:nvSpPr>
        <p:spPr bwMode="auto">
          <a:xfrm>
            <a:off x="2541491" y="5910268"/>
            <a:ext cx="609685" cy="112755"/>
          </a:xfrm>
          <a:custGeom>
            <a:avLst/>
            <a:gdLst>
              <a:gd name="connsiteX0" fmla="*/ 551551 w 608203"/>
              <a:gd name="connsiteY0" fmla="*/ 0 h 112481"/>
              <a:gd name="connsiteX1" fmla="*/ 551880 w 608203"/>
              <a:gd name="connsiteY1" fmla="*/ 0 h 112481"/>
              <a:gd name="connsiteX2" fmla="*/ 608203 w 608203"/>
              <a:gd name="connsiteY2" fmla="*/ 56241 h 112481"/>
              <a:gd name="connsiteX3" fmla="*/ 551880 w 608203"/>
              <a:gd name="connsiteY3" fmla="*/ 112481 h 112481"/>
              <a:gd name="connsiteX4" fmla="*/ 551551 w 608203"/>
              <a:gd name="connsiteY4" fmla="*/ 112481 h 112481"/>
              <a:gd name="connsiteX5" fmla="*/ 495228 w 608203"/>
              <a:gd name="connsiteY5" fmla="*/ 56241 h 112481"/>
              <a:gd name="connsiteX6" fmla="*/ 551551 w 608203"/>
              <a:gd name="connsiteY6" fmla="*/ 0 h 112481"/>
              <a:gd name="connsiteX7" fmla="*/ 386346 w 608203"/>
              <a:gd name="connsiteY7" fmla="*/ 0 h 112481"/>
              <a:gd name="connsiteX8" fmla="*/ 387050 w 608203"/>
              <a:gd name="connsiteY8" fmla="*/ 0 h 112481"/>
              <a:gd name="connsiteX9" fmla="*/ 443362 w 608203"/>
              <a:gd name="connsiteY9" fmla="*/ 56241 h 112481"/>
              <a:gd name="connsiteX10" fmla="*/ 387050 w 608203"/>
              <a:gd name="connsiteY10" fmla="*/ 112481 h 112481"/>
              <a:gd name="connsiteX11" fmla="*/ 386346 w 608203"/>
              <a:gd name="connsiteY11" fmla="*/ 112481 h 112481"/>
              <a:gd name="connsiteX12" fmla="*/ 330034 w 608203"/>
              <a:gd name="connsiteY12" fmla="*/ 56241 h 112481"/>
              <a:gd name="connsiteX13" fmla="*/ 386346 w 608203"/>
              <a:gd name="connsiteY13" fmla="*/ 0 h 112481"/>
              <a:gd name="connsiteX14" fmla="*/ 221153 w 608203"/>
              <a:gd name="connsiteY14" fmla="*/ 0 h 112481"/>
              <a:gd name="connsiteX15" fmla="*/ 221857 w 608203"/>
              <a:gd name="connsiteY15" fmla="*/ 0 h 112481"/>
              <a:gd name="connsiteX16" fmla="*/ 278169 w 608203"/>
              <a:gd name="connsiteY16" fmla="*/ 56241 h 112481"/>
              <a:gd name="connsiteX17" fmla="*/ 221857 w 608203"/>
              <a:gd name="connsiteY17" fmla="*/ 112481 h 112481"/>
              <a:gd name="connsiteX18" fmla="*/ 221153 w 608203"/>
              <a:gd name="connsiteY18" fmla="*/ 112481 h 112481"/>
              <a:gd name="connsiteX19" fmla="*/ 164841 w 608203"/>
              <a:gd name="connsiteY19" fmla="*/ 56241 h 112481"/>
              <a:gd name="connsiteX20" fmla="*/ 221153 w 608203"/>
              <a:gd name="connsiteY20" fmla="*/ 0 h 112481"/>
              <a:gd name="connsiteX21" fmla="*/ 56323 w 608203"/>
              <a:gd name="connsiteY21" fmla="*/ 0 h 112481"/>
              <a:gd name="connsiteX22" fmla="*/ 56652 w 608203"/>
              <a:gd name="connsiteY22" fmla="*/ 0 h 112481"/>
              <a:gd name="connsiteX23" fmla="*/ 112975 w 608203"/>
              <a:gd name="connsiteY23" fmla="*/ 56241 h 112481"/>
              <a:gd name="connsiteX24" fmla="*/ 56652 w 608203"/>
              <a:gd name="connsiteY24" fmla="*/ 112481 h 112481"/>
              <a:gd name="connsiteX25" fmla="*/ 56323 w 608203"/>
              <a:gd name="connsiteY25" fmla="*/ 112481 h 112481"/>
              <a:gd name="connsiteX26" fmla="*/ 0 w 608203"/>
              <a:gd name="connsiteY26" fmla="*/ 56241 h 112481"/>
              <a:gd name="connsiteX27" fmla="*/ 56323 w 608203"/>
              <a:gd name="connsiteY27" fmla="*/ 0 h 112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08203" h="112481">
                <a:moveTo>
                  <a:pt x="551551" y="0"/>
                </a:moveTo>
                <a:lnTo>
                  <a:pt x="551880" y="0"/>
                </a:lnTo>
                <a:cubicBezTo>
                  <a:pt x="582999" y="0"/>
                  <a:pt x="608203" y="25168"/>
                  <a:pt x="608203" y="56241"/>
                </a:cubicBezTo>
                <a:cubicBezTo>
                  <a:pt x="608203" y="87314"/>
                  <a:pt x="582999" y="112481"/>
                  <a:pt x="551880" y="112481"/>
                </a:cubicBezTo>
                <a:lnTo>
                  <a:pt x="551551" y="112481"/>
                </a:lnTo>
                <a:cubicBezTo>
                  <a:pt x="520480" y="112481"/>
                  <a:pt x="495228" y="87314"/>
                  <a:pt x="495228" y="56241"/>
                </a:cubicBezTo>
                <a:cubicBezTo>
                  <a:pt x="495228" y="25168"/>
                  <a:pt x="520480" y="0"/>
                  <a:pt x="551551" y="0"/>
                </a:cubicBezTo>
                <a:close/>
                <a:moveTo>
                  <a:pt x="386346" y="0"/>
                </a:moveTo>
                <a:lnTo>
                  <a:pt x="387050" y="0"/>
                </a:lnTo>
                <a:cubicBezTo>
                  <a:pt x="418162" y="0"/>
                  <a:pt x="443362" y="25168"/>
                  <a:pt x="443362" y="56241"/>
                </a:cubicBezTo>
                <a:cubicBezTo>
                  <a:pt x="443362" y="87314"/>
                  <a:pt x="418162" y="112481"/>
                  <a:pt x="387050" y="112481"/>
                </a:cubicBezTo>
                <a:lnTo>
                  <a:pt x="386346" y="112481"/>
                </a:lnTo>
                <a:cubicBezTo>
                  <a:pt x="355280" y="112481"/>
                  <a:pt x="330034" y="87314"/>
                  <a:pt x="330034" y="56241"/>
                </a:cubicBezTo>
                <a:cubicBezTo>
                  <a:pt x="330034" y="25168"/>
                  <a:pt x="355280" y="0"/>
                  <a:pt x="386346" y="0"/>
                </a:cubicBezTo>
                <a:close/>
                <a:moveTo>
                  <a:pt x="221153" y="0"/>
                </a:moveTo>
                <a:lnTo>
                  <a:pt x="221857" y="0"/>
                </a:lnTo>
                <a:cubicBezTo>
                  <a:pt x="252922" y="0"/>
                  <a:pt x="278169" y="25168"/>
                  <a:pt x="278169" y="56241"/>
                </a:cubicBezTo>
                <a:cubicBezTo>
                  <a:pt x="278169" y="87314"/>
                  <a:pt x="252922" y="112481"/>
                  <a:pt x="221857" y="112481"/>
                </a:cubicBezTo>
                <a:lnTo>
                  <a:pt x="221153" y="112481"/>
                </a:lnTo>
                <a:cubicBezTo>
                  <a:pt x="190040" y="112481"/>
                  <a:pt x="164841" y="87314"/>
                  <a:pt x="164841" y="56241"/>
                </a:cubicBezTo>
                <a:cubicBezTo>
                  <a:pt x="164841" y="25168"/>
                  <a:pt x="190040" y="0"/>
                  <a:pt x="221153" y="0"/>
                </a:cubicBezTo>
                <a:close/>
                <a:moveTo>
                  <a:pt x="56323" y="0"/>
                </a:moveTo>
                <a:lnTo>
                  <a:pt x="56652" y="0"/>
                </a:lnTo>
                <a:cubicBezTo>
                  <a:pt x="87723" y="0"/>
                  <a:pt x="112975" y="25168"/>
                  <a:pt x="112975" y="56241"/>
                </a:cubicBezTo>
                <a:cubicBezTo>
                  <a:pt x="112975" y="87314"/>
                  <a:pt x="87723" y="112481"/>
                  <a:pt x="56652" y="112481"/>
                </a:cubicBezTo>
                <a:lnTo>
                  <a:pt x="56323" y="112481"/>
                </a:lnTo>
                <a:cubicBezTo>
                  <a:pt x="25204" y="112481"/>
                  <a:pt x="0" y="87314"/>
                  <a:pt x="0" y="56241"/>
                </a:cubicBezTo>
                <a:cubicBezTo>
                  <a:pt x="0" y="25168"/>
                  <a:pt x="25204" y="0"/>
                  <a:pt x="56323" y="0"/>
                </a:cubicBezTo>
                <a:close/>
              </a:path>
            </a:pathLst>
          </a:custGeom>
          <a:solidFill>
            <a:srgbClr val="1A3172"/>
          </a:solidFill>
          <a:ln>
            <a:noFill/>
          </a:ln>
        </p:spPr>
        <p:txBody>
          <a:bodyPr/>
          <a:lstStyle/>
          <a:p>
            <a:endParaRPr lang="zh-CN" altLang="en-US">
              <a:cs typeface="+mn-ea"/>
              <a:sym typeface="+mn-lt"/>
            </a:endParaRPr>
          </a:p>
        </p:txBody>
      </p:sp>
      <p:sp>
        <p:nvSpPr>
          <p:cNvPr id="549" name="book-and-cd_43679"/>
          <p:cNvSpPr>
            <a:spLocks noChangeAspect="1"/>
          </p:cNvSpPr>
          <p:nvPr/>
        </p:nvSpPr>
        <p:spPr bwMode="auto">
          <a:xfrm>
            <a:off x="520658" y="414668"/>
            <a:ext cx="609685" cy="488288"/>
          </a:xfrm>
          <a:custGeom>
            <a:avLst/>
            <a:gdLst>
              <a:gd name="connsiteX0" fmla="*/ 452113 w 560604"/>
              <a:gd name="connsiteY0" fmla="*/ 77314 h 448980"/>
              <a:gd name="connsiteX1" fmla="*/ 417185 w 560604"/>
              <a:gd name="connsiteY1" fmla="*/ 112165 h 448980"/>
              <a:gd name="connsiteX2" fmla="*/ 452113 w 560604"/>
              <a:gd name="connsiteY2" fmla="*/ 145726 h 448980"/>
              <a:gd name="connsiteX3" fmla="*/ 485747 w 560604"/>
              <a:gd name="connsiteY3" fmla="*/ 112165 h 448980"/>
              <a:gd name="connsiteX4" fmla="*/ 452113 w 560604"/>
              <a:gd name="connsiteY4" fmla="*/ 77314 h 448980"/>
              <a:gd name="connsiteX5" fmla="*/ 118850 w 560604"/>
              <a:gd name="connsiteY5" fmla="*/ 64516 h 448980"/>
              <a:gd name="connsiteX6" fmla="*/ 40048 w 560604"/>
              <a:gd name="connsiteY6" fmla="*/ 77417 h 448980"/>
              <a:gd name="connsiteX7" fmla="*/ 40048 w 560604"/>
              <a:gd name="connsiteY7" fmla="*/ 392214 h 448980"/>
              <a:gd name="connsiteX8" fmla="*/ 107224 w 560604"/>
              <a:gd name="connsiteY8" fmla="*/ 380602 h 448980"/>
              <a:gd name="connsiteX9" fmla="*/ 255786 w 560604"/>
              <a:gd name="connsiteY9" fmla="*/ 412856 h 448980"/>
              <a:gd name="connsiteX10" fmla="*/ 255786 w 560604"/>
              <a:gd name="connsiteY10" fmla="*/ 277390 h 448980"/>
              <a:gd name="connsiteX11" fmla="*/ 246743 w 560604"/>
              <a:gd name="connsiteY11" fmla="*/ 287711 h 448980"/>
              <a:gd name="connsiteX12" fmla="*/ 246743 w 560604"/>
              <a:gd name="connsiteY12" fmla="*/ 109671 h 448980"/>
              <a:gd name="connsiteX13" fmla="*/ 118850 w 560604"/>
              <a:gd name="connsiteY13" fmla="*/ 64516 h 448980"/>
              <a:gd name="connsiteX14" fmla="*/ 452113 w 560604"/>
              <a:gd name="connsiteY14" fmla="*/ 64406 h 448980"/>
              <a:gd name="connsiteX15" fmla="*/ 498683 w 560604"/>
              <a:gd name="connsiteY15" fmla="*/ 112165 h 448980"/>
              <a:gd name="connsiteX16" fmla="*/ 452113 w 560604"/>
              <a:gd name="connsiteY16" fmla="*/ 158634 h 448980"/>
              <a:gd name="connsiteX17" fmla="*/ 404248 w 560604"/>
              <a:gd name="connsiteY17" fmla="*/ 112165 h 448980"/>
              <a:gd name="connsiteX18" fmla="*/ 452113 w 560604"/>
              <a:gd name="connsiteY18" fmla="*/ 64406 h 448980"/>
              <a:gd name="connsiteX19" fmla="*/ 452058 w 560604"/>
              <a:gd name="connsiteY19" fmla="*/ 59344 h 448980"/>
              <a:gd name="connsiteX20" fmla="*/ 399076 w 560604"/>
              <a:gd name="connsiteY20" fmla="*/ 112237 h 448980"/>
              <a:gd name="connsiteX21" fmla="*/ 452058 w 560604"/>
              <a:gd name="connsiteY21" fmla="*/ 163840 h 448980"/>
              <a:gd name="connsiteX22" fmla="*/ 505039 w 560604"/>
              <a:gd name="connsiteY22" fmla="*/ 112237 h 448980"/>
              <a:gd name="connsiteX23" fmla="*/ 452058 w 560604"/>
              <a:gd name="connsiteY23" fmla="*/ 59344 h 448980"/>
              <a:gd name="connsiteX24" fmla="*/ 118850 w 560604"/>
              <a:gd name="connsiteY24" fmla="*/ 50324 h 448980"/>
              <a:gd name="connsiteX25" fmla="*/ 257078 w 560604"/>
              <a:gd name="connsiteY25" fmla="*/ 99350 h 448980"/>
              <a:gd name="connsiteX26" fmla="*/ 334589 w 560604"/>
              <a:gd name="connsiteY26" fmla="*/ 58065 h 448980"/>
              <a:gd name="connsiteX27" fmla="*/ 329422 w 560604"/>
              <a:gd name="connsiteY27" fmla="*/ 76127 h 448980"/>
              <a:gd name="connsiteX28" fmla="*/ 268705 w 560604"/>
              <a:gd name="connsiteY28" fmla="*/ 109671 h 448980"/>
              <a:gd name="connsiteX29" fmla="*/ 268705 w 560604"/>
              <a:gd name="connsiteY29" fmla="*/ 287711 h 448980"/>
              <a:gd name="connsiteX30" fmla="*/ 259662 w 560604"/>
              <a:gd name="connsiteY30" fmla="*/ 277390 h 448980"/>
              <a:gd name="connsiteX31" fmla="*/ 259662 w 560604"/>
              <a:gd name="connsiteY31" fmla="*/ 412856 h 448980"/>
              <a:gd name="connsiteX32" fmla="*/ 405641 w 560604"/>
              <a:gd name="connsiteY32" fmla="*/ 380602 h 448980"/>
              <a:gd name="connsiteX33" fmla="*/ 475400 w 560604"/>
              <a:gd name="connsiteY33" fmla="*/ 392214 h 448980"/>
              <a:gd name="connsiteX34" fmla="*/ 475400 w 560604"/>
              <a:gd name="connsiteY34" fmla="*/ 233525 h 448980"/>
              <a:gd name="connsiteX35" fmla="*/ 510280 w 560604"/>
              <a:gd name="connsiteY35" fmla="*/ 221914 h 448980"/>
              <a:gd name="connsiteX36" fmla="*/ 510280 w 560604"/>
              <a:gd name="connsiteY36" fmla="*/ 437369 h 448980"/>
              <a:gd name="connsiteX37" fmla="*/ 290666 w 560604"/>
              <a:gd name="connsiteY37" fmla="*/ 437369 h 448980"/>
              <a:gd name="connsiteX38" fmla="*/ 258370 w 560604"/>
              <a:gd name="connsiteY38" fmla="*/ 448980 h 448980"/>
              <a:gd name="connsiteX39" fmla="*/ 226074 w 560604"/>
              <a:gd name="connsiteY39" fmla="*/ 437369 h 448980"/>
              <a:gd name="connsiteX40" fmla="*/ 0 w 560604"/>
              <a:gd name="connsiteY40" fmla="*/ 437369 h 448980"/>
              <a:gd name="connsiteX41" fmla="*/ 0 w 560604"/>
              <a:gd name="connsiteY41" fmla="*/ 113541 h 448980"/>
              <a:gd name="connsiteX42" fmla="*/ 24545 w 560604"/>
              <a:gd name="connsiteY42" fmla="*/ 96769 h 448980"/>
              <a:gd name="connsiteX43" fmla="*/ 24545 w 560604"/>
              <a:gd name="connsiteY43" fmla="*/ 67096 h 448980"/>
              <a:gd name="connsiteX44" fmla="*/ 29713 w 560604"/>
              <a:gd name="connsiteY44" fmla="*/ 65806 h 448980"/>
              <a:gd name="connsiteX45" fmla="*/ 118850 w 560604"/>
              <a:gd name="connsiteY45" fmla="*/ 50324 h 448980"/>
              <a:gd name="connsiteX46" fmla="*/ 449473 w 560604"/>
              <a:gd name="connsiteY46" fmla="*/ 0 h 448980"/>
              <a:gd name="connsiteX47" fmla="*/ 560604 w 560604"/>
              <a:gd name="connsiteY47" fmla="*/ 109657 h 448980"/>
              <a:gd name="connsiteX48" fmla="*/ 449473 w 560604"/>
              <a:gd name="connsiteY48" fmla="*/ 219313 h 448980"/>
              <a:gd name="connsiteX49" fmla="*/ 339634 w 560604"/>
              <a:gd name="connsiteY49" fmla="*/ 109657 h 448980"/>
              <a:gd name="connsiteX50" fmla="*/ 449473 w 560604"/>
              <a:gd name="connsiteY50" fmla="*/ 0 h 448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60604" h="448980">
                <a:moveTo>
                  <a:pt x="452113" y="77314"/>
                </a:moveTo>
                <a:cubicBezTo>
                  <a:pt x="432708" y="77314"/>
                  <a:pt x="417185" y="92804"/>
                  <a:pt x="417185" y="112165"/>
                </a:cubicBezTo>
                <a:cubicBezTo>
                  <a:pt x="417185" y="130237"/>
                  <a:pt x="432708" y="145726"/>
                  <a:pt x="452113" y="145726"/>
                </a:cubicBezTo>
                <a:cubicBezTo>
                  <a:pt x="471517" y="145726"/>
                  <a:pt x="485747" y="130237"/>
                  <a:pt x="485747" y="112165"/>
                </a:cubicBezTo>
                <a:cubicBezTo>
                  <a:pt x="485747" y="92804"/>
                  <a:pt x="470223" y="77314"/>
                  <a:pt x="452113" y="77314"/>
                </a:cubicBezTo>
                <a:close/>
                <a:moveTo>
                  <a:pt x="118850" y="64516"/>
                </a:moveTo>
                <a:cubicBezTo>
                  <a:pt x="81387" y="64516"/>
                  <a:pt x="50382" y="73547"/>
                  <a:pt x="40048" y="77417"/>
                </a:cubicBezTo>
                <a:lnTo>
                  <a:pt x="40048" y="392214"/>
                </a:lnTo>
                <a:cubicBezTo>
                  <a:pt x="58133" y="384473"/>
                  <a:pt x="81387" y="380602"/>
                  <a:pt x="107224" y="380602"/>
                </a:cubicBezTo>
                <a:cubicBezTo>
                  <a:pt x="171816" y="380602"/>
                  <a:pt x="236408" y="405115"/>
                  <a:pt x="255786" y="412856"/>
                </a:cubicBezTo>
                <a:lnTo>
                  <a:pt x="255786" y="277390"/>
                </a:lnTo>
                <a:lnTo>
                  <a:pt x="246743" y="287711"/>
                </a:lnTo>
                <a:lnTo>
                  <a:pt x="246743" y="109671"/>
                </a:lnTo>
                <a:cubicBezTo>
                  <a:pt x="211863" y="79997"/>
                  <a:pt x="169232" y="64516"/>
                  <a:pt x="118850" y="64516"/>
                </a:cubicBezTo>
                <a:close/>
                <a:moveTo>
                  <a:pt x="452113" y="64406"/>
                </a:moveTo>
                <a:cubicBezTo>
                  <a:pt x="477985" y="64406"/>
                  <a:pt x="498683" y="86350"/>
                  <a:pt x="498683" y="112165"/>
                </a:cubicBezTo>
                <a:cubicBezTo>
                  <a:pt x="498683" y="137981"/>
                  <a:pt x="477985" y="158634"/>
                  <a:pt x="452113" y="158634"/>
                </a:cubicBezTo>
                <a:cubicBezTo>
                  <a:pt x="426240" y="158634"/>
                  <a:pt x="404248" y="137981"/>
                  <a:pt x="404248" y="112165"/>
                </a:cubicBezTo>
                <a:cubicBezTo>
                  <a:pt x="404248" y="86350"/>
                  <a:pt x="426240" y="64406"/>
                  <a:pt x="452113" y="64406"/>
                </a:cubicBezTo>
                <a:close/>
                <a:moveTo>
                  <a:pt x="452058" y="59344"/>
                </a:moveTo>
                <a:cubicBezTo>
                  <a:pt x="422336" y="59344"/>
                  <a:pt x="399076" y="82565"/>
                  <a:pt x="399076" y="112237"/>
                </a:cubicBezTo>
                <a:cubicBezTo>
                  <a:pt x="399076" y="140618"/>
                  <a:pt x="422336" y="163840"/>
                  <a:pt x="452058" y="163840"/>
                </a:cubicBezTo>
                <a:cubicBezTo>
                  <a:pt x="480486" y="163840"/>
                  <a:pt x="505039" y="140618"/>
                  <a:pt x="505039" y="112237"/>
                </a:cubicBezTo>
                <a:cubicBezTo>
                  <a:pt x="505039" y="82565"/>
                  <a:pt x="480486" y="59344"/>
                  <a:pt x="452058" y="59344"/>
                </a:cubicBezTo>
                <a:close/>
                <a:moveTo>
                  <a:pt x="118850" y="50324"/>
                </a:moveTo>
                <a:cubicBezTo>
                  <a:pt x="173108" y="50324"/>
                  <a:pt x="219614" y="67096"/>
                  <a:pt x="257078" y="99350"/>
                </a:cubicBezTo>
                <a:cubicBezTo>
                  <a:pt x="280331" y="79997"/>
                  <a:pt x="306168" y="65806"/>
                  <a:pt x="334589" y="58065"/>
                </a:cubicBezTo>
                <a:cubicBezTo>
                  <a:pt x="332005" y="64516"/>
                  <a:pt x="330713" y="69676"/>
                  <a:pt x="329422" y="76127"/>
                </a:cubicBezTo>
                <a:cubicBezTo>
                  <a:pt x="307460" y="82578"/>
                  <a:pt x="286791" y="94189"/>
                  <a:pt x="268705" y="109671"/>
                </a:cubicBezTo>
                <a:lnTo>
                  <a:pt x="268705" y="287711"/>
                </a:lnTo>
                <a:lnTo>
                  <a:pt x="259662" y="277390"/>
                </a:lnTo>
                <a:lnTo>
                  <a:pt x="259662" y="412856"/>
                </a:lnTo>
                <a:cubicBezTo>
                  <a:pt x="279039" y="405115"/>
                  <a:pt x="339756" y="380602"/>
                  <a:pt x="405641" y="380602"/>
                </a:cubicBezTo>
                <a:cubicBezTo>
                  <a:pt x="431478" y="380602"/>
                  <a:pt x="454731" y="384473"/>
                  <a:pt x="475400" y="392214"/>
                </a:cubicBezTo>
                <a:lnTo>
                  <a:pt x="475400" y="233525"/>
                </a:lnTo>
                <a:cubicBezTo>
                  <a:pt x="488319" y="230945"/>
                  <a:pt x="499945" y="227074"/>
                  <a:pt x="510280" y="221914"/>
                </a:cubicBezTo>
                <a:lnTo>
                  <a:pt x="510280" y="437369"/>
                </a:lnTo>
                <a:lnTo>
                  <a:pt x="290666" y="437369"/>
                </a:lnTo>
                <a:cubicBezTo>
                  <a:pt x="282915" y="445110"/>
                  <a:pt x="271288" y="448980"/>
                  <a:pt x="258370" y="448980"/>
                </a:cubicBezTo>
                <a:cubicBezTo>
                  <a:pt x="245451" y="448980"/>
                  <a:pt x="233825" y="445110"/>
                  <a:pt x="226074" y="437369"/>
                </a:cubicBezTo>
                <a:lnTo>
                  <a:pt x="0" y="437369"/>
                </a:lnTo>
                <a:lnTo>
                  <a:pt x="0" y="113541"/>
                </a:lnTo>
                <a:cubicBezTo>
                  <a:pt x="0" y="105800"/>
                  <a:pt x="9043" y="100640"/>
                  <a:pt x="24545" y="96769"/>
                </a:cubicBezTo>
                <a:lnTo>
                  <a:pt x="24545" y="67096"/>
                </a:lnTo>
                <a:lnTo>
                  <a:pt x="29713" y="65806"/>
                </a:lnTo>
                <a:cubicBezTo>
                  <a:pt x="31005" y="64516"/>
                  <a:pt x="68468" y="50324"/>
                  <a:pt x="118850" y="50324"/>
                </a:cubicBezTo>
                <a:close/>
                <a:moveTo>
                  <a:pt x="449473" y="0"/>
                </a:moveTo>
                <a:cubicBezTo>
                  <a:pt x="510208" y="0"/>
                  <a:pt x="560604" y="49023"/>
                  <a:pt x="560604" y="109657"/>
                </a:cubicBezTo>
                <a:cubicBezTo>
                  <a:pt x="560604" y="170290"/>
                  <a:pt x="510208" y="219313"/>
                  <a:pt x="449473" y="219313"/>
                </a:cubicBezTo>
                <a:cubicBezTo>
                  <a:pt x="388739" y="219313"/>
                  <a:pt x="339634" y="170290"/>
                  <a:pt x="339634" y="109657"/>
                </a:cubicBezTo>
                <a:cubicBezTo>
                  <a:pt x="339634" y="49023"/>
                  <a:pt x="388739" y="0"/>
                  <a:pt x="449473" y="0"/>
                </a:cubicBezTo>
                <a:close/>
              </a:path>
            </a:pathLst>
          </a:custGeom>
          <a:solidFill>
            <a:srgbClr val="1A3172"/>
          </a:solidFill>
          <a:ln>
            <a:noFill/>
          </a:ln>
        </p:spPr>
        <p:txBody>
          <a:bodyPr/>
          <a:lstStyle/>
          <a:p>
            <a:endParaRPr lang="zh-CN" altLang="en-US">
              <a:cs typeface="+mn-ea"/>
              <a:sym typeface="+mn-lt"/>
            </a:endParaRPr>
          </a:p>
        </p:txBody>
      </p:sp>
      <p:pic>
        <p:nvPicPr>
          <p:cNvPr id="553" name="图片 55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11230" y="0"/>
            <a:ext cx="1180770" cy="11749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77419" y="598161"/>
            <a:ext cx="10825884" cy="5667826"/>
          </a:xfrm>
          <a:prstGeom prst="rect">
            <a:avLst/>
          </a:prstGeom>
          <a:blipFill dpi="0" rotWithShape="1">
            <a:blip r:embed="rId4">
              <a:alphaModFix amt="85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 name="组合 10"/>
          <p:cNvGrpSpPr/>
          <p:nvPr/>
        </p:nvGrpSpPr>
        <p:grpSpPr>
          <a:xfrm>
            <a:off x="5015410" y="1465053"/>
            <a:ext cx="2149901" cy="2149901"/>
            <a:chOff x="5015408" y="1196255"/>
            <a:chExt cx="2149901" cy="2149901"/>
          </a:xfrm>
        </p:grpSpPr>
        <p:sp>
          <p:nvSpPr>
            <p:cNvPr id="10" name="菱形 9"/>
            <p:cNvSpPr/>
            <p:nvPr/>
          </p:nvSpPr>
          <p:spPr bwMode="auto">
            <a:xfrm>
              <a:off x="5015408" y="1196255"/>
              <a:ext cx="2149901" cy="2149901"/>
            </a:xfrm>
            <a:prstGeom prst="diamond">
              <a:avLst/>
            </a:prstGeom>
            <a:solidFill>
              <a:srgbClr val="1A3172"/>
            </a:solidFill>
            <a:ln w="38100">
              <a:solidFill>
                <a:srgbClr val="1A3172"/>
              </a:solidFill>
            </a:ln>
          </p:spPr>
          <p:style>
            <a:lnRef idx="2">
              <a:schemeClr val="dk1"/>
            </a:lnRef>
            <a:fillRef idx="1">
              <a:schemeClr val="lt1"/>
            </a:fillRef>
            <a:effectRef idx="0">
              <a:schemeClr val="dk1"/>
            </a:effectRef>
            <a:fontRef idx="minor">
              <a:schemeClr val="dk1"/>
            </a:fontRef>
          </p:style>
          <p:txBody>
            <a:bodyPr wrap="none" rtlCol="0" anchor="ctr">
              <a:noAutofit/>
            </a:bodyPr>
            <a:lstStyle/>
            <a:p>
              <a:pPr algn="ctr"/>
              <a:endParaRPr lang="zh-CN" altLang="en-US" sz="2400" dirty="0">
                <a:solidFill>
                  <a:schemeClr val="tx1">
                    <a:lumMod val="85000"/>
                    <a:lumOff val="15000"/>
                  </a:schemeClr>
                </a:solidFill>
                <a:cs typeface="+mn-ea"/>
                <a:sym typeface="+mn-lt"/>
              </a:endParaRPr>
            </a:p>
          </p:txBody>
        </p:sp>
        <p:sp>
          <p:nvSpPr>
            <p:cNvPr id="7" name="矩形 6"/>
            <p:cNvSpPr/>
            <p:nvPr/>
          </p:nvSpPr>
          <p:spPr>
            <a:xfrm>
              <a:off x="5465056" y="1671042"/>
              <a:ext cx="1261884" cy="1200329"/>
            </a:xfrm>
            <a:prstGeom prst="rect">
              <a:avLst/>
            </a:prstGeom>
          </p:spPr>
          <p:txBody>
            <a:bodyPr wrap="none">
              <a:spAutoFit/>
            </a:bodyPr>
            <a:lstStyle/>
            <a:p>
              <a:pPr lvl="0" algn="ctr"/>
              <a:r>
                <a:rPr lang="en-US" altLang="zh-CN" sz="7200" b="1" spc="600" dirty="0">
                  <a:solidFill>
                    <a:schemeClr val="bg1"/>
                  </a:solidFill>
                  <a:cs typeface="+mn-ea"/>
                  <a:sym typeface="+mn-lt"/>
                </a:rPr>
                <a:t>03</a:t>
              </a:r>
              <a:endParaRPr lang="zh-CN" altLang="en-US" sz="7200" b="1" spc="600" dirty="0">
                <a:solidFill>
                  <a:schemeClr val="bg1"/>
                </a:solidFill>
                <a:cs typeface="+mn-ea"/>
                <a:sym typeface="+mn-lt"/>
              </a:endParaRPr>
            </a:p>
          </p:txBody>
        </p:sp>
      </p:grpSp>
      <p:sp>
        <p:nvSpPr>
          <p:cNvPr id="8" name="矩形 7"/>
          <p:cNvSpPr/>
          <p:nvPr/>
        </p:nvSpPr>
        <p:spPr>
          <a:xfrm>
            <a:off x="2960980" y="3718091"/>
            <a:ext cx="6260098" cy="1191993"/>
          </a:xfrm>
          <a:prstGeom prst="rect">
            <a:avLst/>
          </a:prstGeom>
        </p:spPr>
        <p:txBody>
          <a:bodyPr wrap="square">
            <a:spAutoFit/>
          </a:bodyPr>
          <a:lstStyle/>
          <a:p>
            <a:pPr algn="ctr">
              <a:lnSpc>
                <a:spcPct val="150000"/>
              </a:lnSpc>
            </a:pPr>
            <a:r>
              <a:rPr lang="zh-CN" altLang="en-US" sz="5400" b="1" spc="600" dirty="0">
                <a:solidFill>
                  <a:schemeClr val="tx1">
                    <a:lumMod val="85000"/>
                    <a:lumOff val="15000"/>
                  </a:schemeClr>
                </a:solidFill>
                <a:cs typeface="+mn-ea"/>
                <a:sym typeface="+mn-lt"/>
              </a:rPr>
              <a:t>课题研究内容</a:t>
            </a:r>
          </a:p>
        </p:txBody>
      </p:sp>
      <p:sp>
        <p:nvSpPr>
          <p:cNvPr id="17" name="矩形 16"/>
          <p:cNvSpPr/>
          <p:nvPr/>
        </p:nvSpPr>
        <p:spPr>
          <a:xfrm>
            <a:off x="2960980" y="4910084"/>
            <a:ext cx="6281320" cy="377411"/>
          </a:xfrm>
          <a:prstGeom prst="rect">
            <a:avLst/>
          </a:prstGeom>
        </p:spPr>
        <p:txBody>
          <a:bodyPr wrap="square">
            <a:spAutoFit/>
          </a:bodyPr>
          <a:lstStyle/>
          <a:p>
            <a:pPr algn="ctr">
              <a:lnSpc>
                <a:spcPct val="150000"/>
              </a:lnSpc>
            </a:pPr>
            <a:r>
              <a:rPr lang="en-US" altLang="zh-CN" sz="1400" dirty="0">
                <a:solidFill>
                  <a:schemeClr val="tx1">
                    <a:lumMod val="85000"/>
                    <a:lumOff val="15000"/>
                  </a:schemeClr>
                </a:solidFill>
                <a:cs typeface="+mn-ea"/>
                <a:sym typeface="+mn-lt"/>
              </a:rPr>
              <a:t>Research content of the project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1" presetClass="entr" presetSubtype="1"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2000"/>
                                        <p:tgtEl>
                                          <p:spTgt spid="11"/>
                                        </p:tgtEl>
                                      </p:cBhvr>
                                    </p:animEffect>
                                  </p:childTnLst>
                                </p:cTn>
                              </p:par>
                            </p:childTnLst>
                          </p:cTn>
                        </p:par>
                        <p:par>
                          <p:cTn id="14" fill="hold">
                            <p:stCondLst>
                              <p:cond delay="3000"/>
                            </p:stCondLst>
                            <p:childTnLst>
                              <p:par>
                                <p:cTn id="15" presetID="42"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par>
                          <p:cTn id="20" fill="hold">
                            <p:stCondLst>
                              <p:cond delay="4000"/>
                            </p:stCondLst>
                            <p:childTnLst>
                              <p:par>
                                <p:cTn id="21" presetID="42" presetClass="entr" presetSubtype="0"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1000"/>
                                        <p:tgtEl>
                                          <p:spTgt spid="17"/>
                                        </p:tgtEl>
                                      </p:cBhvr>
                                    </p:animEffect>
                                    <p:anim calcmode="lin" valueType="num">
                                      <p:cBhvr>
                                        <p:cTn id="24" dur="1000" fill="hold"/>
                                        <p:tgtEl>
                                          <p:spTgt spid="17"/>
                                        </p:tgtEl>
                                        <p:attrNameLst>
                                          <p:attrName>ppt_x</p:attrName>
                                        </p:attrNameLst>
                                      </p:cBhvr>
                                      <p:tavLst>
                                        <p:tav tm="0">
                                          <p:val>
                                            <p:strVal val="#ppt_x"/>
                                          </p:val>
                                        </p:tav>
                                        <p:tav tm="100000">
                                          <p:val>
                                            <p:strVal val="#ppt_x"/>
                                          </p:val>
                                        </p:tav>
                                      </p:tavLst>
                                    </p:anim>
                                    <p:anim calcmode="lin" valueType="num">
                                      <p:cBhvr>
                                        <p:cTn id="2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bwMode="auto">
          <a:xfrm>
            <a:off x="2119088" y="-1"/>
            <a:ext cx="1582054" cy="6830201"/>
          </a:xfrm>
          <a:prstGeom prst="rect">
            <a:avLst/>
          </a:prstGeom>
          <a:solidFill>
            <a:schemeClr val="bg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cs typeface="+mn-ea"/>
              <a:sym typeface="+mn-lt"/>
            </a:endParaRPr>
          </a:p>
        </p:txBody>
      </p:sp>
      <p:sp>
        <p:nvSpPr>
          <p:cNvPr id="14" name="išľidé"/>
          <p:cNvSpPr/>
          <p:nvPr/>
        </p:nvSpPr>
        <p:spPr>
          <a:xfrm>
            <a:off x="1145083" y="2271807"/>
            <a:ext cx="3496726" cy="2566715"/>
          </a:xfrm>
          <a:custGeom>
            <a:avLst/>
            <a:gdLst>
              <a:gd name="connsiteX0" fmla="*/ 224028 w 7415784"/>
              <a:gd name="connsiteY0" fmla="*/ 269748 h 4700016"/>
              <a:gd name="connsiteX1" fmla="*/ 224028 w 7415784"/>
              <a:gd name="connsiteY1" fmla="*/ 4430268 h 4700016"/>
              <a:gd name="connsiteX2" fmla="*/ 7191756 w 7415784"/>
              <a:gd name="connsiteY2" fmla="*/ 4430268 h 4700016"/>
              <a:gd name="connsiteX3" fmla="*/ 7191756 w 7415784"/>
              <a:gd name="connsiteY3" fmla="*/ 269748 h 4700016"/>
              <a:gd name="connsiteX4" fmla="*/ 266867 w 7415784"/>
              <a:gd name="connsiteY4" fmla="*/ 0 h 4700016"/>
              <a:gd name="connsiteX5" fmla="*/ 7148917 w 7415784"/>
              <a:gd name="connsiteY5" fmla="*/ 0 h 4700016"/>
              <a:gd name="connsiteX6" fmla="*/ 7415784 w 7415784"/>
              <a:gd name="connsiteY6" fmla="*/ 266867 h 4700016"/>
              <a:gd name="connsiteX7" fmla="*/ 7415784 w 7415784"/>
              <a:gd name="connsiteY7" fmla="*/ 4433149 h 4700016"/>
              <a:gd name="connsiteX8" fmla="*/ 7148917 w 7415784"/>
              <a:gd name="connsiteY8" fmla="*/ 4700016 h 4700016"/>
              <a:gd name="connsiteX9" fmla="*/ 266867 w 7415784"/>
              <a:gd name="connsiteY9" fmla="*/ 4700016 h 4700016"/>
              <a:gd name="connsiteX10" fmla="*/ 0 w 7415784"/>
              <a:gd name="connsiteY10" fmla="*/ 4433149 h 4700016"/>
              <a:gd name="connsiteX11" fmla="*/ 0 w 7415784"/>
              <a:gd name="connsiteY11" fmla="*/ 266867 h 4700016"/>
              <a:gd name="connsiteX12" fmla="*/ 266867 w 7415784"/>
              <a:gd name="connsiteY12" fmla="*/ 0 h 470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415784" h="4700016">
                <a:moveTo>
                  <a:pt x="224028" y="269748"/>
                </a:moveTo>
                <a:lnTo>
                  <a:pt x="224028" y="4430268"/>
                </a:lnTo>
                <a:lnTo>
                  <a:pt x="7191756" y="4430268"/>
                </a:lnTo>
                <a:lnTo>
                  <a:pt x="7191756" y="269748"/>
                </a:lnTo>
                <a:close/>
                <a:moveTo>
                  <a:pt x="266867" y="0"/>
                </a:moveTo>
                <a:lnTo>
                  <a:pt x="7148917" y="0"/>
                </a:lnTo>
                <a:cubicBezTo>
                  <a:pt x="7296304" y="0"/>
                  <a:pt x="7415784" y="119480"/>
                  <a:pt x="7415784" y="266867"/>
                </a:cubicBezTo>
                <a:lnTo>
                  <a:pt x="7415784" y="4433149"/>
                </a:lnTo>
                <a:cubicBezTo>
                  <a:pt x="7415784" y="4580536"/>
                  <a:pt x="7296304" y="4700016"/>
                  <a:pt x="7148917" y="4700016"/>
                </a:cubicBezTo>
                <a:lnTo>
                  <a:pt x="266867" y="4700016"/>
                </a:lnTo>
                <a:cubicBezTo>
                  <a:pt x="119480" y="4700016"/>
                  <a:pt x="0" y="4580536"/>
                  <a:pt x="0" y="4433149"/>
                </a:cubicBezTo>
                <a:lnTo>
                  <a:pt x="0" y="266867"/>
                </a:lnTo>
                <a:cubicBezTo>
                  <a:pt x="0" y="119480"/>
                  <a:pt x="119480" y="0"/>
                  <a:pt x="266867" y="0"/>
                </a:cubicBezTo>
                <a:close/>
              </a:path>
            </a:pathLst>
          </a:cu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090" b="0" i="0" u="none" strike="noStrike" kern="1200" cap="none" spc="0" normalizeH="0" baseline="0" noProof="0">
              <a:ln>
                <a:noFill/>
              </a:ln>
              <a:solidFill>
                <a:srgbClr val="FFFFFF"/>
              </a:solidFill>
              <a:effectLst/>
              <a:uLnTx/>
              <a:uFillTx/>
              <a:cs typeface="+mn-ea"/>
              <a:sym typeface="+mn-lt"/>
            </a:endParaRPr>
          </a:p>
        </p:txBody>
      </p:sp>
      <p:sp>
        <p:nvSpPr>
          <p:cNvPr id="15" name="î$ľiḋé"/>
          <p:cNvSpPr/>
          <p:nvPr/>
        </p:nvSpPr>
        <p:spPr>
          <a:xfrm>
            <a:off x="1153326" y="2283030"/>
            <a:ext cx="3480240" cy="2544268"/>
          </a:xfrm>
          <a:custGeom>
            <a:avLst/>
            <a:gdLst>
              <a:gd name="connsiteX0" fmla="*/ 252028 w 7380820"/>
              <a:gd name="connsiteY0" fmla="*/ 295230 h 4658912"/>
              <a:gd name="connsiteX1" fmla="*/ 252028 w 7380820"/>
              <a:gd name="connsiteY1" fmla="*/ 4363682 h 4658912"/>
              <a:gd name="connsiteX2" fmla="*/ 7128792 w 7380820"/>
              <a:gd name="connsiteY2" fmla="*/ 4363682 h 4658912"/>
              <a:gd name="connsiteX3" fmla="*/ 7128792 w 7380820"/>
              <a:gd name="connsiteY3" fmla="*/ 295230 h 4658912"/>
              <a:gd name="connsiteX4" fmla="*/ 264533 w 7380820"/>
              <a:gd name="connsiteY4" fmla="*/ 0 h 4658912"/>
              <a:gd name="connsiteX5" fmla="*/ 7116287 w 7380820"/>
              <a:gd name="connsiteY5" fmla="*/ 0 h 4658912"/>
              <a:gd name="connsiteX6" fmla="*/ 7380820 w 7380820"/>
              <a:gd name="connsiteY6" fmla="*/ 264533 h 4658912"/>
              <a:gd name="connsiteX7" fmla="*/ 7380820 w 7380820"/>
              <a:gd name="connsiteY7" fmla="*/ 4394379 h 4658912"/>
              <a:gd name="connsiteX8" fmla="*/ 7116287 w 7380820"/>
              <a:gd name="connsiteY8" fmla="*/ 4658912 h 4658912"/>
              <a:gd name="connsiteX9" fmla="*/ 264533 w 7380820"/>
              <a:gd name="connsiteY9" fmla="*/ 4658912 h 4658912"/>
              <a:gd name="connsiteX10" fmla="*/ 0 w 7380820"/>
              <a:gd name="connsiteY10" fmla="*/ 4394379 h 4658912"/>
              <a:gd name="connsiteX11" fmla="*/ 0 w 7380820"/>
              <a:gd name="connsiteY11" fmla="*/ 264533 h 4658912"/>
              <a:gd name="connsiteX12" fmla="*/ 264533 w 7380820"/>
              <a:gd name="connsiteY12" fmla="*/ 0 h 465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80820" h="4658912">
                <a:moveTo>
                  <a:pt x="252028" y="295230"/>
                </a:moveTo>
                <a:lnTo>
                  <a:pt x="252028" y="4363682"/>
                </a:lnTo>
                <a:lnTo>
                  <a:pt x="7128792" y="4363682"/>
                </a:lnTo>
                <a:lnTo>
                  <a:pt x="7128792" y="295230"/>
                </a:lnTo>
                <a:close/>
                <a:moveTo>
                  <a:pt x="264533" y="0"/>
                </a:moveTo>
                <a:lnTo>
                  <a:pt x="7116287" y="0"/>
                </a:lnTo>
                <a:cubicBezTo>
                  <a:pt x="7262385" y="0"/>
                  <a:pt x="7380820" y="118435"/>
                  <a:pt x="7380820" y="264533"/>
                </a:cubicBezTo>
                <a:lnTo>
                  <a:pt x="7380820" y="4394379"/>
                </a:lnTo>
                <a:cubicBezTo>
                  <a:pt x="7380820" y="4540477"/>
                  <a:pt x="7262385" y="4658912"/>
                  <a:pt x="7116287" y="4658912"/>
                </a:cubicBezTo>
                <a:lnTo>
                  <a:pt x="264533" y="4658912"/>
                </a:lnTo>
                <a:cubicBezTo>
                  <a:pt x="118435" y="4658912"/>
                  <a:pt x="0" y="4540477"/>
                  <a:pt x="0" y="4394379"/>
                </a:cubicBezTo>
                <a:lnTo>
                  <a:pt x="0" y="264533"/>
                </a:lnTo>
                <a:cubicBezTo>
                  <a:pt x="0" y="118435"/>
                  <a:pt x="118435" y="0"/>
                  <a:pt x="264533" y="0"/>
                </a:cubicBezTo>
                <a:close/>
              </a:path>
            </a:pathLst>
          </a:cu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090" b="0" i="0" u="none" strike="noStrike" kern="1200" cap="none" spc="0" normalizeH="0" baseline="0" noProof="0" dirty="0">
              <a:ln>
                <a:noFill/>
              </a:ln>
              <a:solidFill>
                <a:srgbClr val="FFFFFF"/>
              </a:solidFill>
              <a:effectLst/>
              <a:uLnTx/>
              <a:uFillTx/>
              <a:cs typeface="+mn-ea"/>
              <a:sym typeface="+mn-lt"/>
            </a:endParaRPr>
          </a:p>
        </p:txBody>
      </p:sp>
      <p:sp>
        <p:nvSpPr>
          <p:cNvPr id="16" name="ïṧļidê"/>
          <p:cNvSpPr/>
          <p:nvPr/>
        </p:nvSpPr>
        <p:spPr>
          <a:xfrm>
            <a:off x="2859492" y="2327250"/>
            <a:ext cx="67907" cy="78648"/>
          </a:xfrm>
          <a:prstGeom prst="ellipse">
            <a:avLst/>
          </a:prstGeom>
          <a:gradFill flip="none" rotWithShape="1">
            <a:gsLst>
              <a:gs pos="17000">
                <a:schemeClr val="tx1"/>
              </a:gs>
              <a:gs pos="34000">
                <a:srgbClr val="000000">
                  <a:lumMod val="84000"/>
                  <a:lumOff val="16000"/>
                </a:srgbClr>
              </a:gs>
              <a:gs pos="100000">
                <a:schemeClr val="bg1">
                  <a:lumMod val="50000"/>
                  <a:lumOff val="5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090" b="0" i="0" u="none" strike="noStrike" kern="1200" cap="none" spc="0" normalizeH="0" baseline="0" noProof="0">
              <a:ln>
                <a:noFill/>
              </a:ln>
              <a:solidFill>
                <a:srgbClr val="FFFFFF"/>
              </a:solidFill>
              <a:effectLst/>
              <a:uLnTx/>
              <a:uFillTx/>
              <a:cs typeface="+mn-ea"/>
              <a:sym typeface="+mn-lt"/>
            </a:endParaRPr>
          </a:p>
        </p:txBody>
      </p:sp>
      <p:sp>
        <p:nvSpPr>
          <p:cNvPr id="19" name="iSḷïḑe"/>
          <p:cNvSpPr/>
          <p:nvPr/>
        </p:nvSpPr>
        <p:spPr>
          <a:xfrm flipV="1">
            <a:off x="686465" y="4887351"/>
            <a:ext cx="4413962" cy="19975"/>
          </a:xfrm>
          <a:prstGeom prst="trapezoid">
            <a:avLst>
              <a:gd name="adj" fmla="val 814192"/>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090" b="0" i="0" u="none" strike="noStrike" kern="1200" cap="none" spc="0" normalizeH="0" baseline="0" noProof="0">
              <a:ln>
                <a:noFill/>
              </a:ln>
              <a:solidFill>
                <a:srgbClr val="FFFFFF"/>
              </a:solidFill>
              <a:effectLst/>
              <a:uLnTx/>
              <a:uFillTx/>
              <a:cs typeface="+mn-ea"/>
              <a:sym typeface="+mn-lt"/>
            </a:endParaRPr>
          </a:p>
        </p:txBody>
      </p:sp>
      <p:sp>
        <p:nvSpPr>
          <p:cNvPr id="20" name="îṡľíḓè"/>
          <p:cNvSpPr/>
          <p:nvPr/>
        </p:nvSpPr>
        <p:spPr>
          <a:xfrm>
            <a:off x="686465" y="4804917"/>
            <a:ext cx="4413962" cy="8251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090" b="0" i="0" u="none" strike="noStrike" kern="1200" cap="none" spc="0" normalizeH="0" baseline="0" noProof="0">
              <a:ln>
                <a:noFill/>
              </a:ln>
              <a:solidFill>
                <a:srgbClr val="FFFFFF"/>
              </a:solidFill>
              <a:effectLst/>
              <a:uLnTx/>
              <a:uFillTx/>
              <a:cs typeface="+mn-ea"/>
              <a:sym typeface="+mn-lt"/>
            </a:endParaRPr>
          </a:p>
        </p:txBody>
      </p:sp>
      <p:sp>
        <p:nvSpPr>
          <p:cNvPr id="18" name="ïṣḷîḑé"/>
          <p:cNvSpPr/>
          <p:nvPr/>
        </p:nvSpPr>
        <p:spPr>
          <a:xfrm>
            <a:off x="3448564" y="2259000"/>
            <a:ext cx="1193245" cy="2566715"/>
          </a:xfrm>
          <a:custGeom>
            <a:avLst/>
            <a:gdLst>
              <a:gd name="connsiteX0" fmla="*/ 0 w 2530610"/>
              <a:gd name="connsiteY0" fmla="*/ 0 h 4700016"/>
              <a:gd name="connsiteX1" fmla="*/ 2263743 w 2530610"/>
              <a:gd name="connsiteY1" fmla="*/ 0 h 4700016"/>
              <a:gd name="connsiteX2" fmla="*/ 2530610 w 2530610"/>
              <a:gd name="connsiteY2" fmla="*/ 266867 h 4700016"/>
              <a:gd name="connsiteX3" fmla="*/ 2530610 w 2530610"/>
              <a:gd name="connsiteY3" fmla="*/ 4433149 h 4700016"/>
              <a:gd name="connsiteX4" fmla="*/ 2263743 w 2530610"/>
              <a:gd name="connsiteY4" fmla="*/ 4700016 h 4700016"/>
              <a:gd name="connsiteX5" fmla="*/ 1961175 w 2530610"/>
              <a:gd name="connsiteY5" fmla="*/ 4700016 h 470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30610" h="4700016">
                <a:moveTo>
                  <a:pt x="0" y="0"/>
                </a:moveTo>
                <a:lnTo>
                  <a:pt x="2263743" y="0"/>
                </a:lnTo>
                <a:cubicBezTo>
                  <a:pt x="2411130" y="0"/>
                  <a:pt x="2530610" y="119480"/>
                  <a:pt x="2530610" y="266867"/>
                </a:cubicBezTo>
                <a:lnTo>
                  <a:pt x="2530610" y="4433149"/>
                </a:lnTo>
                <a:cubicBezTo>
                  <a:pt x="2530610" y="4580536"/>
                  <a:pt x="2411130" y="4700016"/>
                  <a:pt x="2263743" y="4700016"/>
                </a:cubicBezTo>
                <a:lnTo>
                  <a:pt x="1961175" y="4700016"/>
                </a:lnTo>
                <a:close/>
              </a:path>
            </a:pathLst>
          </a:custGeom>
          <a:gradFill>
            <a:gsLst>
              <a:gs pos="0">
                <a:srgbClr val="FFFFFF">
                  <a:alpha val="30000"/>
                </a:srgbClr>
              </a:gs>
              <a:gs pos="100000">
                <a:srgbClr val="FFFFFF">
                  <a:alpha val="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090" b="0" i="0" u="none" strike="noStrike" kern="1200" cap="none" spc="0" normalizeH="0" baseline="0" noProof="0" dirty="0">
              <a:ln>
                <a:noFill/>
              </a:ln>
              <a:solidFill>
                <a:srgbClr val="FFFFFF"/>
              </a:solidFill>
              <a:effectLst/>
              <a:uLnTx/>
              <a:uFillTx/>
              <a:cs typeface="+mn-ea"/>
              <a:sym typeface="+mn-lt"/>
            </a:endParaRPr>
          </a:p>
        </p:txBody>
      </p:sp>
      <p:sp>
        <p:nvSpPr>
          <p:cNvPr id="21" name="椭圆 20"/>
          <p:cNvSpPr/>
          <p:nvPr/>
        </p:nvSpPr>
        <p:spPr bwMode="auto">
          <a:xfrm>
            <a:off x="1199764" y="5077374"/>
            <a:ext cx="3387363" cy="45902"/>
          </a:xfrm>
          <a:prstGeom prst="ellipse">
            <a:avLst/>
          </a:prstGeom>
          <a:solidFill>
            <a:schemeClr val="bg1">
              <a:lumMod val="95000"/>
            </a:schemeClr>
          </a:solidFill>
          <a:ln w="38100">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nvGrpSpPr>
          <p:cNvPr id="4" name="组合 3">
            <a:extLst>
              <a:ext uri="{FF2B5EF4-FFF2-40B4-BE49-F238E27FC236}">
                <a16:creationId xmlns:a16="http://schemas.microsoft.com/office/drawing/2014/main" id="{482D297E-883E-DE8F-2AB9-C091C4B34503}"/>
              </a:ext>
            </a:extLst>
          </p:cNvPr>
          <p:cNvGrpSpPr/>
          <p:nvPr/>
        </p:nvGrpSpPr>
        <p:grpSpPr>
          <a:xfrm>
            <a:off x="5778287" y="4764903"/>
            <a:ext cx="6029399" cy="1675654"/>
            <a:chOff x="5778287" y="4764903"/>
            <a:chExt cx="6029399" cy="1675654"/>
          </a:xfrm>
        </p:grpSpPr>
        <p:sp>
          <p:nvSpPr>
            <p:cNvPr id="38" name="Shape 6065"/>
            <p:cNvSpPr/>
            <p:nvPr/>
          </p:nvSpPr>
          <p:spPr>
            <a:xfrm>
              <a:off x="5778287" y="4961117"/>
              <a:ext cx="577851" cy="577851"/>
            </a:xfrm>
            <a:prstGeom prst="roundRect">
              <a:avLst>
                <a:gd name="adj" fmla="val 50000"/>
              </a:avLst>
            </a:prstGeom>
            <a:solidFill>
              <a:srgbClr val="1A3172"/>
            </a:solidFill>
            <a:ln w="12700" cap="flat">
              <a:noFill/>
              <a:miter lim="400000"/>
            </a:ln>
            <a:effectLst/>
          </p:spPr>
          <p:txBody>
            <a:bodyPr wrap="square" lIns="0" tIns="0" rIns="0" bIns="0" numCol="1" anchor="ctr">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srgbClr val="000000"/>
                </a:solidFill>
                <a:effectLst/>
                <a:uLnTx/>
                <a:uFillTx/>
                <a:cs typeface="+mn-ea"/>
                <a:sym typeface="+mn-lt"/>
              </a:endParaRPr>
            </a:p>
          </p:txBody>
        </p:sp>
        <p:sp>
          <p:nvSpPr>
            <p:cNvPr id="39" name="Shape 6066"/>
            <p:cNvSpPr/>
            <p:nvPr/>
          </p:nvSpPr>
          <p:spPr>
            <a:xfrm>
              <a:off x="5927358" y="5109140"/>
              <a:ext cx="279708" cy="281804"/>
            </a:xfrm>
            <a:custGeom>
              <a:avLst/>
              <a:gdLst>
                <a:gd name="connsiteX0" fmla="*/ 386204 w 602205"/>
                <a:gd name="connsiteY0" fmla="*/ 222916 h 606722"/>
                <a:gd name="connsiteX1" fmla="*/ 516692 w 602205"/>
                <a:gd name="connsiteY1" fmla="*/ 222916 h 606722"/>
                <a:gd name="connsiteX2" fmla="*/ 545129 w 602205"/>
                <a:gd name="connsiteY2" fmla="*/ 231976 h 606722"/>
                <a:gd name="connsiteX3" fmla="*/ 594743 w 602205"/>
                <a:gd name="connsiteY3" fmla="*/ 270632 h 606722"/>
                <a:gd name="connsiteX4" fmla="*/ 602205 w 602205"/>
                <a:gd name="connsiteY4" fmla="*/ 285329 h 606722"/>
                <a:gd name="connsiteX5" fmla="*/ 594944 w 602205"/>
                <a:gd name="connsiteY5" fmla="*/ 300228 h 606722"/>
                <a:gd name="connsiteX6" fmla="*/ 545129 w 602205"/>
                <a:gd name="connsiteY6" fmla="*/ 340293 h 606722"/>
                <a:gd name="connsiteX7" fmla="*/ 516692 w 602205"/>
                <a:gd name="connsiteY7" fmla="*/ 351769 h 606722"/>
                <a:gd name="connsiteX8" fmla="*/ 386204 w 602205"/>
                <a:gd name="connsiteY8" fmla="*/ 351769 h 606722"/>
                <a:gd name="connsiteX9" fmla="*/ 85299 w 602205"/>
                <a:gd name="connsiteY9" fmla="*/ 131463 h 606722"/>
                <a:gd name="connsiteX10" fmla="*/ 216777 w 602205"/>
                <a:gd name="connsiteY10" fmla="*/ 131463 h 606722"/>
                <a:gd name="connsiteX11" fmla="*/ 216777 w 602205"/>
                <a:gd name="connsiteY11" fmla="*/ 260386 h 606722"/>
                <a:gd name="connsiteX12" fmla="*/ 85299 w 602205"/>
                <a:gd name="connsiteY12" fmla="*/ 260386 h 606722"/>
                <a:gd name="connsiteX13" fmla="*/ 57068 w 602205"/>
                <a:gd name="connsiteY13" fmla="*/ 248501 h 606722"/>
                <a:gd name="connsiteX14" fmla="*/ 7058 w 602205"/>
                <a:gd name="connsiteY14" fmla="*/ 206803 h 606722"/>
                <a:gd name="connsiteX15" fmla="*/ 0 w 602205"/>
                <a:gd name="connsiteY15" fmla="*/ 192903 h 606722"/>
                <a:gd name="connsiteX16" fmla="*/ 7260 w 602205"/>
                <a:gd name="connsiteY16" fmla="*/ 178802 h 606722"/>
                <a:gd name="connsiteX17" fmla="*/ 57068 w 602205"/>
                <a:gd name="connsiteY17" fmla="*/ 139924 h 606722"/>
                <a:gd name="connsiteX18" fmla="*/ 85299 w 602205"/>
                <a:gd name="connsiteY18" fmla="*/ 131463 h 606722"/>
                <a:gd name="connsiteX19" fmla="*/ 386204 w 602205"/>
                <a:gd name="connsiteY19" fmla="*/ 42904 h 606722"/>
                <a:gd name="connsiteX20" fmla="*/ 516692 w 602205"/>
                <a:gd name="connsiteY20" fmla="*/ 42904 h 606722"/>
                <a:gd name="connsiteX21" fmla="*/ 545129 w 602205"/>
                <a:gd name="connsiteY21" fmla="*/ 51964 h 606722"/>
                <a:gd name="connsiteX22" fmla="*/ 594743 w 602205"/>
                <a:gd name="connsiteY22" fmla="*/ 90620 h 606722"/>
                <a:gd name="connsiteX23" fmla="*/ 602205 w 602205"/>
                <a:gd name="connsiteY23" fmla="*/ 105317 h 606722"/>
                <a:gd name="connsiteX24" fmla="*/ 594944 w 602205"/>
                <a:gd name="connsiteY24" fmla="*/ 120216 h 606722"/>
                <a:gd name="connsiteX25" fmla="*/ 545129 w 602205"/>
                <a:gd name="connsiteY25" fmla="*/ 160281 h 606722"/>
                <a:gd name="connsiteX26" fmla="*/ 516692 w 602205"/>
                <a:gd name="connsiteY26" fmla="*/ 171757 h 606722"/>
                <a:gd name="connsiteX27" fmla="*/ 386204 w 602205"/>
                <a:gd name="connsiteY27" fmla="*/ 171757 h 606722"/>
                <a:gd name="connsiteX28" fmla="*/ 297432 w 602205"/>
                <a:gd name="connsiteY28" fmla="*/ 0 h 606722"/>
                <a:gd name="connsiteX29" fmla="*/ 337765 w 602205"/>
                <a:gd name="connsiteY29" fmla="*/ 40274 h 606722"/>
                <a:gd name="connsiteX30" fmla="*/ 337765 w 602205"/>
                <a:gd name="connsiteY30" fmla="*/ 496775 h 606722"/>
                <a:gd name="connsiteX31" fmla="*/ 419238 w 602205"/>
                <a:gd name="connsiteY31" fmla="*/ 496775 h 606722"/>
                <a:gd name="connsiteX32" fmla="*/ 455739 w 602205"/>
                <a:gd name="connsiteY32" fmla="*/ 515100 h 606722"/>
                <a:gd name="connsiteX33" fmla="*/ 497887 w 602205"/>
                <a:gd name="connsiteY33" fmla="*/ 572490 h 606722"/>
                <a:gd name="connsiteX34" fmla="*/ 500912 w 602205"/>
                <a:gd name="connsiteY34" fmla="*/ 595647 h 606722"/>
                <a:gd name="connsiteX35" fmla="*/ 480342 w 602205"/>
                <a:gd name="connsiteY35" fmla="*/ 606722 h 606722"/>
                <a:gd name="connsiteX36" fmla="*/ 121580 w 602205"/>
                <a:gd name="connsiteY36" fmla="*/ 606722 h 606722"/>
                <a:gd name="connsiteX37" fmla="*/ 101010 w 602205"/>
                <a:gd name="connsiteY37" fmla="*/ 595647 h 606722"/>
                <a:gd name="connsiteX38" fmla="*/ 104237 w 602205"/>
                <a:gd name="connsiteY38" fmla="*/ 572490 h 606722"/>
                <a:gd name="connsiteX39" fmla="*/ 146183 w 602205"/>
                <a:gd name="connsiteY39" fmla="*/ 515100 h 606722"/>
                <a:gd name="connsiteX40" fmla="*/ 182684 w 602205"/>
                <a:gd name="connsiteY40" fmla="*/ 496775 h 606722"/>
                <a:gd name="connsiteX41" fmla="*/ 257099 w 602205"/>
                <a:gd name="connsiteY41" fmla="*/ 496775 h 606722"/>
                <a:gd name="connsiteX42" fmla="*/ 257099 w 602205"/>
                <a:gd name="connsiteY42" fmla="*/ 40274 h 606722"/>
                <a:gd name="connsiteX43" fmla="*/ 297432 w 602205"/>
                <a:gd name="connsiteY43"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2205" h="606722">
                  <a:moveTo>
                    <a:pt x="386204" y="222916"/>
                  </a:moveTo>
                  <a:lnTo>
                    <a:pt x="516692" y="222916"/>
                  </a:lnTo>
                  <a:cubicBezTo>
                    <a:pt x="525163" y="222916"/>
                    <a:pt x="537465" y="225936"/>
                    <a:pt x="545129" y="231976"/>
                  </a:cubicBezTo>
                  <a:lnTo>
                    <a:pt x="594743" y="270632"/>
                  </a:lnTo>
                  <a:cubicBezTo>
                    <a:pt x="599381" y="274256"/>
                    <a:pt x="602205" y="279692"/>
                    <a:pt x="602205" y="285329"/>
                  </a:cubicBezTo>
                  <a:cubicBezTo>
                    <a:pt x="602205" y="291168"/>
                    <a:pt x="599381" y="296604"/>
                    <a:pt x="594944" y="300228"/>
                  </a:cubicBezTo>
                  <a:lnTo>
                    <a:pt x="545129" y="340293"/>
                  </a:lnTo>
                  <a:cubicBezTo>
                    <a:pt x="539280" y="344924"/>
                    <a:pt x="526978" y="351769"/>
                    <a:pt x="516692" y="351769"/>
                  </a:cubicBezTo>
                  <a:lnTo>
                    <a:pt x="386204" y="351769"/>
                  </a:lnTo>
                  <a:close/>
                  <a:moveTo>
                    <a:pt x="85299" y="131463"/>
                  </a:moveTo>
                  <a:lnTo>
                    <a:pt x="216777" y="131463"/>
                  </a:lnTo>
                  <a:lnTo>
                    <a:pt x="216777" y="260386"/>
                  </a:lnTo>
                  <a:lnTo>
                    <a:pt x="85299" y="260386"/>
                  </a:lnTo>
                  <a:cubicBezTo>
                    <a:pt x="74813" y="260386"/>
                    <a:pt x="62311" y="252530"/>
                    <a:pt x="57068" y="248501"/>
                  </a:cubicBezTo>
                  <a:lnTo>
                    <a:pt x="7058" y="206803"/>
                  </a:lnTo>
                  <a:cubicBezTo>
                    <a:pt x="2621" y="203177"/>
                    <a:pt x="0" y="198140"/>
                    <a:pt x="0" y="192903"/>
                  </a:cubicBezTo>
                  <a:cubicBezTo>
                    <a:pt x="0" y="187464"/>
                    <a:pt x="2621" y="182428"/>
                    <a:pt x="7260" y="178802"/>
                  </a:cubicBezTo>
                  <a:lnTo>
                    <a:pt x="57068" y="139924"/>
                  </a:lnTo>
                  <a:cubicBezTo>
                    <a:pt x="64327" y="134082"/>
                    <a:pt x="76426" y="131463"/>
                    <a:pt x="85299" y="131463"/>
                  </a:cubicBezTo>
                  <a:close/>
                  <a:moveTo>
                    <a:pt x="386204" y="42904"/>
                  </a:moveTo>
                  <a:lnTo>
                    <a:pt x="516692" y="42904"/>
                  </a:lnTo>
                  <a:cubicBezTo>
                    <a:pt x="525163" y="42904"/>
                    <a:pt x="537667" y="46125"/>
                    <a:pt x="545129" y="51964"/>
                  </a:cubicBezTo>
                  <a:lnTo>
                    <a:pt x="594743" y="90620"/>
                  </a:lnTo>
                  <a:cubicBezTo>
                    <a:pt x="599381" y="94244"/>
                    <a:pt x="602205" y="99680"/>
                    <a:pt x="602205" y="105317"/>
                  </a:cubicBezTo>
                  <a:cubicBezTo>
                    <a:pt x="602205" y="111156"/>
                    <a:pt x="599381" y="116592"/>
                    <a:pt x="594944" y="120216"/>
                  </a:cubicBezTo>
                  <a:lnTo>
                    <a:pt x="545129" y="160281"/>
                  </a:lnTo>
                  <a:cubicBezTo>
                    <a:pt x="539280" y="164912"/>
                    <a:pt x="526978" y="171757"/>
                    <a:pt x="516692" y="171757"/>
                  </a:cubicBezTo>
                  <a:lnTo>
                    <a:pt x="386204" y="171757"/>
                  </a:lnTo>
                  <a:close/>
                  <a:moveTo>
                    <a:pt x="297432" y="0"/>
                  </a:moveTo>
                  <a:cubicBezTo>
                    <a:pt x="319615" y="0"/>
                    <a:pt x="337765" y="18123"/>
                    <a:pt x="337765" y="40274"/>
                  </a:cubicBezTo>
                  <a:lnTo>
                    <a:pt x="337765" y="496775"/>
                  </a:lnTo>
                  <a:lnTo>
                    <a:pt x="419238" y="496775"/>
                  </a:lnTo>
                  <a:cubicBezTo>
                    <a:pt x="432346" y="496775"/>
                    <a:pt x="448076" y="504629"/>
                    <a:pt x="455739" y="515100"/>
                  </a:cubicBezTo>
                  <a:lnTo>
                    <a:pt x="497887" y="572490"/>
                  </a:lnTo>
                  <a:cubicBezTo>
                    <a:pt x="503332" y="580142"/>
                    <a:pt x="504542" y="588599"/>
                    <a:pt x="500912" y="595647"/>
                  </a:cubicBezTo>
                  <a:cubicBezTo>
                    <a:pt x="497282" y="602695"/>
                    <a:pt x="489820" y="606722"/>
                    <a:pt x="480342" y="606722"/>
                  </a:cubicBezTo>
                  <a:lnTo>
                    <a:pt x="121580" y="606722"/>
                  </a:lnTo>
                  <a:cubicBezTo>
                    <a:pt x="112102" y="606722"/>
                    <a:pt x="104640" y="602695"/>
                    <a:pt x="101010" y="595647"/>
                  </a:cubicBezTo>
                  <a:cubicBezTo>
                    <a:pt x="97380" y="588599"/>
                    <a:pt x="98590" y="580142"/>
                    <a:pt x="104237" y="572490"/>
                  </a:cubicBezTo>
                  <a:lnTo>
                    <a:pt x="146183" y="515100"/>
                  </a:lnTo>
                  <a:cubicBezTo>
                    <a:pt x="153846" y="504629"/>
                    <a:pt x="169576" y="496775"/>
                    <a:pt x="182684" y="496775"/>
                  </a:cubicBezTo>
                  <a:lnTo>
                    <a:pt x="257099" y="496775"/>
                  </a:lnTo>
                  <a:lnTo>
                    <a:pt x="257099" y="40274"/>
                  </a:lnTo>
                  <a:cubicBezTo>
                    <a:pt x="257099" y="18123"/>
                    <a:pt x="275249" y="0"/>
                    <a:pt x="297432" y="0"/>
                  </a:cubicBezTo>
                  <a:close/>
                </a:path>
              </a:pathLst>
            </a:custGeom>
            <a:solidFill>
              <a:srgbClr val="FFFFFF"/>
            </a:solidFill>
            <a:ln w="12700" cap="flat">
              <a:noFill/>
              <a:miter lim="400000"/>
            </a:ln>
            <a:effectLst/>
          </p:spPr>
          <p:txBody>
            <a:bodyPr wrap="square" lIns="19050" tIns="19050" rIns="19050" bIns="19050" numCol="1" anchor="ctr">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cs typeface="+mn-ea"/>
                <a:sym typeface="+mn-lt"/>
              </a:endParaRPr>
            </a:p>
          </p:txBody>
        </p:sp>
        <p:sp>
          <p:nvSpPr>
            <p:cNvPr id="36" name="Rectangle 30"/>
            <p:cNvSpPr/>
            <p:nvPr/>
          </p:nvSpPr>
          <p:spPr bwMode="auto">
            <a:xfrm>
              <a:off x="6471095" y="5177783"/>
              <a:ext cx="5336591" cy="1262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lvl="0" indent="-171450">
                <a:lnSpc>
                  <a:spcPct val="150000"/>
                </a:lnSpc>
                <a:spcBef>
                  <a:spcPct val="0"/>
                </a:spcBef>
                <a:buFont typeface="Arial" panose="020B0604020202020204" pitchFamily="34" charset="0"/>
                <a:buChar char="•"/>
                <a:defRPr/>
              </a:pPr>
              <a:r>
                <a:rPr lang="zh-CN" altLang="en-US" sz="1400" dirty="0">
                  <a:solidFill>
                    <a:srgbClr val="000000"/>
                  </a:solidFill>
                  <a:cs typeface="+mn-ea"/>
                  <a:sym typeface="+mn-lt"/>
                </a:rPr>
                <a:t>分析</a:t>
              </a:r>
              <a:r>
                <a:rPr lang="zh-CN" altLang="en-US" sz="1400" dirty="0">
                  <a:solidFill>
                    <a:srgbClr val="FF0000"/>
                  </a:solidFill>
                  <a:cs typeface="+mn-ea"/>
                  <a:sym typeface="+mn-lt"/>
                </a:rPr>
                <a:t>温度</a:t>
              </a:r>
              <a:r>
                <a:rPr lang="zh-CN" altLang="en-US" sz="1400" dirty="0">
                  <a:solidFill>
                    <a:srgbClr val="000000"/>
                  </a:solidFill>
                  <a:cs typeface="+mn-ea"/>
                  <a:sym typeface="+mn-lt"/>
                </a:rPr>
                <a:t>、</a:t>
              </a:r>
              <a:r>
                <a:rPr lang="zh-CN" altLang="en-US" sz="1400" dirty="0">
                  <a:solidFill>
                    <a:srgbClr val="FF0000"/>
                  </a:solidFill>
                  <a:cs typeface="+mn-ea"/>
                  <a:sym typeface="+mn-lt"/>
                </a:rPr>
                <a:t>光照强度</a:t>
              </a:r>
              <a:r>
                <a:rPr lang="zh-CN" altLang="en-US" sz="1400" dirty="0">
                  <a:solidFill>
                    <a:srgbClr val="000000"/>
                  </a:solidFill>
                  <a:cs typeface="+mn-ea"/>
                  <a:sym typeface="+mn-lt"/>
                </a:rPr>
                <a:t>、</a:t>
              </a:r>
              <a:r>
                <a:rPr lang="zh-CN" altLang="en-US" sz="1400" dirty="0">
                  <a:solidFill>
                    <a:srgbClr val="FF0000"/>
                  </a:solidFill>
                  <a:cs typeface="+mn-ea"/>
                  <a:sym typeface="+mn-lt"/>
                </a:rPr>
                <a:t>入射角度</a:t>
              </a:r>
              <a:r>
                <a:rPr lang="zh-CN" altLang="en-US" sz="1400" dirty="0">
                  <a:solidFill>
                    <a:srgbClr val="000000"/>
                  </a:solidFill>
                  <a:cs typeface="+mn-ea"/>
                  <a:sym typeface="+mn-lt"/>
                </a:rPr>
                <a:t>、</a:t>
              </a:r>
              <a:r>
                <a:rPr lang="zh-CN" altLang="en-US" sz="1400" dirty="0">
                  <a:solidFill>
                    <a:srgbClr val="FF0000"/>
                  </a:solidFill>
                  <a:cs typeface="+mn-ea"/>
                  <a:sym typeface="+mn-lt"/>
                </a:rPr>
                <a:t>光谱分布</a:t>
              </a:r>
              <a:r>
                <a:rPr lang="zh-CN" altLang="en-US" sz="1400" dirty="0">
                  <a:solidFill>
                    <a:srgbClr val="000000"/>
                  </a:solidFill>
                  <a:cs typeface="+mn-ea"/>
                  <a:sym typeface="+mn-lt"/>
                </a:rPr>
                <a:t>等环境条件对</a:t>
              </a:r>
              <a:r>
                <a:rPr lang="en-US" altLang="zh-CN" sz="1400" dirty="0">
                  <a:solidFill>
                    <a:srgbClr val="000000"/>
                  </a:solidFill>
                  <a:cs typeface="+mn-ea"/>
                  <a:sym typeface="+mn-lt"/>
                </a:rPr>
                <a:t>LSC</a:t>
              </a:r>
              <a:r>
                <a:rPr lang="zh-CN" altLang="en-US" sz="1400" dirty="0">
                  <a:solidFill>
                    <a:srgbClr val="000000"/>
                  </a:solidFill>
                  <a:cs typeface="+mn-ea"/>
                  <a:sym typeface="+mn-lt"/>
                </a:rPr>
                <a:t>性能的影响机制，建立</a:t>
              </a:r>
              <a:r>
                <a:rPr lang="zh-CN" altLang="en-US" sz="1400" dirty="0">
                  <a:solidFill>
                    <a:srgbClr val="FF0000"/>
                  </a:solidFill>
                  <a:cs typeface="+mn-ea"/>
                  <a:sym typeface="+mn-lt"/>
                </a:rPr>
                <a:t>多因素耦合作用</a:t>
              </a:r>
              <a:r>
                <a:rPr lang="zh-CN" altLang="en-US" sz="1400" dirty="0">
                  <a:solidFill>
                    <a:srgbClr val="000000"/>
                  </a:solidFill>
                  <a:cs typeface="+mn-ea"/>
                  <a:sym typeface="+mn-lt"/>
                </a:rPr>
                <a:t>下的性能衰减模型，为实际应用场景下的性能预测提供理论支撑。</a:t>
              </a:r>
            </a:p>
          </p:txBody>
        </p:sp>
        <p:sp>
          <p:nvSpPr>
            <p:cNvPr id="37" name="TextBox 31"/>
            <p:cNvSpPr txBox="1"/>
            <p:nvPr/>
          </p:nvSpPr>
          <p:spPr bwMode="auto">
            <a:xfrm>
              <a:off x="6471096" y="4764903"/>
              <a:ext cx="5049392"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ct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环境因素耦合效应</a:t>
              </a:r>
              <a:endParaRPr kumimoji="0" lang="en-US" altLang="zh-CN" sz="1800" b="1" i="0" u="none" strike="noStrike" kern="1200" cap="none" spc="0" normalizeH="0" baseline="0" noProof="0" dirty="0">
                <a:ln>
                  <a:noFill/>
                </a:ln>
                <a:solidFill>
                  <a:srgbClr val="000000"/>
                </a:solidFill>
                <a:effectLst/>
                <a:uLnTx/>
                <a:uFillTx/>
                <a:cs typeface="+mn-ea"/>
                <a:sym typeface="+mn-lt"/>
              </a:endParaRPr>
            </a:p>
          </p:txBody>
        </p:sp>
      </p:grpSp>
      <p:grpSp>
        <p:nvGrpSpPr>
          <p:cNvPr id="3" name="组合 2">
            <a:extLst>
              <a:ext uri="{FF2B5EF4-FFF2-40B4-BE49-F238E27FC236}">
                <a16:creationId xmlns:a16="http://schemas.microsoft.com/office/drawing/2014/main" id="{CBC2205B-3BA8-C118-D0F9-71955D1478C1}"/>
              </a:ext>
            </a:extLst>
          </p:cNvPr>
          <p:cNvGrpSpPr/>
          <p:nvPr/>
        </p:nvGrpSpPr>
        <p:grpSpPr>
          <a:xfrm>
            <a:off x="5778287" y="2972618"/>
            <a:ext cx="6188425" cy="1758408"/>
            <a:chOff x="5778287" y="2972618"/>
            <a:chExt cx="6188425" cy="1758408"/>
          </a:xfrm>
        </p:grpSpPr>
        <p:sp>
          <p:nvSpPr>
            <p:cNvPr id="32" name="Shape 6065"/>
            <p:cNvSpPr/>
            <p:nvPr/>
          </p:nvSpPr>
          <p:spPr>
            <a:xfrm>
              <a:off x="5778287" y="3168832"/>
              <a:ext cx="577851" cy="577851"/>
            </a:xfrm>
            <a:prstGeom prst="roundRect">
              <a:avLst>
                <a:gd name="adj" fmla="val 50000"/>
              </a:avLst>
            </a:prstGeom>
            <a:solidFill>
              <a:srgbClr val="1A3172"/>
            </a:solidFill>
            <a:ln w="12700" cap="flat">
              <a:noFill/>
              <a:miter lim="400000"/>
            </a:ln>
            <a:effectLst/>
          </p:spPr>
          <p:txBody>
            <a:bodyPr wrap="square" lIns="0" tIns="0" rIns="0" bIns="0" numCol="1" anchor="ctr">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srgbClr val="000000"/>
                </a:solidFill>
                <a:effectLst/>
                <a:uLnTx/>
                <a:uFillTx/>
                <a:cs typeface="+mn-ea"/>
                <a:sym typeface="+mn-lt"/>
              </a:endParaRPr>
            </a:p>
          </p:txBody>
        </p:sp>
        <p:sp>
          <p:nvSpPr>
            <p:cNvPr id="33" name="Shape 6066"/>
            <p:cNvSpPr/>
            <p:nvPr/>
          </p:nvSpPr>
          <p:spPr>
            <a:xfrm>
              <a:off x="5927358" y="3316855"/>
              <a:ext cx="279708" cy="281804"/>
            </a:xfrm>
            <a:custGeom>
              <a:avLst/>
              <a:gdLst>
                <a:gd name="connsiteX0" fmla="*/ 386204 w 602205"/>
                <a:gd name="connsiteY0" fmla="*/ 222916 h 606722"/>
                <a:gd name="connsiteX1" fmla="*/ 516692 w 602205"/>
                <a:gd name="connsiteY1" fmla="*/ 222916 h 606722"/>
                <a:gd name="connsiteX2" fmla="*/ 545129 w 602205"/>
                <a:gd name="connsiteY2" fmla="*/ 231976 h 606722"/>
                <a:gd name="connsiteX3" fmla="*/ 594743 w 602205"/>
                <a:gd name="connsiteY3" fmla="*/ 270632 h 606722"/>
                <a:gd name="connsiteX4" fmla="*/ 602205 w 602205"/>
                <a:gd name="connsiteY4" fmla="*/ 285329 h 606722"/>
                <a:gd name="connsiteX5" fmla="*/ 594944 w 602205"/>
                <a:gd name="connsiteY5" fmla="*/ 300228 h 606722"/>
                <a:gd name="connsiteX6" fmla="*/ 545129 w 602205"/>
                <a:gd name="connsiteY6" fmla="*/ 340293 h 606722"/>
                <a:gd name="connsiteX7" fmla="*/ 516692 w 602205"/>
                <a:gd name="connsiteY7" fmla="*/ 351769 h 606722"/>
                <a:gd name="connsiteX8" fmla="*/ 386204 w 602205"/>
                <a:gd name="connsiteY8" fmla="*/ 351769 h 606722"/>
                <a:gd name="connsiteX9" fmla="*/ 85299 w 602205"/>
                <a:gd name="connsiteY9" fmla="*/ 131463 h 606722"/>
                <a:gd name="connsiteX10" fmla="*/ 216777 w 602205"/>
                <a:gd name="connsiteY10" fmla="*/ 131463 h 606722"/>
                <a:gd name="connsiteX11" fmla="*/ 216777 w 602205"/>
                <a:gd name="connsiteY11" fmla="*/ 260386 h 606722"/>
                <a:gd name="connsiteX12" fmla="*/ 85299 w 602205"/>
                <a:gd name="connsiteY12" fmla="*/ 260386 h 606722"/>
                <a:gd name="connsiteX13" fmla="*/ 57068 w 602205"/>
                <a:gd name="connsiteY13" fmla="*/ 248501 h 606722"/>
                <a:gd name="connsiteX14" fmla="*/ 7058 w 602205"/>
                <a:gd name="connsiteY14" fmla="*/ 206803 h 606722"/>
                <a:gd name="connsiteX15" fmla="*/ 0 w 602205"/>
                <a:gd name="connsiteY15" fmla="*/ 192903 h 606722"/>
                <a:gd name="connsiteX16" fmla="*/ 7260 w 602205"/>
                <a:gd name="connsiteY16" fmla="*/ 178802 h 606722"/>
                <a:gd name="connsiteX17" fmla="*/ 57068 w 602205"/>
                <a:gd name="connsiteY17" fmla="*/ 139924 h 606722"/>
                <a:gd name="connsiteX18" fmla="*/ 85299 w 602205"/>
                <a:gd name="connsiteY18" fmla="*/ 131463 h 606722"/>
                <a:gd name="connsiteX19" fmla="*/ 386204 w 602205"/>
                <a:gd name="connsiteY19" fmla="*/ 42904 h 606722"/>
                <a:gd name="connsiteX20" fmla="*/ 516692 w 602205"/>
                <a:gd name="connsiteY20" fmla="*/ 42904 h 606722"/>
                <a:gd name="connsiteX21" fmla="*/ 545129 w 602205"/>
                <a:gd name="connsiteY21" fmla="*/ 51964 h 606722"/>
                <a:gd name="connsiteX22" fmla="*/ 594743 w 602205"/>
                <a:gd name="connsiteY22" fmla="*/ 90620 h 606722"/>
                <a:gd name="connsiteX23" fmla="*/ 602205 w 602205"/>
                <a:gd name="connsiteY23" fmla="*/ 105317 h 606722"/>
                <a:gd name="connsiteX24" fmla="*/ 594944 w 602205"/>
                <a:gd name="connsiteY24" fmla="*/ 120216 h 606722"/>
                <a:gd name="connsiteX25" fmla="*/ 545129 w 602205"/>
                <a:gd name="connsiteY25" fmla="*/ 160281 h 606722"/>
                <a:gd name="connsiteX26" fmla="*/ 516692 w 602205"/>
                <a:gd name="connsiteY26" fmla="*/ 171757 h 606722"/>
                <a:gd name="connsiteX27" fmla="*/ 386204 w 602205"/>
                <a:gd name="connsiteY27" fmla="*/ 171757 h 606722"/>
                <a:gd name="connsiteX28" fmla="*/ 297432 w 602205"/>
                <a:gd name="connsiteY28" fmla="*/ 0 h 606722"/>
                <a:gd name="connsiteX29" fmla="*/ 337765 w 602205"/>
                <a:gd name="connsiteY29" fmla="*/ 40274 h 606722"/>
                <a:gd name="connsiteX30" fmla="*/ 337765 w 602205"/>
                <a:gd name="connsiteY30" fmla="*/ 496775 h 606722"/>
                <a:gd name="connsiteX31" fmla="*/ 419238 w 602205"/>
                <a:gd name="connsiteY31" fmla="*/ 496775 h 606722"/>
                <a:gd name="connsiteX32" fmla="*/ 455739 w 602205"/>
                <a:gd name="connsiteY32" fmla="*/ 515100 h 606722"/>
                <a:gd name="connsiteX33" fmla="*/ 497887 w 602205"/>
                <a:gd name="connsiteY33" fmla="*/ 572490 h 606722"/>
                <a:gd name="connsiteX34" fmla="*/ 500912 w 602205"/>
                <a:gd name="connsiteY34" fmla="*/ 595647 h 606722"/>
                <a:gd name="connsiteX35" fmla="*/ 480342 w 602205"/>
                <a:gd name="connsiteY35" fmla="*/ 606722 h 606722"/>
                <a:gd name="connsiteX36" fmla="*/ 121580 w 602205"/>
                <a:gd name="connsiteY36" fmla="*/ 606722 h 606722"/>
                <a:gd name="connsiteX37" fmla="*/ 101010 w 602205"/>
                <a:gd name="connsiteY37" fmla="*/ 595647 h 606722"/>
                <a:gd name="connsiteX38" fmla="*/ 104237 w 602205"/>
                <a:gd name="connsiteY38" fmla="*/ 572490 h 606722"/>
                <a:gd name="connsiteX39" fmla="*/ 146183 w 602205"/>
                <a:gd name="connsiteY39" fmla="*/ 515100 h 606722"/>
                <a:gd name="connsiteX40" fmla="*/ 182684 w 602205"/>
                <a:gd name="connsiteY40" fmla="*/ 496775 h 606722"/>
                <a:gd name="connsiteX41" fmla="*/ 257099 w 602205"/>
                <a:gd name="connsiteY41" fmla="*/ 496775 h 606722"/>
                <a:gd name="connsiteX42" fmla="*/ 257099 w 602205"/>
                <a:gd name="connsiteY42" fmla="*/ 40274 h 606722"/>
                <a:gd name="connsiteX43" fmla="*/ 297432 w 602205"/>
                <a:gd name="connsiteY43"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2205" h="606722">
                  <a:moveTo>
                    <a:pt x="386204" y="222916"/>
                  </a:moveTo>
                  <a:lnTo>
                    <a:pt x="516692" y="222916"/>
                  </a:lnTo>
                  <a:cubicBezTo>
                    <a:pt x="525163" y="222916"/>
                    <a:pt x="537465" y="225936"/>
                    <a:pt x="545129" y="231976"/>
                  </a:cubicBezTo>
                  <a:lnTo>
                    <a:pt x="594743" y="270632"/>
                  </a:lnTo>
                  <a:cubicBezTo>
                    <a:pt x="599381" y="274256"/>
                    <a:pt x="602205" y="279692"/>
                    <a:pt x="602205" y="285329"/>
                  </a:cubicBezTo>
                  <a:cubicBezTo>
                    <a:pt x="602205" y="291168"/>
                    <a:pt x="599381" y="296604"/>
                    <a:pt x="594944" y="300228"/>
                  </a:cubicBezTo>
                  <a:lnTo>
                    <a:pt x="545129" y="340293"/>
                  </a:lnTo>
                  <a:cubicBezTo>
                    <a:pt x="539280" y="344924"/>
                    <a:pt x="526978" y="351769"/>
                    <a:pt x="516692" y="351769"/>
                  </a:cubicBezTo>
                  <a:lnTo>
                    <a:pt x="386204" y="351769"/>
                  </a:lnTo>
                  <a:close/>
                  <a:moveTo>
                    <a:pt x="85299" y="131463"/>
                  </a:moveTo>
                  <a:lnTo>
                    <a:pt x="216777" y="131463"/>
                  </a:lnTo>
                  <a:lnTo>
                    <a:pt x="216777" y="260386"/>
                  </a:lnTo>
                  <a:lnTo>
                    <a:pt x="85299" y="260386"/>
                  </a:lnTo>
                  <a:cubicBezTo>
                    <a:pt x="74813" y="260386"/>
                    <a:pt x="62311" y="252530"/>
                    <a:pt x="57068" y="248501"/>
                  </a:cubicBezTo>
                  <a:lnTo>
                    <a:pt x="7058" y="206803"/>
                  </a:lnTo>
                  <a:cubicBezTo>
                    <a:pt x="2621" y="203177"/>
                    <a:pt x="0" y="198140"/>
                    <a:pt x="0" y="192903"/>
                  </a:cubicBezTo>
                  <a:cubicBezTo>
                    <a:pt x="0" y="187464"/>
                    <a:pt x="2621" y="182428"/>
                    <a:pt x="7260" y="178802"/>
                  </a:cubicBezTo>
                  <a:lnTo>
                    <a:pt x="57068" y="139924"/>
                  </a:lnTo>
                  <a:cubicBezTo>
                    <a:pt x="64327" y="134082"/>
                    <a:pt x="76426" y="131463"/>
                    <a:pt x="85299" y="131463"/>
                  </a:cubicBezTo>
                  <a:close/>
                  <a:moveTo>
                    <a:pt x="386204" y="42904"/>
                  </a:moveTo>
                  <a:lnTo>
                    <a:pt x="516692" y="42904"/>
                  </a:lnTo>
                  <a:cubicBezTo>
                    <a:pt x="525163" y="42904"/>
                    <a:pt x="537667" y="46125"/>
                    <a:pt x="545129" y="51964"/>
                  </a:cubicBezTo>
                  <a:lnTo>
                    <a:pt x="594743" y="90620"/>
                  </a:lnTo>
                  <a:cubicBezTo>
                    <a:pt x="599381" y="94244"/>
                    <a:pt x="602205" y="99680"/>
                    <a:pt x="602205" y="105317"/>
                  </a:cubicBezTo>
                  <a:cubicBezTo>
                    <a:pt x="602205" y="111156"/>
                    <a:pt x="599381" y="116592"/>
                    <a:pt x="594944" y="120216"/>
                  </a:cubicBezTo>
                  <a:lnTo>
                    <a:pt x="545129" y="160281"/>
                  </a:lnTo>
                  <a:cubicBezTo>
                    <a:pt x="539280" y="164912"/>
                    <a:pt x="526978" y="171757"/>
                    <a:pt x="516692" y="171757"/>
                  </a:cubicBezTo>
                  <a:lnTo>
                    <a:pt x="386204" y="171757"/>
                  </a:lnTo>
                  <a:close/>
                  <a:moveTo>
                    <a:pt x="297432" y="0"/>
                  </a:moveTo>
                  <a:cubicBezTo>
                    <a:pt x="319615" y="0"/>
                    <a:pt x="337765" y="18123"/>
                    <a:pt x="337765" y="40274"/>
                  </a:cubicBezTo>
                  <a:lnTo>
                    <a:pt x="337765" y="496775"/>
                  </a:lnTo>
                  <a:lnTo>
                    <a:pt x="419238" y="496775"/>
                  </a:lnTo>
                  <a:cubicBezTo>
                    <a:pt x="432346" y="496775"/>
                    <a:pt x="448076" y="504629"/>
                    <a:pt x="455739" y="515100"/>
                  </a:cubicBezTo>
                  <a:lnTo>
                    <a:pt x="497887" y="572490"/>
                  </a:lnTo>
                  <a:cubicBezTo>
                    <a:pt x="503332" y="580142"/>
                    <a:pt x="504542" y="588599"/>
                    <a:pt x="500912" y="595647"/>
                  </a:cubicBezTo>
                  <a:cubicBezTo>
                    <a:pt x="497282" y="602695"/>
                    <a:pt x="489820" y="606722"/>
                    <a:pt x="480342" y="606722"/>
                  </a:cubicBezTo>
                  <a:lnTo>
                    <a:pt x="121580" y="606722"/>
                  </a:lnTo>
                  <a:cubicBezTo>
                    <a:pt x="112102" y="606722"/>
                    <a:pt x="104640" y="602695"/>
                    <a:pt x="101010" y="595647"/>
                  </a:cubicBezTo>
                  <a:cubicBezTo>
                    <a:pt x="97380" y="588599"/>
                    <a:pt x="98590" y="580142"/>
                    <a:pt x="104237" y="572490"/>
                  </a:cubicBezTo>
                  <a:lnTo>
                    <a:pt x="146183" y="515100"/>
                  </a:lnTo>
                  <a:cubicBezTo>
                    <a:pt x="153846" y="504629"/>
                    <a:pt x="169576" y="496775"/>
                    <a:pt x="182684" y="496775"/>
                  </a:cubicBezTo>
                  <a:lnTo>
                    <a:pt x="257099" y="496775"/>
                  </a:lnTo>
                  <a:lnTo>
                    <a:pt x="257099" y="40274"/>
                  </a:lnTo>
                  <a:cubicBezTo>
                    <a:pt x="257099" y="18123"/>
                    <a:pt x="275249" y="0"/>
                    <a:pt x="297432" y="0"/>
                  </a:cubicBezTo>
                  <a:close/>
                </a:path>
              </a:pathLst>
            </a:custGeom>
            <a:solidFill>
              <a:srgbClr val="FFFFFF"/>
            </a:solidFill>
            <a:ln w="12700" cap="flat">
              <a:noFill/>
              <a:miter lim="400000"/>
            </a:ln>
            <a:effectLst/>
          </p:spPr>
          <p:txBody>
            <a:bodyPr wrap="square" lIns="19050" tIns="19050" rIns="19050" bIns="19050" numCol="1" anchor="ctr">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cs typeface="+mn-ea"/>
                <a:sym typeface="+mn-lt"/>
              </a:endParaRPr>
            </a:p>
          </p:txBody>
        </p:sp>
        <p:sp>
          <p:nvSpPr>
            <p:cNvPr id="30" name="Rectangle 30"/>
            <p:cNvSpPr/>
            <p:nvPr/>
          </p:nvSpPr>
          <p:spPr bwMode="auto">
            <a:xfrm>
              <a:off x="6471095" y="3385497"/>
              <a:ext cx="5495617" cy="1345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lvl="0" indent="-171450">
                <a:lnSpc>
                  <a:spcPct val="150000"/>
                </a:lnSpc>
                <a:spcBef>
                  <a:spcPct val="0"/>
                </a:spcBef>
                <a:buFont typeface="Arial" panose="020B0604020202020204" pitchFamily="34" charset="0"/>
                <a:buChar char="•"/>
                <a:defRPr/>
              </a:pPr>
              <a:r>
                <a:rPr lang="zh-CN" altLang="en-US" sz="1400" dirty="0">
                  <a:solidFill>
                    <a:srgbClr val="000000"/>
                  </a:solidFill>
                  <a:cs typeface="+mn-ea"/>
                  <a:sym typeface="+mn-lt"/>
                </a:rPr>
                <a:t>研究</a:t>
              </a:r>
              <a:r>
                <a:rPr lang="en-US" altLang="zh-CN" sz="1400" dirty="0">
                  <a:solidFill>
                    <a:srgbClr val="000000"/>
                  </a:solidFill>
                  <a:cs typeface="+mn-ea"/>
                  <a:sym typeface="+mn-lt"/>
                </a:rPr>
                <a:t>LSC</a:t>
              </a:r>
              <a:r>
                <a:rPr lang="zh-CN" altLang="en-US" sz="1400" dirty="0">
                  <a:solidFill>
                    <a:srgbClr val="000000"/>
                  </a:solidFill>
                  <a:cs typeface="+mn-ea"/>
                  <a:sym typeface="+mn-lt"/>
                </a:rPr>
                <a:t>器件</a:t>
              </a:r>
              <a:r>
                <a:rPr lang="zh-CN" altLang="en-US" sz="1400" dirty="0">
                  <a:solidFill>
                    <a:srgbClr val="FF0000"/>
                  </a:solidFill>
                  <a:cs typeface="+mn-ea"/>
                  <a:sym typeface="+mn-lt"/>
                </a:rPr>
                <a:t>结构参数</a:t>
              </a:r>
              <a:r>
                <a:rPr lang="zh-CN" altLang="en-US" sz="1400" dirty="0">
                  <a:solidFill>
                    <a:srgbClr val="000000"/>
                  </a:solidFill>
                  <a:cs typeface="+mn-ea"/>
                  <a:sym typeface="+mn-lt"/>
                </a:rPr>
                <a:t>（如聚光器</a:t>
              </a:r>
              <a:r>
                <a:rPr lang="zh-CN" altLang="en-US" sz="1400" dirty="0">
                  <a:solidFill>
                    <a:srgbClr val="FF0000"/>
                  </a:solidFill>
                  <a:cs typeface="+mn-ea"/>
                  <a:sym typeface="+mn-lt"/>
                </a:rPr>
                <a:t>尺寸</a:t>
              </a:r>
              <a:r>
                <a:rPr lang="zh-CN" altLang="en-US" sz="1400" dirty="0">
                  <a:solidFill>
                    <a:srgbClr val="000000"/>
                  </a:solidFill>
                  <a:cs typeface="+mn-ea"/>
                  <a:sym typeface="+mn-lt"/>
                </a:rPr>
                <a:t>、</a:t>
              </a:r>
              <a:r>
                <a:rPr lang="zh-CN" altLang="en-US" sz="1400" dirty="0">
                  <a:solidFill>
                    <a:srgbClr val="FF0000"/>
                  </a:solidFill>
                  <a:cs typeface="+mn-ea"/>
                  <a:sym typeface="+mn-lt"/>
                </a:rPr>
                <a:t>厚度</a:t>
              </a:r>
              <a:r>
                <a:rPr lang="zh-CN" altLang="en-US" sz="1400" dirty="0">
                  <a:solidFill>
                    <a:srgbClr val="000000"/>
                  </a:solidFill>
                  <a:cs typeface="+mn-ea"/>
                  <a:sym typeface="+mn-lt"/>
                </a:rPr>
                <a:t>、</a:t>
              </a:r>
              <a:r>
                <a:rPr lang="zh-CN" altLang="en-US" sz="1400" dirty="0">
                  <a:solidFill>
                    <a:srgbClr val="FF0000"/>
                  </a:solidFill>
                  <a:cs typeface="+mn-ea"/>
                  <a:sym typeface="+mn-lt"/>
                </a:rPr>
                <a:t>几何形状</a:t>
              </a:r>
              <a:r>
                <a:rPr lang="zh-CN" altLang="en-US" sz="1400" dirty="0">
                  <a:solidFill>
                    <a:srgbClr val="000000"/>
                  </a:solidFill>
                  <a:cs typeface="+mn-ea"/>
                  <a:sym typeface="+mn-lt"/>
                </a:rPr>
                <a:t>、</a:t>
              </a:r>
              <a:r>
                <a:rPr lang="zh-CN" altLang="en-US" sz="1400" dirty="0">
                  <a:solidFill>
                    <a:srgbClr val="FF0000"/>
                  </a:solidFill>
                  <a:cs typeface="+mn-ea"/>
                  <a:sym typeface="+mn-lt"/>
                </a:rPr>
                <a:t>边缘反射层设计</a:t>
              </a:r>
              <a:r>
                <a:rPr lang="zh-CN" altLang="en-US" sz="1400" dirty="0">
                  <a:solidFill>
                    <a:srgbClr val="000000"/>
                  </a:solidFill>
                  <a:cs typeface="+mn-ea"/>
                  <a:sym typeface="+mn-lt"/>
                </a:rPr>
                <a:t>、</a:t>
              </a:r>
              <a:r>
                <a:rPr lang="zh-CN" altLang="en-US" sz="1400" dirty="0">
                  <a:solidFill>
                    <a:srgbClr val="FF0000"/>
                  </a:solidFill>
                  <a:cs typeface="+mn-ea"/>
                  <a:sym typeface="+mn-lt"/>
                </a:rPr>
                <a:t>表面微结构</a:t>
              </a:r>
              <a:r>
                <a:rPr lang="zh-CN" altLang="en-US" sz="1400" dirty="0">
                  <a:solidFill>
                    <a:srgbClr val="000000"/>
                  </a:solidFill>
                  <a:cs typeface="+mn-ea"/>
                  <a:sym typeface="+mn-lt"/>
                </a:rPr>
                <a:t>等）对</a:t>
              </a:r>
              <a:r>
                <a:rPr lang="zh-CN" altLang="en-US" sz="1400" dirty="0">
                  <a:solidFill>
                    <a:srgbClr val="FF0000"/>
                  </a:solidFill>
                  <a:cs typeface="+mn-ea"/>
                  <a:sym typeface="+mn-lt"/>
                </a:rPr>
                <a:t>光子传输路径</a:t>
              </a:r>
              <a:r>
                <a:rPr lang="zh-CN" altLang="en-US" sz="1400" dirty="0">
                  <a:solidFill>
                    <a:srgbClr val="000000"/>
                  </a:solidFill>
                  <a:cs typeface="+mn-ea"/>
                  <a:sym typeface="+mn-lt"/>
                </a:rPr>
                <a:t>、</a:t>
              </a:r>
              <a:r>
                <a:rPr lang="zh-CN" altLang="en-US" sz="1400" dirty="0">
                  <a:solidFill>
                    <a:srgbClr val="FF0000"/>
                  </a:solidFill>
                  <a:cs typeface="+mn-ea"/>
                  <a:sym typeface="+mn-lt"/>
                </a:rPr>
                <a:t>自吸收损耗</a:t>
              </a:r>
              <a:r>
                <a:rPr lang="zh-CN" altLang="en-US" sz="1400" dirty="0">
                  <a:solidFill>
                    <a:srgbClr val="000000"/>
                  </a:solidFill>
                  <a:cs typeface="+mn-ea"/>
                  <a:sym typeface="+mn-lt"/>
                </a:rPr>
                <a:t>、</a:t>
              </a:r>
              <a:r>
                <a:rPr lang="zh-CN" altLang="en-US" sz="1400" dirty="0">
                  <a:solidFill>
                    <a:srgbClr val="FF0000"/>
                  </a:solidFill>
                  <a:cs typeface="+mn-ea"/>
                  <a:sym typeface="+mn-lt"/>
                </a:rPr>
                <a:t>波导效率</a:t>
              </a:r>
              <a:r>
                <a:rPr lang="zh-CN" altLang="en-US" sz="1400" dirty="0">
                  <a:solidFill>
                    <a:srgbClr val="000000"/>
                  </a:solidFill>
                  <a:cs typeface="+mn-ea"/>
                  <a:sym typeface="+mn-lt"/>
                </a:rPr>
                <a:t>的影响规律。通过</a:t>
              </a:r>
              <a:r>
                <a:rPr lang="zh-CN" altLang="en-US" sz="1400" dirty="0">
                  <a:solidFill>
                    <a:srgbClr val="FF0000"/>
                  </a:solidFill>
                  <a:cs typeface="+mn-ea"/>
                  <a:sym typeface="+mn-lt"/>
                </a:rPr>
                <a:t>蒙特卡洛光子追踪模拟</a:t>
              </a:r>
              <a:r>
                <a:rPr lang="zh-CN" altLang="en-US" sz="1400" dirty="0">
                  <a:solidFill>
                    <a:srgbClr val="000000"/>
                  </a:solidFill>
                  <a:cs typeface="+mn-ea"/>
                  <a:sym typeface="+mn-lt"/>
                </a:rPr>
                <a:t>，量化</a:t>
              </a:r>
              <a:r>
                <a:rPr lang="zh-CN" altLang="en-US" sz="1400" dirty="0">
                  <a:solidFill>
                    <a:srgbClr val="FF0000"/>
                  </a:solidFill>
                  <a:cs typeface="+mn-ea"/>
                  <a:sym typeface="+mn-lt"/>
                </a:rPr>
                <a:t>各结构参数</a:t>
              </a:r>
              <a:r>
                <a:rPr lang="zh-CN" altLang="en-US" sz="1400" dirty="0">
                  <a:solidFill>
                    <a:srgbClr val="000000"/>
                  </a:solidFill>
                  <a:cs typeface="+mn-ea"/>
                  <a:sym typeface="+mn-lt"/>
                </a:rPr>
                <a:t>对</a:t>
              </a:r>
              <a:r>
                <a:rPr lang="zh-CN" altLang="en-US" sz="1400" dirty="0">
                  <a:solidFill>
                    <a:srgbClr val="FF0000"/>
                  </a:solidFill>
                  <a:cs typeface="+mn-ea"/>
                  <a:sym typeface="+mn-lt"/>
                </a:rPr>
                <a:t>光学效率</a:t>
              </a:r>
              <a:r>
                <a:rPr lang="zh-CN" altLang="en-US" sz="1400" dirty="0">
                  <a:solidFill>
                    <a:srgbClr val="000000"/>
                  </a:solidFill>
                  <a:cs typeface="+mn-ea"/>
                  <a:sym typeface="+mn-lt"/>
                </a:rPr>
                <a:t>的贡献度，识别</a:t>
              </a:r>
              <a:r>
                <a:rPr lang="zh-CN" altLang="en-US" sz="1400" dirty="0">
                  <a:solidFill>
                    <a:srgbClr val="FF0000"/>
                  </a:solidFill>
                  <a:cs typeface="+mn-ea"/>
                  <a:sym typeface="+mn-lt"/>
                </a:rPr>
                <a:t>关键敏感参数</a:t>
              </a:r>
              <a:r>
                <a:rPr lang="zh-CN" altLang="en-US" sz="1400" dirty="0">
                  <a:solidFill>
                    <a:srgbClr val="000000"/>
                  </a:solidFill>
                  <a:cs typeface="+mn-ea"/>
                  <a:sym typeface="+mn-lt"/>
                </a:rPr>
                <a:t>；</a:t>
              </a:r>
            </a:p>
          </p:txBody>
        </p:sp>
        <p:sp>
          <p:nvSpPr>
            <p:cNvPr id="31" name="TextBox 31"/>
            <p:cNvSpPr txBox="1"/>
            <p:nvPr/>
          </p:nvSpPr>
          <p:spPr bwMode="auto">
            <a:xfrm>
              <a:off x="6471096" y="2972618"/>
              <a:ext cx="5049392"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ct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结构参数与光学性能关联机制</a:t>
              </a:r>
              <a:endParaRPr kumimoji="0" lang="en-US" altLang="zh-CN" sz="1800" b="1" i="0" u="none" strike="noStrike" kern="1200" cap="none" spc="0" normalizeH="0" baseline="0" noProof="0" dirty="0">
                <a:ln>
                  <a:noFill/>
                </a:ln>
                <a:solidFill>
                  <a:srgbClr val="000000"/>
                </a:solidFill>
                <a:effectLst/>
                <a:uLnTx/>
                <a:uFillTx/>
                <a:cs typeface="+mn-ea"/>
                <a:sym typeface="+mn-lt"/>
              </a:endParaRPr>
            </a:p>
          </p:txBody>
        </p:sp>
      </p:grpSp>
      <p:cxnSp>
        <p:nvCxnSpPr>
          <p:cNvPr id="45" name="直接连接符 44"/>
          <p:cNvCxnSpPr/>
          <p:nvPr/>
        </p:nvCxnSpPr>
        <p:spPr>
          <a:xfrm>
            <a:off x="5377358" y="1134847"/>
            <a:ext cx="0" cy="5008778"/>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1341437" y="249463"/>
            <a:ext cx="10850563" cy="663575"/>
          </a:xfrm>
        </p:spPr>
        <p:txBody>
          <a:bodyPr/>
          <a:lstStyle/>
          <a:p>
            <a:r>
              <a:rPr lang="zh-CN" altLang="zh-CN" sz="2800" dirty="0">
                <a:latin typeface="+mn-lt"/>
                <a:ea typeface="+mn-ea"/>
                <a:cs typeface="+mn-ea"/>
                <a:sym typeface="+mn-lt"/>
              </a:rPr>
              <a:t>荧光太阳能聚光器（</a:t>
            </a:r>
            <a:r>
              <a:rPr lang="en-US" altLang="zh-CN" sz="2800" dirty="0">
                <a:latin typeface="+mn-lt"/>
                <a:ea typeface="+mn-ea"/>
                <a:cs typeface="+mn-ea"/>
                <a:sym typeface="+mn-lt"/>
              </a:rPr>
              <a:t>LSC</a:t>
            </a:r>
            <a:r>
              <a:rPr lang="zh-CN" altLang="zh-CN" sz="2800" dirty="0">
                <a:latin typeface="+mn-lt"/>
                <a:ea typeface="+mn-ea"/>
                <a:cs typeface="+mn-ea"/>
                <a:sym typeface="+mn-lt"/>
              </a:rPr>
              <a:t>）光学效率影响因素分析</a:t>
            </a:r>
          </a:p>
        </p:txBody>
      </p:sp>
      <p:pic>
        <p:nvPicPr>
          <p:cNvPr id="5" name="图片 4" descr="图片包含 室内, 人员, 墙壁, 西装&#10;&#10;已生成高可信度的说明"/>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41437" y="2467534"/>
            <a:ext cx="3109873" cy="2039785"/>
          </a:xfrm>
          <a:prstGeom prst="rect">
            <a:avLst/>
          </a:prstGeom>
        </p:spPr>
      </p:pic>
      <p:grpSp>
        <p:nvGrpSpPr>
          <p:cNvPr id="6" name="组合 5">
            <a:extLst>
              <a:ext uri="{FF2B5EF4-FFF2-40B4-BE49-F238E27FC236}">
                <a16:creationId xmlns:a16="http://schemas.microsoft.com/office/drawing/2014/main" id="{ED355485-CACF-456C-EDA8-58CDA83F1461}"/>
              </a:ext>
            </a:extLst>
          </p:cNvPr>
          <p:cNvGrpSpPr/>
          <p:nvPr/>
        </p:nvGrpSpPr>
        <p:grpSpPr>
          <a:xfrm>
            <a:off x="5778287" y="1230520"/>
            <a:ext cx="6277878" cy="1810854"/>
            <a:chOff x="5778287" y="4764903"/>
            <a:chExt cx="6277878" cy="1810854"/>
          </a:xfrm>
        </p:grpSpPr>
        <p:sp>
          <p:nvSpPr>
            <p:cNvPr id="7" name="Shape 6065">
              <a:extLst>
                <a:ext uri="{FF2B5EF4-FFF2-40B4-BE49-F238E27FC236}">
                  <a16:creationId xmlns:a16="http://schemas.microsoft.com/office/drawing/2014/main" id="{11D673B8-EF0E-01F2-21D4-C24DA2DFCC63}"/>
                </a:ext>
              </a:extLst>
            </p:cNvPr>
            <p:cNvSpPr/>
            <p:nvPr/>
          </p:nvSpPr>
          <p:spPr>
            <a:xfrm>
              <a:off x="5778287" y="4961117"/>
              <a:ext cx="577851" cy="577851"/>
            </a:xfrm>
            <a:prstGeom prst="roundRect">
              <a:avLst>
                <a:gd name="adj" fmla="val 50000"/>
              </a:avLst>
            </a:prstGeom>
            <a:solidFill>
              <a:srgbClr val="1A3172"/>
            </a:solidFill>
            <a:ln w="12700" cap="flat">
              <a:noFill/>
              <a:miter lim="400000"/>
            </a:ln>
            <a:effectLst/>
          </p:spPr>
          <p:txBody>
            <a:bodyPr wrap="square" lIns="0" tIns="0" rIns="0" bIns="0" numCol="1" anchor="ctr">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srgbClr val="000000"/>
                </a:solidFill>
                <a:effectLst/>
                <a:uLnTx/>
                <a:uFillTx/>
                <a:cs typeface="+mn-ea"/>
                <a:sym typeface="+mn-lt"/>
              </a:endParaRPr>
            </a:p>
          </p:txBody>
        </p:sp>
        <p:sp>
          <p:nvSpPr>
            <p:cNvPr id="8" name="Shape 6066">
              <a:extLst>
                <a:ext uri="{FF2B5EF4-FFF2-40B4-BE49-F238E27FC236}">
                  <a16:creationId xmlns:a16="http://schemas.microsoft.com/office/drawing/2014/main" id="{3C5E6E46-2D6E-9E5E-1B1C-6256E8AEAA13}"/>
                </a:ext>
              </a:extLst>
            </p:cNvPr>
            <p:cNvSpPr/>
            <p:nvPr/>
          </p:nvSpPr>
          <p:spPr>
            <a:xfrm>
              <a:off x="5927358" y="5109140"/>
              <a:ext cx="279708" cy="281804"/>
            </a:xfrm>
            <a:custGeom>
              <a:avLst/>
              <a:gdLst>
                <a:gd name="connsiteX0" fmla="*/ 386204 w 602205"/>
                <a:gd name="connsiteY0" fmla="*/ 222916 h 606722"/>
                <a:gd name="connsiteX1" fmla="*/ 516692 w 602205"/>
                <a:gd name="connsiteY1" fmla="*/ 222916 h 606722"/>
                <a:gd name="connsiteX2" fmla="*/ 545129 w 602205"/>
                <a:gd name="connsiteY2" fmla="*/ 231976 h 606722"/>
                <a:gd name="connsiteX3" fmla="*/ 594743 w 602205"/>
                <a:gd name="connsiteY3" fmla="*/ 270632 h 606722"/>
                <a:gd name="connsiteX4" fmla="*/ 602205 w 602205"/>
                <a:gd name="connsiteY4" fmla="*/ 285329 h 606722"/>
                <a:gd name="connsiteX5" fmla="*/ 594944 w 602205"/>
                <a:gd name="connsiteY5" fmla="*/ 300228 h 606722"/>
                <a:gd name="connsiteX6" fmla="*/ 545129 w 602205"/>
                <a:gd name="connsiteY6" fmla="*/ 340293 h 606722"/>
                <a:gd name="connsiteX7" fmla="*/ 516692 w 602205"/>
                <a:gd name="connsiteY7" fmla="*/ 351769 h 606722"/>
                <a:gd name="connsiteX8" fmla="*/ 386204 w 602205"/>
                <a:gd name="connsiteY8" fmla="*/ 351769 h 606722"/>
                <a:gd name="connsiteX9" fmla="*/ 85299 w 602205"/>
                <a:gd name="connsiteY9" fmla="*/ 131463 h 606722"/>
                <a:gd name="connsiteX10" fmla="*/ 216777 w 602205"/>
                <a:gd name="connsiteY10" fmla="*/ 131463 h 606722"/>
                <a:gd name="connsiteX11" fmla="*/ 216777 w 602205"/>
                <a:gd name="connsiteY11" fmla="*/ 260386 h 606722"/>
                <a:gd name="connsiteX12" fmla="*/ 85299 w 602205"/>
                <a:gd name="connsiteY12" fmla="*/ 260386 h 606722"/>
                <a:gd name="connsiteX13" fmla="*/ 57068 w 602205"/>
                <a:gd name="connsiteY13" fmla="*/ 248501 h 606722"/>
                <a:gd name="connsiteX14" fmla="*/ 7058 w 602205"/>
                <a:gd name="connsiteY14" fmla="*/ 206803 h 606722"/>
                <a:gd name="connsiteX15" fmla="*/ 0 w 602205"/>
                <a:gd name="connsiteY15" fmla="*/ 192903 h 606722"/>
                <a:gd name="connsiteX16" fmla="*/ 7260 w 602205"/>
                <a:gd name="connsiteY16" fmla="*/ 178802 h 606722"/>
                <a:gd name="connsiteX17" fmla="*/ 57068 w 602205"/>
                <a:gd name="connsiteY17" fmla="*/ 139924 h 606722"/>
                <a:gd name="connsiteX18" fmla="*/ 85299 w 602205"/>
                <a:gd name="connsiteY18" fmla="*/ 131463 h 606722"/>
                <a:gd name="connsiteX19" fmla="*/ 386204 w 602205"/>
                <a:gd name="connsiteY19" fmla="*/ 42904 h 606722"/>
                <a:gd name="connsiteX20" fmla="*/ 516692 w 602205"/>
                <a:gd name="connsiteY20" fmla="*/ 42904 h 606722"/>
                <a:gd name="connsiteX21" fmla="*/ 545129 w 602205"/>
                <a:gd name="connsiteY21" fmla="*/ 51964 h 606722"/>
                <a:gd name="connsiteX22" fmla="*/ 594743 w 602205"/>
                <a:gd name="connsiteY22" fmla="*/ 90620 h 606722"/>
                <a:gd name="connsiteX23" fmla="*/ 602205 w 602205"/>
                <a:gd name="connsiteY23" fmla="*/ 105317 h 606722"/>
                <a:gd name="connsiteX24" fmla="*/ 594944 w 602205"/>
                <a:gd name="connsiteY24" fmla="*/ 120216 h 606722"/>
                <a:gd name="connsiteX25" fmla="*/ 545129 w 602205"/>
                <a:gd name="connsiteY25" fmla="*/ 160281 h 606722"/>
                <a:gd name="connsiteX26" fmla="*/ 516692 w 602205"/>
                <a:gd name="connsiteY26" fmla="*/ 171757 h 606722"/>
                <a:gd name="connsiteX27" fmla="*/ 386204 w 602205"/>
                <a:gd name="connsiteY27" fmla="*/ 171757 h 606722"/>
                <a:gd name="connsiteX28" fmla="*/ 297432 w 602205"/>
                <a:gd name="connsiteY28" fmla="*/ 0 h 606722"/>
                <a:gd name="connsiteX29" fmla="*/ 337765 w 602205"/>
                <a:gd name="connsiteY29" fmla="*/ 40274 h 606722"/>
                <a:gd name="connsiteX30" fmla="*/ 337765 w 602205"/>
                <a:gd name="connsiteY30" fmla="*/ 496775 h 606722"/>
                <a:gd name="connsiteX31" fmla="*/ 419238 w 602205"/>
                <a:gd name="connsiteY31" fmla="*/ 496775 h 606722"/>
                <a:gd name="connsiteX32" fmla="*/ 455739 w 602205"/>
                <a:gd name="connsiteY32" fmla="*/ 515100 h 606722"/>
                <a:gd name="connsiteX33" fmla="*/ 497887 w 602205"/>
                <a:gd name="connsiteY33" fmla="*/ 572490 h 606722"/>
                <a:gd name="connsiteX34" fmla="*/ 500912 w 602205"/>
                <a:gd name="connsiteY34" fmla="*/ 595647 h 606722"/>
                <a:gd name="connsiteX35" fmla="*/ 480342 w 602205"/>
                <a:gd name="connsiteY35" fmla="*/ 606722 h 606722"/>
                <a:gd name="connsiteX36" fmla="*/ 121580 w 602205"/>
                <a:gd name="connsiteY36" fmla="*/ 606722 h 606722"/>
                <a:gd name="connsiteX37" fmla="*/ 101010 w 602205"/>
                <a:gd name="connsiteY37" fmla="*/ 595647 h 606722"/>
                <a:gd name="connsiteX38" fmla="*/ 104237 w 602205"/>
                <a:gd name="connsiteY38" fmla="*/ 572490 h 606722"/>
                <a:gd name="connsiteX39" fmla="*/ 146183 w 602205"/>
                <a:gd name="connsiteY39" fmla="*/ 515100 h 606722"/>
                <a:gd name="connsiteX40" fmla="*/ 182684 w 602205"/>
                <a:gd name="connsiteY40" fmla="*/ 496775 h 606722"/>
                <a:gd name="connsiteX41" fmla="*/ 257099 w 602205"/>
                <a:gd name="connsiteY41" fmla="*/ 496775 h 606722"/>
                <a:gd name="connsiteX42" fmla="*/ 257099 w 602205"/>
                <a:gd name="connsiteY42" fmla="*/ 40274 h 606722"/>
                <a:gd name="connsiteX43" fmla="*/ 297432 w 602205"/>
                <a:gd name="connsiteY43"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2205" h="606722">
                  <a:moveTo>
                    <a:pt x="386204" y="222916"/>
                  </a:moveTo>
                  <a:lnTo>
                    <a:pt x="516692" y="222916"/>
                  </a:lnTo>
                  <a:cubicBezTo>
                    <a:pt x="525163" y="222916"/>
                    <a:pt x="537465" y="225936"/>
                    <a:pt x="545129" y="231976"/>
                  </a:cubicBezTo>
                  <a:lnTo>
                    <a:pt x="594743" y="270632"/>
                  </a:lnTo>
                  <a:cubicBezTo>
                    <a:pt x="599381" y="274256"/>
                    <a:pt x="602205" y="279692"/>
                    <a:pt x="602205" y="285329"/>
                  </a:cubicBezTo>
                  <a:cubicBezTo>
                    <a:pt x="602205" y="291168"/>
                    <a:pt x="599381" y="296604"/>
                    <a:pt x="594944" y="300228"/>
                  </a:cubicBezTo>
                  <a:lnTo>
                    <a:pt x="545129" y="340293"/>
                  </a:lnTo>
                  <a:cubicBezTo>
                    <a:pt x="539280" y="344924"/>
                    <a:pt x="526978" y="351769"/>
                    <a:pt x="516692" y="351769"/>
                  </a:cubicBezTo>
                  <a:lnTo>
                    <a:pt x="386204" y="351769"/>
                  </a:lnTo>
                  <a:close/>
                  <a:moveTo>
                    <a:pt x="85299" y="131463"/>
                  </a:moveTo>
                  <a:lnTo>
                    <a:pt x="216777" y="131463"/>
                  </a:lnTo>
                  <a:lnTo>
                    <a:pt x="216777" y="260386"/>
                  </a:lnTo>
                  <a:lnTo>
                    <a:pt x="85299" y="260386"/>
                  </a:lnTo>
                  <a:cubicBezTo>
                    <a:pt x="74813" y="260386"/>
                    <a:pt x="62311" y="252530"/>
                    <a:pt x="57068" y="248501"/>
                  </a:cubicBezTo>
                  <a:lnTo>
                    <a:pt x="7058" y="206803"/>
                  </a:lnTo>
                  <a:cubicBezTo>
                    <a:pt x="2621" y="203177"/>
                    <a:pt x="0" y="198140"/>
                    <a:pt x="0" y="192903"/>
                  </a:cubicBezTo>
                  <a:cubicBezTo>
                    <a:pt x="0" y="187464"/>
                    <a:pt x="2621" y="182428"/>
                    <a:pt x="7260" y="178802"/>
                  </a:cubicBezTo>
                  <a:lnTo>
                    <a:pt x="57068" y="139924"/>
                  </a:lnTo>
                  <a:cubicBezTo>
                    <a:pt x="64327" y="134082"/>
                    <a:pt x="76426" y="131463"/>
                    <a:pt x="85299" y="131463"/>
                  </a:cubicBezTo>
                  <a:close/>
                  <a:moveTo>
                    <a:pt x="386204" y="42904"/>
                  </a:moveTo>
                  <a:lnTo>
                    <a:pt x="516692" y="42904"/>
                  </a:lnTo>
                  <a:cubicBezTo>
                    <a:pt x="525163" y="42904"/>
                    <a:pt x="537667" y="46125"/>
                    <a:pt x="545129" y="51964"/>
                  </a:cubicBezTo>
                  <a:lnTo>
                    <a:pt x="594743" y="90620"/>
                  </a:lnTo>
                  <a:cubicBezTo>
                    <a:pt x="599381" y="94244"/>
                    <a:pt x="602205" y="99680"/>
                    <a:pt x="602205" y="105317"/>
                  </a:cubicBezTo>
                  <a:cubicBezTo>
                    <a:pt x="602205" y="111156"/>
                    <a:pt x="599381" y="116592"/>
                    <a:pt x="594944" y="120216"/>
                  </a:cubicBezTo>
                  <a:lnTo>
                    <a:pt x="545129" y="160281"/>
                  </a:lnTo>
                  <a:cubicBezTo>
                    <a:pt x="539280" y="164912"/>
                    <a:pt x="526978" y="171757"/>
                    <a:pt x="516692" y="171757"/>
                  </a:cubicBezTo>
                  <a:lnTo>
                    <a:pt x="386204" y="171757"/>
                  </a:lnTo>
                  <a:close/>
                  <a:moveTo>
                    <a:pt x="297432" y="0"/>
                  </a:moveTo>
                  <a:cubicBezTo>
                    <a:pt x="319615" y="0"/>
                    <a:pt x="337765" y="18123"/>
                    <a:pt x="337765" y="40274"/>
                  </a:cubicBezTo>
                  <a:lnTo>
                    <a:pt x="337765" y="496775"/>
                  </a:lnTo>
                  <a:lnTo>
                    <a:pt x="419238" y="496775"/>
                  </a:lnTo>
                  <a:cubicBezTo>
                    <a:pt x="432346" y="496775"/>
                    <a:pt x="448076" y="504629"/>
                    <a:pt x="455739" y="515100"/>
                  </a:cubicBezTo>
                  <a:lnTo>
                    <a:pt x="497887" y="572490"/>
                  </a:lnTo>
                  <a:cubicBezTo>
                    <a:pt x="503332" y="580142"/>
                    <a:pt x="504542" y="588599"/>
                    <a:pt x="500912" y="595647"/>
                  </a:cubicBezTo>
                  <a:cubicBezTo>
                    <a:pt x="497282" y="602695"/>
                    <a:pt x="489820" y="606722"/>
                    <a:pt x="480342" y="606722"/>
                  </a:cubicBezTo>
                  <a:lnTo>
                    <a:pt x="121580" y="606722"/>
                  </a:lnTo>
                  <a:cubicBezTo>
                    <a:pt x="112102" y="606722"/>
                    <a:pt x="104640" y="602695"/>
                    <a:pt x="101010" y="595647"/>
                  </a:cubicBezTo>
                  <a:cubicBezTo>
                    <a:pt x="97380" y="588599"/>
                    <a:pt x="98590" y="580142"/>
                    <a:pt x="104237" y="572490"/>
                  </a:cubicBezTo>
                  <a:lnTo>
                    <a:pt x="146183" y="515100"/>
                  </a:lnTo>
                  <a:cubicBezTo>
                    <a:pt x="153846" y="504629"/>
                    <a:pt x="169576" y="496775"/>
                    <a:pt x="182684" y="496775"/>
                  </a:cubicBezTo>
                  <a:lnTo>
                    <a:pt x="257099" y="496775"/>
                  </a:lnTo>
                  <a:lnTo>
                    <a:pt x="257099" y="40274"/>
                  </a:lnTo>
                  <a:cubicBezTo>
                    <a:pt x="257099" y="18123"/>
                    <a:pt x="275249" y="0"/>
                    <a:pt x="297432" y="0"/>
                  </a:cubicBezTo>
                  <a:close/>
                </a:path>
              </a:pathLst>
            </a:custGeom>
            <a:solidFill>
              <a:srgbClr val="FFFFFF"/>
            </a:solidFill>
            <a:ln w="12700" cap="flat">
              <a:noFill/>
              <a:miter lim="400000"/>
            </a:ln>
            <a:effectLst/>
          </p:spPr>
          <p:txBody>
            <a:bodyPr wrap="square" lIns="19050" tIns="19050" rIns="19050" bIns="19050" numCol="1" anchor="ctr">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cs typeface="+mn-ea"/>
                <a:sym typeface="+mn-lt"/>
              </a:endParaRPr>
            </a:p>
          </p:txBody>
        </p:sp>
        <p:sp>
          <p:nvSpPr>
            <p:cNvPr id="9" name="Rectangle 30">
              <a:extLst>
                <a:ext uri="{FF2B5EF4-FFF2-40B4-BE49-F238E27FC236}">
                  <a16:creationId xmlns:a16="http://schemas.microsoft.com/office/drawing/2014/main" id="{5B9A33E5-ED71-8840-7D0D-B9C9DBD648E7}"/>
                </a:ext>
              </a:extLst>
            </p:cNvPr>
            <p:cNvSpPr/>
            <p:nvPr/>
          </p:nvSpPr>
          <p:spPr bwMode="auto">
            <a:xfrm>
              <a:off x="6471095" y="5177783"/>
              <a:ext cx="5585070" cy="1397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lvl="0" indent="-171450">
                <a:lnSpc>
                  <a:spcPct val="150000"/>
                </a:lnSpc>
                <a:spcBef>
                  <a:spcPct val="0"/>
                </a:spcBef>
                <a:buFont typeface="Arial" panose="020B0604020202020204" pitchFamily="34" charset="0"/>
                <a:buChar char="•"/>
                <a:defRPr/>
              </a:pPr>
              <a:r>
                <a:rPr lang="zh-CN" altLang="en-US" sz="1400" dirty="0">
                  <a:solidFill>
                    <a:srgbClr val="000000"/>
                  </a:solidFill>
                  <a:cs typeface="+mn-ea"/>
                  <a:sym typeface="+mn-lt"/>
                </a:rPr>
                <a:t>系统梳理影响</a:t>
              </a:r>
              <a:r>
                <a:rPr lang="en-US" altLang="zh-CN" sz="1400" dirty="0">
                  <a:solidFill>
                    <a:srgbClr val="000000"/>
                  </a:solidFill>
                  <a:cs typeface="+mn-ea"/>
                  <a:sym typeface="+mn-lt"/>
                </a:rPr>
                <a:t>LSC</a:t>
              </a:r>
              <a:r>
                <a:rPr lang="zh-CN" altLang="en-US" sz="1400" dirty="0">
                  <a:solidFill>
                    <a:srgbClr val="000000"/>
                  </a:solidFill>
                  <a:cs typeface="+mn-ea"/>
                  <a:sym typeface="+mn-lt"/>
                </a:rPr>
                <a:t>光学效率的关键材料参数，包括</a:t>
              </a:r>
              <a:r>
                <a:rPr lang="zh-CN" altLang="en-US" sz="1400" dirty="0">
                  <a:solidFill>
                    <a:srgbClr val="FF0000"/>
                  </a:solidFill>
                  <a:cs typeface="+mn-ea"/>
                  <a:sym typeface="+mn-lt"/>
                </a:rPr>
                <a:t>荧光材料</a:t>
              </a:r>
              <a:r>
                <a:rPr lang="zh-CN" altLang="en-US" sz="1400" dirty="0">
                  <a:solidFill>
                    <a:srgbClr val="000000"/>
                  </a:solidFill>
                  <a:cs typeface="+mn-ea"/>
                  <a:sym typeface="+mn-lt"/>
                </a:rPr>
                <a:t>的</a:t>
              </a:r>
              <a:r>
                <a:rPr lang="zh-CN" altLang="en-US" sz="1400" dirty="0">
                  <a:solidFill>
                    <a:srgbClr val="FF0000"/>
                  </a:solidFill>
                  <a:cs typeface="+mn-ea"/>
                  <a:sym typeface="+mn-lt"/>
                </a:rPr>
                <a:t>吸收光谱</a:t>
              </a:r>
              <a:r>
                <a:rPr lang="zh-CN" altLang="en-US" sz="1400" dirty="0">
                  <a:solidFill>
                    <a:srgbClr val="000000"/>
                  </a:solidFill>
                  <a:cs typeface="+mn-ea"/>
                  <a:sym typeface="+mn-lt"/>
                </a:rPr>
                <a:t>、</a:t>
              </a:r>
              <a:r>
                <a:rPr lang="zh-CN" altLang="en-US" sz="1400" dirty="0">
                  <a:solidFill>
                    <a:srgbClr val="FF0000"/>
                  </a:solidFill>
                  <a:cs typeface="+mn-ea"/>
                  <a:sym typeface="+mn-lt"/>
                </a:rPr>
                <a:t>发射光谱</a:t>
              </a:r>
              <a:r>
                <a:rPr lang="zh-CN" altLang="en-US" sz="1400" dirty="0">
                  <a:solidFill>
                    <a:srgbClr val="000000"/>
                  </a:solidFill>
                  <a:cs typeface="+mn-ea"/>
                  <a:sym typeface="+mn-lt"/>
                </a:rPr>
                <a:t>、</a:t>
              </a:r>
              <a:r>
                <a:rPr lang="zh-CN" altLang="en-US" sz="1400" dirty="0">
                  <a:solidFill>
                    <a:srgbClr val="FF0000"/>
                  </a:solidFill>
                  <a:cs typeface="+mn-ea"/>
                  <a:sym typeface="+mn-lt"/>
                </a:rPr>
                <a:t>量子产率</a:t>
              </a:r>
              <a:r>
                <a:rPr lang="zh-CN" altLang="en-US" sz="1400" dirty="0">
                  <a:solidFill>
                    <a:srgbClr val="000000"/>
                  </a:solidFill>
                  <a:cs typeface="+mn-ea"/>
                  <a:sym typeface="+mn-lt"/>
                </a:rPr>
                <a:t>、</a:t>
              </a:r>
              <a:r>
                <a:rPr lang="zh-CN" altLang="en-US" sz="1400" dirty="0">
                  <a:solidFill>
                    <a:srgbClr val="FF0000"/>
                  </a:solidFill>
                  <a:cs typeface="+mn-ea"/>
                  <a:sym typeface="+mn-lt"/>
                </a:rPr>
                <a:t>斯托克斯位移</a:t>
              </a:r>
              <a:r>
                <a:rPr lang="zh-CN" altLang="en-US" sz="1400" dirty="0">
                  <a:solidFill>
                    <a:srgbClr val="000000"/>
                  </a:solidFill>
                  <a:cs typeface="+mn-ea"/>
                  <a:sym typeface="+mn-lt"/>
                </a:rPr>
                <a:t>、</a:t>
              </a:r>
              <a:r>
                <a:rPr lang="zh-CN" altLang="en-US" sz="1400" dirty="0">
                  <a:solidFill>
                    <a:srgbClr val="FF0000"/>
                  </a:solidFill>
                  <a:cs typeface="+mn-ea"/>
                  <a:sym typeface="+mn-lt"/>
                </a:rPr>
                <a:t>荧光寿命</a:t>
              </a:r>
              <a:r>
                <a:rPr lang="zh-CN" altLang="en-US" sz="1400" dirty="0">
                  <a:solidFill>
                    <a:srgbClr val="000000"/>
                  </a:solidFill>
                  <a:cs typeface="+mn-ea"/>
                  <a:sym typeface="+mn-lt"/>
                </a:rPr>
                <a:t>、</a:t>
              </a:r>
              <a:r>
                <a:rPr lang="zh-CN" altLang="en-US" sz="1400" dirty="0">
                  <a:solidFill>
                    <a:srgbClr val="FF0000"/>
                  </a:solidFill>
                  <a:cs typeface="+mn-ea"/>
                  <a:sym typeface="+mn-lt"/>
                </a:rPr>
                <a:t>热稳定性</a:t>
              </a:r>
              <a:r>
                <a:rPr lang="zh-CN" altLang="en-US" sz="1400" dirty="0">
                  <a:solidFill>
                    <a:srgbClr val="000000"/>
                  </a:solidFill>
                  <a:cs typeface="+mn-ea"/>
                  <a:sym typeface="+mn-lt"/>
                </a:rPr>
                <a:t>等光学特性，以及</a:t>
              </a:r>
              <a:r>
                <a:rPr lang="zh-CN" altLang="en-US" sz="1400" dirty="0">
                  <a:solidFill>
                    <a:srgbClr val="FF0000"/>
                  </a:solidFill>
                  <a:cs typeface="+mn-ea"/>
                  <a:sym typeface="+mn-lt"/>
                </a:rPr>
                <a:t>基质材料</a:t>
              </a:r>
              <a:r>
                <a:rPr lang="zh-CN" altLang="en-US" sz="1400" dirty="0">
                  <a:solidFill>
                    <a:srgbClr val="000000"/>
                  </a:solidFill>
                  <a:cs typeface="+mn-ea"/>
                  <a:sym typeface="+mn-lt"/>
                </a:rPr>
                <a:t>的</a:t>
              </a:r>
              <a:r>
                <a:rPr lang="zh-CN" altLang="en-US" sz="1400" dirty="0">
                  <a:solidFill>
                    <a:srgbClr val="FF0000"/>
                  </a:solidFill>
                  <a:cs typeface="+mn-ea"/>
                  <a:sym typeface="+mn-lt"/>
                </a:rPr>
                <a:t>折射率</a:t>
              </a:r>
              <a:r>
                <a:rPr lang="zh-CN" altLang="en-US" sz="1400" dirty="0">
                  <a:solidFill>
                    <a:srgbClr val="000000"/>
                  </a:solidFill>
                  <a:cs typeface="+mn-ea"/>
                  <a:sym typeface="+mn-lt"/>
                </a:rPr>
                <a:t>、</a:t>
              </a:r>
              <a:r>
                <a:rPr lang="zh-CN" altLang="en-US" sz="1400" dirty="0">
                  <a:solidFill>
                    <a:srgbClr val="FF0000"/>
                  </a:solidFill>
                  <a:cs typeface="+mn-ea"/>
                  <a:sym typeface="+mn-lt"/>
                </a:rPr>
                <a:t>透光率</a:t>
              </a:r>
              <a:r>
                <a:rPr lang="zh-CN" altLang="en-US" sz="1400" dirty="0">
                  <a:solidFill>
                    <a:srgbClr val="000000"/>
                  </a:solidFill>
                  <a:cs typeface="+mn-ea"/>
                  <a:sym typeface="+mn-lt"/>
                </a:rPr>
                <a:t>、</a:t>
              </a:r>
              <a:r>
                <a:rPr lang="zh-CN" altLang="en-US" sz="1400" dirty="0">
                  <a:solidFill>
                    <a:srgbClr val="FF0000"/>
                  </a:solidFill>
                  <a:cs typeface="+mn-ea"/>
                  <a:sym typeface="+mn-lt"/>
                </a:rPr>
                <a:t>散射特性</a:t>
              </a:r>
              <a:r>
                <a:rPr lang="zh-CN" altLang="en-US" sz="1400" dirty="0">
                  <a:solidFill>
                    <a:srgbClr val="000000"/>
                  </a:solidFill>
                  <a:cs typeface="+mn-ea"/>
                  <a:sym typeface="+mn-lt"/>
                </a:rPr>
                <a:t>等物理参数；</a:t>
              </a:r>
            </a:p>
          </p:txBody>
        </p:sp>
        <p:sp>
          <p:nvSpPr>
            <p:cNvPr id="10" name="TextBox 31">
              <a:extLst>
                <a:ext uri="{FF2B5EF4-FFF2-40B4-BE49-F238E27FC236}">
                  <a16:creationId xmlns:a16="http://schemas.microsoft.com/office/drawing/2014/main" id="{81567836-F4C5-0E54-68B2-64F4A98F8DD7}"/>
                </a:ext>
              </a:extLst>
            </p:cNvPr>
            <p:cNvSpPr txBox="1"/>
            <p:nvPr/>
          </p:nvSpPr>
          <p:spPr bwMode="auto">
            <a:xfrm>
              <a:off x="6471096" y="4764903"/>
              <a:ext cx="5049392"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ct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材料特性参数体系构造</a:t>
              </a:r>
              <a:endParaRPr kumimoji="0" lang="en-US" altLang="zh-CN" sz="1800" b="1" i="0" u="none" strike="noStrike" kern="1200" cap="none" spc="0" normalizeH="0" baseline="0" noProof="0" dirty="0">
                <a:ln>
                  <a:noFill/>
                </a:ln>
                <a:solidFill>
                  <a:srgbClr val="000000"/>
                </a:solidFill>
                <a:effectLst/>
                <a:uLnTx/>
                <a:uFillTx/>
                <a:cs typeface="+mn-ea"/>
                <a:sym typeface="+mn-lt"/>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492AE-0CE8-2167-8A5A-1ADBBA312826}"/>
            </a:ext>
          </a:extLst>
        </p:cNvPr>
        <p:cNvGrpSpPr/>
        <p:nvPr/>
      </p:nvGrpSpPr>
      <p:grpSpPr>
        <a:xfrm>
          <a:off x="0" y="0"/>
          <a:ext cx="0" cy="0"/>
          <a:chOff x="0" y="0"/>
          <a:chExt cx="0" cy="0"/>
        </a:xfrm>
      </p:grpSpPr>
      <p:sp>
        <p:nvSpPr>
          <p:cNvPr id="12" name="标题 11">
            <a:extLst>
              <a:ext uri="{FF2B5EF4-FFF2-40B4-BE49-F238E27FC236}">
                <a16:creationId xmlns:a16="http://schemas.microsoft.com/office/drawing/2014/main" id="{9E40FD89-BA69-8437-04D4-2850961839C2}"/>
              </a:ext>
            </a:extLst>
          </p:cNvPr>
          <p:cNvSpPr>
            <a:spLocks noGrp="1"/>
          </p:cNvSpPr>
          <p:nvPr>
            <p:ph type="title"/>
          </p:nvPr>
        </p:nvSpPr>
        <p:spPr>
          <a:xfrm>
            <a:off x="1287793" y="229731"/>
            <a:ext cx="10850563" cy="663575"/>
          </a:xfrm>
        </p:spPr>
        <p:txBody>
          <a:bodyPr/>
          <a:lstStyle/>
          <a:p>
            <a:r>
              <a:rPr lang="zh-CN" altLang="en-US" sz="2800" dirty="0">
                <a:latin typeface="+mn-lt"/>
                <a:ea typeface="+mn-ea"/>
                <a:cs typeface="+mn-ea"/>
                <a:sym typeface="+mn-lt"/>
              </a:rPr>
              <a:t>荧光材料与</a:t>
            </a:r>
            <a:r>
              <a:rPr lang="en-US" altLang="zh-CN" sz="2800" dirty="0">
                <a:latin typeface="+mn-lt"/>
                <a:ea typeface="+mn-ea"/>
                <a:cs typeface="+mn-ea"/>
                <a:sym typeface="+mn-lt"/>
              </a:rPr>
              <a:t>LSC</a:t>
            </a:r>
            <a:r>
              <a:rPr lang="zh-CN" altLang="en-US" sz="2800" dirty="0">
                <a:latin typeface="+mn-lt"/>
                <a:ea typeface="+mn-ea"/>
                <a:cs typeface="+mn-ea"/>
                <a:sym typeface="+mn-lt"/>
              </a:rPr>
              <a:t>性能数据库构建</a:t>
            </a:r>
          </a:p>
        </p:txBody>
      </p:sp>
      <p:pic>
        <p:nvPicPr>
          <p:cNvPr id="47" name="图片 46">
            <a:extLst>
              <a:ext uri="{FF2B5EF4-FFF2-40B4-BE49-F238E27FC236}">
                <a16:creationId xmlns:a16="http://schemas.microsoft.com/office/drawing/2014/main" id="{08752F65-A815-6DCC-1DAC-68EA9ACBC50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11230" y="0"/>
            <a:ext cx="1180770" cy="1174982"/>
          </a:xfrm>
          <a:prstGeom prst="rect">
            <a:avLst/>
          </a:prstGeom>
        </p:spPr>
      </p:pic>
      <p:sp>
        <p:nvSpPr>
          <p:cNvPr id="28" name="ComponentBackground1">
            <a:extLst>
              <a:ext uri="{FF2B5EF4-FFF2-40B4-BE49-F238E27FC236}">
                <a16:creationId xmlns:a16="http://schemas.microsoft.com/office/drawing/2014/main" id="{306B0B22-7D04-8BF0-63E2-24448E79C0D9}"/>
              </a:ext>
            </a:extLst>
          </p:cNvPr>
          <p:cNvSpPr>
            <a:spLocks/>
          </p:cNvSpPr>
          <p:nvPr/>
        </p:nvSpPr>
        <p:spPr>
          <a:xfrm>
            <a:off x="673099" y="2653471"/>
            <a:ext cx="10845802" cy="3582229"/>
          </a:xfrm>
          <a:prstGeom prst="roundRect">
            <a:avLst>
              <a:gd name="adj" fmla="val 10662"/>
            </a:avLst>
          </a:prstGeom>
          <a:solidFill>
            <a:srgbClr val="FFFFFF">
              <a:alpha val="85000"/>
            </a:srgbClr>
          </a:solidFill>
          <a:ln w="6350">
            <a:solidFill>
              <a:schemeClr val="accent1">
                <a:alpha val="50000"/>
              </a:schemeClr>
            </a:solidFill>
          </a:ln>
          <a:effectLst>
            <a:outerShdw blurRad="635000" dist="50800" dir="2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9" name="Text1">
            <a:extLst>
              <a:ext uri="{FF2B5EF4-FFF2-40B4-BE49-F238E27FC236}">
                <a16:creationId xmlns:a16="http://schemas.microsoft.com/office/drawing/2014/main" id="{DE9C08E1-CE48-FB37-EB1A-E8515730A0CD}"/>
              </a:ext>
            </a:extLst>
          </p:cNvPr>
          <p:cNvSpPr txBox="1"/>
          <p:nvPr/>
        </p:nvSpPr>
        <p:spPr>
          <a:xfrm>
            <a:off x="1564186" y="3394052"/>
            <a:ext cx="9063629" cy="1912265"/>
          </a:xfrm>
          <a:prstGeom prst="rect">
            <a:avLst/>
          </a:prstGeom>
          <a:noFill/>
        </p:spPr>
        <p:txBody>
          <a:bodyPr wrap="square" rtlCol="0" anchor="t" anchorCtr="0">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sz="2800" dirty="0">
                <a:solidFill>
                  <a:srgbClr val="000000"/>
                </a:solidFill>
                <a:cs typeface="+mn-ea"/>
                <a:sym typeface="+mn-lt"/>
              </a:rPr>
              <a:t>利用现有国内外公开文献、专利、实验报告等中的荧光材料性能数据和</a:t>
            </a:r>
            <a:r>
              <a:rPr lang="en-US" altLang="zh-CN" sz="2800" dirty="0">
                <a:solidFill>
                  <a:srgbClr val="000000"/>
                </a:solidFill>
                <a:cs typeface="+mn-ea"/>
                <a:sym typeface="+mn-lt"/>
              </a:rPr>
              <a:t>LSC</a:t>
            </a:r>
            <a:r>
              <a:rPr lang="zh-CN" altLang="en-US" sz="2800" dirty="0">
                <a:solidFill>
                  <a:srgbClr val="000000"/>
                </a:solidFill>
                <a:cs typeface="+mn-ea"/>
                <a:sym typeface="+mn-lt"/>
              </a:rPr>
              <a:t>器件测试数据以及目前实验得出的相关数据，建立统一的数据标准化规范，包括数据清洗、格式转换、单位统一、异常值处理等流程。</a:t>
            </a:r>
          </a:p>
        </p:txBody>
      </p:sp>
      <p:sp>
        <p:nvSpPr>
          <p:cNvPr id="40" name="Shape1">
            <a:extLst>
              <a:ext uri="{FF2B5EF4-FFF2-40B4-BE49-F238E27FC236}">
                <a16:creationId xmlns:a16="http://schemas.microsoft.com/office/drawing/2014/main" id="{ED76ABDC-9A03-5ACC-A96A-4312E11B5EFB}"/>
              </a:ext>
            </a:extLst>
          </p:cNvPr>
          <p:cNvSpPr>
            <a:spLocks/>
          </p:cNvSpPr>
          <p:nvPr/>
        </p:nvSpPr>
        <p:spPr>
          <a:xfrm>
            <a:off x="927333" y="3001493"/>
            <a:ext cx="70578" cy="2791435"/>
          </a:xfrm>
          <a:prstGeom prst="roundRect">
            <a:avLst>
              <a:gd name="adj" fmla="val 50000"/>
            </a:avLst>
          </a:prstGeom>
          <a:gradFill flip="none" rotWithShape="1">
            <a:gsLst>
              <a:gs pos="0">
                <a:schemeClr val="accent2"/>
              </a:gs>
              <a:gs pos="100000">
                <a:schemeClr val="accent1"/>
              </a:gs>
            </a:gsLst>
            <a:lin ang="162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endParaRPr lang="zh-CN" altLang="en-US" sz="2000">
              <a:cs typeface="+mn-ea"/>
              <a:sym typeface="+mn-lt"/>
            </a:endParaRPr>
          </a:p>
        </p:txBody>
      </p:sp>
      <p:sp>
        <p:nvSpPr>
          <p:cNvPr id="48" name="Title">
            <a:extLst>
              <a:ext uri="{FF2B5EF4-FFF2-40B4-BE49-F238E27FC236}">
                <a16:creationId xmlns:a16="http://schemas.microsoft.com/office/drawing/2014/main" id="{D64D3AF6-8364-A756-8C32-A23DA0CF32EB}"/>
              </a:ext>
            </a:extLst>
          </p:cNvPr>
          <p:cNvSpPr>
            <a:spLocks/>
          </p:cNvSpPr>
          <p:nvPr/>
        </p:nvSpPr>
        <p:spPr>
          <a:xfrm>
            <a:off x="2162631" y="1393371"/>
            <a:ext cx="7866740" cy="902360"/>
          </a:xfrm>
          <a:prstGeom prst="roundRect">
            <a:avLst>
              <a:gd name="adj" fmla="val 22464"/>
            </a:avLst>
          </a:prstGeom>
          <a:gradFill flip="none" rotWithShape="1">
            <a:gsLst>
              <a:gs pos="0">
                <a:schemeClr val="accent2"/>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algn="ctr"/>
            <a:r>
              <a:rPr lang="zh-CN" altLang="en-US" sz="2400" b="1" dirty="0">
                <a:cs typeface="+mn-ea"/>
                <a:sym typeface="+mn-lt"/>
              </a:rPr>
              <a:t>荧光材料与</a:t>
            </a:r>
            <a:r>
              <a:rPr lang="en-US" altLang="zh-CN" sz="2400" b="1" dirty="0">
                <a:cs typeface="+mn-ea"/>
                <a:sym typeface="+mn-lt"/>
              </a:rPr>
              <a:t>LSC</a:t>
            </a:r>
            <a:r>
              <a:rPr lang="zh-CN" altLang="en-US" sz="2400" b="1" dirty="0">
                <a:cs typeface="+mn-ea"/>
                <a:sym typeface="+mn-lt"/>
              </a:rPr>
              <a:t>性能数据库构建</a:t>
            </a:r>
          </a:p>
        </p:txBody>
      </p:sp>
    </p:spTree>
    <p:extLst>
      <p:ext uri="{BB962C8B-B14F-4D97-AF65-F5344CB8AC3E}">
        <p14:creationId xmlns:p14="http://schemas.microsoft.com/office/powerpoint/2010/main" val="38617045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bwMode="auto">
          <a:xfrm>
            <a:off x="8340293" y="1384300"/>
            <a:ext cx="3234983" cy="5473700"/>
          </a:xfrm>
          <a:prstGeom prst="rect">
            <a:avLst/>
          </a:prstGeom>
          <a:solidFill>
            <a:schemeClr val="bg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cs typeface="+mn-ea"/>
              <a:sym typeface="+mn-lt"/>
            </a:endParaRPr>
          </a:p>
        </p:txBody>
      </p:sp>
      <p:sp>
        <p:nvSpPr>
          <p:cNvPr id="26" name="矩形 25"/>
          <p:cNvSpPr/>
          <p:nvPr/>
        </p:nvSpPr>
        <p:spPr bwMode="auto">
          <a:xfrm>
            <a:off x="566017" y="1384300"/>
            <a:ext cx="3234983" cy="5473700"/>
          </a:xfrm>
          <a:prstGeom prst="rect">
            <a:avLst/>
          </a:prstGeom>
          <a:solidFill>
            <a:schemeClr val="bg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cs typeface="+mn-ea"/>
              <a:sym typeface="+mn-lt"/>
            </a:endParaRPr>
          </a:p>
        </p:txBody>
      </p:sp>
      <p:sp>
        <p:nvSpPr>
          <p:cNvPr id="2" name="iṩlíḍè"/>
          <p:cNvSpPr/>
          <p:nvPr/>
        </p:nvSpPr>
        <p:spPr bwMode="auto">
          <a:xfrm>
            <a:off x="4363877" y="1908552"/>
            <a:ext cx="3480171" cy="3480171"/>
          </a:xfrm>
          <a:prstGeom prst="ellipse">
            <a:avLst/>
          </a:prstGeom>
          <a:noFill/>
          <a:ln w="76200">
            <a:solidFill>
              <a:srgbClr val="1A3172"/>
            </a:solidFill>
          </a:ln>
          <a:effectLst>
            <a:outerShdw blurRad="50800" dist="38100" dir="5400000" sx="1000" sy="1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186" name="矩形 185"/>
          <p:cNvSpPr/>
          <p:nvPr/>
        </p:nvSpPr>
        <p:spPr bwMode="auto">
          <a:xfrm>
            <a:off x="8401740" y="1662651"/>
            <a:ext cx="3122830" cy="741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tabLst>
                <a:tab pos="227965" algn="l"/>
              </a:tabLst>
              <a:defRPr/>
            </a:pPr>
            <a:r>
              <a:rPr kumimoji="0" lang="zh-CN" altLang="en-US" sz="1400" b="0" i="0" u="none" strike="noStrike" kern="1200" cap="none" spc="0" normalizeH="0" baseline="0" noProof="0" dirty="0">
                <a:ln>
                  <a:noFill/>
                </a:ln>
                <a:solidFill>
                  <a:srgbClr val="000000"/>
                </a:solidFill>
                <a:effectLst/>
                <a:uLnTx/>
                <a:uFillTx/>
                <a:cs typeface="+mn-ea"/>
                <a:sym typeface="+mn-lt"/>
              </a:rPr>
              <a:t>结合高斯过程回归（</a:t>
            </a:r>
            <a:r>
              <a:rPr kumimoji="0" lang="en-US" altLang="zh-CN" sz="1400" b="0" i="0" u="none" strike="noStrike" kern="1200" cap="none" spc="0" normalizeH="0" baseline="0" noProof="0" dirty="0">
                <a:ln>
                  <a:noFill/>
                </a:ln>
                <a:solidFill>
                  <a:srgbClr val="000000"/>
                </a:solidFill>
                <a:effectLst/>
                <a:uLnTx/>
                <a:uFillTx/>
                <a:cs typeface="+mn-ea"/>
                <a:sym typeface="+mn-lt"/>
              </a:rPr>
              <a:t>GPR</a:t>
            </a:r>
            <a:r>
              <a:rPr kumimoji="0" lang="zh-CN" altLang="en-US" sz="1400" b="0" i="0" u="none" strike="noStrike" kern="1200" cap="none" spc="0" normalizeH="0" baseline="0" noProof="0" dirty="0">
                <a:ln>
                  <a:noFill/>
                </a:ln>
                <a:solidFill>
                  <a:srgbClr val="000000"/>
                </a:solidFill>
                <a:effectLst/>
                <a:uLnTx/>
                <a:uFillTx/>
                <a:cs typeface="+mn-ea"/>
                <a:sym typeface="+mn-lt"/>
              </a:rPr>
              <a:t>）等概率模型，通过贝叶斯推断进行参数优化和不确定性量化，在有限样本下实现高效预测，提供预测置信区间。</a:t>
            </a:r>
            <a:endParaRPr kumimoji="0" lang="en-US" altLang="zh-CN" sz="1400" b="0" i="0" u="none" strike="noStrike" kern="1200" cap="none" spc="0" normalizeH="0" baseline="0" noProof="0" dirty="0">
              <a:ln>
                <a:noFill/>
              </a:ln>
              <a:solidFill>
                <a:srgbClr val="000000"/>
              </a:solidFill>
              <a:effectLst/>
              <a:uLnTx/>
              <a:uFillTx/>
              <a:cs typeface="+mn-ea"/>
              <a:sym typeface="+mn-lt"/>
            </a:endParaRPr>
          </a:p>
        </p:txBody>
      </p:sp>
      <p:sp>
        <p:nvSpPr>
          <p:cNvPr id="187" name="文本框 186"/>
          <p:cNvSpPr txBox="1"/>
          <p:nvPr/>
        </p:nvSpPr>
        <p:spPr bwMode="auto">
          <a:xfrm>
            <a:off x="8401740" y="1458058"/>
            <a:ext cx="3122830" cy="419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a:lnSpc>
                <a:spcPct val="100000"/>
              </a:lnSpc>
              <a:spcBef>
                <a:spcPct val="0"/>
              </a:spcBef>
              <a:buFontTx/>
              <a:buNone/>
              <a:defRPr b="1">
                <a:solidFill>
                  <a:schemeClr val="accent2"/>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ct val="0"/>
              </a:spcBef>
              <a:spcAft>
                <a:spcPts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cs typeface="+mn-ea"/>
                <a:sym typeface="+mn-lt"/>
              </a:rPr>
              <a:t>04.</a:t>
            </a:r>
            <a:r>
              <a:rPr kumimoji="0" lang="zh-CN" altLang="en-US" sz="1800" b="1" i="0" u="none" strike="noStrike" kern="1200" cap="none" spc="0" normalizeH="0" baseline="0" noProof="0" dirty="0">
                <a:ln>
                  <a:noFill/>
                </a:ln>
                <a:solidFill>
                  <a:srgbClr val="000000"/>
                </a:solidFill>
                <a:effectLst/>
                <a:uLnTx/>
                <a:uFillTx/>
                <a:cs typeface="+mn-ea"/>
                <a:sym typeface="+mn-lt"/>
              </a:rPr>
              <a:t>贝叶斯优化方法</a:t>
            </a:r>
            <a:endParaRPr kumimoji="0" lang="en-US" altLang="zh-CN" sz="1800" b="1" i="0" u="none" strike="noStrike" kern="1200" cap="none" spc="0" normalizeH="0" baseline="0" noProof="0" dirty="0">
              <a:ln>
                <a:noFill/>
              </a:ln>
              <a:solidFill>
                <a:srgbClr val="000000"/>
              </a:solidFill>
              <a:effectLst/>
              <a:uLnTx/>
              <a:uFillTx/>
              <a:cs typeface="+mn-ea"/>
              <a:sym typeface="+mn-lt"/>
            </a:endParaRPr>
          </a:p>
        </p:txBody>
      </p:sp>
      <p:sp>
        <p:nvSpPr>
          <p:cNvPr id="189" name="矩形 188"/>
          <p:cNvSpPr/>
          <p:nvPr/>
        </p:nvSpPr>
        <p:spPr bwMode="auto">
          <a:xfrm>
            <a:off x="8401740" y="3283151"/>
            <a:ext cx="3122830" cy="741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tabLst>
                <a:tab pos="227965" algn="l"/>
              </a:tabLst>
              <a:defRPr/>
            </a:pPr>
            <a:r>
              <a:rPr kumimoji="0" lang="zh-CN" altLang="en-US" sz="1400" b="0" i="0" u="none" strike="noStrike" kern="1200" cap="none" spc="0" normalizeH="0" baseline="0" noProof="0" dirty="0">
                <a:ln>
                  <a:noFill/>
                </a:ln>
                <a:solidFill>
                  <a:srgbClr val="000000"/>
                </a:solidFill>
                <a:effectLst/>
                <a:uLnTx/>
                <a:uFillTx/>
                <a:cs typeface="+mn-ea"/>
                <a:sym typeface="+mn-lt"/>
              </a:rPr>
              <a:t>用</a:t>
            </a:r>
            <a:r>
              <a:rPr kumimoji="0" lang="en-US" altLang="zh-CN" sz="1400" b="0" i="0" u="none" strike="noStrike" kern="1200" cap="none" spc="0" normalizeH="0" baseline="0" noProof="0" dirty="0">
                <a:ln>
                  <a:noFill/>
                </a:ln>
                <a:solidFill>
                  <a:srgbClr val="000000"/>
                </a:solidFill>
                <a:effectLst/>
                <a:uLnTx/>
                <a:uFillTx/>
                <a:cs typeface="+mn-ea"/>
                <a:sym typeface="+mn-lt"/>
              </a:rPr>
              <a:t>XGBoost</a:t>
            </a:r>
            <a:r>
              <a:rPr kumimoji="0" lang="zh-CN" altLang="en-US" sz="1400" b="0" i="0" u="none" strike="noStrike" kern="1200" cap="none" spc="0" normalizeH="0" baseline="0" noProof="0" dirty="0">
                <a:ln>
                  <a:noFill/>
                </a:ln>
                <a:solidFill>
                  <a:srgbClr val="000000"/>
                </a:solidFill>
                <a:effectLst/>
                <a:uLnTx/>
                <a:uFillTx/>
                <a:cs typeface="+mn-ea"/>
                <a:sym typeface="+mn-lt"/>
              </a:rPr>
              <a:t>、</a:t>
            </a:r>
            <a:r>
              <a:rPr kumimoji="0" lang="en-US" altLang="zh-CN" sz="1400" b="0" i="0" u="none" strike="noStrike" kern="1200" cap="none" spc="0" normalizeH="0" baseline="0" noProof="0" dirty="0">
                <a:ln>
                  <a:noFill/>
                </a:ln>
                <a:solidFill>
                  <a:srgbClr val="000000"/>
                </a:solidFill>
                <a:effectLst/>
                <a:uLnTx/>
                <a:uFillTx/>
                <a:cs typeface="+mn-ea"/>
                <a:sym typeface="+mn-lt"/>
              </a:rPr>
              <a:t>LightGBM</a:t>
            </a:r>
            <a:r>
              <a:rPr kumimoji="0" lang="zh-CN" altLang="en-US" sz="1400" b="0" i="0" u="none" strike="noStrike" kern="1200" cap="none" spc="0" normalizeH="0" baseline="0" noProof="0" dirty="0">
                <a:ln>
                  <a:noFill/>
                </a:ln>
                <a:solidFill>
                  <a:srgbClr val="000000"/>
                </a:solidFill>
                <a:effectLst/>
                <a:uLnTx/>
                <a:uFillTx/>
                <a:cs typeface="+mn-ea"/>
                <a:sym typeface="+mn-lt"/>
              </a:rPr>
              <a:t>等集成学习方法，通过组合多个弱学习器提升预测精度和泛化能力，有效处理高维特征和噪声数据。</a:t>
            </a:r>
            <a:endParaRPr kumimoji="0" lang="en-US" altLang="zh-CN" sz="1400" b="0" i="0" u="none" strike="noStrike" kern="1200" cap="none" spc="0" normalizeH="0" baseline="0" noProof="0" dirty="0">
              <a:ln>
                <a:noFill/>
              </a:ln>
              <a:solidFill>
                <a:srgbClr val="000000"/>
              </a:solidFill>
              <a:effectLst/>
              <a:uLnTx/>
              <a:uFillTx/>
              <a:cs typeface="+mn-ea"/>
              <a:sym typeface="+mn-lt"/>
            </a:endParaRPr>
          </a:p>
        </p:txBody>
      </p:sp>
      <p:sp>
        <p:nvSpPr>
          <p:cNvPr id="190" name="文本框 189"/>
          <p:cNvSpPr txBox="1"/>
          <p:nvPr/>
        </p:nvSpPr>
        <p:spPr bwMode="auto">
          <a:xfrm>
            <a:off x="8401740" y="2863916"/>
            <a:ext cx="3122830" cy="419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a:lnSpc>
                <a:spcPct val="100000"/>
              </a:lnSpc>
              <a:spcBef>
                <a:spcPct val="0"/>
              </a:spcBef>
              <a:buFontTx/>
              <a:buNone/>
              <a:defRPr b="1">
                <a:solidFill>
                  <a:schemeClr val="accent3"/>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ct val="0"/>
              </a:spcBef>
              <a:spcAft>
                <a:spcPts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cs typeface="+mn-ea"/>
                <a:sym typeface="+mn-lt"/>
              </a:rPr>
              <a:t>05.</a:t>
            </a:r>
            <a:r>
              <a:rPr kumimoji="0" lang="zh-CN" altLang="en-US" sz="1800" b="1" i="0" u="none" strike="noStrike" kern="1200" cap="none" spc="0" normalizeH="0" baseline="0" noProof="0" dirty="0">
                <a:ln>
                  <a:noFill/>
                </a:ln>
                <a:solidFill>
                  <a:srgbClr val="000000"/>
                </a:solidFill>
                <a:effectLst/>
                <a:uLnTx/>
                <a:uFillTx/>
                <a:cs typeface="+mn-ea"/>
                <a:sym typeface="+mn-lt"/>
              </a:rPr>
              <a:t>集成学习算法</a:t>
            </a:r>
            <a:endParaRPr kumimoji="0" lang="en-US" altLang="zh-CN" sz="1800" b="1" i="0" u="none" strike="noStrike" kern="1200" cap="none" spc="0" normalizeH="0" baseline="0" noProof="0" dirty="0">
              <a:ln>
                <a:noFill/>
              </a:ln>
              <a:solidFill>
                <a:srgbClr val="000000"/>
              </a:solidFill>
              <a:effectLst/>
              <a:uLnTx/>
              <a:uFillTx/>
              <a:cs typeface="+mn-ea"/>
              <a:sym typeface="+mn-lt"/>
            </a:endParaRPr>
          </a:p>
        </p:txBody>
      </p:sp>
      <p:sp>
        <p:nvSpPr>
          <p:cNvPr id="192" name="矩形 191"/>
          <p:cNvSpPr/>
          <p:nvPr/>
        </p:nvSpPr>
        <p:spPr bwMode="auto">
          <a:xfrm>
            <a:off x="8401740" y="4921636"/>
            <a:ext cx="3122830" cy="741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tabLst>
                <a:tab pos="227965" algn="l"/>
              </a:tabLst>
              <a:defRPr/>
            </a:pPr>
            <a:r>
              <a:rPr kumimoji="0" lang="zh-CN" altLang="en-US" sz="1400" b="0" i="0" u="none" strike="noStrike" kern="1200" cap="none" spc="0" normalizeH="0" baseline="0" noProof="0" dirty="0">
                <a:ln>
                  <a:noFill/>
                </a:ln>
                <a:solidFill>
                  <a:srgbClr val="000000"/>
                </a:solidFill>
                <a:effectLst/>
                <a:uLnTx/>
                <a:uFillTx/>
                <a:cs typeface="+mn-ea"/>
                <a:sym typeface="+mn-lt"/>
              </a:rPr>
              <a:t>通过降维技术提取关键特征，采用集成学习方法融合基学习器，并利用超参数优化提升模型性能。可解释性工具如</a:t>
            </a:r>
            <a:r>
              <a:rPr kumimoji="0" lang="en-US" altLang="zh-CN" sz="1400" b="0" i="0" u="none" strike="noStrike" kern="1200" cap="none" spc="0" normalizeH="0" baseline="0" noProof="0" dirty="0">
                <a:ln>
                  <a:noFill/>
                </a:ln>
                <a:solidFill>
                  <a:srgbClr val="000000"/>
                </a:solidFill>
                <a:effectLst/>
                <a:uLnTx/>
                <a:uFillTx/>
                <a:cs typeface="+mn-ea"/>
                <a:sym typeface="+mn-lt"/>
              </a:rPr>
              <a:t>SHAP</a:t>
            </a:r>
            <a:r>
              <a:rPr kumimoji="0" lang="zh-CN" altLang="en-US" sz="1400" b="0" i="0" u="none" strike="noStrike" kern="1200" cap="none" spc="0" normalizeH="0" baseline="0" noProof="0" dirty="0">
                <a:ln>
                  <a:noFill/>
                </a:ln>
                <a:solidFill>
                  <a:srgbClr val="000000"/>
                </a:solidFill>
                <a:effectLst/>
                <a:uLnTx/>
                <a:uFillTx/>
                <a:cs typeface="+mn-ea"/>
                <a:sym typeface="+mn-lt"/>
              </a:rPr>
              <a:t>、</a:t>
            </a:r>
            <a:r>
              <a:rPr kumimoji="0" lang="en-US" altLang="zh-CN" sz="1400" b="0" i="0" u="none" strike="noStrike" kern="1200" cap="none" spc="0" normalizeH="0" baseline="0" noProof="0" dirty="0">
                <a:ln>
                  <a:noFill/>
                </a:ln>
                <a:solidFill>
                  <a:srgbClr val="000000"/>
                </a:solidFill>
                <a:effectLst/>
                <a:uLnTx/>
                <a:uFillTx/>
                <a:cs typeface="+mn-ea"/>
                <a:sym typeface="+mn-lt"/>
              </a:rPr>
              <a:t>LIME</a:t>
            </a:r>
            <a:r>
              <a:rPr kumimoji="0" lang="zh-CN" altLang="en-US" sz="1400" b="0" i="0" u="none" strike="noStrike" kern="1200" cap="none" spc="0" normalizeH="0" baseline="0" noProof="0" dirty="0">
                <a:ln>
                  <a:noFill/>
                </a:ln>
                <a:solidFill>
                  <a:srgbClr val="000000"/>
                </a:solidFill>
                <a:effectLst/>
                <a:uLnTx/>
                <a:uFillTx/>
                <a:cs typeface="+mn-ea"/>
                <a:sym typeface="+mn-lt"/>
              </a:rPr>
              <a:t>将揭示“材料</a:t>
            </a:r>
            <a:r>
              <a:rPr kumimoji="0" lang="en-US" altLang="zh-CN" sz="1400" b="0" i="0" u="none" strike="noStrike" kern="1200" cap="none" spc="0" normalizeH="0" baseline="0" noProof="0" dirty="0">
                <a:ln>
                  <a:noFill/>
                </a:ln>
                <a:solidFill>
                  <a:srgbClr val="000000"/>
                </a:solidFill>
                <a:effectLst/>
                <a:uLnTx/>
                <a:uFillTx/>
                <a:cs typeface="+mn-ea"/>
                <a:sym typeface="+mn-lt"/>
              </a:rPr>
              <a:t>-</a:t>
            </a:r>
            <a:r>
              <a:rPr kumimoji="0" lang="zh-CN" altLang="en-US" sz="1400" b="0" i="0" u="none" strike="noStrike" kern="1200" cap="none" spc="0" normalizeH="0" baseline="0" noProof="0" dirty="0">
                <a:ln>
                  <a:noFill/>
                </a:ln>
                <a:solidFill>
                  <a:srgbClr val="000000"/>
                </a:solidFill>
                <a:effectLst/>
                <a:uLnTx/>
                <a:uFillTx/>
                <a:cs typeface="+mn-ea"/>
                <a:sym typeface="+mn-lt"/>
              </a:rPr>
              <a:t>结构</a:t>
            </a:r>
            <a:r>
              <a:rPr kumimoji="0" lang="en-US" altLang="zh-CN" sz="1400" b="0" i="0" u="none" strike="noStrike" kern="1200" cap="none" spc="0" normalizeH="0" baseline="0" noProof="0" dirty="0">
                <a:ln>
                  <a:noFill/>
                </a:ln>
                <a:solidFill>
                  <a:srgbClr val="000000"/>
                </a:solidFill>
                <a:effectLst/>
                <a:uLnTx/>
                <a:uFillTx/>
                <a:cs typeface="+mn-ea"/>
                <a:sym typeface="+mn-lt"/>
              </a:rPr>
              <a:t>-</a:t>
            </a:r>
            <a:r>
              <a:rPr kumimoji="0" lang="zh-CN" altLang="en-US" sz="1400" b="0" i="0" u="none" strike="noStrike" kern="1200" cap="none" spc="0" normalizeH="0" baseline="0" noProof="0" dirty="0">
                <a:ln>
                  <a:noFill/>
                </a:ln>
                <a:solidFill>
                  <a:srgbClr val="000000"/>
                </a:solidFill>
                <a:effectLst/>
                <a:uLnTx/>
                <a:uFillTx/>
                <a:cs typeface="+mn-ea"/>
                <a:sym typeface="+mn-lt"/>
              </a:rPr>
              <a:t>性能”的内在关联。</a:t>
            </a:r>
            <a:endParaRPr kumimoji="0" lang="en-US" altLang="zh-CN" sz="1400" b="0" i="0" u="none" strike="noStrike" kern="1200" cap="none" spc="0" normalizeH="0" baseline="0" noProof="0" dirty="0">
              <a:ln>
                <a:noFill/>
              </a:ln>
              <a:solidFill>
                <a:srgbClr val="000000"/>
              </a:solidFill>
              <a:effectLst/>
              <a:uLnTx/>
              <a:uFillTx/>
              <a:cs typeface="+mn-ea"/>
              <a:sym typeface="+mn-lt"/>
            </a:endParaRPr>
          </a:p>
        </p:txBody>
      </p:sp>
      <p:sp>
        <p:nvSpPr>
          <p:cNvPr id="193" name="文本框 192"/>
          <p:cNvSpPr txBox="1"/>
          <p:nvPr/>
        </p:nvSpPr>
        <p:spPr bwMode="auto">
          <a:xfrm>
            <a:off x="8401740" y="4502401"/>
            <a:ext cx="3122830" cy="419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ct val="0"/>
              </a:spcBef>
              <a:spcAft>
                <a:spcPts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cs typeface="+mn-ea"/>
                <a:sym typeface="+mn-lt"/>
              </a:rPr>
              <a:t>06.</a:t>
            </a:r>
            <a:r>
              <a:rPr kumimoji="0" lang="zh-CN" altLang="en-US" sz="1800" b="1" i="0" u="none" strike="noStrike" kern="1200" cap="none" spc="0" normalizeH="0" baseline="0" noProof="0" dirty="0">
                <a:ln>
                  <a:noFill/>
                </a:ln>
                <a:solidFill>
                  <a:srgbClr val="000000"/>
                </a:solidFill>
                <a:effectLst/>
                <a:uLnTx/>
                <a:uFillTx/>
                <a:cs typeface="+mn-ea"/>
                <a:sym typeface="+mn-lt"/>
              </a:rPr>
              <a:t>总述</a:t>
            </a:r>
            <a:endParaRPr kumimoji="0" lang="en-US" altLang="zh-CN" sz="1800" b="1" i="0" u="none" strike="noStrike" kern="1200" cap="none" spc="0" normalizeH="0" baseline="0" noProof="0" dirty="0">
              <a:ln>
                <a:noFill/>
              </a:ln>
              <a:solidFill>
                <a:srgbClr val="000000"/>
              </a:solidFill>
              <a:effectLst/>
              <a:uLnTx/>
              <a:uFillTx/>
              <a:cs typeface="+mn-ea"/>
              <a:sym typeface="+mn-lt"/>
            </a:endParaRPr>
          </a:p>
        </p:txBody>
      </p:sp>
      <p:sp>
        <p:nvSpPr>
          <p:cNvPr id="197" name="矩形 196"/>
          <p:cNvSpPr/>
          <p:nvPr/>
        </p:nvSpPr>
        <p:spPr bwMode="auto">
          <a:xfrm>
            <a:off x="678170" y="1917049"/>
            <a:ext cx="3122830" cy="741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tabLst>
                <a:tab pos="227965" algn="l"/>
              </a:tabLst>
              <a:defRPr/>
            </a:pPr>
            <a:r>
              <a:rPr kumimoji="0" lang="zh-CN" altLang="en-US" sz="1400" b="0" i="0" u="none" strike="noStrike" kern="1200" cap="none" spc="0" normalizeH="0" baseline="0" noProof="0" dirty="0">
                <a:ln>
                  <a:noFill/>
                </a:ln>
                <a:solidFill>
                  <a:srgbClr val="000000"/>
                </a:solidFill>
                <a:effectLst/>
                <a:uLnTx/>
                <a:uFillTx/>
                <a:cs typeface="+mn-ea"/>
                <a:sym typeface="+mn-lt"/>
              </a:rPr>
              <a:t>支持向量回归（</a:t>
            </a:r>
            <a:r>
              <a:rPr kumimoji="0" lang="en-US" altLang="zh-CN" sz="1400" b="0" i="0" u="none" strike="noStrike" kern="1200" cap="none" spc="0" normalizeH="0" baseline="0" noProof="0" dirty="0">
                <a:ln>
                  <a:noFill/>
                </a:ln>
                <a:solidFill>
                  <a:srgbClr val="000000"/>
                </a:solidFill>
                <a:effectLst/>
                <a:uLnTx/>
                <a:uFillTx/>
                <a:cs typeface="+mn-ea"/>
                <a:sym typeface="+mn-lt"/>
              </a:rPr>
              <a:t>SVR</a:t>
            </a:r>
            <a:r>
              <a:rPr kumimoji="0" lang="zh-CN" altLang="en-US" sz="1400" b="0" i="0" u="none" strike="noStrike" kern="1200" cap="none" spc="0" normalizeH="0" baseline="0" noProof="0" dirty="0">
                <a:ln>
                  <a:noFill/>
                </a:ln>
                <a:solidFill>
                  <a:srgbClr val="000000"/>
                </a:solidFill>
                <a:effectLst/>
                <a:uLnTx/>
                <a:uFillTx/>
                <a:cs typeface="+mn-ea"/>
                <a:sym typeface="+mn-lt"/>
              </a:rPr>
              <a:t>）、随机森林回归（</a:t>
            </a:r>
            <a:r>
              <a:rPr kumimoji="0" lang="en-US" altLang="zh-CN" sz="1400" b="0" i="0" u="none" strike="noStrike" kern="1200" cap="none" spc="0" normalizeH="0" baseline="0" noProof="0" dirty="0">
                <a:ln>
                  <a:noFill/>
                </a:ln>
                <a:solidFill>
                  <a:srgbClr val="000000"/>
                </a:solidFill>
                <a:effectLst/>
                <a:uLnTx/>
                <a:uFillTx/>
                <a:cs typeface="+mn-ea"/>
                <a:sym typeface="+mn-lt"/>
              </a:rPr>
              <a:t>RF</a:t>
            </a:r>
            <a:r>
              <a:rPr kumimoji="0" lang="zh-CN" altLang="en-US" sz="1400" b="0" i="0" u="none" strike="noStrike" kern="1200" cap="none" spc="0" normalizeH="0" baseline="0" noProof="0" dirty="0">
                <a:ln>
                  <a:noFill/>
                </a:ln>
                <a:solidFill>
                  <a:srgbClr val="000000"/>
                </a:solidFill>
                <a:effectLst/>
                <a:uLnTx/>
                <a:uFillTx/>
                <a:cs typeface="+mn-ea"/>
                <a:sym typeface="+mn-lt"/>
              </a:rPr>
              <a:t>）、梯度提升回归树（</a:t>
            </a:r>
            <a:r>
              <a:rPr kumimoji="0" lang="en-US" altLang="zh-CN" sz="1400" b="0" i="0" u="none" strike="noStrike" kern="1200" cap="none" spc="0" normalizeH="0" baseline="0" noProof="0" dirty="0">
                <a:ln>
                  <a:noFill/>
                </a:ln>
                <a:solidFill>
                  <a:srgbClr val="000000"/>
                </a:solidFill>
                <a:effectLst/>
                <a:uLnTx/>
                <a:uFillTx/>
                <a:cs typeface="+mn-ea"/>
                <a:sym typeface="+mn-lt"/>
              </a:rPr>
              <a:t>GBDT</a:t>
            </a:r>
            <a:r>
              <a:rPr kumimoji="0" lang="zh-CN" altLang="en-US" sz="1400" b="0" i="0" u="none" strike="noStrike" kern="1200" cap="none" spc="0" normalizeH="0" baseline="0" noProof="0" dirty="0">
                <a:ln>
                  <a:noFill/>
                </a:ln>
                <a:solidFill>
                  <a:srgbClr val="000000"/>
                </a:solidFill>
                <a:effectLst/>
                <a:uLnTx/>
                <a:uFillTx/>
                <a:cs typeface="+mn-ea"/>
                <a:sym typeface="+mn-lt"/>
              </a:rPr>
              <a:t>）等</a:t>
            </a:r>
            <a:endParaRPr kumimoji="0" lang="en-US" altLang="zh-CN" sz="1400" b="0" i="0" u="none" strike="noStrike" kern="1200" cap="none" spc="0" normalizeH="0" baseline="0" noProof="0" dirty="0">
              <a:ln>
                <a:noFill/>
              </a:ln>
              <a:solidFill>
                <a:srgbClr val="000000"/>
              </a:solidFill>
              <a:effectLst/>
              <a:uLnTx/>
              <a:uFillTx/>
              <a:cs typeface="+mn-ea"/>
              <a:sym typeface="+mn-lt"/>
            </a:endParaRPr>
          </a:p>
        </p:txBody>
      </p:sp>
      <p:sp>
        <p:nvSpPr>
          <p:cNvPr id="198" name="文本框 197"/>
          <p:cNvSpPr txBox="1"/>
          <p:nvPr/>
        </p:nvSpPr>
        <p:spPr bwMode="auto">
          <a:xfrm>
            <a:off x="678170" y="1497814"/>
            <a:ext cx="3122830" cy="419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a:lnSpc>
                <a:spcPct val="100000"/>
              </a:lnSpc>
              <a:spcBef>
                <a:spcPct val="0"/>
              </a:spcBef>
              <a:buFontTx/>
              <a:buNone/>
              <a:defRPr b="1">
                <a:solidFill>
                  <a:schemeClr val="accent2"/>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ct val="0"/>
              </a:spcBef>
              <a:spcAft>
                <a:spcPts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cs typeface="+mn-ea"/>
                <a:sym typeface="+mn-lt"/>
              </a:rPr>
              <a:t>01.</a:t>
            </a:r>
            <a:r>
              <a:rPr kumimoji="0" lang="zh-CN" altLang="en-US" sz="1800" b="1" i="0" u="none" strike="noStrike" kern="1200" cap="none" spc="0" normalizeH="0" baseline="0" noProof="0" dirty="0">
                <a:ln>
                  <a:noFill/>
                </a:ln>
                <a:solidFill>
                  <a:srgbClr val="000000"/>
                </a:solidFill>
                <a:effectLst/>
                <a:uLnTx/>
                <a:uFillTx/>
                <a:cs typeface="+mn-ea"/>
                <a:sym typeface="+mn-lt"/>
              </a:rPr>
              <a:t>传统机器学习模型</a:t>
            </a:r>
            <a:endParaRPr kumimoji="0" lang="en-US" altLang="zh-CN" sz="1800" b="1" i="0" u="none" strike="noStrike" kern="1200" cap="none" spc="0" normalizeH="0" baseline="0" noProof="0" dirty="0">
              <a:ln>
                <a:noFill/>
              </a:ln>
              <a:solidFill>
                <a:srgbClr val="000000"/>
              </a:solidFill>
              <a:effectLst/>
              <a:uLnTx/>
              <a:uFillTx/>
              <a:cs typeface="+mn-ea"/>
              <a:sym typeface="+mn-lt"/>
            </a:endParaRPr>
          </a:p>
        </p:txBody>
      </p:sp>
      <p:sp>
        <p:nvSpPr>
          <p:cNvPr id="200" name="矩形 199"/>
          <p:cNvSpPr/>
          <p:nvPr/>
        </p:nvSpPr>
        <p:spPr bwMode="auto">
          <a:xfrm>
            <a:off x="678170" y="3283156"/>
            <a:ext cx="3122830" cy="741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tabLst>
                <a:tab pos="227965" algn="l"/>
              </a:tabLst>
              <a:defRPr/>
            </a:pPr>
            <a:r>
              <a:rPr kumimoji="0" lang="zh-CN" altLang="en-US" sz="1400" b="0" i="0" u="none" strike="noStrike" kern="1200" cap="none" spc="0" normalizeH="0" baseline="0" noProof="0" dirty="0">
                <a:ln>
                  <a:noFill/>
                </a:ln>
                <a:solidFill>
                  <a:srgbClr val="000000"/>
                </a:solidFill>
                <a:effectLst/>
                <a:uLnTx/>
                <a:uFillTx/>
                <a:cs typeface="+mn-ea"/>
                <a:sym typeface="+mn-lt"/>
              </a:rPr>
              <a:t>多层感知机（</a:t>
            </a:r>
            <a:r>
              <a:rPr kumimoji="0" lang="en-US" altLang="zh-CN" sz="1400" b="0" i="0" u="none" strike="noStrike" kern="1200" cap="none" spc="0" normalizeH="0" baseline="0" noProof="0" dirty="0">
                <a:ln>
                  <a:noFill/>
                </a:ln>
                <a:solidFill>
                  <a:srgbClr val="000000"/>
                </a:solidFill>
                <a:effectLst/>
                <a:uLnTx/>
                <a:uFillTx/>
                <a:cs typeface="+mn-ea"/>
                <a:sym typeface="+mn-lt"/>
              </a:rPr>
              <a:t>MLP</a:t>
            </a:r>
            <a:r>
              <a:rPr kumimoji="0" lang="zh-CN" altLang="en-US" sz="1400" b="0" i="0" u="none" strike="noStrike" kern="1200" cap="none" spc="0" normalizeH="0" baseline="0" noProof="0" dirty="0">
                <a:ln>
                  <a:noFill/>
                </a:ln>
                <a:solidFill>
                  <a:srgbClr val="000000"/>
                </a:solidFill>
                <a:effectLst/>
                <a:uLnTx/>
                <a:uFillTx/>
                <a:cs typeface="+mn-ea"/>
                <a:sym typeface="+mn-lt"/>
              </a:rPr>
              <a:t>）、卷积神经网络（</a:t>
            </a:r>
            <a:r>
              <a:rPr kumimoji="0" lang="en-US" altLang="zh-CN" sz="1400" b="0" i="0" u="none" strike="noStrike" kern="1200" cap="none" spc="0" normalizeH="0" baseline="0" noProof="0" dirty="0">
                <a:ln>
                  <a:noFill/>
                </a:ln>
                <a:solidFill>
                  <a:srgbClr val="000000"/>
                </a:solidFill>
                <a:effectLst/>
                <a:uLnTx/>
                <a:uFillTx/>
                <a:cs typeface="+mn-ea"/>
                <a:sym typeface="+mn-lt"/>
              </a:rPr>
              <a:t>CNN</a:t>
            </a:r>
            <a:r>
              <a:rPr kumimoji="0" lang="zh-CN" altLang="en-US" sz="1400" b="0" i="0" u="none" strike="noStrike" kern="1200" cap="none" spc="0" normalizeH="0" baseline="0" noProof="0" dirty="0">
                <a:ln>
                  <a:noFill/>
                </a:ln>
                <a:solidFill>
                  <a:srgbClr val="000000"/>
                </a:solidFill>
                <a:effectLst/>
                <a:uLnTx/>
                <a:uFillTx/>
                <a:cs typeface="+mn-ea"/>
                <a:sym typeface="+mn-lt"/>
              </a:rPr>
              <a:t>）、循环神经网络（</a:t>
            </a:r>
            <a:r>
              <a:rPr kumimoji="0" lang="en-US" altLang="zh-CN" sz="1400" b="0" i="0" u="none" strike="noStrike" kern="1200" cap="none" spc="0" normalizeH="0" baseline="0" noProof="0" dirty="0">
                <a:ln>
                  <a:noFill/>
                </a:ln>
                <a:solidFill>
                  <a:srgbClr val="000000"/>
                </a:solidFill>
                <a:effectLst/>
                <a:uLnTx/>
                <a:uFillTx/>
                <a:cs typeface="+mn-ea"/>
                <a:sym typeface="+mn-lt"/>
              </a:rPr>
              <a:t>RNN</a:t>
            </a:r>
            <a:r>
              <a:rPr kumimoji="0" lang="zh-CN" altLang="en-US" sz="1400" b="0" i="0" u="none" strike="noStrike" kern="1200" cap="none" spc="0" normalizeH="0" baseline="0" noProof="0" dirty="0">
                <a:ln>
                  <a:noFill/>
                </a:ln>
                <a:solidFill>
                  <a:srgbClr val="000000"/>
                </a:solidFill>
                <a:effectLst/>
                <a:uLnTx/>
                <a:uFillTx/>
                <a:cs typeface="+mn-ea"/>
                <a:sym typeface="+mn-lt"/>
              </a:rPr>
              <a:t>）、图神经网络（</a:t>
            </a:r>
            <a:r>
              <a:rPr kumimoji="0" lang="en-US" altLang="zh-CN" sz="1400" b="0" i="0" u="none" strike="noStrike" kern="1200" cap="none" spc="0" normalizeH="0" baseline="0" noProof="0" dirty="0">
                <a:ln>
                  <a:noFill/>
                </a:ln>
                <a:solidFill>
                  <a:srgbClr val="000000"/>
                </a:solidFill>
                <a:effectLst/>
                <a:uLnTx/>
                <a:uFillTx/>
                <a:cs typeface="+mn-ea"/>
                <a:sym typeface="+mn-lt"/>
              </a:rPr>
              <a:t>GNN</a:t>
            </a:r>
            <a:r>
              <a:rPr kumimoji="0" lang="zh-CN" altLang="en-US" sz="1400" b="0" i="0" u="none" strike="noStrike" kern="1200" cap="none" spc="0" normalizeH="0" baseline="0" noProof="0" dirty="0">
                <a:ln>
                  <a:noFill/>
                </a:ln>
                <a:solidFill>
                  <a:srgbClr val="000000"/>
                </a:solidFill>
                <a:effectLst/>
                <a:uLnTx/>
                <a:uFillTx/>
                <a:cs typeface="+mn-ea"/>
                <a:sym typeface="+mn-lt"/>
              </a:rPr>
              <a:t>）、人工神经网络（</a:t>
            </a:r>
            <a:r>
              <a:rPr kumimoji="0" lang="en-US" altLang="zh-CN" sz="1400" b="0" i="0" u="none" strike="noStrike" kern="1200" cap="none" spc="0" normalizeH="0" baseline="0" noProof="0" dirty="0">
                <a:ln>
                  <a:noFill/>
                </a:ln>
                <a:solidFill>
                  <a:srgbClr val="000000"/>
                </a:solidFill>
                <a:effectLst/>
                <a:uLnTx/>
                <a:uFillTx/>
                <a:cs typeface="+mn-ea"/>
                <a:sym typeface="+mn-lt"/>
              </a:rPr>
              <a:t>ANN</a:t>
            </a:r>
            <a:r>
              <a:rPr kumimoji="0" lang="zh-CN" altLang="en-US" sz="1400" b="0" i="0" u="none" strike="noStrike" kern="1200" cap="none" spc="0" normalizeH="0" baseline="0" noProof="0" dirty="0">
                <a:ln>
                  <a:noFill/>
                </a:ln>
                <a:solidFill>
                  <a:srgbClr val="000000"/>
                </a:solidFill>
                <a:effectLst/>
                <a:uLnTx/>
                <a:uFillTx/>
                <a:cs typeface="+mn-ea"/>
                <a:sym typeface="+mn-lt"/>
              </a:rPr>
              <a:t>）等</a:t>
            </a:r>
            <a:endParaRPr kumimoji="0" lang="en-US" altLang="zh-CN" sz="1400" b="0" i="0" u="none" strike="noStrike" kern="1200" cap="none" spc="0" normalizeH="0" baseline="0" noProof="0" dirty="0">
              <a:ln>
                <a:noFill/>
              </a:ln>
              <a:solidFill>
                <a:srgbClr val="000000"/>
              </a:solidFill>
              <a:effectLst/>
              <a:uLnTx/>
              <a:uFillTx/>
              <a:cs typeface="+mn-ea"/>
              <a:sym typeface="+mn-lt"/>
            </a:endParaRPr>
          </a:p>
        </p:txBody>
      </p:sp>
      <p:sp>
        <p:nvSpPr>
          <p:cNvPr id="201" name="文本框 200"/>
          <p:cNvSpPr txBox="1"/>
          <p:nvPr/>
        </p:nvSpPr>
        <p:spPr bwMode="auto">
          <a:xfrm>
            <a:off x="678170" y="2863921"/>
            <a:ext cx="3122830" cy="419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ct val="0"/>
              </a:spcBef>
              <a:spcAft>
                <a:spcPts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cs typeface="+mn-ea"/>
                <a:sym typeface="+mn-lt"/>
              </a:rPr>
              <a:t>02.</a:t>
            </a:r>
            <a:r>
              <a:rPr kumimoji="0" lang="zh-CN" altLang="en-US" sz="1800" b="1" i="0" u="none" strike="noStrike" kern="1200" cap="none" spc="0" normalizeH="0" baseline="0" noProof="0" dirty="0">
                <a:ln>
                  <a:noFill/>
                </a:ln>
                <a:solidFill>
                  <a:srgbClr val="000000"/>
                </a:solidFill>
                <a:effectLst/>
                <a:uLnTx/>
                <a:uFillTx/>
                <a:cs typeface="+mn-ea"/>
                <a:sym typeface="+mn-lt"/>
              </a:rPr>
              <a:t>深度学习模型</a:t>
            </a:r>
            <a:endParaRPr kumimoji="0" lang="en-US" altLang="zh-CN" sz="1800" b="1" i="0" u="none" strike="noStrike" kern="1200" cap="none" spc="0" normalizeH="0" baseline="0" noProof="0" dirty="0">
              <a:ln>
                <a:noFill/>
              </a:ln>
              <a:solidFill>
                <a:srgbClr val="000000"/>
              </a:solidFill>
              <a:effectLst/>
              <a:uLnTx/>
              <a:uFillTx/>
              <a:cs typeface="+mn-ea"/>
              <a:sym typeface="+mn-lt"/>
            </a:endParaRPr>
          </a:p>
        </p:txBody>
      </p:sp>
      <p:sp>
        <p:nvSpPr>
          <p:cNvPr id="203" name="矩形 202"/>
          <p:cNvSpPr/>
          <p:nvPr/>
        </p:nvSpPr>
        <p:spPr bwMode="auto">
          <a:xfrm>
            <a:off x="678170" y="4941085"/>
            <a:ext cx="3122830" cy="741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tabLst>
                <a:tab pos="227965" algn="l"/>
              </a:tabLst>
              <a:defRPr/>
            </a:pPr>
            <a:r>
              <a:rPr kumimoji="0" lang="zh-CN" altLang="en-US" sz="1400" b="0" i="0" u="none" strike="noStrike" kern="1200" cap="none" spc="0" normalizeH="0" baseline="0" noProof="0" dirty="0">
                <a:ln>
                  <a:noFill/>
                </a:ln>
                <a:solidFill>
                  <a:srgbClr val="000000"/>
                </a:solidFill>
                <a:effectLst/>
                <a:uLnTx/>
                <a:uFillTx/>
                <a:cs typeface="+mn-ea"/>
                <a:sym typeface="+mn-lt"/>
              </a:rPr>
              <a:t>将辐射传输方程、能量守恒定律等物理约束嵌入神经网络训练过程，实现数据驱动与物理规律相结合，提高模型的可解释性和外推能力。</a:t>
            </a:r>
            <a:endParaRPr kumimoji="0" lang="en-US" altLang="zh-CN" sz="1400" b="0" i="0" u="none" strike="noStrike" kern="1200" cap="none" spc="0" normalizeH="0" baseline="0" noProof="0" dirty="0">
              <a:ln>
                <a:noFill/>
              </a:ln>
              <a:solidFill>
                <a:srgbClr val="000000"/>
              </a:solidFill>
              <a:effectLst/>
              <a:uLnTx/>
              <a:uFillTx/>
              <a:cs typeface="+mn-ea"/>
              <a:sym typeface="+mn-lt"/>
            </a:endParaRPr>
          </a:p>
        </p:txBody>
      </p:sp>
      <p:sp>
        <p:nvSpPr>
          <p:cNvPr id="204" name="文本框 203"/>
          <p:cNvSpPr txBox="1"/>
          <p:nvPr/>
        </p:nvSpPr>
        <p:spPr bwMode="auto">
          <a:xfrm>
            <a:off x="678170" y="4521850"/>
            <a:ext cx="3122830" cy="419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a:lnSpc>
                <a:spcPct val="100000"/>
              </a:lnSpc>
              <a:spcBef>
                <a:spcPct val="0"/>
              </a:spcBef>
              <a:buFontTx/>
              <a:buNone/>
              <a:defRPr b="1">
                <a:solidFill>
                  <a:schemeClr val="accent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ct val="0"/>
              </a:spcBef>
              <a:spcAft>
                <a:spcPts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cs typeface="+mn-ea"/>
                <a:sym typeface="+mn-lt"/>
              </a:rPr>
              <a:t>03.</a:t>
            </a:r>
            <a:r>
              <a:rPr kumimoji="0" lang="zh-CN" altLang="en-US" sz="1800" b="1" i="0" u="none" strike="noStrike" kern="1200" cap="none" spc="0" normalizeH="0" baseline="0" noProof="0" dirty="0">
                <a:ln>
                  <a:noFill/>
                </a:ln>
                <a:solidFill>
                  <a:srgbClr val="000000"/>
                </a:solidFill>
                <a:effectLst/>
                <a:uLnTx/>
                <a:uFillTx/>
                <a:cs typeface="+mn-ea"/>
                <a:sym typeface="+mn-lt"/>
              </a:rPr>
              <a:t>物理信息神经网络</a:t>
            </a:r>
            <a:r>
              <a:rPr kumimoji="0" lang="en-US" altLang="zh-CN" sz="1800" b="1" i="0" u="none" strike="noStrike" kern="1200" cap="none" spc="0" normalizeH="0" baseline="0" noProof="0" dirty="0">
                <a:ln>
                  <a:noFill/>
                </a:ln>
                <a:solidFill>
                  <a:srgbClr val="000000"/>
                </a:solidFill>
                <a:effectLst/>
                <a:uLnTx/>
                <a:uFillTx/>
                <a:cs typeface="+mn-ea"/>
                <a:sym typeface="+mn-lt"/>
              </a:rPr>
              <a:t>(PINN</a:t>
            </a:r>
            <a:r>
              <a:rPr lang="en-US" altLang="zh-CN" dirty="0">
                <a:solidFill>
                  <a:srgbClr val="000000"/>
                </a:solidFill>
                <a:cs typeface="+mn-ea"/>
                <a:sym typeface="+mn-lt"/>
              </a:rPr>
              <a:t>)</a:t>
            </a:r>
            <a:endParaRPr kumimoji="0" lang="en-US" altLang="zh-CN" sz="1800" b="1" i="0" u="none" strike="noStrike" kern="1200" cap="none" spc="0" normalizeH="0" baseline="0" noProof="0" dirty="0">
              <a:ln>
                <a:noFill/>
              </a:ln>
              <a:solidFill>
                <a:srgbClr val="000000"/>
              </a:solidFill>
              <a:effectLst/>
              <a:uLnTx/>
              <a:uFillTx/>
              <a:cs typeface="+mn-ea"/>
              <a:sym typeface="+mn-lt"/>
            </a:endParaRPr>
          </a:p>
        </p:txBody>
      </p:sp>
      <p:sp>
        <p:nvSpPr>
          <p:cNvPr id="3" name="标题 2"/>
          <p:cNvSpPr>
            <a:spLocks noGrp="1"/>
          </p:cNvSpPr>
          <p:nvPr>
            <p:ph type="title"/>
          </p:nvPr>
        </p:nvSpPr>
        <p:spPr>
          <a:xfrm>
            <a:off x="1341437" y="247980"/>
            <a:ext cx="10850563" cy="663575"/>
          </a:xfrm>
        </p:spPr>
        <p:txBody>
          <a:bodyPr/>
          <a:lstStyle/>
          <a:p>
            <a:r>
              <a:rPr lang="zh-CN" altLang="en-US" sz="2800" dirty="0">
                <a:latin typeface="+mn-lt"/>
                <a:ea typeface="+mn-ea"/>
                <a:cs typeface="+mn-ea"/>
                <a:sym typeface="+mn-lt"/>
              </a:rPr>
              <a:t>人工智能预测模型构建与优化</a:t>
            </a:r>
          </a:p>
        </p:txBody>
      </p:sp>
      <p:pic>
        <p:nvPicPr>
          <p:cNvPr id="28" name="图片 2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64085" y="1639945"/>
            <a:ext cx="1111987" cy="1058644"/>
          </a:xfrm>
          <a:prstGeom prst="ellipse">
            <a:avLst/>
          </a:prstGeom>
        </p:spPr>
      </p:pic>
      <p:pic>
        <p:nvPicPr>
          <p:cNvPr id="29" name="图片 2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64085" y="4645245"/>
            <a:ext cx="1111986" cy="1145619"/>
          </a:xfrm>
          <a:prstGeom prst="ellipse">
            <a:avLst/>
          </a:prstGeom>
        </p:spPr>
      </p:pic>
      <p:pic>
        <p:nvPicPr>
          <p:cNvPr id="30" name="图片 2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082998" y="3187787"/>
            <a:ext cx="1111986" cy="1145619"/>
          </a:xfrm>
          <a:prstGeom prst="ellipse">
            <a:avLst/>
          </a:prstGeom>
        </p:spPr>
      </p:pic>
      <p:pic>
        <p:nvPicPr>
          <p:cNvPr id="31" name="图片 3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452169" y="1780590"/>
            <a:ext cx="1111986" cy="1145619"/>
          </a:xfrm>
          <a:prstGeom prst="ellipse">
            <a:avLst/>
          </a:prstGeom>
        </p:spPr>
      </p:pic>
      <p:pic>
        <p:nvPicPr>
          <p:cNvPr id="32" name="图片 3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40502" y="3280560"/>
            <a:ext cx="1111986" cy="1145619"/>
          </a:xfrm>
          <a:prstGeom prst="ellipse">
            <a:avLst/>
          </a:prstGeom>
        </p:spPr>
      </p:pic>
      <p:pic>
        <p:nvPicPr>
          <p:cNvPr id="33" name="图片 3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645011" y="4626321"/>
            <a:ext cx="1111986" cy="1145619"/>
          </a:xfrm>
          <a:prstGeom prst="ellipse">
            <a:avLst/>
          </a:prstGeom>
        </p:spPr>
      </p:pic>
      <p:pic>
        <p:nvPicPr>
          <p:cNvPr id="34" name="图片 33"/>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1011230" y="0"/>
            <a:ext cx="1180770" cy="11749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a:xfrm>
            <a:off x="1287793" y="229731"/>
            <a:ext cx="10850563" cy="663575"/>
          </a:xfrm>
        </p:spPr>
        <p:txBody>
          <a:bodyPr/>
          <a:lstStyle/>
          <a:p>
            <a:r>
              <a:rPr lang="en-US" altLang="zh-CN" sz="2800" dirty="0">
                <a:latin typeface="+mn-lt"/>
                <a:ea typeface="+mn-ea"/>
                <a:cs typeface="+mn-ea"/>
                <a:sym typeface="+mn-lt"/>
              </a:rPr>
              <a:t>LSC</a:t>
            </a:r>
            <a:r>
              <a:rPr lang="zh-CN" altLang="en-US" sz="2800" dirty="0">
                <a:latin typeface="+mn-lt"/>
                <a:ea typeface="+mn-ea"/>
                <a:cs typeface="+mn-ea"/>
                <a:sym typeface="+mn-lt"/>
              </a:rPr>
              <a:t>逆向设计与性能优化</a:t>
            </a:r>
          </a:p>
        </p:txBody>
      </p:sp>
      <p:pic>
        <p:nvPicPr>
          <p:cNvPr id="47" name="图片 4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11230" y="0"/>
            <a:ext cx="1180770" cy="1174982"/>
          </a:xfrm>
          <a:prstGeom prst="rect">
            <a:avLst/>
          </a:prstGeom>
        </p:spPr>
      </p:pic>
      <p:cxnSp>
        <p:nvCxnSpPr>
          <p:cNvPr id="28" name="直接连接符 27">
            <a:extLst>
              <a:ext uri="{FF2B5EF4-FFF2-40B4-BE49-F238E27FC236}">
                <a16:creationId xmlns:a16="http://schemas.microsoft.com/office/drawing/2014/main" id="{54052616-EB26-61A6-0495-E896D42C0745}"/>
              </a:ext>
            </a:extLst>
          </p:cNvPr>
          <p:cNvCxnSpPr>
            <a:cxnSpLocks/>
          </p:cNvCxnSpPr>
          <p:nvPr/>
        </p:nvCxnSpPr>
        <p:spPr>
          <a:xfrm>
            <a:off x="749910" y="2384769"/>
            <a:ext cx="59527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Text1">
            <a:extLst>
              <a:ext uri="{FF2B5EF4-FFF2-40B4-BE49-F238E27FC236}">
                <a16:creationId xmlns:a16="http://schemas.microsoft.com/office/drawing/2014/main" id="{1120D716-484D-009E-59AA-EACC0E60E4BB}"/>
              </a:ext>
            </a:extLst>
          </p:cNvPr>
          <p:cNvSpPr txBox="1"/>
          <p:nvPr/>
        </p:nvSpPr>
        <p:spPr>
          <a:xfrm>
            <a:off x="660400" y="2575230"/>
            <a:ext cx="5452165" cy="4054169"/>
          </a:xfrm>
          <a:prstGeom prst="rect">
            <a:avLst/>
          </a:prstGeom>
          <a:noFill/>
        </p:spPr>
        <p:txBody>
          <a:bodyPr wrap="square" rtlCol="0" anchor="t" anchorCtr="0">
            <a:normAutofit/>
          </a:bodyPr>
          <a:lstStyle/>
          <a:p>
            <a:pPr marR="0" lvl="0" defTabSz="913765" rtl="0" eaLnBrk="1" fontAlgn="auto" latinLnBrk="0" hangingPunct="1">
              <a:lnSpc>
                <a:spcPct val="120000"/>
              </a:lnSpc>
              <a:spcBef>
                <a:spcPts val="0"/>
              </a:spcBef>
              <a:spcAft>
                <a:spcPts val="0"/>
              </a:spcAft>
              <a:buClrTx/>
              <a:buSzPct val="100000"/>
              <a:defRPr/>
            </a:pPr>
            <a:r>
              <a:rPr kumimoji="0" lang="zh-CN" altLang="en-US" sz="2000" i="0" u="none" strike="noStrike" kern="1200" cap="none" spc="0" normalizeH="0" baseline="0" noProof="0" dirty="0">
                <a:ln>
                  <a:noFill/>
                </a:ln>
                <a:effectLst/>
                <a:uLnTx/>
                <a:uFillTx/>
                <a:cs typeface="+mn-ea"/>
                <a:sym typeface="+mn-lt"/>
              </a:rPr>
              <a:t>构建条件生成对抗网络（</a:t>
            </a:r>
            <a:r>
              <a:rPr kumimoji="0" lang="en-US" altLang="zh-CN" sz="2000" i="0" u="none" strike="noStrike" kern="1200" cap="none" spc="0" normalizeH="0" baseline="0" noProof="0" dirty="0" err="1">
                <a:ln>
                  <a:noFill/>
                </a:ln>
                <a:effectLst/>
                <a:uLnTx/>
                <a:uFillTx/>
                <a:cs typeface="+mn-ea"/>
                <a:sym typeface="+mn-lt"/>
              </a:rPr>
              <a:t>cGAN</a:t>
            </a:r>
            <a:r>
              <a:rPr kumimoji="0" lang="zh-CN" altLang="en-US" sz="2000" i="0" u="none" strike="noStrike" kern="1200" cap="none" spc="0" normalizeH="0" baseline="0" noProof="0" dirty="0">
                <a:ln>
                  <a:noFill/>
                </a:ln>
                <a:effectLst/>
                <a:uLnTx/>
                <a:uFillTx/>
                <a:cs typeface="+mn-ea"/>
                <a:sym typeface="+mn-lt"/>
              </a:rPr>
              <a:t>），以目标光学效率为条件，生成满足性能要求的荧光材料分子结构或组分配方，实现</a:t>
            </a:r>
            <a:r>
              <a:rPr kumimoji="0" lang="en-US" altLang="zh-CN" sz="2000" i="0" u="none" strike="noStrike" kern="1200" cap="none" spc="0" normalizeH="0" baseline="0" noProof="0" dirty="0">
                <a:ln>
                  <a:noFill/>
                </a:ln>
                <a:effectLst/>
                <a:uLnTx/>
                <a:uFillTx/>
                <a:cs typeface="+mn-ea"/>
                <a:sym typeface="+mn-lt"/>
              </a:rPr>
              <a:t>"</a:t>
            </a:r>
            <a:r>
              <a:rPr kumimoji="0" lang="zh-CN" altLang="en-US" sz="2000" i="0" u="none" strike="noStrike" kern="1200" cap="none" spc="0" normalizeH="0" baseline="0" noProof="0" dirty="0">
                <a:ln>
                  <a:noFill/>
                </a:ln>
                <a:effectLst/>
                <a:uLnTx/>
                <a:uFillTx/>
                <a:cs typeface="+mn-ea"/>
                <a:sym typeface="+mn-lt"/>
              </a:rPr>
              <a:t>性能</a:t>
            </a:r>
            <a:r>
              <a:rPr kumimoji="0" lang="en-US" altLang="zh-CN" sz="2000" i="0" u="none" strike="noStrike" kern="1200" cap="none" spc="0" normalizeH="0" baseline="0" noProof="0" dirty="0">
                <a:ln>
                  <a:noFill/>
                </a:ln>
                <a:effectLst/>
                <a:uLnTx/>
                <a:uFillTx/>
                <a:cs typeface="+mn-ea"/>
                <a:sym typeface="+mn-lt"/>
              </a:rPr>
              <a:t>-</a:t>
            </a:r>
            <a:r>
              <a:rPr kumimoji="0" lang="zh-CN" altLang="en-US" sz="2000" i="0" u="none" strike="noStrike" kern="1200" cap="none" spc="0" normalizeH="0" baseline="0" noProof="0" dirty="0">
                <a:ln>
                  <a:noFill/>
                </a:ln>
                <a:effectLst/>
                <a:uLnTx/>
                <a:uFillTx/>
                <a:cs typeface="+mn-ea"/>
                <a:sym typeface="+mn-lt"/>
              </a:rPr>
              <a:t>材料</a:t>
            </a:r>
            <a:r>
              <a:rPr kumimoji="0" lang="en-US" altLang="zh-CN" sz="2000" i="0" u="none" strike="noStrike" kern="1200" cap="none" spc="0" normalizeH="0" baseline="0" noProof="0" dirty="0">
                <a:ln>
                  <a:noFill/>
                </a:ln>
                <a:effectLst/>
                <a:uLnTx/>
                <a:uFillTx/>
                <a:cs typeface="+mn-ea"/>
                <a:sym typeface="+mn-lt"/>
              </a:rPr>
              <a:t>"</a:t>
            </a:r>
            <a:r>
              <a:rPr kumimoji="0" lang="zh-CN" altLang="en-US" sz="2000" i="0" u="none" strike="noStrike" kern="1200" cap="none" spc="0" normalizeH="0" baseline="0" noProof="0" dirty="0">
                <a:ln>
                  <a:noFill/>
                </a:ln>
                <a:effectLst/>
                <a:uLnTx/>
                <a:uFillTx/>
                <a:cs typeface="+mn-ea"/>
                <a:sym typeface="+mn-lt"/>
              </a:rPr>
              <a:t>的逆向映射。采用多目标遗传算法（</a:t>
            </a:r>
            <a:r>
              <a:rPr kumimoji="0" lang="en-US" altLang="zh-CN" sz="2000" i="0" u="none" strike="noStrike" kern="1200" cap="none" spc="0" normalizeH="0" baseline="0" noProof="0" dirty="0">
                <a:ln>
                  <a:noFill/>
                </a:ln>
                <a:effectLst/>
                <a:uLnTx/>
                <a:uFillTx/>
                <a:cs typeface="+mn-ea"/>
                <a:sym typeface="+mn-lt"/>
              </a:rPr>
              <a:t>NSGA-II</a:t>
            </a:r>
            <a:r>
              <a:rPr kumimoji="0" lang="zh-CN" altLang="en-US" sz="2000" i="0" u="none" strike="noStrike" kern="1200" cap="none" spc="0" normalizeH="0" baseline="0" noProof="0" dirty="0">
                <a:ln>
                  <a:noFill/>
                </a:ln>
                <a:effectLst/>
                <a:uLnTx/>
                <a:uFillTx/>
                <a:cs typeface="+mn-ea"/>
                <a:sym typeface="+mn-lt"/>
              </a:rPr>
              <a:t>）、粒子群优化（</a:t>
            </a:r>
            <a:r>
              <a:rPr kumimoji="0" lang="en-US" altLang="zh-CN" sz="2000" i="0" u="none" strike="noStrike" kern="1200" cap="none" spc="0" normalizeH="0" baseline="0" noProof="0" dirty="0">
                <a:ln>
                  <a:noFill/>
                </a:ln>
                <a:effectLst/>
                <a:uLnTx/>
                <a:uFillTx/>
                <a:cs typeface="+mn-ea"/>
                <a:sym typeface="+mn-lt"/>
              </a:rPr>
              <a:t>PSO</a:t>
            </a:r>
            <a:r>
              <a:rPr kumimoji="0" lang="zh-CN" altLang="en-US" sz="2000" i="0" u="none" strike="noStrike" kern="1200" cap="none" spc="0" normalizeH="0" baseline="0" noProof="0" dirty="0">
                <a:ln>
                  <a:noFill/>
                </a:ln>
                <a:effectLst/>
                <a:uLnTx/>
                <a:uFillTx/>
                <a:cs typeface="+mn-ea"/>
                <a:sym typeface="+mn-lt"/>
              </a:rPr>
              <a:t>）等算法，同时优化光学效率、成本、稳定性等多个目标，获得</a:t>
            </a:r>
            <a:r>
              <a:rPr kumimoji="0" lang="en-US" altLang="zh-CN" sz="2000" i="0" u="none" strike="noStrike" kern="1200" cap="none" spc="0" normalizeH="0" baseline="0" noProof="0" dirty="0">
                <a:ln>
                  <a:noFill/>
                </a:ln>
                <a:effectLst/>
                <a:uLnTx/>
                <a:uFillTx/>
                <a:cs typeface="+mn-ea"/>
                <a:sym typeface="+mn-lt"/>
              </a:rPr>
              <a:t>Pareto</a:t>
            </a:r>
            <a:r>
              <a:rPr kumimoji="0" lang="zh-CN" altLang="en-US" sz="2000" i="0" u="none" strike="noStrike" kern="1200" cap="none" spc="0" normalizeH="0" baseline="0" noProof="0" dirty="0">
                <a:ln>
                  <a:noFill/>
                </a:ln>
                <a:effectLst/>
                <a:uLnTx/>
                <a:uFillTx/>
                <a:cs typeface="+mn-ea"/>
                <a:sym typeface="+mn-lt"/>
              </a:rPr>
              <a:t>最优解集，为</a:t>
            </a:r>
            <a:r>
              <a:rPr kumimoji="0" lang="en-US" altLang="zh-CN" sz="2000" i="0" u="none" strike="noStrike" kern="1200" cap="none" spc="0" normalizeH="0" baseline="0" noProof="0" dirty="0">
                <a:ln>
                  <a:noFill/>
                </a:ln>
                <a:effectLst/>
                <a:uLnTx/>
                <a:uFillTx/>
                <a:cs typeface="+mn-ea"/>
                <a:sym typeface="+mn-lt"/>
              </a:rPr>
              <a:t>LSC</a:t>
            </a:r>
            <a:r>
              <a:rPr kumimoji="0" lang="zh-CN" altLang="en-US" sz="2000" i="0" u="none" strike="noStrike" kern="1200" cap="none" spc="0" normalizeH="0" baseline="0" noProof="0" dirty="0">
                <a:ln>
                  <a:noFill/>
                </a:ln>
                <a:effectLst/>
                <a:uLnTx/>
                <a:uFillTx/>
                <a:cs typeface="+mn-ea"/>
                <a:sym typeface="+mn-lt"/>
              </a:rPr>
              <a:t>设计提供多方案选择。构建基于强化学习的</a:t>
            </a:r>
            <a:r>
              <a:rPr kumimoji="0" lang="en-US" altLang="zh-CN" sz="2000" i="0" u="none" strike="noStrike" kern="1200" cap="none" spc="0" normalizeH="0" baseline="0" noProof="0" dirty="0">
                <a:ln>
                  <a:noFill/>
                </a:ln>
                <a:effectLst/>
                <a:uLnTx/>
                <a:uFillTx/>
                <a:cs typeface="+mn-ea"/>
                <a:sym typeface="+mn-lt"/>
              </a:rPr>
              <a:t>LSC</a:t>
            </a:r>
            <a:r>
              <a:rPr kumimoji="0" lang="zh-CN" altLang="en-US" sz="2000" i="0" u="none" strike="noStrike" kern="1200" cap="none" spc="0" normalizeH="0" baseline="0" noProof="0" dirty="0">
                <a:ln>
                  <a:noFill/>
                </a:ln>
                <a:effectLst/>
                <a:uLnTx/>
                <a:uFillTx/>
                <a:cs typeface="+mn-ea"/>
                <a:sym typeface="+mn-lt"/>
              </a:rPr>
              <a:t>设计框架，通过智能体与环境（仿真模型）的交互学习，探索最优设计策略，实现从</a:t>
            </a:r>
            <a:r>
              <a:rPr kumimoji="0" lang="en-US" altLang="zh-CN" sz="2000" i="0" u="none" strike="noStrike" kern="1200" cap="none" spc="0" normalizeH="0" baseline="0" noProof="0" dirty="0">
                <a:ln>
                  <a:noFill/>
                </a:ln>
                <a:effectLst/>
                <a:uLnTx/>
                <a:uFillTx/>
                <a:cs typeface="+mn-ea"/>
                <a:sym typeface="+mn-lt"/>
              </a:rPr>
              <a:t>"</a:t>
            </a:r>
            <a:r>
              <a:rPr kumimoji="0" lang="zh-CN" altLang="en-US" sz="2000" i="0" u="none" strike="noStrike" kern="1200" cap="none" spc="0" normalizeH="0" baseline="0" noProof="0" dirty="0">
                <a:ln>
                  <a:noFill/>
                </a:ln>
                <a:effectLst/>
                <a:uLnTx/>
                <a:uFillTx/>
                <a:cs typeface="+mn-ea"/>
                <a:sym typeface="+mn-lt"/>
              </a:rPr>
              <a:t>经验驱动</a:t>
            </a:r>
            <a:r>
              <a:rPr kumimoji="0" lang="en-US" altLang="zh-CN" sz="2000" i="0" u="none" strike="noStrike" kern="1200" cap="none" spc="0" normalizeH="0" baseline="0" noProof="0" dirty="0">
                <a:ln>
                  <a:noFill/>
                </a:ln>
                <a:effectLst/>
                <a:uLnTx/>
                <a:uFillTx/>
                <a:cs typeface="+mn-ea"/>
                <a:sym typeface="+mn-lt"/>
              </a:rPr>
              <a:t>"</a:t>
            </a:r>
            <a:r>
              <a:rPr kumimoji="0" lang="zh-CN" altLang="en-US" sz="2000" i="0" u="none" strike="noStrike" kern="1200" cap="none" spc="0" normalizeH="0" baseline="0" noProof="0" dirty="0">
                <a:ln>
                  <a:noFill/>
                </a:ln>
                <a:effectLst/>
                <a:uLnTx/>
                <a:uFillTx/>
                <a:cs typeface="+mn-ea"/>
                <a:sym typeface="+mn-lt"/>
              </a:rPr>
              <a:t>向</a:t>
            </a:r>
            <a:r>
              <a:rPr kumimoji="0" lang="en-US" altLang="zh-CN" sz="2000" i="0" u="none" strike="noStrike" kern="1200" cap="none" spc="0" normalizeH="0" baseline="0" noProof="0" dirty="0">
                <a:ln>
                  <a:noFill/>
                </a:ln>
                <a:effectLst/>
                <a:uLnTx/>
                <a:uFillTx/>
                <a:cs typeface="+mn-ea"/>
                <a:sym typeface="+mn-lt"/>
              </a:rPr>
              <a:t>"</a:t>
            </a:r>
            <a:r>
              <a:rPr kumimoji="0" lang="zh-CN" altLang="en-US" sz="2000" i="0" u="none" strike="noStrike" kern="1200" cap="none" spc="0" normalizeH="0" baseline="0" noProof="0" dirty="0">
                <a:ln>
                  <a:noFill/>
                </a:ln>
                <a:effectLst/>
                <a:uLnTx/>
                <a:uFillTx/>
                <a:cs typeface="+mn-ea"/>
                <a:sym typeface="+mn-lt"/>
              </a:rPr>
              <a:t>智能驱动</a:t>
            </a:r>
            <a:r>
              <a:rPr kumimoji="0" lang="en-US" altLang="zh-CN" sz="2000" i="0" u="none" strike="noStrike" kern="1200" cap="none" spc="0" normalizeH="0" baseline="0" noProof="0" dirty="0">
                <a:ln>
                  <a:noFill/>
                </a:ln>
                <a:effectLst/>
                <a:uLnTx/>
                <a:uFillTx/>
                <a:cs typeface="+mn-ea"/>
                <a:sym typeface="+mn-lt"/>
              </a:rPr>
              <a:t>"</a:t>
            </a:r>
            <a:r>
              <a:rPr kumimoji="0" lang="zh-CN" altLang="en-US" sz="2000" i="0" u="none" strike="noStrike" kern="1200" cap="none" spc="0" normalizeH="0" baseline="0" noProof="0" dirty="0">
                <a:ln>
                  <a:noFill/>
                </a:ln>
                <a:effectLst/>
                <a:uLnTx/>
                <a:uFillTx/>
                <a:cs typeface="+mn-ea"/>
                <a:sym typeface="+mn-lt"/>
              </a:rPr>
              <a:t>的转变。</a:t>
            </a:r>
          </a:p>
        </p:txBody>
      </p:sp>
      <p:sp>
        <p:nvSpPr>
          <p:cNvPr id="39" name="Bullet1">
            <a:extLst>
              <a:ext uri="{FF2B5EF4-FFF2-40B4-BE49-F238E27FC236}">
                <a16:creationId xmlns:a16="http://schemas.microsoft.com/office/drawing/2014/main" id="{DCE5FE74-3DD1-536D-411C-CBF1ACF3CC24}"/>
              </a:ext>
            </a:extLst>
          </p:cNvPr>
          <p:cNvSpPr txBox="1"/>
          <p:nvPr/>
        </p:nvSpPr>
        <p:spPr>
          <a:xfrm>
            <a:off x="660400" y="1643022"/>
            <a:ext cx="5259387" cy="597160"/>
          </a:xfrm>
          <a:prstGeom prst="rect">
            <a:avLst/>
          </a:prstGeom>
          <a:noFill/>
        </p:spPr>
        <p:txBody>
          <a:bodyPr wrap="square" rtlCol="0" anchor="b" anchorCtr="0">
            <a:normAutofit/>
          </a:bodyPr>
          <a:lstStyle/>
          <a:p>
            <a:pPr>
              <a:lnSpc>
                <a:spcPct val="120000"/>
              </a:lnSpc>
            </a:pPr>
            <a:r>
              <a:rPr lang="zh-CN" altLang="en-US" sz="2400" b="1" dirty="0">
                <a:solidFill>
                  <a:schemeClr val="accent1"/>
                </a:solidFill>
                <a:cs typeface="+mn-ea"/>
                <a:sym typeface="+mn-lt"/>
              </a:rPr>
              <a:t>逆向设计</a:t>
            </a:r>
          </a:p>
        </p:txBody>
      </p:sp>
      <p:sp>
        <p:nvSpPr>
          <p:cNvPr id="40" name="Freeform 5">
            <a:extLst>
              <a:ext uri="{FF2B5EF4-FFF2-40B4-BE49-F238E27FC236}">
                <a16:creationId xmlns:a16="http://schemas.microsoft.com/office/drawing/2014/main" id="{9EFEFBE4-59D7-145B-C195-5C7993330CAB}"/>
              </a:ext>
            </a:extLst>
          </p:cNvPr>
          <p:cNvSpPr>
            <a:spLocks/>
          </p:cNvSpPr>
          <p:nvPr/>
        </p:nvSpPr>
        <p:spPr bwMode="auto">
          <a:xfrm>
            <a:off x="5919787" y="0"/>
            <a:ext cx="5599113" cy="6858000"/>
          </a:xfrm>
          <a:custGeom>
            <a:avLst/>
            <a:gdLst>
              <a:gd name="T0" fmla="*/ 0 w 14693"/>
              <a:gd name="T1" fmla="*/ 0 h 18000"/>
              <a:gd name="T2" fmla="*/ 6160 w 14693"/>
              <a:gd name="T3" fmla="*/ 0 h 18000"/>
              <a:gd name="T4" fmla="*/ 13389 w 14693"/>
              <a:gd name="T5" fmla="*/ 4267 h 18000"/>
              <a:gd name="T6" fmla="*/ 14115 w 14693"/>
              <a:gd name="T7" fmla="*/ 7083 h 18000"/>
              <a:gd name="T8" fmla="*/ 7673 w 14693"/>
              <a:gd name="T9" fmla="*/ 18000 h 18000"/>
              <a:gd name="T10" fmla="*/ 3504 w 14693"/>
              <a:gd name="T11" fmla="*/ 18000 h 18000"/>
              <a:gd name="T12" fmla="*/ 9432 w 14693"/>
              <a:gd name="T13" fmla="*/ 7955 h 18000"/>
              <a:gd name="T14" fmla="*/ 8706 w 14693"/>
              <a:gd name="T15" fmla="*/ 5138 h 18000"/>
              <a:gd name="T16" fmla="*/ 0 w 14693"/>
              <a:gd name="T17" fmla="*/ 0 h 18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93" h="18000">
                <a:moveTo>
                  <a:pt x="0" y="0"/>
                </a:moveTo>
                <a:lnTo>
                  <a:pt x="6160" y="0"/>
                </a:lnTo>
                <a:lnTo>
                  <a:pt x="13389" y="4267"/>
                </a:lnTo>
                <a:cubicBezTo>
                  <a:pt x="14368" y="4843"/>
                  <a:pt x="14693" y="6105"/>
                  <a:pt x="14115" y="7083"/>
                </a:cubicBezTo>
                <a:lnTo>
                  <a:pt x="7673" y="18000"/>
                </a:lnTo>
                <a:lnTo>
                  <a:pt x="3504" y="18000"/>
                </a:lnTo>
                <a:lnTo>
                  <a:pt x="9432" y="7955"/>
                </a:lnTo>
                <a:cubicBezTo>
                  <a:pt x="10009" y="6976"/>
                  <a:pt x="9684" y="5714"/>
                  <a:pt x="8706" y="5138"/>
                </a:cubicBezTo>
                <a:lnTo>
                  <a:pt x="0" y="0"/>
                </a:lnTo>
                <a:close/>
              </a:path>
            </a:pathLst>
          </a:custGeom>
          <a:gradFill>
            <a:gsLst>
              <a:gs pos="17000">
                <a:schemeClr val="accent1"/>
              </a:gs>
              <a:gs pos="95000">
                <a:schemeClr val="accent1">
                  <a:alpha val="7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120000"/>
              </a:lnSpc>
            </a:pPr>
            <a:endParaRPr lang="zh-CN" altLang="en-US" sz="1600" b="1">
              <a:solidFill>
                <a:schemeClr val="lt1"/>
              </a:solidFill>
              <a:cs typeface="+mn-ea"/>
              <a:sym typeface="+mn-lt"/>
            </a:endParaRPr>
          </a:p>
        </p:txBody>
      </p:sp>
      <p:sp>
        <p:nvSpPr>
          <p:cNvPr id="48" name="矩形 47">
            <a:extLst>
              <a:ext uri="{FF2B5EF4-FFF2-40B4-BE49-F238E27FC236}">
                <a16:creationId xmlns:a16="http://schemas.microsoft.com/office/drawing/2014/main" id="{E6867A3A-2784-A392-C7F1-B4E4A974461D}"/>
              </a:ext>
            </a:extLst>
          </p:cNvPr>
          <p:cNvSpPr>
            <a:spLocks noChangeAspect="1"/>
          </p:cNvSpPr>
          <p:nvPr/>
        </p:nvSpPr>
        <p:spPr>
          <a:xfrm>
            <a:off x="5690931" y="327443"/>
            <a:ext cx="5420865" cy="6318801"/>
          </a:xfrm>
          <a:prstGeom prst="rect">
            <a:avLst/>
          </a:prstGeom>
          <a:blipFill dpi="0" rotWithShape="1">
            <a:blip r:embed="rId5"/>
            <a:srcRect/>
            <a:stretch>
              <a:fillRect l="-8282" r="-8282"/>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dk1"/>
                </a:solidFill>
                <a:prstDash val="solid"/>
                <a:miter lim="800000"/>
              </a14:hiddenLine>
            </a:ext>
          </a:extLst>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AE49-3689-DDC9-02DB-D7724AEEBD81}"/>
            </a:ext>
          </a:extLst>
        </p:cNvPr>
        <p:cNvGrpSpPr/>
        <p:nvPr/>
      </p:nvGrpSpPr>
      <p:grpSpPr>
        <a:xfrm>
          <a:off x="0" y="0"/>
          <a:ext cx="0" cy="0"/>
          <a:chOff x="0" y="0"/>
          <a:chExt cx="0" cy="0"/>
        </a:xfrm>
      </p:grpSpPr>
      <p:sp>
        <p:nvSpPr>
          <p:cNvPr id="12" name="标题 11">
            <a:extLst>
              <a:ext uri="{FF2B5EF4-FFF2-40B4-BE49-F238E27FC236}">
                <a16:creationId xmlns:a16="http://schemas.microsoft.com/office/drawing/2014/main" id="{48EDD790-F381-9EE7-9014-F1D01CF9E4C8}"/>
              </a:ext>
            </a:extLst>
          </p:cNvPr>
          <p:cNvSpPr>
            <a:spLocks noGrp="1"/>
          </p:cNvSpPr>
          <p:nvPr>
            <p:ph type="title"/>
          </p:nvPr>
        </p:nvSpPr>
        <p:spPr>
          <a:xfrm>
            <a:off x="1287793" y="229731"/>
            <a:ext cx="10850563" cy="663575"/>
          </a:xfrm>
        </p:spPr>
        <p:txBody>
          <a:bodyPr/>
          <a:lstStyle/>
          <a:p>
            <a:r>
              <a:rPr lang="zh-CN" altLang="en-US" sz="2800" dirty="0">
                <a:latin typeface="+mn-lt"/>
                <a:ea typeface="+mn-ea"/>
                <a:cs typeface="+mn-ea"/>
                <a:sym typeface="+mn-lt"/>
              </a:rPr>
              <a:t>实验验证与模型评估</a:t>
            </a:r>
          </a:p>
        </p:txBody>
      </p:sp>
      <p:pic>
        <p:nvPicPr>
          <p:cNvPr id="47" name="图片 46">
            <a:extLst>
              <a:ext uri="{FF2B5EF4-FFF2-40B4-BE49-F238E27FC236}">
                <a16:creationId xmlns:a16="http://schemas.microsoft.com/office/drawing/2014/main" id="{D613DC5D-0C53-3334-3DDA-9F2E410D9C6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11230" y="0"/>
            <a:ext cx="1180770" cy="1174982"/>
          </a:xfrm>
          <a:prstGeom prst="rect">
            <a:avLst/>
          </a:prstGeom>
        </p:spPr>
      </p:pic>
      <p:grpSp>
        <p:nvGrpSpPr>
          <p:cNvPr id="15" name="组合 14">
            <a:extLst>
              <a:ext uri="{FF2B5EF4-FFF2-40B4-BE49-F238E27FC236}">
                <a16:creationId xmlns:a16="http://schemas.microsoft.com/office/drawing/2014/main" id="{6F90B6AD-6411-97B0-CB97-82BADB8B6A8E}"/>
              </a:ext>
            </a:extLst>
          </p:cNvPr>
          <p:cNvGrpSpPr/>
          <p:nvPr/>
        </p:nvGrpSpPr>
        <p:grpSpPr>
          <a:xfrm>
            <a:off x="660400" y="1130300"/>
            <a:ext cx="11531600" cy="5727700"/>
            <a:chOff x="660400" y="1130300"/>
            <a:chExt cx="11531600" cy="5727700"/>
          </a:xfrm>
        </p:grpSpPr>
        <p:sp>
          <p:nvSpPr>
            <p:cNvPr id="29" name="矩形 28">
              <a:extLst>
                <a:ext uri="{FF2B5EF4-FFF2-40B4-BE49-F238E27FC236}">
                  <a16:creationId xmlns:a16="http://schemas.microsoft.com/office/drawing/2014/main" id="{CEA723B9-83ED-4169-ECB8-0EE43F2FF9E2}"/>
                </a:ext>
              </a:extLst>
            </p:cNvPr>
            <p:cNvSpPr/>
            <p:nvPr/>
          </p:nvSpPr>
          <p:spPr>
            <a:xfrm>
              <a:off x="660400" y="6235700"/>
              <a:ext cx="11531600" cy="6223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任意多边形: 形状 38">
              <a:extLst>
                <a:ext uri="{FF2B5EF4-FFF2-40B4-BE49-F238E27FC236}">
                  <a16:creationId xmlns:a16="http://schemas.microsoft.com/office/drawing/2014/main" id="{C2914FDE-6069-96CC-09E1-0905834CEB60}"/>
                </a:ext>
              </a:extLst>
            </p:cNvPr>
            <p:cNvSpPr/>
            <p:nvPr/>
          </p:nvSpPr>
          <p:spPr>
            <a:xfrm>
              <a:off x="660400" y="1130300"/>
              <a:ext cx="5429250" cy="5003800"/>
            </a:xfrm>
            <a:custGeom>
              <a:avLst/>
              <a:gdLst>
                <a:gd name="connsiteX0" fmla="*/ 0 w 5429250"/>
                <a:gd name="connsiteY0" fmla="*/ 0 h 5003800"/>
                <a:gd name="connsiteX1" fmla="*/ 5429250 w 5429250"/>
                <a:gd name="connsiteY1" fmla="*/ 0 h 5003800"/>
                <a:gd name="connsiteX2" fmla="*/ 5429250 w 5429250"/>
                <a:gd name="connsiteY2" fmla="*/ 5003800 h 5003800"/>
                <a:gd name="connsiteX3" fmla="*/ 0 w 5429250"/>
                <a:gd name="connsiteY3" fmla="*/ 5003800 h 5003800"/>
              </a:gdLst>
              <a:ahLst/>
              <a:cxnLst>
                <a:cxn ang="0">
                  <a:pos x="connsiteX0" y="connsiteY0"/>
                </a:cxn>
                <a:cxn ang="0">
                  <a:pos x="connsiteX1" y="connsiteY1"/>
                </a:cxn>
                <a:cxn ang="0">
                  <a:pos x="connsiteX2" y="connsiteY2"/>
                </a:cxn>
                <a:cxn ang="0">
                  <a:pos x="connsiteX3" y="connsiteY3"/>
                </a:cxn>
              </a:cxnLst>
              <a:rect l="l" t="t" r="r" b="b"/>
              <a:pathLst>
                <a:path w="5429250" h="5003800">
                  <a:moveTo>
                    <a:pt x="0" y="0"/>
                  </a:moveTo>
                  <a:lnTo>
                    <a:pt x="5429250" y="0"/>
                  </a:lnTo>
                  <a:lnTo>
                    <a:pt x="5429250" y="5003800"/>
                  </a:lnTo>
                  <a:lnTo>
                    <a:pt x="0" y="5003800"/>
                  </a:lnTo>
                  <a:close/>
                </a:path>
              </a:pathLst>
            </a:custGeom>
            <a:solidFill>
              <a:srgbClr val="FFFFFF"/>
            </a:solidFill>
            <a:ln>
              <a:noFill/>
            </a:ln>
            <a:effectLst>
              <a:outerShdw blurRad="50800" dist="38100" dir="5400000" algn="t" rotWithShape="0">
                <a:schemeClr val="accent1">
                  <a:alpha val="2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120000"/>
                </a:lnSpc>
              </a:pPr>
              <a:endParaRPr lang="zh-CN" altLang="en-US" sz="1200">
                <a:solidFill>
                  <a:schemeClr val="accent1"/>
                </a:solidFill>
                <a:cs typeface="+mn-ea"/>
                <a:sym typeface="+mn-lt"/>
              </a:endParaRPr>
            </a:p>
          </p:txBody>
        </p:sp>
        <p:grpSp>
          <p:nvGrpSpPr>
            <p:cNvPr id="48" name="组合 47">
              <a:extLst>
                <a:ext uri="{FF2B5EF4-FFF2-40B4-BE49-F238E27FC236}">
                  <a16:creationId xmlns:a16="http://schemas.microsoft.com/office/drawing/2014/main" id="{3C61E427-660E-144C-3D4C-DF5D5B848C4F}"/>
                </a:ext>
              </a:extLst>
            </p:cNvPr>
            <p:cNvGrpSpPr/>
            <p:nvPr/>
          </p:nvGrpSpPr>
          <p:grpSpPr>
            <a:xfrm>
              <a:off x="1092201" y="1422399"/>
              <a:ext cx="4841460" cy="4759739"/>
              <a:chOff x="660401" y="1643022"/>
              <a:chExt cx="4841460" cy="4759739"/>
            </a:xfrm>
          </p:grpSpPr>
          <p:cxnSp>
            <p:nvCxnSpPr>
              <p:cNvPr id="52" name="直接连接符 51">
                <a:extLst>
                  <a:ext uri="{FF2B5EF4-FFF2-40B4-BE49-F238E27FC236}">
                    <a16:creationId xmlns:a16="http://schemas.microsoft.com/office/drawing/2014/main" id="{162E2FAE-EE46-B227-0EF6-D2E1CD6C1A40}"/>
                  </a:ext>
                </a:extLst>
              </p:cNvPr>
              <p:cNvCxnSpPr>
                <a:cxnSpLocks/>
              </p:cNvCxnSpPr>
              <p:nvPr/>
            </p:nvCxnSpPr>
            <p:spPr>
              <a:xfrm>
                <a:off x="749910" y="2384769"/>
                <a:ext cx="59527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3" name="Text1">
                <a:extLst>
                  <a:ext uri="{FF2B5EF4-FFF2-40B4-BE49-F238E27FC236}">
                    <a16:creationId xmlns:a16="http://schemas.microsoft.com/office/drawing/2014/main" id="{C06C79C9-DBB7-3AE2-80F2-63DD19B82AD8}"/>
                  </a:ext>
                </a:extLst>
              </p:cNvPr>
              <p:cNvSpPr txBox="1"/>
              <p:nvPr/>
            </p:nvSpPr>
            <p:spPr>
              <a:xfrm>
                <a:off x="660401" y="2575230"/>
                <a:ext cx="4841460" cy="3827531"/>
              </a:xfrm>
              <a:prstGeom prst="rect">
                <a:avLst/>
              </a:prstGeom>
              <a:noFill/>
            </p:spPr>
            <p:txBody>
              <a:bodyPr wrap="square" rtlCol="0" anchor="t" anchorCtr="0">
                <a:normAutofit/>
              </a:bodyPr>
              <a:lstStyle/>
              <a:p>
                <a:pPr marR="0" lvl="0" defTabSz="913765" rtl="0" eaLnBrk="1" fontAlgn="auto" latinLnBrk="0" hangingPunct="1">
                  <a:lnSpc>
                    <a:spcPct val="120000"/>
                  </a:lnSpc>
                  <a:spcBef>
                    <a:spcPts val="0"/>
                  </a:spcBef>
                  <a:spcAft>
                    <a:spcPts val="0"/>
                  </a:spcAft>
                  <a:buClrTx/>
                  <a:buSzPct val="100000"/>
                  <a:defRPr/>
                </a:pPr>
                <a:r>
                  <a:rPr kumimoji="0" lang="zh-CN" altLang="en-US" i="0" u="none" strike="noStrike" kern="1200" cap="none" spc="0" normalizeH="0" baseline="0" noProof="0" dirty="0">
                    <a:ln>
                      <a:noFill/>
                    </a:ln>
                    <a:solidFill>
                      <a:srgbClr val="000000"/>
                    </a:solidFill>
                    <a:effectLst/>
                    <a:uLnTx/>
                    <a:uFillTx/>
                    <a:cs typeface="+mn-ea"/>
                    <a:sym typeface="+mn-lt"/>
                  </a:rPr>
                  <a:t>采用均方根误差（</a:t>
                </a:r>
                <a:r>
                  <a:rPr kumimoji="0" lang="en-US" altLang="zh-CN" i="0" u="none" strike="noStrike" kern="1200" cap="none" spc="0" normalizeH="0" baseline="0" noProof="0" dirty="0">
                    <a:ln>
                      <a:noFill/>
                    </a:ln>
                    <a:solidFill>
                      <a:srgbClr val="000000"/>
                    </a:solidFill>
                    <a:effectLst/>
                    <a:uLnTx/>
                    <a:uFillTx/>
                    <a:cs typeface="+mn-ea"/>
                    <a:sym typeface="+mn-lt"/>
                  </a:rPr>
                  <a:t>RMSE</a:t>
                </a:r>
                <a:r>
                  <a:rPr kumimoji="0" lang="zh-CN" altLang="en-US" i="0" u="none" strike="noStrike" kern="1200" cap="none" spc="0" normalizeH="0" baseline="0" noProof="0" dirty="0">
                    <a:ln>
                      <a:noFill/>
                    </a:ln>
                    <a:solidFill>
                      <a:srgbClr val="000000"/>
                    </a:solidFill>
                    <a:effectLst/>
                    <a:uLnTx/>
                    <a:uFillTx/>
                    <a:cs typeface="+mn-ea"/>
                    <a:sym typeface="+mn-lt"/>
                  </a:rPr>
                  <a:t>）、平均绝对误差（</a:t>
                </a:r>
                <a:r>
                  <a:rPr kumimoji="0" lang="en-US" altLang="zh-CN" i="0" u="none" strike="noStrike" kern="1200" cap="none" spc="0" normalizeH="0" baseline="0" noProof="0" dirty="0">
                    <a:ln>
                      <a:noFill/>
                    </a:ln>
                    <a:solidFill>
                      <a:srgbClr val="000000"/>
                    </a:solidFill>
                    <a:effectLst/>
                    <a:uLnTx/>
                    <a:uFillTx/>
                    <a:cs typeface="+mn-ea"/>
                    <a:sym typeface="+mn-lt"/>
                  </a:rPr>
                  <a:t>MAE</a:t>
                </a:r>
                <a:r>
                  <a:rPr kumimoji="0" lang="zh-CN" altLang="en-US" i="0" u="none" strike="noStrike" kern="1200" cap="none" spc="0" normalizeH="0" baseline="0" noProof="0" dirty="0">
                    <a:ln>
                      <a:noFill/>
                    </a:ln>
                    <a:solidFill>
                      <a:srgbClr val="000000"/>
                    </a:solidFill>
                    <a:effectLst/>
                    <a:uLnTx/>
                    <a:uFillTx/>
                    <a:cs typeface="+mn-ea"/>
                    <a:sym typeface="+mn-lt"/>
                  </a:rPr>
                  <a:t>）、决定系数（</a:t>
                </a:r>
                <a:r>
                  <a:rPr kumimoji="0" lang="en-US" altLang="zh-CN" i="0" u="none" strike="noStrike" kern="1200" cap="none" spc="0" normalizeH="0" baseline="0" noProof="0" dirty="0">
                    <a:ln>
                      <a:noFill/>
                    </a:ln>
                    <a:solidFill>
                      <a:srgbClr val="000000"/>
                    </a:solidFill>
                    <a:effectLst/>
                    <a:uLnTx/>
                    <a:uFillTx/>
                    <a:cs typeface="+mn-ea"/>
                    <a:sym typeface="+mn-lt"/>
                  </a:rPr>
                  <a:t>R²</a:t>
                </a:r>
                <a:r>
                  <a:rPr kumimoji="0" lang="zh-CN" altLang="en-US" i="0" u="none" strike="noStrike" kern="1200" cap="none" spc="0" normalizeH="0" baseline="0" noProof="0" dirty="0">
                    <a:ln>
                      <a:noFill/>
                    </a:ln>
                    <a:solidFill>
                      <a:srgbClr val="000000"/>
                    </a:solidFill>
                    <a:effectLst/>
                    <a:uLnTx/>
                    <a:uFillTx/>
                    <a:cs typeface="+mn-ea"/>
                    <a:sym typeface="+mn-lt"/>
                  </a:rPr>
                  <a:t>）、平均绝对百分比误差（</a:t>
                </a:r>
                <a:r>
                  <a:rPr kumimoji="0" lang="en-US" altLang="zh-CN" i="0" u="none" strike="noStrike" kern="1200" cap="none" spc="0" normalizeH="0" baseline="0" noProof="0" dirty="0">
                    <a:ln>
                      <a:noFill/>
                    </a:ln>
                    <a:solidFill>
                      <a:srgbClr val="000000"/>
                    </a:solidFill>
                    <a:effectLst/>
                    <a:uLnTx/>
                    <a:uFillTx/>
                    <a:cs typeface="+mn-ea"/>
                    <a:sym typeface="+mn-lt"/>
                  </a:rPr>
                  <a:t>MAPE</a:t>
                </a:r>
                <a:r>
                  <a:rPr kumimoji="0" lang="zh-CN" altLang="en-US" i="0" u="none" strike="noStrike" kern="1200" cap="none" spc="0" normalizeH="0" baseline="0" noProof="0" dirty="0">
                    <a:ln>
                      <a:noFill/>
                    </a:ln>
                    <a:solidFill>
                      <a:srgbClr val="000000"/>
                    </a:solidFill>
                    <a:effectLst/>
                    <a:uLnTx/>
                    <a:uFillTx/>
                    <a:cs typeface="+mn-ea"/>
                    <a:sym typeface="+mn-lt"/>
                  </a:rPr>
                  <a:t>）等指标，全面评估预测模型的精度、稳定性和泛化能力。选取典型荧光材料体系（如</a:t>
                </a:r>
                <a:r>
                  <a:rPr kumimoji="0" lang="en-US" altLang="zh-CN" i="0" u="none" strike="noStrike" kern="1200" cap="none" spc="0" normalizeH="0" baseline="0" noProof="0" dirty="0">
                    <a:ln>
                      <a:noFill/>
                    </a:ln>
                    <a:solidFill>
                      <a:srgbClr val="000000"/>
                    </a:solidFill>
                    <a:effectLst/>
                    <a:uLnTx/>
                    <a:uFillTx/>
                    <a:cs typeface="+mn-ea"/>
                    <a:sym typeface="+mn-lt"/>
                  </a:rPr>
                  <a:t>CsPbBr3</a:t>
                </a:r>
                <a:r>
                  <a:rPr kumimoji="0" lang="zh-CN" altLang="en-US" i="0" u="none" strike="noStrike" kern="1200" cap="none" spc="0" normalizeH="0" baseline="0" noProof="0" dirty="0">
                    <a:ln>
                      <a:noFill/>
                    </a:ln>
                    <a:solidFill>
                      <a:srgbClr val="000000"/>
                    </a:solidFill>
                    <a:effectLst/>
                    <a:uLnTx/>
                    <a:uFillTx/>
                    <a:cs typeface="+mn-ea"/>
                    <a:sym typeface="+mn-lt"/>
                  </a:rPr>
                  <a:t>量子点、稀土掺杂荧光粉），制备</a:t>
                </a:r>
                <a:r>
                  <a:rPr kumimoji="0" lang="en-US" altLang="zh-CN" i="0" u="none" strike="noStrike" kern="1200" cap="none" spc="0" normalizeH="0" baseline="0" noProof="0" dirty="0">
                    <a:ln>
                      <a:noFill/>
                    </a:ln>
                    <a:solidFill>
                      <a:srgbClr val="000000"/>
                    </a:solidFill>
                    <a:effectLst/>
                    <a:uLnTx/>
                    <a:uFillTx/>
                    <a:cs typeface="+mn-ea"/>
                    <a:sym typeface="+mn-lt"/>
                  </a:rPr>
                  <a:t>LSC</a:t>
                </a:r>
                <a:r>
                  <a:rPr kumimoji="0" lang="zh-CN" altLang="en-US" i="0" u="none" strike="noStrike" kern="1200" cap="none" spc="0" normalizeH="0" baseline="0" noProof="0" dirty="0">
                    <a:ln>
                      <a:noFill/>
                    </a:ln>
                    <a:solidFill>
                      <a:srgbClr val="000000"/>
                    </a:solidFill>
                    <a:effectLst/>
                    <a:uLnTx/>
                    <a:uFillTx/>
                    <a:cs typeface="+mn-ea"/>
                    <a:sym typeface="+mn-lt"/>
                  </a:rPr>
                  <a:t>器件，测试实际光学效率，与模型预测结果进行对比验证，评估模型在实际应用中的可靠性。采用蒙特卡洛</a:t>
                </a:r>
                <a:r>
                  <a:rPr kumimoji="0" lang="en-US" altLang="zh-CN" i="0" u="none" strike="noStrike" kern="1200" cap="none" spc="0" normalizeH="0" baseline="0" noProof="0" dirty="0">
                    <a:ln>
                      <a:noFill/>
                    </a:ln>
                    <a:solidFill>
                      <a:srgbClr val="000000"/>
                    </a:solidFill>
                    <a:effectLst/>
                    <a:uLnTx/>
                    <a:uFillTx/>
                    <a:cs typeface="+mn-ea"/>
                    <a:sym typeface="+mn-lt"/>
                  </a:rPr>
                  <a:t>Dropout</a:t>
                </a:r>
                <a:r>
                  <a:rPr kumimoji="0" lang="zh-CN" altLang="en-US" i="0" u="none" strike="noStrike" kern="1200" cap="none" spc="0" normalizeH="0" baseline="0" noProof="0" dirty="0">
                    <a:ln>
                      <a:noFill/>
                    </a:ln>
                    <a:solidFill>
                      <a:srgbClr val="000000"/>
                    </a:solidFill>
                    <a:effectLst/>
                    <a:uLnTx/>
                    <a:uFillTx/>
                    <a:cs typeface="+mn-ea"/>
                    <a:sym typeface="+mn-lt"/>
                  </a:rPr>
                  <a:t>、贝叶斯神经网络等方法，量化模型预测的不确定性，为</a:t>
                </a:r>
                <a:r>
                  <a:rPr kumimoji="0" lang="en-US" altLang="zh-CN" i="0" u="none" strike="noStrike" kern="1200" cap="none" spc="0" normalizeH="0" baseline="0" noProof="0" dirty="0">
                    <a:ln>
                      <a:noFill/>
                    </a:ln>
                    <a:solidFill>
                      <a:srgbClr val="000000"/>
                    </a:solidFill>
                    <a:effectLst/>
                    <a:uLnTx/>
                    <a:uFillTx/>
                    <a:cs typeface="+mn-ea"/>
                    <a:sym typeface="+mn-lt"/>
                  </a:rPr>
                  <a:t>LSC</a:t>
                </a:r>
                <a:r>
                  <a:rPr kumimoji="0" lang="zh-CN" altLang="en-US" i="0" u="none" strike="noStrike" kern="1200" cap="none" spc="0" normalizeH="0" baseline="0" noProof="0" dirty="0">
                    <a:ln>
                      <a:noFill/>
                    </a:ln>
                    <a:solidFill>
                      <a:srgbClr val="000000"/>
                    </a:solidFill>
                    <a:effectLst/>
                    <a:uLnTx/>
                    <a:uFillTx/>
                    <a:cs typeface="+mn-ea"/>
                    <a:sym typeface="+mn-lt"/>
                  </a:rPr>
                  <a:t>设计提供置信区间，指导实验验证的优先级排序。</a:t>
                </a:r>
              </a:p>
            </p:txBody>
          </p:sp>
          <p:sp>
            <p:nvSpPr>
              <p:cNvPr id="54" name="Bullet1">
                <a:extLst>
                  <a:ext uri="{FF2B5EF4-FFF2-40B4-BE49-F238E27FC236}">
                    <a16:creationId xmlns:a16="http://schemas.microsoft.com/office/drawing/2014/main" id="{369AFEF5-FFDE-5CF0-9A55-B9CBE8F51A7B}"/>
                  </a:ext>
                </a:extLst>
              </p:cNvPr>
              <p:cNvSpPr txBox="1"/>
              <p:nvPr/>
            </p:nvSpPr>
            <p:spPr>
              <a:xfrm>
                <a:off x="660401" y="1643022"/>
                <a:ext cx="4563532" cy="597160"/>
              </a:xfrm>
              <a:prstGeom prst="rect">
                <a:avLst/>
              </a:prstGeom>
              <a:noFill/>
            </p:spPr>
            <p:txBody>
              <a:bodyPr wrap="square" rtlCol="0" anchor="b" anchorCtr="0">
                <a:normAutofit/>
              </a:bodyPr>
              <a:lstStyle/>
              <a:p>
                <a:pPr>
                  <a:lnSpc>
                    <a:spcPct val="120000"/>
                  </a:lnSpc>
                </a:pPr>
                <a:r>
                  <a:rPr lang="zh-CN" altLang="en-US" sz="2400" b="1" dirty="0">
                    <a:solidFill>
                      <a:schemeClr val="accent1"/>
                    </a:solidFill>
                    <a:cs typeface="+mn-ea"/>
                    <a:sym typeface="+mn-lt"/>
                  </a:rPr>
                  <a:t>综合检验</a:t>
                </a:r>
              </a:p>
            </p:txBody>
          </p:sp>
        </p:grpSp>
      </p:grpSp>
      <p:pic>
        <p:nvPicPr>
          <p:cNvPr id="1026" name="Picture 2">
            <a:extLst>
              <a:ext uri="{FF2B5EF4-FFF2-40B4-BE49-F238E27FC236}">
                <a16:creationId xmlns:a16="http://schemas.microsoft.com/office/drawing/2014/main" id="{024A4595-9DA6-9C29-580A-62DE9034E30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27246"/>
          <a:stretch>
            <a:fillRect/>
          </a:stretch>
        </p:blipFill>
        <p:spPr bwMode="auto">
          <a:xfrm>
            <a:off x="6082748" y="1133061"/>
            <a:ext cx="5334000" cy="4989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81822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77419" y="598161"/>
            <a:ext cx="10825884" cy="5667826"/>
          </a:xfrm>
          <a:prstGeom prst="rect">
            <a:avLst/>
          </a:prstGeom>
          <a:blipFill dpi="0" rotWithShape="1">
            <a:blip r:embed="rId4">
              <a:alphaModFix amt="85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 name="组合 10"/>
          <p:cNvGrpSpPr/>
          <p:nvPr/>
        </p:nvGrpSpPr>
        <p:grpSpPr>
          <a:xfrm>
            <a:off x="5015410" y="1465053"/>
            <a:ext cx="2149901" cy="2149901"/>
            <a:chOff x="5015408" y="1196255"/>
            <a:chExt cx="2149901" cy="2149901"/>
          </a:xfrm>
        </p:grpSpPr>
        <p:sp>
          <p:nvSpPr>
            <p:cNvPr id="10" name="菱形 9"/>
            <p:cNvSpPr/>
            <p:nvPr/>
          </p:nvSpPr>
          <p:spPr bwMode="auto">
            <a:xfrm>
              <a:off x="5015408" y="1196255"/>
              <a:ext cx="2149901" cy="2149901"/>
            </a:xfrm>
            <a:prstGeom prst="diamond">
              <a:avLst/>
            </a:prstGeom>
            <a:solidFill>
              <a:srgbClr val="1A3172"/>
            </a:solidFill>
            <a:ln w="38100">
              <a:solidFill>
                <a:srgbClr val="1A3172"/>
              </a:solidFill>
            </a:ln>
          </p:spPr>
          <p:style>
            <a:lnRef idx="2">
              <a:schemeClr val="dk1"/>
            </a:lnRef>
            <a:fillRef idx="1">
              <a:schemeClr val="lt1"/>
            </a:fillRef>
            <a:effectRef idx="0">
              <a:schemeClr val="dk1"/>
            </a:effectRef>
            <a:fontRef idx="minor">
              <a:schemeClr val="dk1"/>
            </a:fontRef>
          </p:style>
          <p:txBody>
            <a:bodyPr wrap="none" rtlCol="0" anchor="ctr">
              <a:noAutofit/>
            </a:bodyPr>
            <a:lstStyle/>
            <a:p>
              <a:pPr algn="ctr"/>
              <a:endParaRPr lang="zh-CN" altLang="en-US" sz="2400" dirty="0">
                <a:solidFill>
                  <a:schemeClr val="tx1">
                    <a:lumMod val="85000"/>
                    <a:lumOff val="15000"/>
                  </a:schemeClr>
                </a:solidFill>
                <a:cs typeface="+mn-ea"/>
                <a:sym typeface="+mn-lt"/>
              </a:endParaRPr>
            </a:p>
          </p:txBody>
        </p:sp>
        <p:sp>
          <p:nvSpPr>
            <p:cNvPr id="7" name="矩形 6"/>
            <p:cNvSpPr/>
            <p:nvPr/>
          </p:nvSpPr>
          <p:spPr>
            <a:xfrm>
              <a:off x="5465056" y="1671042"/>
              <a:ext cx="1261884" cy="1200329"/>
            </a:xfrm>
            <a:prstGeom prst="rect">
              <a:avLst/>
            </a:prstGeom>
          </p:spPr>
          <p:txBody>
            <a:bodyPr wrap="none">
              <a:spAutoFit/>
            </a:bodyPr>
            <a:lstStyle/>
            <a:p>
              <a:pPr lvl="0" algn="ctr"/>
              <a:r>
                <a:rPr lang="en-US" altLang="zh-CN" sz="7200" b="1" spc="600" dirty="0">
                  <a:solidFill>
                    <a:schemeClr val="bg1"/>
                  </a:solidFill>
                  <a:cs typeface="+mn-ea"/>
                  <a:sym typeface="+mn-lt"/>
                </a:rPr>
                <a:t>04</a:t>
              </a:r>
              <a:endParaRPr lang="zh-CN" altLang="en-US" sz="7200" b="1" spc="600" dirty="0">
                <a:solidFill>
                  <a:schemeClr val="bg1"/>
                </a:solidFill>
                <a:cs typeface="+mn-ea"/>
                <a:sym typeface="+mn-lt"/>
              </a:endParaRPr>
            </a:p>
          </p:txBody>
        </p:sp>
      </p:grpSp>
      <p:sp>
        <p:nvSpPr>
          <p:cNvPr id="8" name="矩形 7"/>
          <p:cNvSpPr/>
          <p:nvPr/>
        </p:nvSpPr>
        <p:spPr>
          <a:xfrm>
            <a:off x="2960980" y="3718091"/>
            <a:ext cx="6260098" cy="1191993"/>
          </a:xfrm>
          <a:prstGeom prst="rect">
            <a:avLst/>
          </a:prstGeom>
        </p:spPr>
        <p:txBody>
          <a:bodyPr wrap="square">
            <a:spAutoFit/>
          </a:bodyPr>
          <a:lstStyle/>
          <a:p>
            <a:pPr algn="ctr">
              <a:lnSpc>
                <a:spcPct val="150000"/>
              </a:lnSpc>
            </a:pPr>
            <a:r>
              <a:rPr lang="zh-CN" altLang="en-US" sz="5400" b="1" spc="600" dirty="0">
                <a:solidFill>
                  <a:schemeClr val="tx1">
                    <a:lumMod val="85000"/>
                    <a:lumOff val="15000"/>
                  </a:schemeClr>
                </a:solidFill>
                <a:cs typeface="+mn-ea"/>
                <a:sym typeface="+mn-lt"/>
              </a:rPr>
              <a:t>详细实现</a:t>
            </a:r>
          </a:p>
        </p:txBody>
      </p:sp>
      <p:sp>
        <p:nvSpPr>
          <p:cNvPr id="17" name="矩形 16"/>
          <p:cNvSpPr/>
          <p:nvPr/>
        </p:nvSpPr>
        <p:spPr>
          <a:xfrm>
            <a:off x="2960980" y="4910084"/>
            <a:ext cx="6281320" cy="377411"/>
          </a:xfrm>
          <a:prstGeom prst="rect">
            <a:avLst/>
          </a:prstGeom>
        </p:spPr>
        <p:txBody>
          <a:bodyPr wrap="square">
            <a:spAutoFit/>
          </a:bodyPr>
          <a:lstStyle/>
          <a:p>
            <a:pPr algn="ctr">
              <a:lnSpc>
                <a:spcPct val="150000"/>
              </a:lnSpc>
            </a:pPr>
            <a:r>
              <a:rPr lang="en-US" altLang="zh-CN" sz="1400" dirty="0">
                <a:solidFill>
                  <a:schemeClr val="tx1">
                    <a:lumMod val="85000"/>
                    <a:lumOff val="15000"/>
                  </a:schemeClr>
                </a:solidFill>
                <a:cs typeface="+mn-ea"/>
                <a:sym typeface="+mn-lt"/>
              </a:rPr>
              <a:t>Detailed implementation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1" presetClass="entr" presetSubtype="1"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2000"/>
                                        <p:tgtEl>
                                          <p:spTgt spid="11"/>
                                        </p:tgtEl>
                                      </p:cBhvr>
                                    </p:animEffect>
                                  </p:childTnLst>
                                </p:cTn>
                              </p:par>
                            </p:childTnLst>
                          </p:cTn>
                        </p:par>
                        <p:par>
                          <p:cTn id="14" fill="hold">
                            <p:stCondLst>
                              <p:cond delay="3000"/>
                            </p:stCondLst>
                            <p:childTnLst>
                              <p:par>
                                <p:cTn id="15" presetID="42"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par>
                          <p:cTn id="20" fill="hold">
                            <p:stCondLst>
                              <p:cond delay="4000"/>
                            </p:stCondLst>
                            <p:childTnLst>
                              <p:par>
                                <p:cTn id="21" presetID="42" presetClass="entr" presetSubtype="0"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1000"/>
                                        <p:tgtEl>
                                          <p:spTgt spid="17"/>
                                        </p:tgtEl>
                                      </p:cBhvr>
                                    </p:animEffect>
                                    <p:anim calcmode="lin" valueType="num">
                                      <p:cBhvr>
                                        <p:cTn id="24" dur="1000" fill="hold"/>
                                        <p:tgtEl>
                                          <p:spTgt spid="17"/>
                                        </p:tgtEl>
                                        <p:attrNameLst>
                                          <p:attrName>ppt_x</p:attrName>
                                        </p:attrNameLst>
                                      </p:cBhvr>
                                      <p:tavLst>
                                        <p:tav tm="0">
                                          <p:val>
                                            <p:strVal val="#ppt_x"/>
                                          </p:val>
                                        </p:tav>
                                        <p:tav tm="100000">
                                          <p:val>
                                            <p:strVal val="#ppt_x"/>
                                          </p:val>
                                        </p:tav>
                                      </p:tavLst>
                                    </p:anim>
                                    <p:anim calcmode="lin" valueType="num">
                                      <p:cBhvr>
                                        <p:cTn id="2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bwMode="auto">
          <a:xfrm>
            <a:off x="6486559" y="1123949"/>
            <a:ext cx="5035517" cy="5546233"/>
          </a:xfrm>
          <a:prstGeom prst="rect">
            <a:avLst/>
          </a:prstGeom>
          <a:solidFill>
            <a:schemeClr val="bg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cs typeface="+mn-ea"/>
              <a:sym typeface="+mn-lt"/>
            </a:endParaRPr>
          </a:p>
        </p:txBody>
      </p:sp>
      <p:sp>
        <p:nvSpPr>
          <p:cNvPr id="7" name="矩形 6"/>
          <p:cNvSpPr/>
          <p:nvPr/>
        </p:nvSpPr>
        <p:spPr bwMode="auto">
          <a:xfrm>
            <a:off x="629284" y="1123950"/>
            <a:ext cx="5035517" cy="5546233"/>
          </a:xfrm>
          <a:prstGeom prst="rect">
            <a:avLst/>
          </a:prstGeom>
          <a:solidFill>
            <a:schemeClr val="bg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cs typeface="+mn-ea"/>
              <a:sym typeface="+mn-lt"/>
            </a:endParaRPr>
          </a:p>
        </p:txBody>
      </p:sp>
      <p:sp>
        <p:nvSpPr>
          <p:cNvPr id="4" name="işḷïḋê"/>
          <p:cNvSpPr/>
          <p:nvPr/>
        </p:nvSpPr>
        <p:spPr bwMode="auto">
          <a:xfrm>
            <a:off x="669924" y="1123950"/>
            <a:ext cx="5027848" cy="1810049"/>
          </a:xfrm>
          <a:prstGeom prst="rect">
            <a:avLst/>
          </a:prstGeom>
          <a:solidFill>
            <a:srgbClr val="1A3172"/>
          </a:solidFill>
          <a:ln>
            <a:noFill/>
          </a:ln>
        </p:spPr>
        <p:txBody>
          <a:bodyPr wrap="square" lIns="90000" tIns="46800" rIns="90000" bIns="46800" rtlCol="0">
            <a:normAutofit/>
          </a:bodyPr>
          <a:lstStyle/>
          <a:p>
            <a:pPr marL="0" marR="0" lvl="0" indent="0" algn="ctr" defTabSz="913765"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FFFFFF"/>
              </a:solidFill>
              <a:effectLst/>
              <a:uLnTx/>
              <a:uFillTx/>
              <a:cs typeface="+mn-ea"/>
              <a:sym typeface="+mn-lt"/>
            </a:endParaRPr>
          </a:p>
        </p:txBody>
      </p:sp>
      <p:sp>
        <p:nvSpPr>
          <p:cNvPr id="14" name="işḷïḋê"/>
          <p:cNvSpPr/>
          <p:nvPr/>
        </p:nvSpPr>
        <p:spPr bwMode="auto">
          <a:xfrm>
            <a:off x="6492639" y="1123950"/>
            <a:ext cx="5027848" cy="1810049"/>
          </a:xfrm>
          <a:prstGeom prst="rect">
            <a:avLst/>
          </a:prstGeom>
          <a:solidFill>
            <a:srgbClr val="1A3172"/>
          </a:solidFill>
          <a:ln>
            <a:noFill/>
          </a:ln>
        </p:spPr>
        <p:txBody>
          <a:bodyPr wrap="square" lIns="90000" tIns="46800" rIns="90000" bIns="46800" rtlCol="0">
            <a:normAutofit/>
          </a:bodyPr>
          <a:lstStyle/>
          <a:p>
            <a:pPr marL="0" marR="0" lvl="0" indent="0" algn="ctr" defTabSz="913765"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FFFFFF"/>
              </a:solidFill>
              <a:effectLst/>
              <a:uLnTx/>
              <a:uFillTx/>
              <a:cs typeface="+mn-ea"/>
              <a:sym typeface="+mn-lt"/>
            </a:endParaRPr>
          </a:p>
        </p:txBody>
      </p:sp>
      <p:sp>
        <p:nvSpPr>
          <p:cNvPr id="9" name="矩形 8"/>
          <p:cNvSpPr/>
          <p:nvPr/>
        </p:nvSpPr>
        <p:spPr bwMode="auto">
          <a:xfrm>
            <a:off x="617441" y="3387790"/>
            <a:ext cx="5022489" cy="587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cs typeface="+mn-ea"/>
                <a:sym typeface="+mn-lt"/>
              </a:rPr>
              <a:t>多因素耦合下的光学效率精准预测难题</a:t>
            </a:r>
            <a:endParaRPr kumimoji="0" lang="en-US" altLang="zh-CN" sz="2000" b="0" i="0" u="none" strike="noStrike" kern="1200" cap="none" spc="0" normalizeH="0" baseline="0" noProof="0" dirty="0">
              <a:ln>
                <a:noFill/>
              </a:ln>
              <a:solidFill>
                <a:srgbClr val="000000"/>
              </a:solidFill>
              <a:effectLst/>
              <a:uLnTx/>
              <a:uFillTx/>
              <a:cs typeface="+mn-ea"/>
              <a:sym typeface="+mn-lt"/>
            </a:endParaRPr>
          </a:p>
        </p:txBody>
      </p:sp>
      <p:sp>
        <p:nvSpPr>
          <p:cNvPr id="16" name="矩形 15"/>
          <p:cNvSpPr/>
          <p:nvPr/>
        </p:nvSpPr>
        <p:spPr bwMode="auto">
          <a:xfrm>
            <a:off x="6427128" y="3387790"/>
            <a:ext cx="5022489" cy="587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lvl="0" indent="-171450">
              <a:lnSpc>
                <a:spcPct val="150000"/>
              </a:lnSpc>
              <a:buFont typeface="Arial" panose="020B0604020202020204" pitchFamily="34" charset="0"/>
              <a:buChar char="•"/>
              <a:defRPr/>
            </a:pPr>
            <a:r>
              <a:rPr lang="zh-CN" altLang="en-US" sz="2000" dirty="0">
                <a:solidFill>
                  <a:srgbClr val="000000"/>
                </a:solidFill>
                <a:cs typeface="+mn-ea"/>
                <a:sym typeface="+mn-lt"/>
              </a:rPr>
              <a:t>建立高精度预测模型体系</a:t>
            </a:r>
            <a:endParaRPr lang="en-US" altLang="zh-CN" sz="2000" dirty="0">
              <a:solidFill>
                <a:srgbClr val="000000"/>
              </a:solidFill>
              <a:cs typeface="+mn-ea"/>
              <a:sym typeface="+mn-lt"/>
            </a:endParaRPr>
          </a:p>
        </p:txBody>
      </p:sp>
      <p:sp>
        <p:nvSpPr>
          <p:cNvPr id="5" name="文本框 4"/>
          <p:cNvSpPr txBox="1"/>
          <p:nvPr/>
        </p:nvSpPr>
        <p:spPr>
          <a:xfrm>
            <a:off x="2441348" y="2018901"/>
            <a:ext cx="1485000" cy="588331"/>
          </a:xfrm>
          <a:prstGeom prst="rect">
            <a:avLst/>
          </a:prstGeom>
          <a:noFill/>
        </p:spPr>
        <p:txBody>
          <a:bodyPr wrap="none" lIns="90000" tIns="46800" rIns="90000" bIns="46800" rtlCol="0" anchor="ctr" anchorCtr="0">
            <a:norm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FFFFFF"/>
                </a:solidFill>
                <a:effectLst/>
                <a:uLnTx/>
                <a:uFillTx/>
                <a:cs typeface="+mn-ea"/>
                <a:sym typeface="+mn-lt"/>
              </a:rPr>
              <a:t>关键问题</a:t>
            </a:r>
            <a:endParaRPr kumimoji="0" lang="en-US" altLang="zh-CN" sz="2000" b="1" i="0" u="none" strike="noStrike" kern="1200" cap="none" spc="0" normalizeH="0" baseline="0" noProof="0" dirty="0">
              <a:ln>
                <a:noFill/>
              </a:ln>
              <a:solidFill>
                <a:srgbClr val="FFFFFF"/>
              </a:solidFill>
              <a:effectLst/>
              <a:uLnTx/>
              <a:uFillTx/>
              <a:cs typeface="+mn-ea"/>
              <a:sym typeface="+mn-lt"/>
            </a:endParaRPr>
          </a:p>
        </p:txBody>
      </p:sp>
      <p:sp>
        <p:nvSpPr>
          <p:cNvPr id="6" name="任意多边形 77"/>
          <p:cNvSpPr/>
          <p:nvPr/>
        </p:nvSpPr>
        <p:spPr bwMode="auto">
          <a:xfrm>
            <a:off x="2879006" y="1450717"/>
            <a:ext cx="609685" cy="493484"/>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chemeClr val="bg1"/>
          </a:solidFill>
          <a:ln>
            <a:noFill/>
          </a:ln>
        </p:spPr>
        <p:txBody>
          <a:bodyPr/>
          <a:lstStyle/>
          <a:p>
            <a:endParaRPr lang="zh-CN" altLang="en-US">
              <a:cs typeface="+mn-ea"/>
              <a:sym typeface="+mn-lt"/>
            </a:endParaRPr>
          </a:p>
        </p:txBody>
      </p:sp>
      <p:sp>
        <p:nvSpPr>
          <p:cNvPr id="19" name="文本框 18"/>
          <p:cNvSpPr txBox="1"/>
          <p:nvPr/>
        </p:nvSpPr>
        <p:spPr>
          <a:xfrm>
            <a:off x="8264063" y="2018901"/>
            <a:ext cx="1485000" cy="588331"/>
          </a:xfrm>
          <a:prstGeom prst="rect">
            <a:avLst/>
          </a:prstGeom>
          <a:noFill/>
        </p:spPr>
        <p:txBody>
          <a:bodyPr wrap="none" lIns="90000" tIns="46800" rIns="90000" bIns="46800" rtlCol="0" anchor="ctr" anchorCtr="0">
            <a:norm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lang="zh-CN" altLang="en-US" sz="2000" b="1" dirty="0">
                <a:solidFill>
                  <a:srgbClr val="FFFFFF"/>
                </a:solidFill>
                <a:cs typeface="+mn-ea"/>
                <a:sym typeface="+mn-lt"/>
              </a:rPr>
              <a:t>最终目标</a:t>
            </a:r>
            <a:endParaRPr kumimoji="0" lang="en-US" altLang="zh-CN" sz="2000" b="1" i="0" u="none" strike="noStrike" kern="1200" cap="none" spc="0" normalizeH="0" baseline="0" noProof="0" dirty="0">
              <a:ln>
                <a:noFill/>
              </a:ln>
              <a:solidFill>
                <a:srgbClr val="FFFFFF"/>
              </a:solidFill>
              <a:effectLst/>
              <a:uLnTx/>
              <a:uFillTx/>
              <a:cs typeface="+mn-ea"/>
              <a:sym typeface="+mn-lt"/>
            </a:endParaRPr>
          </a:p>
        </p:txBody>
      </p:sp>
      <p:sp>
        <p:nvSpPr>
          <p:cNvPr id="20" name="任意多边形 77"/>
          <p:cNvSpPr/>
          <p:nvPr/>
        </p:nvSpPr>
        <p:spPr bwMode="auto">
          <a:xfrm>
            <a:off x="8701721" y="1450717"/>
            <a:ext cx="609685" cy="493484"/>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chemeClr val="bg1"/>
          </a:solidFill>
          <a:ln>
            <a:noFill/>
          </a:ln>
        </p:spPr>
        <p:txBody>
          <a:bodyPr/>
          <a:lstStyle/>
          <a:p>
            <a:endParaRPr lang="zh-CN" altLang="en-US">
              <a:cs typeface="+mn-ea"/>
              <a:sym typeface="+mn-lt"/>
            </a:endParaRPr>
          </a:p>
        </p:txBody>
      </p:sp>
      <p:sp>
        <p:nvSpPr>
          <p:cNvPr id="51" name="矩形 50"/>
          <p:cNvSpPr/>
          <p:nvPr/>
        </p:nvSpPr>
        <p:spPr bwMode="auto">
          <a:xfrm>
            <a:off x="617440" y="4059285"/>
            <a:ext cx="5022489" cy="587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cs typeface="+mn-ea"/>
                <a:sym typeface="+mn-lt"/>
              </a:rPr>
              <a:t>小样本数据下的模型泛化能力不足</a:t>
            </a:r>
            <a:endParaRPr kumimoji="0" lang="en-US" altLang="zh-CN" sz="2000" b="0" i="0" u="none" strike="noStrike" kern="1200" cap="none" spc="0" normalizeH="0" baseline="0" noProof="0" dirty="0">
              <a:ln>
                <a:noFill/>
              </a:ln>
              <a:solidFill>
                <a:srgbClr val="000000"/>
              </a:solidFill>
              <a:effectLst/>
              <a:uLnTx/>
              <a:uFillTx/>
              <a:cs typeface="+mn-ea"/>
              <a:sym typeface="+mn-lt"/>
            </a:endParaRPr>
          </a:p>
        </p:txBody>
      </p:sp>
      <p:cxnSp>
        <p:nvCxnSpPr>
          <p:cNvPr id="49" name="直接连接符 48"/>
          <p:cNvCxnSpPr/>
          <p:nvPr/>
        </p:nvCxnSpPr>
        <p:spPr>
          <a:xfrm>
            <a:off x="617440" y="3960105"/>
            <a:ext cx="10832178"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1" name="矩形 20"/>
          <p:cNvSpPr/>
          <p:nvPr/>
        </p:nvSpPr>
        <p:spPr bwMode="auto">
          <a:xfrm>
            <a:off x="617441" y="4730780"/>
            <a:ext cx="5022489" cy="587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cs typeface="+mn-ea"/>
                <a:sym typeface="+mn-lt"/>
              </a:rPr>
              <a:t>模型可解释性与物理规律融合问题</a:t>
            </a:r>
            <a:endParaRPr kumimoji="0" lang="en-US" altLang="zh-CN" sz="2000" b="0" i="0" u="none" strike="noStrike" kern="1200" cap="none" spc="0" normalizeH="0" baseline="0" noProof="0" dirty="0">
              <a:ln>
                <a:noFill/>
              </a:ln>
              <a:solidFill>
                <a:srgbClr val="000000"/>
              </a:solidFill>
              <a:effectLst/>
              <a:uLnTx/>
              <a:uFillTx/>
              <a:cs typeface="+mn-ea"/>
              <a:sym typeface="+mn-lt"/>
            </a:endParaRPr>
          </a:p>
        </p:txBody>
      </p:sp>
      <p:sp>
        <p:nvSpPr>
          <p:cNvPr id="22" name="矩形 21"/>
          <p:cNvSpPr/>
          <p:nvPr/>
        </p:nvSpPr>
        <p:spPr bwMode="auto">
          <a:xfrm>
            <a:off x="6427128" y="4730780"/>
            <a:ext cx="5022489" cy="587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cs typeface="+mn-ea"/>
                <a:sym typeface="+mn-lt"/>
              </a:rPr>
              <a:t>实现实验验证与性能提升</a:t>
            </a:r>
            <a:endParaRPr kumimoji="0" lang="en-US" altLang="zh-CN" sz="2000" b="0" i="0" u="none" strike="noStrike" kern="1200" cap="none" spc="0" normalizeH="0" baseline="0" noProof="0" dirty="0">
              <a:ln>
                <a:noFill/>
              </a:ln>
              <a:solidFill>
                <a:srgbClr val="000000"/>
              </a:solidFill>
              <a:effectLst/>
              <a:uLnTx/>
              <a:uFillTx/>
              <a:cs typeface="+mn-ea"/>
              <a:sym typeface="+mn-lt"/>
            </a:endParaRPr>
          </a:p>
        </p:txBody>
      </p:sp>
      <p:sp>
        <p:nvSpPr>
          <p:cNvPr id="23" name="矩形 22"/>
          <p:cNvSpPr/>
          <p:nvPr/>
        </p:nvSpPr>
        <p:spPr bwMode="auto">
          <a:xfrm>
            <a:off x="617441" y="5402275"/>
            <a:ext cx="5022489" cy="587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cs typeface="+mn-ea"/>
                <a:sym typeface="+mn-lt"/>
              </a:rPr>
              <a:t>逆向设计中的多目标优化挑战</a:t>
            </a:r>
            <a:endParaRPr kumimoji="0" lang="en-US" altLang="zh-CN" sz="2000" b="0" i="0" u="none" strike="noStrike" kern="1200" cap="none" spc="0" normalizeH="0" baseline="0" noProof="0" dirty="0">
              <a:ln>
                <a:noFill/>
              </a:ln>
              <a:solidFill>
                <a:srgbClr val="000000"/>
              </a:solidFill>
              <a:effectLst/>
              <a:uLnTx/>
              <a:uFillTx/>
              <a:cs typeface="+mn-ea"/>
              <a:sym typeface="+mn-lt"/>
            </a:endParaRPr>
          </a:p>
        </p:txBody>
      </p:sp>
      <p:cxnSp>
        <p:nvCxnSpPr>
          <p:cNvPr id="25" name="直接连接符 24"/>
          <p:cNvCxnSpPr/>
          <p:nvPr/>
        </p:nvCxnSpPr>
        <p:spPr>
          <a:xfrm>
            <a:off x="617440" y="5265881"/>
            <a:ext cx="10832178"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88310" y="4740890"/>
            <a:ext cx="10832178"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688310" y="6046666"/>
            <a:ext cx="10832178"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1245909" y="261331"/>
            <a:ext cx="5154891" cy="663575"/>
          </a:xfrm>
        </p:spPr>
        <p:txBody>
          <a:bodyPr/>
          <a:lstStyle/>
          <a:p>
            <a:r>
              <a:rPr lang="zh-CN" altLang="en-US" sz="2800" dirty="0">
                <a:latin typeface="+mn-lt"/>
                <a:ea typeface="+mn-ea"/>
                <a:cs typeface="+mn-ea"/>
                <a:sym typeface="+mn-lt"/>
              </a:rPr>
              <a:t>拟解决的关键问题和最终目标</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341437" y="232504"/>
            <a:ext cx="10850563" cy="663575"/>
          </a:xfrm>
        </p:spPr>
        <p:txBody>
          <a:bodyPr/>
          <a:lstStyle/>
          <a:p>
            <a:r>
              <a:rPr lang="zh-CN" altLang="en-US" sz="2800" dirty="0">
                <a:latin typeface="+mn-lt"/>
                <a:ea typeface="+mn-ea"/>
                <a:cs typeface="+mn-ea"/>
                <a:sym typeface="+mn-lt"/>
              </a:rPr>
              <a:t>主要理论</a:t>
            </a:r>
          </a:p>
        </p:txBody>
      </p:sp>
      <p:pic>
        <p:nvPicPr>
          <p:cNvPr id="11" name="图片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11230" y="0"/>
            <a:ext cx="1180770" cy="1174982"/>
          </a:xfrm>
          <a:prstGeom prst="rect">
            <a:avLst/>
          </a:prstGeom>
        </p:spPr>
      </p:pic>
      <p:grpSp>
        <p:nvGrpSpPr>
          <p:cNvPr id="2" name="组合 1">
            <a:extLst>
              <a:ext uri="{FF2B5EF4-FFF2-40B4-BE49-F238E27FC236}">
                <a16:creationId xmlns:a16="http://schemas.microsoft.com/office/drawing/2014/main" id="{24C163E4-7480-EFAE-C448-66994C79B111}"/>
              </a:ext>
            </a:extLst>
          </p:cNvPr>
          <p:cNvGrpSpPr/>
          <p:nvPr/>
        </p:nvGrpSpPr>
        <p:grpSpPr>
          <a:xfrm>
            <a:off x="0" y="1028700"/>
            <a:ext cx="12192000" cy="5829300"/>
            <a:chOff x="0" y="1028700"/>
            <a:chExt cx="12192000" cy="5829300"/>
          </a:xfrm>
        </p:grpSpPr>
        <p:sp>
          <p:nvSpPr>
            <p:cNvPr id="5" name="Title">
              <a:extLst>
                <a:ext uri="{FF2B5EF4-FFF2-40B4-BE49-F238E27FC236}">
                  <a16:creationId xmlns:a16="http://schemas.microsoft.com/office/drawing/2014/main" id="{2F8C73ED-D52E-039D-AA38-D5EC74723681}"/>
                </a:ext>
              </a:extLst>
            </p:cNvPr>
            <p:cNvSpPr>
              <a:spLocks noChangeAspect="1"/>
            </p:cNvSpPr>
            <p:nvPr/>
          </p:nvSpPr>
          <p:spPr>
            <a:xfrm>
              <a:off x="660400" y="1028700"/>
              <a:ext cx="10858500" cy="8900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chorCtr="0">
              <a:normAutofit lnSpcReduction="10000"/>
            </a:bodyPr>
            <a:lstStyle/>
            <a:p>
              <a:pPr algn="ctr">
                <a:buSzPct val="25000"/>
              </a:pPr>
              <a:r>
                <a:rPr lang="en-US" altLang="zh-CN" sz="5400" b="1" dirty="0">
                  <a:solidFill>
                    <a:schemeClr val="tx1"/>
                  </a:solidFill>
                  <a:cs typeface="+mn-ea"/>
                  <a:sym typeface="+mn-lt"/>
                </a:rPr>
                <a:t>Main theory</a:t>
              </a:r>
            </a:p>
          </p:txBody>
        </p:sp>
        <p:sp>
          <p:nvSpPr>
            <p:cNvPr id="7" name="任意多边形: 形状 6">
              <a:extLst>
                <a:ext uri="{FF2B5EF4-FFF2-40B4-BE49-F238E27FC236}">
                  <a16:creationId xmlns:a16="http://schemas.microsoft.com/office/drawing/2014/main" id="{BAA0B094-8878-BDAB-BDEC-B978F64101E3}"/>
                </a:ext>
              </a:extLst>
            </p:cNvPr>
            <p:cNvSpPr/>
            <p:nvPr/>
          </p:nvSpPr>
          <p:spPr>
            <a:xfrm>
              <a:off x="0" y="5956300"/>
              <a:ext cx="12192000" cy="901700"/>
            </a:xfrm>
            <a:custGeom>
              <a:avLst/>
              <a:gdLst>
                <a:gd name="connsiteX0" fmla="*/ 0 w 12192000"/>
                <a:gd name="connsiteY0" fmla="*/ 0 h 901700"/>
                <a:gd name="connsiteX1" fmla="*/ 113619 w 12192000"/>
                <a:gd name="connsiteY1" fmla="*/ 27365 h 901700"/>
                <a:gd name="connsiteX2" fmla="*/ 6096000 w 12192000"/>
                <a:gd name="connsiteY2" fmla="*/ 578634 h 901700"/>
                <a:gd name="connsiteX3" fmla="*/ 12078382 w 12192000"/>
                <a:gd name="connsiteY3" fmla="*/ 27365 h 901700"/>
                <a:gd name="connsiteX4" fmla="*/ 12192000 w 12192000"/>
                <a:gd name="connsiteY4" fmla="*/ 0 h 901700"/>
                <a:gd name="connsiteX5" fmla="*/ 12192000 w 12192000"/>
                <a:gd name="connsiteY5" fmla="*/ 636181 h 901700"/>
                <a:gd name="connsiteX6" fmla="*/ 12192000 w 12192000"/>
                <a:gd name="connsiteY6" fmla="*/ 689546 h 901700"/>
                <a:gd name="connsiteX7" fmla="*/ 12192000 w 12192000"/>
                <a:gd name="connsiteY7" fmla="*/ 901700 h 901700"/>
                <a:gd name="connsiteX8" fmla="*/ 0 w 12192000"/>
                <a:gd name="connsiteY8" fmla="*/ 901700 h 901700"/>
                <a:gd name="connsiteX9" fmla="*/ 0 w 12192000"/>
                <a:gd name="connsiteY9" fmla="*/ 689546 h 901700"/>
                <a:gd name="connsiteX10" fmla="*/ 0 w 12192000"/>
                <a:gd name="connsiteY10" fmla="*/ 636181 h 90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901700">
                  <a:moveTo>
                    <a:pt x="0" y="0"/>
                  </a:moveTo>
                  <a:lnTo>
                    <a:pt x="113619" y="27365"/>
                  </a:lnTo>
                  <a:cubicBezTo>
                    <a:pt x="1598808" y="366267"/>
                    <a:pt x="3729248" y="578634"/>
                    <a:pt x="6096000" y="578634"/>
                  </a:cubicBezTo>
                  <a:cubicBezTo>
                    <a:pt x="8462754" y="578634"/>
                    <a:pt x="10593193" y="366267"/>
                    <a:pt x="12078382" y="27365"/>
                  </a:cubicBezTo>
                  <a:lnTo>
                    <a:pt x="12192000" y="0"/>
                  </a:lnTo>
                  <a:lnTo>
                    <a:pt x="12192000" y="636181"/>
                  </a:lnTo>
                  <a:lnTo>
                    <a:pt x="12192000" y="689546"/>
                  </a:lnTo>
                  <a:lnTo>
                    <a:pt x="12192000" y="901700"/>
                  </a:lnTo>
                  <a:lnTo>
                    <a:pt x="0" y="901700"/>
                  </a:lnTo>
                  <a:lnTo>
                    <a:pt x="0" y="689546"/>
                  </a:lnTo>
                  <a:lnTo>
                    <a:pt x="0" y="636181"/>
                  </a:lnTo>
                  <a:close/>
                </a:path>
              </a:pathLst>
            </a:custGeom>
            <a:gradFill flip="none" rotWithShape="1">
              <a:gsLst>
                <a:gs pos="50000">
                  <a:schemeClr val="accent1"/>
                </a:gs>
                <a:gs pos="100000">
                  <a:schemeClr val="accent1">
                    <a:lumMod val="60000"/>
                    <a:lumOff val="4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grpSp>
          <p:nvGrpSpPr>
            <p:cNvPr id="13" name="组合 12">
              <a:extLst>
                <a:ext uri="{FF2B5EF4-FFF2-40B4-BE49-F238E27FC236}">
                  <a16:creationId xmlns:a16="http://schemas.microsoft.com/office/drawing/2014/main" id="{E2E0D5F5-6317-904B-2F6E-5C7B31C73B8A}"/>
                </a:ext>
              </a:extLst>
            </p:cNvPr>
            <p:cNvGrpSpPr/>
            <p:nvPr/>
          </p:nvGrpSpPr>
          <p:grpSpPr>
            <a:xfrm>
              <a:off x="759387" y="2159155"/>
              <a:ext cx="3193635" cy="1854885"/>
              <a:chOff x="759388" y="2241199"/>
              <a:chExt cx="2583886" cy="1500739"/>
            </a:xfrm>
          </p:grpSpPr>
          <p:sp>
            <p:nvSpPr>
              <p:cNvPr id="36" name="Shape1">
                <a:extLst>
                  <a:ext uri="{FF2B5EF4-FFF2-40B4-BE49-F238E27FC236}">
                    <a16:creationId xmlns:a16="http://schemas.microsoft.com/office/drawing/2014/main" id="{A668A230-648E-7642-7431-1944D3CD12E6}"/>
                  </a:ext>
                </a:extLst>
              </p:cNvPr>
              <p:cNvSpPr>
                <a:spLocks noChangeAspect="1"/>
              </p:cNvSpPr>
              <p:nvPr/>
            </p:nvSpPr>
            <p:spPr>
              <a:xfrm rot="21258185" flipH="1">
                <a:off x="759388" y="2566620"/>
                <a:ext cx="2508607" cy="1156232"/>
              </a:xfrm>
              <a:prstGeom prst="roundRect">
                <a:avLst>
                  <a:gd name="adj" fmla="val 5391"/>
                </a:avLst>
              </a:prstGeom>
              <a:solidFill>
                <a:schemeClr val="accent1"/>
              </a:solidFill>
              <a:ln w="6350">
                <a:noFill/>
              </a:ln>
              <a:effectLst>
                <a:outerShdw blurRad="152400" dist="38100" dir="8100000" algn="tr" rotWithShape="0">
                  <a:schemeClr val="accent1">
                    <a:alpha val="2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ComponentBackground1">
                <a:extLst>
                  <a:ext uri="{FF2B5EF4-FFF2-40B4-BE49-F238E27FC236}">
                    <a16:creationId xmlns:a16="http://schemas.microsoft.com/office/drawing/2014/main" id="{CA2EBBC7-1B40-7882-9535-BB930E66735D}"/>
                  </a:ext>
                </a:extLst>
              </p:cNvPr>
              <p:cNvSpPr>
                <a:spLocks noChangeAspect="1"/>
              </p:cNvSpPr>
              <p:nvPr/>
            </p:nvSpPr>
            <p:spPr>
              <a:xfrm flipH="1">
                <a:off x="834667" y="2585706"/>
                <a:ext cx="2508607" cy="1156232"/>
              </a:xfrm>
              <a:prstGeom prst="roundRect">
                <a:avLst>
                  <a:gd name="adj" fmla="val 5391"/>
                </a:avLst>
              </a:prstGeom>
              <a:gradFill flip="none" rotWithShape="1">
                <a:gsLst>
                  <a:gs pos="0">
                    <a:srgbClr val="FFFFFF"/>
                  </a:gs>
                  <a:gs pos="100000">
                    <a:schemeClr val="accent1">
                      <a:lumMod val="40000"/>
                      <a:lumOff val="60000"/>
                    </a:schemeClr>
                  </a:gs>
                </a:gsLst>
                <a:lin ang="8100000" scaled="1"/>
                <a:tileRect/>
              </a:gradFill>
              <a:ln w="12700">
                <a:solidFill>
                  <a:srgbClr val="FFFFFF"/>
                </a:solidFill>
              </a:ln>
              <a:effectLst>
                <a:outerShdw blurRad="152400" dist="38100" dir="8100000" algn="tr" rotWithShape="0">
                  <a:schemeClr val="accent1">
                    <a:alpha val="2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8" name="Number1">
                <a:extLst>
                  <a:ext uri="{FF2B5EF4-FFF2-40B4-BE49-F238E27FC236}">
                    <a16:creationId xmlns:a16="http://schemas.microsoft.com/office/drawing/2014/main" id="{87274CD6-5C9C-AEAA-57CB-4B088681DD0F}"/>
                  </a:ext>
                </a:extLst>
              </p:cNvPr>
              <p:cNvSpPr/>
              <p:nvPr/>
            </p:nvSpPr>
            <p:spPr>
              <a:xfrm flipH="1">
                <a:off x="1098451" y="2241199"/>
                <a:ext cx="562975" cy="562975"/>
              </a:xfrm>
              <a:prstGeom prst="ellipse">
                <a:avLst/>
              </a:prstGeom>
              <a:gradFill flip="none" rotWithShape="1">
                <a:gsLst>
                  <a:gs pos="0">
                    <a:schemeClr val="accent1">
                      <a:lumMod val="60000"/>
                      <a:lumOff val="40000"/>
                    </a:schemeClr>
                  </a:gs>
                  <a:gs pos="49000">
                    <a:schemeClr val="accent1"/>
                  </a:gs>
                </a:gsLst>
                <a:path path="circle">
                  <a:fillToRect l="100000" b="100000"/>
                </a:path>
                <a:tileRect t="-100000" r="-100000"/>
              </a:gradFill>
              <a:ln>
                <a:noFill/>
              </a:ln>
              <a:effectLst>
                <a:outerShdw blurRad="177800" dist="381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dirty="0">
                    <a:cs typeface="+mn-ea"/>
                    <a:sym typeface="+mn-lt"/>
                  </a:rPr>
                  <a:t>1</a:t>
                </a:r>
                <a:endParaRPr lang="zh-CN" altLang="en-US" b="1" dirty="0">
                  <a:cs typeface="+mn-ea"/>
                  <a:sym typeface="+mn-lt"/>
                </a:endParaRPr>
              </a:p>
            </p:txBody>
          </p:sp>
          <p:sp>
            <p:nvSpPr>
              <p:cNvPr id="39" name="Bullet1">
                <a:extLst>
                  <a:ext uri="{FF2B5EF4-FFF2-40B4-BE49-F238E27FC236}">
                    <a16:creationId xmlns:a16="http://schemas.microsoft.com/office/drawing/2014/main" id="{04AF1CAD-70B2-0402-729A-2AE963778E32}"/>
                  </a:ext>
                </a:extLst>
              </p:cNvPr>
              <p:cNvSpPr txBox="1"/>
              <p:nvPr/>
            </p:nvSpPr>
            <p:spPr>
              <a:xfrm>
                <a:off x="888502" y="2909074"/>
                <a:ext cx="2400935" cy="731666"/>
              </a:xfrm>
              <a:prstGeom prst="rect">
                <a:avLst/>
              </a:prstGeom>
              <a:noFill/>
              <a:ln>
                <a:noFill/>
              </a:ln>
            </p:spPr>
            <p:txBody>
              <a:bodyPr wrap="square" lIns="91440" tIns="45720" rIns="91440" bIns="45720" anchor="t" anchorCtr="0">
                <a:normAutofit/>
              </a:bodyPr>
              <a:lstStyle/>
              <a:p>
                <a:pPr marL="0" marR="0" lvl="0" indent="0" algn="ctr"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dirty="0">
                    <a:ln>
                      <a:noFill/>
                    </a:ln>
                    <a:solidFill>
                      <a:srgbClr val="000000"/>
                    </a:solidFill>
                    <a:effectLst/>
                    <a:uLnTx/>
                    <a:uFillTx/>
                    <a:cs typeface="+mn-ea"/>
                    <a:sym typeface="+mn-lt"/>
                  </a:rPr>
                  <a:t>机器学习理论</a:t>
                </a:r>
                <a:endParaRPr kumimoji="0" lang="de-DE" sz="2400" b="1" i="0" u="none" strike="noStrike" kern="1200" cap="none" spc="0" normalizeH="0" baseline="0" noProof="0" dirty="0">
                  <a:ln>
                    <a:noFill/>
                  </a:ln>
                  <a:solidFill>
                    <a:srgbClr val="000000"/>
                  </a:solidFill>
                  <a:effectLst/>
                  <a:uLnTx/>
                  <a:uFillTx/>
                  <a:cs typeface="+mn-ea"/>
                  <a:sym typeface="+mn-lt"/>
                </a:endParaRPr>
              </a:p>
            </p:txBody>
          </p:sp>
        </p:grpSp>
        <p:grpSp>
          <p:nvGrpSpPr>
            <p:cNvPr id="14" name="组合 13">
              <a:extLst>
                <a:ext uri="{FF2B5EF4-FFF2-40B4-BE49-F238E27FC236}">
                  <a16:creationId xmlns:a16="http://schemas.microsoft.com/office/drawing/2014/main" id="{57170516-0196-C2FC-D1DD-233B2B2D88E7}"/>
                </a:ext>
              </a:extLst>
            </p:cNvPr>
            <p:cNvGrpSpPr/>
            <p:nvPr/>
          </p:nvGrpSpPr>
          <p:grpSpPr>
            <a:xfrm>
              <a:off x="4542326" y="2159155"/>
              <a:ext cx="3193635" cy="1854885"/>
              <a:chOff x="3484597" y="2241199"/>
              <a:chExt cx="2583886" cy="1500739"/>
            </a:xfrm>
          </p:grpSpPr>
          <p:sp>
            <p:nvSpPr>
              <p:cNvPr id="32" name="Shape2">
                <a:extLst>
                  <a:ext uri="{FF2B5EF4-FFF2-40B4-BE49-F238E27FC236}">
                    <a16:creationId xmlns:a16="http://schemas.microsoft.com/office/drawing/2014/main" id="{5FC6E394-368C-A05E-86D4-A16D64FE6892}"/>
                  </a:ext>
                </a:extLst>
              </p:cNvPr>
              <p:cNvSpPr>
                <a:spLocks noChangeAspect="1"/>
              </p:cNvSpPr>
              <p:nvPr/>
            </p:nvSpPr>
            <p:spPr>
              <a:xfrm rot="21258185" flipH="1">
                <a:off x="3484597" y="2566620"/>
                <a:ext cx="2508607" cy="1156232"/>
              </a:xfrm>
              <a:prstGeom prst="roundRect">
                <a:avLst>
                  <a:gd name="adj" fmla="val 5391"/>
                </a:avLst>
              </a:prstGeom>
              <a:solidFill>
                <a:schemeClr val="accent2"/>
              </a:solidFill>
              <a:ln w="6350">
                <a:noFill/>
              </a:ln>
              <a:effectLst>
                <a:outerShdw blurRad="152400" dist="38100" dir="8100000" algn="tr" rotWithShape="0">
                  <a:schemeClr val="accent2">
                    <a:alpha val="2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ComponentBackground2">
                <a:extLst>
                  <a:ext uri="{FF2B5EF4-FFF2-40B4-BE49-F238E27FC236}">
                    <a16:creationId xmlns:a16="http://schemas.microsoft.com/office/drawing/2014/main" id="{9212E64D-3757-8790-BC58-EBF7EB03EB64}"/>
                  </a:ext>
                </a:extLst>
              </p:cNvPr>
              <p:cNvSpPr>
                <a:spLocks noChangeAspect="1"/>
              </p:cNvSpPr>
              <p:nvPr/>
            </p:nvSpPr>
            <p:spPr>
              <a:xfrm flipH="1">
                <a:off x="3559876" y="2585706"/>
                <a:ext cx="2508607" cy="1156232"/>
              </a:xfrm>
              <a:prstGeom prst="roundRect">
                <a:avLst>
                  <a:gd name="adj" fmla="val 5391"/>
                </a:avLst>
              </a:prstGeom>
              <a:gradFill flip="none" rotWithShape="1">
                <a:gsLst>
                  <a:gs pos="0">
                    <a:srgbClr val="FFFFFF"/>
                  </a:gs>
                  <a:gs pos="100000">
                    <a:schemeClr val="accent2">
                      <a:lumMod val="40000"/>
                      <a:lumOff val="60000"/>
                    </a:schemeClr>
                  </a:gs>
                </a:gsLst>
                <a:lin ang="8100000" scaled="1"/>
                <a:tileRect/>
              </a:gradFill>
              <a:ln w="12700">
                <a:solidFill>
                  <a:srgbClr val="FFFFFF"/>
                </a:solidFill>
              </a:ln>
              <a:effectLst>
                <a:outerShdw blurRad="152400" dist="38100" dir="8100000" algn="tr" rotWithShape="0">
                  <a:schemeClr val="accent2">
                    <a:alpha val="2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Number2">
                <a:extLst>
                  <a:ext uri="{FF2B5EF4-FFF2-40B4-BE49-F238E27FC236}">
                    <a16:creationId xmlns:a16="http://schemas.microsoft.com/office/drawing/2014/main" id="{2985FFDB-D5DF-E9B6-569E-9AFAB3FAD935}"/>
                  </a:ext>
                </a:extLst>
              </p:cNvPr>
              <p:cNvSpPr/>
              <p:nvPr/>
            </p:nvSpPr>
            <p:spPr>
              <a:xfrm flipH="1">
                <a:off x="3823660" y="2241199"/>
                <a:ext cx="562975" cy="562975"/>
              </a:xfrm>
              <a:prstGeom prst="ellipse">
                <a:avLst/>
              </a:prstGeom>
              <a:gradFill flip="none" rotWithShape="1">
                <a:gsLst>
                  <a:gs pos="0">
                    <a:schemeClr val="accent2">
                      <a:lumMod val="60000"/>
                      <a:lumOff val="40000"/>
                    </a:schemeClr>
                  </a:gs>
                  <a:gs pos="54000">
                    <a:schemeClr val="accent2"/>
                  </a:gs>
                </a:gsLst>
                <a:path path="circle">
                  <a:fillToRect l="100000" b="100000"/>
                </a:path>
                <a:tileRect t="-100000" r="-100000"/>
              </a:gradFill>
              <a:ln>
                <a:noFill/>
              </a:ln>
              <a:effectLst>
                <a:outerShdw blurRad="177800" dist="38100" dir="5400000" algn="t" rotWithShape="0">
                  <a:schemeClr val="accent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a:cs typeface="+mn-ea"/>
                    <a:sym typeface="+mn-lt"/>
                  </a:rPr>
                  <a:t>2</a:t>
                </a:r>
                <a:endParaRPr lang="zh-CN" altLang="en-US" b="1" dirty="0">
                  <a:cs typeface="+mn-ea"/>
                  <a:sym typeface="+mn-lt"/>
                </a:endParaRPr>
              </a:p>
            </p:txBody>
          </p:sp>
          <p:sp>
            <p:nvSpPr>
              <p:cNvPr id="35" name="Bullet2">
                <a:extLst>
                  <a:ext uri="{FF2B5EF4-FFF2-40B4-BE49-F238E27FC236}">
                    <a16:creationId xmlns:a16="http://schemas.microsoft.com/office/drawing/2014/main" id="{8558A81A-15BB-5D6B-E57E-868E1C474678}"/>
                  </a:ext>
                </a:extLst>
              </p:cNvPr>
              <p:cNvSpPr txBox="1"/>
              <p:nvPr/>
            </p:nvSpPr>
            <p:spPr>
              <a:xfrm>
                <a:off x="3607609" y="2909074"/>
                <a:ext cx="2400935" cy="731666"/>
              </a:xfrm>
              <a:prstGeom prst="rect">
                <a:avLst/>
              </a:prstGeom>
              <a:noFill/>
              <a:ln>
                <a:noFill/>
              </a:ln>
            </p:spPr>
            <p:txBody>
              <a:bodyPr wrap="square" lIns="91440" tIns="45720" rIns="91440" bIns="45720" anchor="t" anchorCtr="0">
                <a:normAutofit/>
              </a:bodyPr>
              <a:lstStyle/>
              <a:p>
                <a:pPr marL="0" marR="0" lvl="0" indent="0" algn="ctr"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dirty="0">
                    <a:ln>
                      <a:noFill/>
                    </a:ln>
                    <a:solidFill>
                      <a:srgbClr val="000000"/>
                    </a:solidFill>
                    <a:effectLst/>
                    <a:uLnTx/>
                    <a:uFillTx/>
                    <a:cs typeface="+mn-ea"/>
                    <a:sym typeface="+mn-lt"/>
                  </a:rPr>
                  <a:t>深度学习理论</a:t>
                </a:r>
                <a:endParaRPr kumimoji="0" lang="de-DE" sz="2400" b="1" i="0" u="none" strike="noStrike" kern="1200" cap="none" spc="0" normalizeH="0" baseline="0" noProof="0" dirty="0">
                  <a:ln>
                    <a:noFill/>
                  </a:ln>
                  <a:solidFill>
                    <a:srgbClr val="000000"/>
                  </a:solidFill>
                  <a:effectLst/>
                  <a:uLnTx/>
                  <a:uFillTx/>
                  <a:cs typeface="+mn-ea"/>
                  <a:sym typeface="+mn-lt"/>
                </a:endParaRPr>
              </a:p>
            </p:txBody>
          </p:sp>
        </p:grpSp>
        <p:grpSp>
          <p:nvGrpSpPr>
            <p:cNvPr id="15" name="组合 14">
              <a:extLst>
                <a:ext uri="{FF2B5EF4-FFF2-40B4-BE49-F238E27FC236}">
                  <a16:creationId xmlns:a16="http://schemas.microsoft.com/office/drawing/2014/main" id="{71C48235-7290-40B2-CB45-B8A237B60C35}"/>
                </a:ext>
              </a:extLst>
            </p:cNvPr>
            <p:cNvGrpSpPr/>
            <p:nvPr/>
          </p:nvGrpSpPr>
          <p:grpSpPr>
            <a:xfrm>
              <a:off x="8325265" y="2159155"/>
              <a:ext cx="3193635" cy="1854885"/>
              <a:chOff x="6209806" y="2241199"/>
              <a:chExt cx="2583886" cy="1500739"/>
            </a:xfrm>
          </p:grpSpPr>
          <p:sp>
            <p:nvSpPr>
              <p:cNvPr id="28" name="Shape3">
                <a:extLst>
                  <a:ext uri="{FF2B5EF4-FFF2-40B4-BE49-F238E27FC236}">
                    <a16:creationId xmlns:a16="http://schemas.microsoft.com/office/drawing/2014/main" id="{34C224FA-8BEB-F762-523C-74E1F2EA88E8}"/>
                  </a:ext>
                </a:extLst>
              </p:cNvPr>
              <p:cNvSpPr>
                <a:spLocks noChangeAspect="1"/>
              </p:cNvSpPr>
              <p:nvPr/>
            </p:nvSpPr>
            <p:spPr>
              <a:xfrm rot="21258185" flipH="1">
                <a:off x="6209806" y="2566620"/>
                <a:ext cx="2508607" cy="1156232"/>
              </a:xfrm>
              <a:prstGeom prst="roundRect">
                <a:avLst>
                  <a:gd name="adj" fmla="val 5391"/>
                </a:avLst>
              </a:prstGeom>
              <a:solidFill>
                <a:schemeClr val="accent1"/>
              </a:solidFill>
              <a:ln w="6350">
                <a:noFill/>
              </a:ln>
              <a:effectLst>
                <a:outerShdw blurRad="152400" dist="38100" dir="8100000" algn="tr" rotWithShape="0">
                  <a:schemeClr val="accent1">
                    <a:alpha val="2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ComponentBackground3">
                <a:extLst>
                  <a:ext uri="{FF2B5EF4-FFF2-40B4-BE49-F238E27FC236}">
                    <a16:creationId xmlns:a16="http://schemas.microsoft.com/office/drawing/2014/main" id="{36D1E00D-D7BD-6F55-B0D6-F36FEB90EC10}"/>
                  </a:ext>
                </a:extLst>
              </p:cNvPr>
              <p:cNvSpPr>
                <a:spLocks noChangeAspect="1"/>
              </p:cNvSpPr>
              <p:nvPr/>
            </p:nvSpPr>
            <p:spPr>
              <a:xfrm flipH="1">
                <a:off x="6285085" y="2585706"/>
                <a:ext cx="2508607" cy="1156232"/>
              </a:xfrm>
              <a:prstGeom prst="roundRect">
                <a:avLst>
                  <a:gd name="adj" fmla="val 5391"/>
                </a:avLst>
              </a:prstGeom>
              <a:gradFill flip="none" rotWithShape="1">
                <a:gsLst>
                  <a:gs pos="0">
                    <a:srgbClr val="FFFFFF"/>
                  </a:gs>
                  <a:gs pos="100000">
                    <a:schemeClr val="accent1">
                      <a:lumMod val="40000"/>
                      <a:lumOff val="60000"/>
                    </a:schemeClr>
                  </a:gs>
                </a:gsLst>
                <a:lin ang="8100000" scaled="1"/>
                <a:tileRect/>
              </a:gradFill>
              <a:ln w="12700">
                <a:solidFill>
                  <a:srgbClr val="FFFFFF"/>
                </a:solidFill>
              </a:ln>
              <a:effectLst>
                <a:outerShdw blurRad="152400" dist="38100" dir="8100000" algn="tr" rotWithShape="0">
                  <a:schemeClr val="accent1">
                    <a:alpha val="2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Number3">
                <a:extLst>
                  <a:ext uri="{FF2B5EF4-FFF2-40B4-BE49-F238E27FC236}">
                    <a16:creationId xmlns:a16="http://schemas.microsoft.com/office/drawing/2014/main" id="{75C2403F-A7A6-49DA-C4C2-570BE422E843}"/>
                  </a:ext>
                </a:extLst>
              </p:cNvPr>
              <p:cNvSpPr/>
              <p:nvPr/>
            </p:nvSpPr>
            <p:spPr>
              <a:xfrm flipH="1">
                <a:off x="6548869" y="2241199"/>
                <a:ext cx="562975" cy="562975"/>
              </a:xfrm>
              <a:prstGeom prst="ellipse">
                <a:avLst/>
              </a:prstGeom>
              <a:gradFill flip="none" rotWithShape="1">
                <a:gsLst>
                  <a:gs pos="0">
                    <a:schemeClr val="accent1">
                      <a:lumMod val="60000"/>
                      <a:lumOff val="40000"/>
                    </a:schemeClr>
                  </a:gs>
                  <a:gs pos="49000">
                    <a:schemeClr val="accent1"/>
                  </a:gs>
                </a:gsLst>
                <a:path path="circle">
                  <a:fillToRect l="100000" b="100000"/>
                </a:path>
                <a:tileRect t="-100000" r="-100000"/>
              </a:gradFill>
              <a:ln>
                <a:noFill/>
              </a:ln>
              <a:effectLst>
                <a:outerShdw blurRad="177800" dist="381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dirty="0">
                    <a:cs typeface="+mn-ea"/>
                    <a:sym typeface="+mn-lt"/>
                  </a:rPr>
                  <a:t>3</a:t>
                </a:r>
                <a:endParaRPr lang="zh-CN" altLang="en-US" b="1" dirty="0">
                  <a:cs typeface="+mn-ea"/>
                  <a:sym typeface="+mn-lt"/>
                </a:endParaRPr>
              </a:p>
            </p:txBody>
          </p:sp>
          <p:sp>
            <p:nvSpPr>
              <p:cNvPr id="31" name="Bullet3">
                <a:extLst>
                  <a:ext uri="{FF2B5EF4-FFF2-40B4-BE49-F238E27FC236}">
                    <a16:creationId xmlns:a16="http://schemas.microsoft.com/office/drawing/2014/main" id="{BCFE1FD7-F1B7-A3C4-1806-05B70BBD872A}"/>
                  </a:ext>
                </a:extLst>
              </p:cNvPr>
              <p:cNvSpPr txBox="1"/>
              <p:nvPr/>
            </p:nvSpPr>
            <p:spPr>
              <a:xfrm>
                <a:off x="6325355" y="2909074"/>
                <a:ext cx="2400935" cy="731666"/>
              </a:xfrm>
              <a:prstGeom prst="rect">
                <a:avLst/>
              </a:prstGeom>
              <a:noFill/>
              <a:ln>
                <a:noFill/>
              </a:ln>
            </p:spPr>
            <p:txBody>
              <a:bodyPr wrap="square" lIns="91440" tIns="45720" rIns="91440" bIns="45720" anchor="t" anchorCtr="0">
                <a:normAutofit/>
              </a:bodyPr>
              <a:lstStyle/>
              <a:p>
                <a:pPr marL="0" marR="0" lvl="0" indent="0" algn="ctr"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dirty="0">
                    <a:ln>
                      <a:noFill/>
                    </a:ln>
                    <a:solidFill>
                      <a:srgbClr val="000000"/>
                    </a:solidFill>
                    <a:effectLst/>
                    <a:uLnTx/>
                    <a:uFillTx/>
                    <a:cs typeface="+mn-ea"/>
                    <a:sym typeface="+mn-lt"/>
                  </a:rPr>
                  <a:t>物理信息神经网络</a:t>
                </a:r>
                <a:endParaRPr kumimoji="0" lang="en-US" altLang="zh-CN" sz="2400" b="1" i="0" u="none" strike="noStrike" kern="1200" cap="none" spc="0" normalizeH="0" baseline="0" noProof="0" dirty="0">
                  <a:ln>
                    <a:noFill/>
                  </a:ln>
                  <a:solidFill>
                    <a:srgbClr val="000000"/>
                  </a:solidFill>
                  <a:effectLst/>
                  <a:uLnTx/>
                  <a:uFillTx/>
                  <a:cs typeface="+mn-ea"/>
                  <a:sym typeface="+mn-lt"/>
                </a:endParaRPr>
              </a:p>
              <a:p>
                <a:pPr marL="0" marR="0" lvl="0" indent="0" algn="ctr"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dirty="0">
                    <a:ln>
                      <a:noFill/>
                    </a:ln>
                    <a:solidFill>
                      <a:srgbClr val="000000"/>
                    </a:solidFill>
                    <a:effectLst/>
                    <a:uLnTx/>
                    <a:uFillTx/>
                    <a:cs typeface="+mn-ea"/>
                    <a:sym typeface="+mn-lt"/>
                  </a:rPr>
                  <a:t>（</a:t>
                </a:r>
                <a:r>
                  <a:rPr kumimoji="0" lang="en-US" altLang="zh-CN" sz="2400" b="1" i="0" u="none" strike="noStrike" kern="1200" cap="none" spc="0" normalizeH="0" baseline="0" noProof="0" dirty="0">
                    <a:ln>
                      <a:noFill/>
                    </a:ln>
                    <a:solidFill>
                      <a:srgbClr val="000000"/>
                    </a:solidFill>
                    <a:effectLst/>
                    <a:uLnTx/>
                    <a:uFillTx/>
                    <a:cs typeface="+mn-ea"/>
                    <a:sym typeface="+mn-lt"/>
                  </a:rPr>
                  <a:t>PINN</a:t>
                </a:r>
                <a:r>
                  <a:rPr kumimoji="0" lang="zh-CN" altLang="en-US" sz="2400" b="1" i="0" u="none" strike="noStrike" kern="1200" cap="none" spc="0" normalizeH="0" baseline="0" noProof="0" dirty="0">
                    <a:ln>
                      <a:noFill/>
                    </a:ln>
                    <a:solidFill>
                      <a:srgbClr val="000000"/>
                    </a:solidFill>
                    <a:effectLst/>
                    <a:uLnTx/>
                    <a:uFillTx/>
                    <a:cs typeface="+mn-ea"/>
                    <a:sym typeface="+mn-lt"/>
                  </a:rPr>
                  <a:t>）理论</a:t>
                </a:r>
                <a:endParaRPr kumimoji="0" lang="de-DE" sz="2400" b="1" i="0" u="none" strike="noStrike" kern="1200" cap="none" spc="0" normalizeH="0" baseline="0" noProof="0" dirty="0">
                  <a:ln>
                    <a:noFill/>
                  </a:ln>
                  <a:solidFill>
                    <a:srgbClr val="000000"/>
                  </a:solidFill>
                  <a:effectLst/>
                  <a:uLnTx/>
                  <a:uFillTx/>
                  <a:cs typeface="+mn-ea"/>
                  <a:sym typeface="+mn-lt"/>
                </a:endParaRPr>
              </a:p>
            </p:txBody>
          </p:sp>
        </p:grpSp>
        <p:grpSp>
          <p:nvGrpSpPr>
            <p:cNvPr id="16" name="组合 15">
              <a:extLst>
                <a:ext uri="{FF2B5EF4-FFF2-40B4-BE49-F238E27FC236}">
                  <a16:creationId xmlns:a16="http://schemas.microsoft.com/office/drawing/2014/main" id="{5C696A39-A5D6-C9A4-D95D-EC4D123F02F9}"/>
                </a:ext>
              </a:extLst>
            </p:cNvPr>
            <p:cNvGrpSpPr/>
            <p:nvPr/>
          </p:nvGrpSpPr>
          <p:grpSpPr>
            <a:xfrm>
              <a:off x="2576616" y="4101414"/>
              <a:ext cx="3193635" cy="1854885"/>
              <a:chOff x="8935014" y="2241199"/>
              <a:chExt cx="2583886" cy="1500739"/>
            </a:xfrm>
          </p:grpSpPr>
          <p:sp>
            <p:nvSpPr>
              <p:cNvPr id="23" name="Shape4">
                <a:extLst>
                  <a:ext uri="{FF2B5EF4-FFF2-40B4-BE49-F238E27FC236}">
                    <a16:creationId xmlns:a16="http://schemas.microsoft.com/office/drawing/2014/main" id="{C9D893F8-FA7C-CCC5-E57B-C1208EC74C30}"/>
                  </a:ext>
                </a:extLst>
              </p:cNvPr>
              <p:cNvSpPr>
                <a:spLocks noChangeAspect="1"/>
              </p:cNvSpPr>
              <p:nvPr/>
            </p:nvSpPr>
            <p:spPr>
              <a:xfrm rot="21258185" flipH="1">
                <a:off x="8935014" y="2566620"/>
                <a:ext cx="2508607" cy="1156232"/>
              </a:xfrm>
              <a:prstGeom prst="roundRect">
                <a:avLst>
                  <a:gd name="adj" fmla="val 5391"/>
                </a:avLst>
              </a:prstGeom>
              <a:solidFill>
                <a:schemeClr val="accent2"/>
              </a:solidFill>
              <a:ln w="6350">
                <a:noFill/>
              </a:ln>
              <a:effectLst>
                <a:outerShdw blurRad="152400" dist="38100" dir="8100000" algn="tr" rotWithShape="0">
                  <a:schemeClr val="accent2">
                    <a:alpha val="2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ComponentBackground4">
                <a:extLst>
                  <a:ext uri="{FF2B5EF4-FFF2-40B4-BE49-F238E27FC236}">
                    <a16:creationId xmlns:a16="http://schemas.microsoft.com/office/drawing/2014/main" id="{75A348CC-DB15-2866-C33B-B782CBA99FD9}"/>
                  </a:ext>
                </a:extLst>
              </p:cNvPr>
              <p:cNvSpPr>
                <a:spLocks noChangeAspect="1"/>
              </p:cNvSpPr>
              <p:nvPr/>
            </p:nvSpPr>
            <p:spPr>
              <a:xfrm flipH="1">
                <a:off x="9010293" y="2585706"/>
                <a:ext cx="2508607" cy="1156232"/>
              </a:xfrm>
              <a:prstGeom prst="roundRect">
                <a:avLst>
                  <a:gd name="adj" fmla="val 5391"/>
                </a:avLst>
              </a:prstGeom>
              <a:gradFill flip="none" rotWithShape="1">
                <a:gsLst>
                  <a:gs pos="0">
                    <a:srgbClr val="FFFFFF"/>
                  </a:gs>
                  <a:gs pos="100000">
                    <a:schemeClr val="accent2">
                      <a:lumMod val="40000"/>
                      <a:lumOff val="60000"/>
                    </a:schemeClr>
                  </a:gs>
                </a:gsLst>
                <a:lin ang="8100000" scaled="1"/>
                <a:tileRect/>
              </a:gradFill>
              <a:ln w="12700">
                <a:solidFill>
                  <a:srgbClr val="FFFFFF"/>
                </a:solidFill>
              </a:ln>
              <a:effectLst>
                <a:outerShdw blurRad="152400" dist="38100" dir="8100000" algn="tr" rotWithShape="0">
                  <a:schemeClr val="accent2">
                    <a:alpha val="2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Number4">
                <a:extLst>
                  <a:ext uri="{FF2B5EF4-FFF2-40B4-BE49-F238E27FC236}">
                    <a16:creationId xmlns:a16="http://schemas.microsoft.com/office/drawing/2014/main" id="{CF420EE9-5027-A3E4-7729-1E94456943D0}"/>
                  </a:ext>
                </a:extLst>
              </p:cNvPr>
              <p:cNvSpPr/>
              <p:nvPr/>
            </p:nvSpPr>
            <p:spPr>
              <a:xfrm flipH="1">
                <a:off x="9274077" y="2241199"/>
                <a:ext cx="562975" cy="562975"/>
              </a:xfrm>
              <a:prstGeom prst="ellipse">
                <a:avLst/>
              </a:prstGeom>
              <a:gradFill flip="none" rotWithShape="1">
                <a:gsLst>
                  <a:gs pos="0">
                    <a:schemeClr val="accent2">
                      <a:lumMod val="60000"/>
                      <a:lumOff val="40000"/>
                    </a:schemeClr>
                  </a:gs>
                  <a:gs pos="54000">
                    <a:schemeClr val="accent2"/>
                  </a:gs>
                </a:gsLst>
                <a:path path="circle">
                  <a:fillToRect l="100000" b="100000"/>
                </a:path>
                <a:tileRect t="-100000" r="-100000"/>
              </a:gradFill>
              <a:ln>
                <a:noFill/>
              </a:ln>
              <a:effectLst>
                <a:outerShdw blurRad="177800" dist="38100" dir="5400000" algn="t" rotWithShape="0">
                  <a:schemeClr val="accent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dirty="0">
                    <a:cs typeface="+mn-ea"/>
                    <a:sym typeface="+mn-lt"/>
                  </a:rPr>
                  <a:t>4</a:t>
                </a:r>
                <a:endParaRPr lang="zh-CN" altLang="en-US" b="1" dirty="0">
                  <a:cs typeface="+mn-ea"/>
                  <a:sym typeface="+mn-lt"/>
                </a:endParaRPr>
              </a:p>
            </p:txBody>
          </p:sp>
          <p:sp>
            <p:nvSpPr>
              <p:cNvPr id="27" name="Bullet4">
                <a:extLst>
                  <a:ext uri="{FF2B5EF4-FFF2-40B4-BE49-F238E27FC236}">
                    <a16:creationId xmlns:a16="http://schemas.microsoft.com/office/drawing/2014/main" id="{57963A58-B075-6A24-5CC2-16BC1ABD2B23}"/>
                  </a:ext>
                </a:extLst>
              </p:cNvPr>
              <p:cNvSpPr txBox="1"/>
              <p:nvPr/>
            </p:nvSpPr>
            <p:spPr>
              <a:xfrm>
                <a:off x="9044462" y="2909074"/>
                <a:ext cx="2400935" cy="731666"/>
              </a:xfrm>
              <a:prstGeom prst="rect">
                <a:avLst/>
              </a:prstGeom>
              <a:noFill/>
              <a:ln>
                <a:noFill/>
              </a:ln>
            </p:spPr>
            <p:txBody>
              <a:bodyPr wrap="square" lIns="91440" tIns="45720" rIns="91440" bIns="45720" anchor="t" anchorCtr="0">
                <a:normAutofit/>
              </a:bodyPr>
              <a:lstStyle/>
              <a:p>
                <a:pPr marL="0" marR="0" lvl="0" indent="0" algn="ctr"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dirty="0">
                    <a:ln>
                      <a:noFill/>
                    </a:ln>
                    <a:solidFill>
                      <a:srgbClr val="000000"/>
                    </a:solidFill>
                    <a:effectLst/>
                    <a:uLnTx/>
                    <a:uFillTx/>
                    <a:cs typeface="+mn-ea"/>
                    <a:sym typeface="+mn-lt"/>
                  </a:rPr>
                  <a:t>贝叶斯优化理论</a:t>
                </a:r>
                <a:endParaRPr kumimoji="0" lang="de-DE" sz="2400" b="1" i="0" u="none" strike="noStrike" kern="1200" cap="none" spc="0" normalizeH="0" baseline="0" noProof="0" dirty="0">
                  <a:ln>
                    <a:noFill/>
                  </a:ln>
                  <a:solidFill>
                    <a:srgbClr val="000000"/>
                  </a:solidFill>
                  <a:effectLst/>
                  <a:uLnTx/>
                  <a:uFillTx/>
                  <a:cs typeface="+mn-ea"/>
                  <a:sym typeface="+mn-lt"/>
                </a:endParaRPr>
              </a:p>
            </p:txBody>
          </p:sp>
        </p:grpSp>
        <p:grpSp>
          <p:nvGrpSpPr>
            <p:cNvPr id="17" name="组合 16">
              <a:extLst>
                <a:ext uri="{FF2B5EF4-FFF2-40B4-BE49-F238E27FC236}">
                  <a16:creationId xmlns:a16="http://schemas.microsoft.com/office/drawing/2014/main" id="{8E706372-6554-AA52-CD9E-8EEE9D97EA6E}"/>
                </a:ext>
              </a:extLst>
            </p:cNvPr>
            <p:cNvGrpSpPr/>
            <p:nvPr/>
          </p:nvGrpSpPr>
          <p:grpSpPr>
            <a:xfrm>
              <a:off x="6409049" y="4101414"/>
              <a:ext cx="3193635" cy="1854885"/>
              <a:chOff x="759388" y="4268166"/>
              <a:chExt cx="2583886" cy="1500739"/>
            </a:xfrm>
          </p:grpSpPr>
          <p:sp>
            <p:nvSpPr>
              <p:cNvPr id="19" name="Shape5">
                <a:extLst>
                  <a:ext uri="{FF2B5EF4-FFF2-40B4-BE49-F238E27FC236}">
                    <a16:creationId xmlns:a16="http://schemas.microsoft.com/office/drawing/2014/main" id="{222FFC52-E8F6-1BFB-A175-CCB63A8DB552}"/>
                  </a:ext>
                </a:extLst>
              </p:cNvPr>
              <p:cNvSpPr>
                <a:spLocks noChangeAspect="1"/>
              </p:cNvSpPr>
              <p:nvPr/>
            </p:nvSpPr>
            <p:spPr>
              <a:xfrm rot="21258185" flipH="1">
                <a:off x="759388" y="4593587"/>
                <a:ext cx="2508607" cy="1156232"/>
              </a:xfrm>
              <a:prstGeom prst="roundRect">
                <a:avLst>
                  <a:gd name="adj" fmla="val 5391"/>
                </a:avLst>
              </a:prstGeom>
              <a:solidFill>
                <a:schemeClr val="accent1"/>
              </a:solidFill>
              <a:ln w="6350">
                <a:noFill/>
              </a:ln>
              <a:effectLst>
                <a:outerShdw blurRad="152400" dist="38100" dir="8100000" algn="tr" rotWithShape="0">
                  <a:schemeClr val="accent1">
                    <a:alpha val="2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ComponentBackground5">
                <a:extLst>
                  <a:ext uri="{FF2B5EF4-FFF2-40B4-BE49-F238E27FC236}">
                    <a16:creationId xmlns:a16="http://schemas.microsoft.com/office/drawing/2014/main" id="{2277EDF1-E1EC-EF9E-7A54-C527C590D1D0}"/>
                  </a:ext>
                </a:extLst>
              </p:cNvPr>
              <p:cNvSpPr>
                <a:spLocks noChangeAspect="1"/>
              </p:cNvSpPr>
              <p:nvPr/>
            </p:nvSpPr>
            <p:spPr>
              <a:xfrm flipH="1">
                <a:off x="834667" y="4612673"/>
                <a:ext cx="2508607" cy="1156232"/>
              </a:xfrm>
              <a:prstGeom prst="roundRect">
                <a:avLst>
                  <a:gd name="adj" fmla="val 5391"/>
                </a:avLst>
              </a:prstGeom>
              <a:gradFill flip="none" rotWithShape="1">
                <a:gsLst>
                  <a:gs pos="0">
                    <a:srgbClr val="FFFFFF"/>
                  </a:gs>
                  <a:gs pos="100000">
                    <a:schemeClr val="accent1">
                      <a:lumMod val="40000"/>
                      <a:lumOff val="60000"/>
                    </a:schemeClr>
                  </a:gs>
                </a:gsLst>
                <a:lin ang="8100000" scaled="1"/>
                <a:tileRect/>
              </a:gradFill>
              <a:ln w="12700">
                <a:solidFill>
                  <a:srgbClr val="FFFFFF"/>
                </a:solidFill>
              </a:ln>
              <a:effectLst>
                <a:outerShdw blurRad="152400" dist="38100" dir="8100000" algn="tr" rotWithShape="0">
                  <a:schemeClr val="accent1">
                    <a:alpha val="2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Number5">
                <a:extLst>
                  <a:ext uri="{FF2B5EF4-FFF2-40B4-BE49-F238E27FC236}">
                    <a16:creationId xmlns:a16="http://schemas.microsoft.com/office/drawing/2014/main" id="{42376279-FB1D-4A67-8108-F92AEAB5AC37}"/>
                  </a:ext>
                </a:extLst>
              </p:cNvPr>
              <p:cNvSpPr/>
              <p:nvPr/>
            </p:nvSpPr>
            <p:spPr>
              <a:xfrm flipH="1">
                <a:off x="1098451" y="4268166"/>
                <a:ext cx="562975" cy="562975"/>
              </a:xfrm>
              <a:prstGeom prst="ellipse">
                <a:avLst/>
              </a:prstGeom>
              <a:gradFill flip="none" rotWithShape="1">
                <a:gsLst>
                  <a:gs pos="0">
                    <a:schemeClr val="accent1">
                      <a:lumMod val="60000"/>
                      <a:lumOff val="40000"/>
                    </a:schemeClr>
                  </a:gs>
                  <a:gs pos="49000">
                    <a:schemeClr val="accent1"/>
                  </a:gs>
                </a:gsLst>
                <a:path path="circle">
                  <a:fillToRect l="100000" b="100000"/>
                </a:path>
                <a:tileRect t="-100000" r="-100000"/>
              </a:gradFill>
              <a:ln>
                <a:noFill/>
              </a:ln>
              <a:effectLst>
                <a:outerShdw blurRad="177800" dist="381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a:cs typeface="+mn-ea"/>
                    <a:sym typeface="+mn-lt"/>
                  </a:rPr>
                  <a:t>5</a:t>
                </a:r>
                <a:endParaRPr lang="zh-CN" altLang="en-US" b="1" dirty="0">
                  <a:cs typeface="+mn-ea"/>
                  <a:sym typeface="+mn-lt"/>
                </a:endParaRPr>
              </a:p>
            </p:txBody>
          </p:sp>
          <p:sp>
            <p:nvSpPr>
              <p:cNvPr id="22" name="Bullet5">
                <a:extLst>
                  <a:ext uri="{FF2B5EF4-FFF2-40B4-BE49-F238E27FC236}">
                    <a16:creationId xmlns:a16="http://schemas.microsoft.com/office/drawing/2014/main" id="{70BC4FA2-E84E-ABD9-8F5C-D905FA9F2810}"/>
                  </a:ext>
                </a:extLst>
              </p:cNvPr>
              <p:cNvSpPr txBox="1"/>
              <p:nvPr/>
            </p:nvSpPr>
            <p:spPr>
              <a:xfrm>
                <a:off x="888502" y="4964028"/>
                <a:ext cx="2400935" cy="731666"/>
              </a:xfrm>
              <a:prstGeom prst="rect">
                <a:avLst/>
              </a:prstGeom>
              <a:noFill/>
              <a:ln>
                <a:noFill/>
              </a:ln>
            </p:spPr>
            <p:txBody>
              <a:bodyPr wrap="square" lIns="91440" tIns="45720" rIns="91440" bIns="45720" anchor="t" anchorCtr="0">
                <a:normAutofit/>
              </a:bodyPr>
              <a:lstStyle/>
              <a:p>
                <a:pPr marL="0" marR="0" lvl="0" indent="0" algn="ctr"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dirty="0">
                    <a:ln>
                      <a:noFill/>
                    </a:ln>
                    <a:solidFill>
                      <a:srgbClr val="000000"/>
                    </a:solidFill>
                    <a:effectLst/>
                    <a:uLnTx/>
                    <a:uFillTx/>
                    <a:cs typeface="+mn-ea"/>
                    <a:sym typeface="+mn-lt"/>
                  </a:rPr>
                  <a:t>生成对抗网络理论</a:t>
                </a:r>
                <a:endParaRPr kumimoji="0" lang="de-DE" sz="2400" b="1" i="0" u="none" strike="noStrike" kern="1200" cap="none" spc="0" normalizeH="0" baseline="0" noProof="0" dirty="0">
                  <a:ln>
                    <a:noFill/>
                  </a:ln>
                  <a:solidFill>
                    <a:srgbClr val="000000"/>
                  </a:solidFill>
                  <a:effectLst/>
                  <a:uLnTx/>
                  <a:uFillTx/>
                  <a:cs typeface="+mn-ea"/>
                  <a:sym typeface="+mn-lt"/>
                </a:endParaRPr>
              </a:p>
            </p:txBody>
          </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bwMode="auto">
          <a:xfrm>
            <a:off x="-1482" y="0"/>
            <a:ext cx="12193481" cy="6863750"/>
          </a:xfrm>
          <a:prstGeom prst="rect">
            <a:avLst/>
          </a:prstGeom>
          <a:solidFill>
            <a:schemeClr val="bg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cs typeface="+mn-ea"/>
              <a:sym typeface="+mn-lt"/>
            </a:endParaRPr>
          </a:p>
        </p:txBody>
      </p:sp>
      <p:sp>
        <p:nvSpPr>
          <p:cNvPr id="29" name="矩形 28"/>
          <p:cNvSpPr/>
          <p:nvPr/>
        </p:nvSpPr>
        <p:spPr bwMode="auto">
          <a:xfrm>
            <a:off x="-1482" y="1016000"/>
            <a:ext cx="12193481" cy="5346700"/>
          </a:xfrm>
          <a:prstGeom prst="rect">
            <a:avLst/>
          </a:prstGeom>
          <a:solidFill>
            <a:schemeClr val="bg1">
              <a:lumMod val="95000"/>
            </a:schemeClr>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cs typeface="+mn-ea"/>
              <a:sym typeface="+mn-lt"/>
            </a:endParaRPr>
          </a:p>
        </p:txBody>
      </p:sp>
      <p:cxnSp>
        <p:nvCxnSpPr>
          <p:cNvPr id="33" name="直接连接符 32"/>
          <p:cNvCxnSpPr>
            <a:stCxn id="38" idx="7"/>
            <a:endCxn id="39" idx="2"/>
          </p:cNvCxnSpPr>
          <p:nvPr/>
        </p:nvCxnSpPr>
        <p:spPr>
          <a:xfrm flipV="1">
            <a:off x="880976" y="3629817"/>
            <a:ext cx="2246282" cy="1489824"/>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39" idx="6"/>
            <a:endCxn id="40" idx="1"/>
          </p:cNvCxnSpPr>
          <p:nvPr/>
        </p:nvCxnSpPr>
        <p:spPr>
          <a:xfrm>
            <a:off x="3374520" y="3629817"/>
            <a:ext cx="1895512" cy="1503754"/>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40" idx="7"/>
            <a:endCxn id="41" idx="3"/>
          </p:cNvCxnSpPr>
          <p:nvPr/>
        </p:nvCxnSpPr>
        <p:spPr>
          <a:xfrm flipV="1">
            <a:off x="5444872" y="3759501"/>
            <a:ext cx="1649640" cy="137407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42" idx="7"/>
            <a:endCxn id="43" idx="3"/>
          </p:cNvCxnSpPr>
          <p:nvPr/>
        </p:nvCxnSpPr>
        <p:spPr>
          <a:xfrm flipV="1">
            <a:off x="9473902" y="1318801"/>
            <a:ext cx="1835535" cy="1966597"/>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41" idx="6"/>
            <a:endCxn id="42" idx="2"/>
          </p:cNvCxnSpPr>
          <p:nvPr/>
        </p:nvCxnSpPr>
        <p:spPr>
          <a:xfrm flipV="1">
            <a:off x="7305563" y="3372818"/>
            <a:ext cx="1957288" cy="299263"/>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ïśḻíḑé"/>
          <p:cNvSpPr/>
          <p:nvPr/>
        </p:nvSpPr>
        <p:spPr>
          <a:xfrm>
            <a:off x="669925" y="5083430"/>
            <a:ext cx="247262" cy="247262"/>
          </a:xfrm>
          <a:prstGeom prst="ellipse">
            <a:avLst/>
          </a:prstGeom>
          <a:solidFill>
            <a:srgbClr val="1A31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39" name="íṧḻïḑe"/>
          <p:cNvSpPr/>
          <p:nvPr/>
        </p:nvSpPr>
        <p:spPr>
          <a:xfrm>
            <a:off x="3127258" y="3506186"/>
            <a:ext cx="247262" cy="247262"/>
          </a:xfrm>
          <a:prstGeom prst="ellipse">
            <a:avLst/>
          </a:prstGeom>
          <a:solidFill>
            <a:srgbClr val="1A31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40" name="iṡ1ïḋé"/>
          <p:cNvSpPr/>
          <p:nvPr/>
        </p:nvSpPr>
        <p:spPr>
          <a:xfrm>
            <a:off x="5233821" y="5097360"/>
            <a:ext cx="247262" cy="247262"/>
          </a:xfrm>
          <a:prstGeom prst="ellipse">
            <a:avLst/>
          </a:prstGeom>
          <a:solidFill>
            <a:srgbClr val="1A31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41" name="íšlîḋé"/>
          <p:cNvSpPr/>
          <p:nvPr/>
        </p:nvSpPr>
        <p:spPr>
          <a:xfrm>
            <a:off x="7058301" y="3548450"/>
            <a:ext cx="247262" cy="247262"/>
          </a:xfrm>
          <a:prstGeom prst="ellipse">
            <a:avLst/>
          </a:prstGeom>
          <a:solidFill>
            <a:srgbClr val="1A31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42" name="íśļíďè"/>
          <p:cNvSpPr/>
          <p:nvPr/>
        </p:nvSpPr>
        <p:spPr>
          <a:xfrm>
            <a:off x="9262851" y="3249187"/>
            <a:ext cx="247262" cy="247262"/>
          </a:xfrm>
          <a:prstGeom prst="ellipse">
            <a:avLst/>
          </a:prstGeom>
          <a:solidFill>
            <a:srgbClr val="1A31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43" name="ïṩḻíďê"/>
          <p:cNvSpPr/>
          <p:nvPr/>
        </p:nvSpPr>
        <p:spPr>
          <a:xfrm>
            <a:off x="11273226" y="1107750"/>
            <a:ext cx="247262" cy="247262"/>
          </a:xfrm>
          <a:prstGeom prst="ellipse">
            <a:avLst/>
          </a:prstGeom>
          <a:solidFill>
            <a:srgbClr val="1A31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44" name="ís1ïḍè"/>
          <p:cNvSpPr/>
          <p:nvPr/>
        </p:nvSpPr>
        <p:spPr bwMode="auto">
          <a:xfrm>
            <a:off x="902187" y="5246143"/>
            <a:ext cx="2135594" cy="355600"/>
          </a:xfrm>
          <a:prstGeom prst="roundRect">
            <a:avLst>
              <a:gd name="adj" fmla="val 0"/>
            </a:avLst>
          </a:prstGeom>
          <a:noFill/>
          <a:ln w="28575" algn="ctr">
            <a:noFill/>
            <a:round/>
          </a:ln>
        </p:spPr>
        <p:txBody>
          <a:bodyPr wrap="none" lIns="91440" tIns="45720" rIns="91440" bIns="45720" anchor="ctr">
            <a:norm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rgbClr val="000000"/>
                </a:solidFill>
                <a:effectLst/>
                <a:uLnTx/>
                <a:uFillTx/>
                <a:cs typeface="+mn-ea"/>
                <a:sym typeface="+mn-lt"/>
              </a:rPr>
              <a:t>数据库建立</a:t>
            </a:r>
          </a:p>
        </p:txBody>
      </p:sp>
      <p:sp>
        <p:nvSpPr>
          <p:cNvPr id="45" name="矩形 44"/>
          <p:cNvSpPr/>
          <p:nvPr/>
        </p:nvSpPr>
        <p:spPr bwMode="auto">
          <a:xfrm>
            <a:off x="902187" y="5601742"/>
            <a:ext cx="2884622" cy="1256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ct val="0"/>
              </a:spcBef>
              <a:spcAft>
                <a:spcPts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000000"/>
                </a:solidFill>
                <a:effectLst/>
                <a:uLnTx/>
                <a:uFillTx/>
                <a:cs typeface="+mn-ea"/>
                <a:sym typeface="+mn-lt"/>
              </a:rPr>
              <a:t>收集荧光材料性能数据和</a:t>
            </a:r>
            <a:r>
              <a:rPr kumimoji="0" lang="en-US" altLang="zh-CN" sz="1600" b="0" i="0" u="none" strike="noStrike" kern="1200" cap="none" spc="0" normalizeH="0" baseline="0" noProof="0" dirty="0">
                <a:ln>
                  <a:noFill/>
                </a:ln>
                <a:solidFill>
                  <a:srgbClr val="000000"/>
                </a:solidFill>
                <a:effectLst/>
                <a:uLnTx/>
                <a:uFillTx/>
                <a:cs typeface="+mn-ea"/>
                <a:sym typeface="+mn-lt"/>
              </a:rPr>
              <a:t>LSC</a:t>
            </a:r>
            <a:r>
              <a:rPr kumimoji="0" lang="zh-CN" altLang="en-US" sz="1600" b="0" i="0" u="none" strike="noStrike" kern="1200" cap="none" spc="0" normalizeH="0" baseline="0" noProof="0" dirty="0">
                <a:ln>
                  <a:noFill/>
                </a:ln>
                <a:solidFill>
                  <a:srgbClr val="000000"/>
                </a:solidFill>
                <a:effectLst/>
                <a:uLnTx/>
                <a:uFillTx/>
                <a:cs typeface="+mn-ea"/>
                <a:sym typeface="+mn-lt"/>
              </a:rPr>
              <a:t>器件测试数据，建立标准化数据库</a:t>
            </a:r>
            <a:endParaRPr kumimoji="0" lang="en-US" altLang="zh-CN" sz="1600" b="0" i="0" u="none" strike="noStrike" kern="1200" cap="none" spc="0" normalizeH="0" baseline="0" noProof="0" dirty="0">
              <a:ln>
                <a:noFill/>
              </a:ln>
              <a:solidFill>
                <a:srgbClr val="000000"/>
              </a:solidFill>
              <a:effectLst/>
              <a:uLnTx/>
              <a:uFillTx/>
              <a:cs typeface="+mn-ea"/>
              <a:sym typeface="+mn-lt"/>
            </a:endParaRPr>
          </a:p>
        </p:txBody>
      </p:sp>
      <p:sp>
        <p:nvSpPr>
          <p:cNvPr id="58" name="ís1ïḍè"/>
          <p:cNvSpPr/>
          <p:nvPr/>
        </p:nvSpPr>
        <p:spPr bwMode="auto">
          <a:xfrm>
            <a:off x="5481083" y="5246143"/>
            <a:ext cx="2135594" cy="355600"/>
          </a:xfrm>
          <a:prstGeom prst="roundRect">
            <a:avLst>
              <a:gd name="adj" fmla="val 0"/>
            </a:avLst>
          </a:prstGeom>
          <a:noFill/>
          <a:ln w="28575" algn="ctr">
            <a:noFill/>
            <a:round/>
          </a:ln>
        </p:spPr>
        <p:txBody>
          <a:bodyPr wrap="none" lIns="91440" tIns="45720" rIns="91440" bIns="45720" anchor="ctr">
            <a:norm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rgbClr val="000000"/>
                </a:solidFill>
                <a:effectLst/>
                <a:uLnTx/>
                <a:uFillTx/>
                <a:cs typeface="+mn-ea"/>
                <a:sym typeface="+mn-lt"/>
              </a:rPr>
              <a:t>物理建模</a:t>
            </a:r>
          </a:p>
        </p:txBody>
      </p:sp>
      <p:sp>
        <p:nvSpPr>
          <p:cNvPr id="59" name="矩形 58"/>
          <p:cNvSpPr/>
          <p:nvPr/>
        </p:nvSpPr>
        <p:spPr bwMode="auto">
          <a:xfrm>
            <a:off x="5481083" y="5601743"/>
            <a:ext cx="2707877" cy="1378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ct val="0"/>
              </a:spcBef>
              <a:spcAft>
                <a:spcPts val="0"/>
              </a:spcAft>
              <a:buClrTx/>
              <a:buSzTx/>
              <a:buFont typeface="Arial" panose="020B0604020202020204" pitchFamily="34" charset="0"/>
              <a:buChar char="•"/>
              <a:defRPr/>
            </a:pPr>
            <a:r>
              <a:rPr lang="zh-CN" altLang="en-US" sz="1600" dirty="0">
                <a:solidFill>
                  <a:srgbClr val="000000"/>
                </a:solidFill>
                <a:cs typeface="+mn-ea"/>
                <a:sym typeface="+mn-lt"/>
              </a:rPr>
              <a:t>添加</a:t>
            </a:r>
            <a:r>
              <a:rPr kumimoji="0" lang="zh-CN" altLang="en-US" sz="1600" b="0" i="0" u="none" strike="noStrike" kern="1200" cap="none" spc="0" normalizeH="0" baseline="0" noProof="0" dirty="0">
                <a:ln>
                  <a:noFill/>
                </a:ln>
                <a:solidFill>
                  <a:srgbClr val="000000"/>
                </a:solidFill>
                <a:effectLst/>
                <a:uLnTx/>
                <a:uFillTx/>
                <a:cs typeface="+mn-ea"/>
                <a:sym typeface="+mn-lt"/>
              </a:rPr>
              <a:t>约束条件，建立跨尺度预测模型，揭示模型决策机制。</a:t>
            </a:r>
            <a:endParaRPr kumimoji="0" lang="en-US" altLang="zh-CN" sz="1600" b="0" i="0" u="none" strike="noStrike" kern="1200" cap="none" spc="0" normalizeH="0" baseline="0" noProof="0" dirty="0">
              <a:ln>
                <a:noFill/>
              </a:ln>
              <a:solidFill>
                <a:srgbClr val="000000"/>
              </a:solidFill>
              <a:effectLst/>
              <a:uLnTx/>
              <a:uFillTx/>
              <a:cs typeface="+mn-ea"/>
              <a:sym typeface="+mn-lt"/>
            </a:endParaRPr>
          </a:p>
        </p:txBody>
      </p:sp>
      <p:sp>
        <p:nvSpPr>
          <p:cNvPr id="60" name="ís1ïḍè"/>
          <p:cNvSpPr/>
          <p:nvPr/>
        </p:nvSpPr>
        <p:spPr bwMode="auto">
          <a:xfrm>
            <a:off x="3485208" y="2929798"/>
            <a:ext cx="2135594" cy="355600"/>
          </a:xfrm>
          <a:prstGeom prst="roundRect">
            <a:avLst>
              <a:gd name="adj" fmla="val 0"/>
            </a:avLst>
          </a:prstGeom>
          <a:noFill/>
          <a:ln w="28575" algn="ctr">
            <a:noFill/>
            <a:round/>
          </a:ln>
        </p:spPr>
        <p:txBody>
          <a:bodyPr wrap="none" lIns="91440" tIns="45720" rIns="91440" bIns="45720" anchor="ctr">
            <a:norm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rgbClr val="000000"/>
                </a:solidFill>
                <a:effectLst/>
                <a:uLnTx/>
                <a:uFillTx/>
                <a:cs typeface="+mn-ea"/>
                <a:sym typeface="+mn-lt"/>
              </a:rPr>
              <a:t>预测模型构建</a:t>
            </a:r>
          </a:p>
        </p:txBody>
      </p:sp>
      <p:sp>
        <p:nvSpPr>
          <p:cNvPr id="61" name="矩形 60"/>
          <p:cNvSpPr/>
          <p:nvPr/>
        </p:nvSpPr>
        <p:spPr bwMode="auto">
          <a:xfrm>
            <a:off x="3485208" y="3285398"/>
            <a:ext cx="2855957" cy="124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ct val="0"/>
              </a:spcBef>
              <a:spcAft>
                <a:spcPts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000000"/>
                </a:solidFill>
                <a:effectLst/>
                <a:uLnTx/>
                <a:uFillTx/>
                <a:cs typeface="+mn-ea"/>
                <a:sym typeface="+mn-lt"/>
              </a:rPr>
              <a:t>结合数据库数据，利用多种算法模型和学习器寻找最优化模型配置</a:t>
            </a:r>
            <a:endParaRPr kumimoji="0" lang="en-US" altLang="zh-CN" sz="1600" b="0" i="0" u="none" strike="noStrike" kern="1200" cap="none" spc="0" normalizeH="0" baseline="0" noProof="0" dirty="0">
              <a:ln>
                <a:noFill/>
              </a:ln>
              <a:solidFill>
                <a:srgbClr val="000000"/>
              </a:solidFill>
              <a:effectLst/>
              <a:uLnTx/>
              <a:uFillTx/>
              <a:cs typeface="+mn-ea"/>
              <a:sym typeface="+mn-lt"/>
            </a:endParaRPr>
          </a:p>
        </p:txBody>
      </p:sp>
      <p:sp>
        <p:nvSpPr>
          <p:cNvPr id="62" name="ís1ïḍè"/>
          <p:cNvSpPr/>
          <p:nvPr/>
        </p:nvSpPr>
        <p:spPr bwMode="auto">
          <a:xfrm>
            <a:off x="7058301" y="3849881"/>
            <a:ext cx="2135594" cy="355600"/>
          </a:xfrm>
          <a:prstGeom prst="roundRect">
            <a:avLst>
              <a:gd name="adj" fmla="val 0"/>
            </a:avLst>
          </a:prstGeom>
          <a:noFill/>
          <a:ln w="28575" algn="ctr">
            <a:noFill/>
            <a:round/>
          </a:ln>
        </p:spPr>
        <p:txBody>
          <a:bodyPr wrap="none" lIns="91440" tIns="45720" rIns="91440" bIns="45720" anchor="ctr">
            <a:norm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rgbClr val="000000"/>
                </a:solidFill>
                <a:effectLst/>
                <a:uLnTx/>
                <a:uFillTx/>
                <a:cs typeface="+mn-ea"/>
                <a:sym typeface="+mn-lt"/>
              </a:rPr>
              <a:t>逆向设计</a:t>
            </a:r>
          </a:p>
        </p:txBody>
      </p:sp>
      <p:sp>
        <p:nvSpPr>
          <p:cNvPr id="63" name="矩形 62"/>
          <p:cNvSpPr/>
          <p:nvPr/>
        </p:nvSpPr>
        <p:spPr bwMode="auto">
          <a:xfrm>
            <a:off x="7058301" y="4205481"/>
            <a:ext cx="2329539" cy="1199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ct val="0"/>
              </a:spcBef>
              <a:spcAft>
                <a:spcPts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000000"/>
                </a:solidFill>
                <a:effectLst/>
                <a:uLnTx/>
                <a:uFillTx/>
                <a:cs typeface="+mn-ea"/>
                <a:sym typeface="+mn-lt"/>
              </a:rPr>
              <a:t>构建</a:t>
            </a:r>
            <a:r>
              <a:rPr kumimoji="0" lang="en-US" altLang="zh-CN" sz="1600" b="0" i="0" u="none" strike="noStrike" kern="1200" cap="none" spc="0" normalizeH="0" baseline="0" noProof="0" dirty="0" err="1">
                <a:ln>
                  <a:noFill/>
                </a:ln>
                <a:solidFill>
                  <a:srgbClr val="000000"/>
                </a:solidFill>
                <a:effectLst/>
                <a:uLnTx/>
                <a:uFillTx/>
                <a:cs typeface="+mn-ea"/>
                <a:sym typeface="+mn-lt"/>
              </a:rPr>
              <a:t>cGAN</a:t>
            </a:r>
            <a:r>
              <a:rPr kumimoji="0" lang="zh-CN" altLang="en-US" sz="1600" b="0" i="0" u="none" strike="noStrike" kern="1200" cap="none" spc="0" normalizeH="0" baseline="0" noProof="0" dirty="0">
                <a:ln>
                  <a:noFill/>
                </a:ln>
                <a:solidFill>
                  <a:srgbClr val="000000"/>
                </a:solidFill>
                <a:effectLst/>
                <a:uLnTx/>
                <a:uFillTx/>
                <a:cs typeface="+mn-ea"/>
                <a:sym typeface="+mn-lt"/>
              </a:rPr>
              <a:t>实现</a:t>
            </a:r>
            <a:r>
              <a:rPr kumimoji="0" lang="en-US" altLang="zh-CN" sz="1600" b="0" i="0" u="none" strike="noStrike" kern="1200" cap="none" spc="0" normalizeH="0" baseline="0" noProof="0" dirty="0">
                <a:ln>
                  <a:noFill/>
                </a:ln>
                <a:solidFill>
                  <a:srgbClr val="000000"/>
                </a:solidFill>
                <a:effectLst/>
                <a:uLnTx/>
                <a:uFillTx/>
                <a:cs typeface="+mn-ea"/>
                <a:sym typeface="+mn-lt"/>
              </a:rPr>
              <a:t>"</a:t>
            </a:r>
            <a:r>
              <a:rPr kumimoji="0" lang="zh-CN" altLang="en-US" sz="1600" b="0" i="0" u="none" strike="noStrike" kern="1200" cap="none" spc="0" normalizeH="0" baseline="0" noProof="0" dirty="0">
                <a:ln>
                  <a:noFill/>
                </a:ln>
                <a:solidFill>
                  <a:srgbClr val="000000"/>
                </a:solidFill>
                <a:effectLst/>
                <a:uLnTx/>
                <a:uFillTx/>
                <a:cs typeface="+mn-ea"/>
                <a:sym typeface="+mn-lt"/>
              </a:rPr>
              <a:t>性能</a:t>
            </a:r>
            <a:r>
              <a:rPr kumimoji="0" lang="en-US" altLang="zh-CN" sz="1600" b="0" i="0" u="none" strike="noStrike" kern="1200" cap="none" spc="0" normalizeH="0" baseline="0" noProof="0" dirty="0">
                <a:ln>
                  <a:noFill/>
                </a:ln>
                <a:solidFill>
                  <a:srgbClr val="000000"/>
                </a:solidFill>
                <a:effectLst/>
                <a:uLnTx/>
                <a:uFillTx/>
                <a:cs typeface="+mn-ea"/>
                <a:sym typeface="+mn-lt"/>
              </a:rPr>
              <a:t>-</a:t>
            </a:r>
            <a:r>
              <a:rPr kumimoji="0" lang="zh-CN" altLang="en-US" sz="1600" b="0" i="0" u="none" strike="noStrike" kern="1200" cap="none" spc="0" normalizeH="0" baseline="0" noProof="0" dirty="0">
                <a:ln>
                  <a:noFill/>
                </a:ln>
                <a:solidFill>
                  <a:srgbClr val="000000"/>
                </a:solidFill>
                <a:effectLst/>
                <a:uLnTx/>
                <a:uFillTx/>
                <a:cs typeface="+mn-ea"/>
                <a:sym typeface="+mn-lt"/>
              </a:rPr>
              <a:t>材料</a:t>
            </a:r>
            <a:r>
              <a:rPr kumimoji="0" lang="en-US" altLang="zh-CN" sz="1600" b="0" i="0" u="none" strike="noStrike" kern="1200" cap="none" spc="0" normalizeH="0" baseline="0" noProof="0" dirty="0">
                <a:ln>
                  <a:noFill/>
                </a:ln>
                <a:solidFill>
                  <a:srgbClr val="000000"/>
                </a:solidFill>
                <a:effectLst/>
                <a:uLnTx/>
                <a:uFillTx/>
                <a:cs typeface="+mn-ea"/>
                <a:sym typeface="+mn-lt"/>
              </a:rPr>
              <a:t>"</a:t>
            </a:r>
            <a:r>
              <a:rPr kumimoji="0" lang="zh-CN" altLang="en-US" sz="1600" b="0" i="0" u="none" strike="noStrike" kern="1200" cap="none" spc="0" normalizeH="0" baseline="0" noProof="0" dirty="0">
                <a:ln>
                  <a:noFill/>
                </a:ln>
                <a:solidFill>
                  <a:srgbClr val="000000"/>
                </a:solidFill>
                <a:effectLst/>
                <a:uLnTx/>
                <a:uFillTx/>
                <a:cs typeface="+mn-ea"/>
                <a:sym typeface="+mn-lt"/>
              </a:rPr>
              <a:t>的逆向映射</a:t>
            </a:r>
            <a:endParaRPr kumimoji="0" lang="en-US" altLang="zh-CN" sz="1600" b="0" i="0" u="none" strike="noStrike" kern="1200" cap="none" spc="0" normalizeH="0" baseline="0" noProof="0" dirty="0">
              <a:ln>
                <a:noFill/>
              </a:ln>
              <a:solidFill>
                <a:srgbClr val="000000"/>
              </a:solidFill>
              <a:effectLst/>
              <a:uLnTx/>
              <a:uFillTx/>
              <a:cs typeface="+mn-ea"/>
              <a:sym typeface="+mn-lt"/>
            </a:endParaRPr>
          </a:p>
        </p:txBody>
      </p:sp>
      <p:sp>
        <p:nvSpPr>
          <p:cNvPr id="64" name="ís1ïḍè"/>
          <p:cNvSpPr/>
          <p:nvPr/>
        </p:nvSpPr>
        <p:spPr bwMode="auto">
          <a:xfrm>
            <a:off x="9295596" y="3539437"/>
            <a:ext cx="2135594" cy="355600"/>
          </a:xfrm>
          <a:prstGeom prst="roundRect">
            <a:avLst>
              <a:gd name="adj" fmla="val 0"/>
            </a:avLst>
          </a:prstGeom>
          <a:noFill/>
          <a:ln w="28575" algn="ctr">
            <a:noFill/>
            <a:round/>
          </a:ln>
        </p:spPr>
        <p:txBody>
          <a:bodyPr wrap="none" lIns="91440" tIns="45720" rIns="91440" bIns="45720" anchor="ctr">
            <a:norm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kern="0" dirty="0">
                <a:solidFill>
                  <a:srgbClr val="000000"/>
                </a:solidFill>
                <a:cs typeface="+mn-ea"/>
                <a:sym typeface="+mn-lt"/>
              </a:rPr>
              <a:t>性能优化</a:t>
            </a:r>
            <a:endParaRPr kumimoji="0" lang="zh-CN" altLang="en-US" sz="1600" b="1" i="0" u="none" strike="noStrike" kern="0" cap="none" spc="0" normalizeH="0" baseline="0" noProof="0" dirty="0">
              <a:ln>
                <a:noFill/>
              </a:ln>
              <a:solidFill>
                <a:srgbClr val="000000"/>
              </a:solidFill>
              <a:effectLst/>
              <a:uLnTx/>
              <a:uFillTx/>
              <a:cs typeface="+mn-ea"/>
              <a:sym typeface="+mn-lt"/>
            </a:endParaRPr>
          </a:p>
        </p:txBody>
      </p:sp>
      <p:sp>
        <p:nvSpPr>
          <p:cNvPr id="65" name="矩形 64"/>
          <p:cNvSpPr/>
          <p:nvPr/>
        </p:nvSpPr>
        <p:spPr bwMode="auto">
          <a:xfrm>
            <a:off x="9295596" y="3895037"/>
            <a:ext cx="2520484" cy="1632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ct val="0"/>
              </a:spcBef>
              <a:spcAft>
                <a:spcPts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000000"/>
                </a:solidFill>
                <a:effectLst/>
                <a:uLnTx/>
                <a:uFillTx/>
                <a:cs typeface="+mn-ea"/>
                <a:sym typeface="+mn-lt"/>
              </a:rPr>
              <a:t>优化效率、成本、稳定性，构建智能体与环境交互的强化学习框架</a:t>
            </a:r>
            <a:endParaRPr kumimoji="0" lang="en-US" altLang="zh-CN" sz="1600" b="0" i="0" u="none" strike="noStrike" kern="1200" cap="none" spc="0" normalizeH="0" baseline="0" noProof="0" dirty="0">
              <a:ln>
                <a:noFill/>
              </a:ln>
              <a:solidFill>
                <a:srgbClr val="000000"/>
              </a:solidFill>
              <a:effectLst/>
              <a:uLnTx/>
              <a:uFillTx/>
              <a:cs typeface="+mn-ea"/>
              <a:sym typeface="+mn-lt"/>
            </a:endParaRPr>
          </a:p>
        </p:txBody>
      </p:sp>
      <p:sp>
        <p:nvSpPr>
          <p:cNvPr id="66" name="ís1ïḍè"/>
          <p:cNvSpPr/>
          <p:nvPr/>
        </p:nvSpPr>
        <p:spPr bwMode="auto">
          <a:xfrm>
            <a:off x="9029366" y="1134070"/>
            <a:ext cx="2135594" cy="355600"/>
          </a:xfrm>
          <a:prstGeom prst="roundRect">
            <a:avLst>
              <a:gd name="adj" fmla="val 0"/>
            </a:avLst>
          </a:prstGeom>
          <a:noFill/>
          <a:ln w="28575" algn="ctr">
            <a:noFill/>
            <a:round/>
          </a:ln>
        </p:spPr>
        <p:txBody>
          <a:bodyPr wrap="none" lIns="91440" tIns="45720" rIns="91440" bIns="45720" anchor="ctr">
            <a:norm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kern="0" dirty="0">
                <a:solidFill>
                  <a:srgbClr val="000000"/>
                </a:solidFill>
                <a:cs typeface="+mn-ea"/>
                <a:sym typeface="+mn-lt"/>
              </a:rPr>
              <a:t>最终成果</a:t>
            </a:r>
            <a:endParaRPr kumimoji="0" lang="zh-CN" altLang="en-US" sz="1600" b="1" i="0" u="none" strike="noStrike" kern="0" cap="none" spc="0" normalizeH="0" baseline="0" noProof="0" dirty="0">
              <a:ln>
                <a:noFill/>
              </a:ln>
              <a:solidFill>
                <a:srgbClr val="000000"/>
              </a:solidFill>
              <a:effectLst/>
              <a:uLnTx/>
              <a:uFillTx/>
              <a:cs typeface="+mn-ea"/>
              <a:sym typeface="+mn-lt"/>
            </a:endParaRPr>
          </a:p>
        </p:txBody>
      </p:sp>
      <p:sp>
        <p:nvSpPr>
          <p:cNvPr id="67" name="矩形 66"/>
          <p:cNvSpPr/>
          <p:nvPr/>
        </p:nvSpPr>
        <p:spPr bwMode="auto">
          <a:xfrm>
            <a:off x="8165766" y="1489670"/>
            <a:ext cx="2349834" cy="113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lnSpcReduction="1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ct val="0"/>
              </a:spcBef>
              <a:spcAft>
                <a:spcPts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000000"/>
                </a:solidFill>
                <a:effectLst/>
                <a:uLnTx/>
                <a:uFillTx/>
                <a:cs typeface="+mn-ea"/>
                <a:sym typeface="+mn-lt"/>
              </a:rPr>
              <a:t>综合所有内容实现最终预测工具的搭建实现</a:t>
            </a:r>
            <a:endParaRPr kumimoji="0" lang="en-US" altLang="zh-CN" sz="1600" b="0" i="0" u="none" strike="noStrike" kern="1200" cap="none" spc="0" normalizeH="0" baseline="0" noProof="0" dirty="0">
              <a:ln>
                <a:noFill/>
              </a:ln>
              <a:solidFill>
                <a:srgbClr val="000000"/>
              </a:solidFill>
              <a:effectLst/>
              <a:uLnTx/>
              <a:uFillTx/>
              <a:cs typeface="+mn-ea"/>
              <a:sym typeface="+mn-lt"/>
            </a:endParaRPr>
          </a:p>
        </p:txBody>
      </p:sp>
      <p:sp>
        <p:nvSpPr>
          <p:cNvPr id="69" name="íṡ1íḑè"/>
          <p:cNvSpPr txBox="1"/>
          <p:nvPr/>
        </p:nvSpPr>
        <p:spPr bwMode="auto">
          <a:xfrm>
            <a:off x="669925" y="2112047"/>
            <a:ext cx="5750239"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ct val="0"/>
              </a:spcBef>
              <a:spcAft>
                <a:spcPts val="0"/>
              </a:spcAft>
              <a:buClrTx/>
              <a:buSzTx/>
              <a:buFontTx/>
              <a:buNone/>
              <a:defRPr/>
            </a:pPr>
            <a:r>
              <a:rPr lang="zh-CN" altLang="en-US" sz="2000" b="1" dirty="0">
                <a:solidFill>
                  <a:srgbClr val="000000"/>
                </a:solidFill>
                <a:cs typeface="+mn-ea"/>
                <a:sym typeface="+mn-lt"/>
              </a:rPr>
              <a:t>预测工具实现流程</a:t>
            </a:r>
            <a:endParaRPr kumimoji="0" lang="en-US" altLang="zh-CN" sz="2000" b="1" i="0" u="none" strike="noStrike" kern="1200" cap="none" spc="0" normalizeH="0" baseline="0" noProof="0" dirty="0">
              <a:ln>
                <a:noFill/>
              </a:ln>
              <a:solidFill>
                <a:srgbClr val="000000"/>
              </a:solidFill>
              <a:effectLst/>
              <a:uLnTx/>
              <a:uFillTx/>
              <a:cs typeface="+mn-ea"/>
              <a:sym typeface="+mn-lt"/>
            </a:endParaRPr>
          </a:p>
        </p:txBody>
      </p:sp>
      <p:cxnSp>
        <p:nvCxnSpPr>
          <p:cNvPr id="73" name="直接连接符 72"/>
          <p:cNvCxnSpPr/>
          <p:nvPr/>
        </p:nvCxnSpPr>
        <p:spPr>
          <a:xfrm>
            <a:off x="647521" y="2574000"/>
            <a:ext cx="5408722"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1252537" y="260507"/>
            <a:ext cx="10850563" cy="663575"/>
          </a:xfrm>
        </p:spPr>
        <p:txBody>
          <a:bodyPr/>
          <a:lstStyle/>
          <a:p>
            <a:r>
              <a:rPr lang="zh-CN" altLang="en-US" sz="2800" dirty="0">
                <a:solidFill>
                  <a:schemeClr val="tx1">
                    <a:lumMod val="85000"/>
                    <a:lumOff val="15000"/>
                  </a:schemeClr>
                </a:solidFill>
                <a:latin typeface="+mn-lt"/>
                <a:ea typeface="+mn-ea"/>
                <a:cs typeface="+mn-ea"/>
                <a:sym typeface="+mn-lt"/>
              </a:rPr>
              <a:t>技术路线</a:t>
            </a:r>
          </a:p>
        </p:txBody>
      </p:sp>
      <p:sp>
        <p:nvSpPr>
          <p:cNvPr id="46" name="book-and-cd_43679"/>
          <p:cNvSpPr>
            <a:spLocks noChangeAspect="1"/>
          </p:cNvSpPr>
          <p:nvPr/>
        </p:nvSpPr>
        <p:spPr bwMode="auto">
          <a:xfrm>
            <a:off x="520658" y="414668"/>
            <a:ext cx="609685" cy="488288"/>
          </a:xfrm>
          <a:custGeom>
            <a:avLst/>
            <a:gdLst>
              <a:gd name="connsiteX0" fmla="*/ 452113 w 560604"/>
              <a:gd name="connsiteY0" fmla="*/ 77314 h 448980"/>
              <a:gd name="connsiteX1" fmla="*/ 417185 w 560604"/>
              <a:gd name="connsiteY1" fmla="*/ 112165 h 448980"/>
              <a:gd name="connsiteX2" fmla="*/ 452113 w 560604"/>
              <a:gd name="connsiteY2" fmla="*/ 145726 h 448980"/>
              <a:gd name="connsiteX3" fmla="*/ 485747 w 560604"/>
              <a:gd name="connsiteY3" fmla="*/ 112165 h 448980"/>
              <a:gd name="connsiteX4" fmla="*/ 452113 w 560604"/>
              <a:gd name="connsiteY4" fmla="*/ 77314 h 448980"/>
              <a:gd name="connsiteX5" fmla="*/ 118850 w 560604"/>
              <a:gd name="connsiteY5" fmla="*/ 64516 h 448980"/>
              <a:gd name="connsiteX6" fmla="*/ 40048 w 560604"/>
              <a:gd name="connsiteY6" fmla="*/ 77417 h 448980"/>
              <a:gd name="connsiteX7" fmla="*/ 40048 w 560604"/>
              <a:gd name="connsiteY7" fmla="*/ 392214 h 448980"/>
              <a:gd name="connsiteX8" fmla="*/ 107224 w 560604"/>
              <a:gd name="connsiteY8" fmla="*/ 380602 h 448980"/>
              <a:gd name="connsiteX9" fmla="*/ 255786 w 560604"/>
              <a:gd name="connsiteY9" fmla="*/ 412856 h 448980"/>
              <a:gd name="connsiteX10" fmla="*/ 255786 w 560604"/>
              <a:gd name="connsiteY10" fmla="*/ 277390 h 448980"/>
              <a:gd name="connsiteX11" fmla="*/ 246743 w 560604"/>
              <a:gd name="connsiteY11" fmla="*/ 287711 h 448980"/>
              <a:gd name="connsiteX12" fmla="*/ 246743 w 560604"/>
              <a:gd name="connsiteY12" fmla="*/ 109671 h 448980"/>
              <a:gd name="connsiteX13" fmla="*/ 118850 w 560604"/>
              <a:gd name="connsiteY13" fmla="*/ 64516 h 448980"/>
              <a:gd name="connsiteX14" fmla="*/ 452113 w 560604"/>
              <a:gd name="connsiteY14" fmla="*/ 64406 h 448980"/>
              <a:gd name="connsiteX15" fmla="*/ 498683 w 560604"/>
              <a:gd name="connsiteY15" fmla="*/ 112165 h 448980"/>
              <a:gd name="connsiteX16" fmla="*/ 452113 w 560604"/>
              <a:gd name="connsiteY16" fmla="*/ 158634 h 448980"/>
              <a:gd name="connsiteX17" fmla="*/ 404248 w 560604"/>
              <a:gd name="connsiteY17" fmla="*/ 112165 h 448980"/>
              <a:gd name="connsiteX18" fmla="*/ 452113 w 560604"/>
              <a:gd name="connsiteY18" fmla="*/ 64406 h 448980"/>
              <a:gd name="connsiteX19" fmla="*/ 452058 w 560604"/>
              <a:gd name="connsiteY19" fmla="*/ 59344 h 448980"/>
              <a:gd name="connsiteX20" fmla="*/ 399076 w 560604"/>
              <a:gd name="connsiteY20" fmla="*/ 112237 h 448980"/>
              <a:gd name="connsiteX21" fmla="*/ 452058 w 560604"/>
              <a:gd name="connsiteY21" fmla="*/ 163840 h 448980"/>
              <a:gd name="connsiteX22" fmla="*/ 505039 w 560604"/>
              <a:gd name="connsiteY22" fmla="*/ 112237 h 448980"/>
              <a:gd name="connsiteX23" fmla="*/ 452058 w 560604"/>
              <a:gd name="connsiteY23" fmla="*/ 59344 h 448980"/>
              <a:gd name="connsiteX24" fmla="*/ 118850 w 560604"/>
              <a:gd name="connsiteY24" fmla="*/ 50324 h 448980"/>
              <a:gd name="connsiteX25" fmla="*/ 257078 w 560604"/>
              <a:gd name="connsiteY25" fmla="*/ 99350 h 448980"/>
              <a:gd name="connsiteX26" fmla="*/ 334589 w 560604"/>
              <a:gd name="connsiteY26" fmla="*/ 58065 h 448980"/>
              <a:gd name="connsiteX27" fmla="*/ 329422 w 560604"/>
              <a:gd name="connsiteY27" fmla="*/ 76127 h 448980"/>
              <a:gd name="connsiteX28" fmla="*/ 268705 w 560604"/>
              <a:gd name="connsiteY28" fmla="*/ 109671 h 448980"/>
              <a:gd name="connsiteX29" fmla="*/ 268705 w 560604"/>
              <a:gd name="connsiteY29" fmla="*/ 287711 h 448980"/>
              <a:gd name="connsiteX30" fmla="*/ 259662 w 560604"/>
              <a:gd name="connsiteY30" fmla="*/ 277390 h 448980"/>
              <a:gd name="connsiteX31" fmla="*/ 259662 w 560604"/>
              <a:gd name="connsiteY31" fmla="*/ 412856 h 448980"/>
              <a:gd name="connsiteX32" fmla="*/ 405641 w 560604"/>
              <a:gd name="connsiteY32" fmla="*/ 380602 h 448980"/>
              <a:gd name="connsiteX33" fmla="*/ 475400 w 560604"/>
              <a:gd name="connsiteY33" fmla="*/ 392214 h 448980"/>
              <a:gd name="connsiteX34" fmla="*/ 475400 w 560604"/>
              <a:gd name="connsiteY34" fmla="*/ 233525 h 448980"/>
              <a:gd name="connsiteX35" fmla="*/ 510280 w 560604"/>
              <a:gd name="connsiteY35" fmla="*/ 221914 h 448980"/>
              <a:gd name="connsiteX36" fmla="*/ 510280 w 560604"/>
              <a:gd name="connsiteY36" fmla="*/ 437369 h 448980"/>
              <a:gd name="connsiteX37" fmla="*/ 290666 w 560604"/>
              <a:gd name="connsiteY37" fmla="*/ 437369 h 448980"/>
              <a:gd name="connsiteX38" fmla="*/ 258370 w 560604"/>
              <a:gd name="connsiteY38" fmla="*/ 448980 h 448980"/>
              <a:gd name="connsiteX39" fmla="*/ 226074 w 560604"/>
              <a:gd name="connsiteY39" fmla="*/ 437369 h 448980"/>
              <a:gd name="connsiteX40" fmla="*/ 0 w 560604"/>
              <a:gd name="connsiteY40" fmla="*/ 437369 h 448980"/>
              <a:gd name="connsiteX41" fmla="*/ 0 w 560604"/>
              <a:gd name="connsiteY41" fmla="*/ 113541 h 448980"/>
              <a:gd name="connsiteX42" fmla="*/ 24545 w 560604"/>
              <a:gd name="connsiteY42" fmla="*/ 96769 h 448980"/>
              <a:gd name="connsiteX43" fmla="*/ 24545 w 560604"/>
              <a:gd name="connsiteY43" fmla="*/ 67096 h 448980"/>
              <a:gd name="connsiteX44" fmla="*/ 29713 w 560604"/>
              <a:gd name="connsiteY44" fmla="*/ 65806 h 448980"/>
              <a:gd name="connsiteX45" fmla="*/ 118850 w 560604"/>
              <a:gd name="connsiteY45" fmla="*/ 50324 h 448980"/>
              <a:gd name="connsiteX46" fmla="*/ 449473 w 560604"/>
              <a:gd name="connsiteY46" fmla="*/ 0 h 448980"/>
              <a:gd name="connsiteX47" fmla="*/ 560604 w 560604"/>
              <a:gd name="connsiteY47" fmla="*/ 109657 h 448980"/>
              <a:gd name="connsiteX48" fmla="*/ 449473 w 560604"/>
              <a:gd name="connsiteY48" fmla="*/ 219313 h 448980"/>
              <a:gd name="connsiteX49" fmla="*/ 339634 w 560604"/>
              <a:gd name="connsiteY49" fmla="*/ 109657 h 448980"/>
              <a:gd name="connsiteX50" fmla="*/ 449473 w 560604"/>
              <a:gd name="connsiteY50" fmla="*/ 0 h 448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60604" h="448980">
                <a:moveTo>
                  <a:pt x="452113" y="77314"/>
                </a:moveTo>
                <a:cubicBezTo>
                  <a:pt x="432708" y="77314"/>
                  <a:pt x="417185" y="92804"/>
                  <a:pt x="417185" y="112165"/>
                </a:cubicBezTo>
                <a:cubicBezTo>
                  <a:pt x="417185" y="130237"/>
                  <a:pt x="432708" y="145726"/>
                  <a:pt x="452113" y="145726"/>
                </a:cubicBezTo>
                <a:cubicBezTo>
                  <a:pt x="471517" y="145726"/>
                  <a:pt x="485747" y="130237"/>
                  <a:pt x="485747" y="112165"/>
                </a:cubicBezTo>
                <a:cubicBezTo>
                  <a:pt x="485747" y="92804"/>
                  <a:pt x="470223" y="77314"/>
                  <a:pt x="452113" y="77314"/>
                </a:cubicBezTo>
                <a:close/>
                <a:moveTo>
                  <a:pt x="118850" y="64516"/>
                </a:moveTo>
                <a:cubicBezTo>
                  <a:pt x="81387" y="64516"/>
                  <a:pt x="50382" y="73547"/>
                  <a:pt x="40048" y="77417"/>
                </a:cubicBezTo>
                <a:lnTo>
                  <a:pt x="40048" y="392214"/>
                </a:lnTo>
                <a:cubicBezTo>
                  <a:pt x="58133" y="384473"/>
                  <a:pt x="81387" y="380602"/>
                  <a:pt x="107224" y="380602"/>
                </a:cubicBezTo>
                <a:cubicBezTo>
                  <a:pt x="171816" y="380602"/>
                  <a:pt x="236408" y="405115"/>
                  <a:pt x="255786" y="412856"/>
                </a:cubicBezTo>
                <a:lnTo>
                  <a:pt x="255786" y="277390"/>
                </a:lnTo>
                <a:lnTo>
                  <a:pt x="246743" y="287711"/>
                </a:lnTo>
                <a:lnTo>
                  <a:pt x="246743" y="109671"/>
                </a:lnTo>
                <a:cubicBezTo>
                  <a:pt x="211863" y="79997"/>
                  <a:pt x="169232" y="64516"/>
                  <a:pt x="118850" y="64516"/>
                </a:cubicBezTo>
                <a:close/>
                <a:moveTo>
                  <a:pt x="452113" y="64406"/>
                </a:moveTo>
                <a:cubicBezTo>
                  <a:pt x="477985" y="64406"/>
                  <a:pt x="498683" y="86350"/>
                  <a:pt x="498683" y="112165"/>
                </a:cubicBezTo>
                <a:cubicBezTo>
                  <a:pt x="498683" y="137981"/>
                  <a:pt x="477985" y="158634"/>
                  <a:pt x="452113" y="158634"/>
                </a:cubicBezTo>
                <a:cubicBezTo>
                  <a:pt x="426240" y="158634"/>
                  <a:pt x="404248" y="137981"/>
                  <a:pt x="404248" y="112165"/>
                </a:cubicBezTo>
                <a:cubicBezTo>
                  <a:pt x="404248" y="86350"/>
                  <a:pt x="426240" y="64406"/>
                  <a:pt x="452113" y="64406"/>
                </a:cubicBezTo>
                <a:close/>
                <a:moveTo>
                  <a:pt x="452058" y="59344"/>
                </a:moveTo>
                <a:cubicBezTo>
                  <a:pt x="422336" y="59344"/>
                  <a:pt x="399076" y="82565"/>
                  <a:pt x="399076" y="112237"/>
                </a:cubicBezTo>
                <a:cubicBezTo>
                  <a:pt x="399076" y="140618"/>
                  <a:pt x="422336" y="163840"/>
                  <a:pt x="452058" y="163840"/>
                </a:cubicBezTo>
                <a:cubicBezTo>
                  <a:pt x="480486" y="163840"/>
                  <a:pt x="505039" y="140618"/>
                  <a:pt x="505039" y="112237"/>
                </a:cubicBezTo>
                <a:cubicBezTo>
                  <a:pt x="505039" y="82565"/>
                  <a:pt x="480486" y="59344"/>
                  <a:pt x="452058" y="59344"/>
                </a:cubicBezTo>
                <a:close/>
                <a:moveTo>
                  <a:pt x="118850" y="50324"/>
                </a:moveTo>
                <a:cubicBezTo>
                  <a:pt x="173108" y="50324"/>
                  <a:pt x="219614" y="67096"/>
                  <a:pt x="257078" y="99350"/>
                </a:cubicBezTo>
                <a:cubicBezTo>
                  <a:pt x="280331" y="79997"/>
                  <a:pt x="306168" y="65806"/>
                  <a:pt x="334589" y="58065"/>
                </a:cubicBezTo>
                <a:cubicBezTo>
                  <a:pt x="332005" y="64516"/>
                  <a:pt x="330713" y="69676"/>
                  <a:pt x="329422" y="76127"/>
                </a:cubicBezTo>
                <a:cubicBezTo>
                  <a:pt x="307460" y="82578"/>
                  <a:pt x="286791" y="94189"/>
                  <a:pt x="268705" y="109671"/>
                </a:cubicBezTo>
                <a:lnTo>
                  <a:pt x="268705" y="287711"/>
                </a:lnTo>
                <a:lnTo>
                  <a:pt x="259662" y="277390"/>
                </a:lnTo>
                <a:lnTo>
                  <a:pt x="259662" y="412856"/>
                </a:lnTo>
                <a:cubicBezTo>
                  <a:pt x="279039" y="405115"/>
                  <a:pt x="339756" y="380602"/>
                  <a:pt x="405641" y="380602"/>
                </a:cubicBezTo>
                <a:cubicBezTo>
                  <a:pt x="431478" y="380602"/>
                  <a:pt x="454731" y="384473"/>
                  <a:pt x="475400" y="392214"/>
                </a:cubicBezTo>
                <a:lnTo>
                  <a:pt x="475400" y="233525"/>
                </a:lnTo>
                <a:cubicBezTo>
                  <a:pt x="488319" y="230945"/>
                  <a:pt x="499945" y="227074"/>
                  <a:pt x="510280" y="221914"/>
                </a:cubicBezTo>
                <a:lnTo>
                  <a:pt x="510280" y="437369"/>
                </a:lnTo>
                <a:lnTo>
                  <a:pt x="290666" y="437369"/>
                </a:lnTo>
                <a:cubicBezTo>
                  <a:pt x="282915" y="445110"/>
                  <a:pt x="271288" y="448980"/>
                  <a:pt x="258370" y="448980"/>
                </a:cubicBezTo>
                <a:cubicBezTo>
                  <a:pt x="245451" y="448980"/>
                  <a:pt x="233825" y="445110"/>
                  <a:pt x="226074" y="437369"/>
                </a:cubicBezTo>
                <a:lnTo>
                  <a:pt x="0" y="437369"/>
                </a:lnTo>
                <a:lnTo>
                  <a:pt x="0" y="113541"/>
                </a:lnTo>
                <a:cubicBezTo>
                  <a:pt x="0" y="105800"/>
                  <a:pt x="9043" y="100640"/>
                  <a:pt x="24545" y="96769"/>
                </a:cubicBezTo>
                <a:lnTo>
                  <a:pt x="24545" y="67096"/>
                </a:lnTo>
                <a:lnTo>
                  <a:pt x="29713" y="65806"/>
                </a:lnTo>
                <a:cubicBezTo>
                  <a:pt x="31005" y="64516"/>
                  <a:pt x="68468" y="50324"/>
                  <a:pt x="118850" y="50324"/>
                </a:cubicBezTo>
                <a:close/>
                <a:moveTo>
                  <a:pt x="449473" y="0"/>
                </a:moveTo>
                <a:cubicBezTo>
                  <a:pt x="510208" y="0"/>
                  <a:pt x="560604" y="49023"/>
                  <a:pt x="560604" y="109657"/>
                </a:cubicBezTo>
                <a:cubicBezTo>
                  <a:pt x="560604" y="170290"/>
                  <a:pt x="510208" y="219313"/>
                  <a:pt x="449473" y="219313"/>
                </a:cubicBezTo>
                <a:cubicBezTo>
                  <a:pt x="388739" y="219313"/>
                  <a:pt x="339634" y="170290"/>
                  <a:pt x="339634" y="109657"/>
                </a:cubicBezTo>
                <a:cubicBezTo>
                  <a:pt x="339634" y="49023"/>
                  <a:pt x="388739" y="0"/>
                  <a:pt x="449473" y="0"/>
                </a:cubicBezTo>
                <a:close/>
              </a:path>
            </a:pathLst>
          </a:custGeom>
          <a:solidFill>
            <a:srgbClr val="1A3172"/>
          </a:solidFill>
          <a:ln>
            <a:noFill/>
          </a:ln>
        </p:spPr>
        <p:txBody>
          <a:bodyPr/>
          <a:lstStyle/>
          <a:p>
            <a:endParaRPr lang="zh-CN" altLang="en-US">
              <a:cs typeface="+mn-ea"/>
              <a:sym typeface="+mn-lt"/>
            </a:endParaRPr>
          </a:p>
        </p:txBody>
      </p:sp>
      <p:pic>
        <p:nvPicPr>
          <p:cNvPr id="31" name="图片 3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11230" y="0"/>
            <a:ext cx="1180770" cy="11749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ŝḻïḑè"/>
          <p:cNvSpPr/>
          <p:nvPr/>
        </p:nvSpPr>
        <p:spPr bwMode="auto">
          <a:xfrm rot="10800000">
            <a:off x="5284347" y="2458113"/>
            <a:ext cx="926174" cy="1056339"/>
          </a:xfrm>
          <a:custGeom>
            <a:avLst/>
            <a:gdLst>
              <a:gd name="T0" fmla="*/ 336 w 423"/>
              <a:gd name="T1" fmla="*/ 0 h 483"/>
              <a:gd name="T2" fmla="*/ 313 w 423"/>
              <a:gd name="T3" fmla="*/ 42 h 483"/>
              <a:gd name="T4" fmla="*/ 262 w 423"/>
              <a:gd name="T5" fmla="*/ 62 h 483"/>
              <a:gd name="T6" fmla="*/ 210 w 423"/>
              <a:gd name="T7" fmla="*/ 42 h 483"/>
              <a:gd name="T8" fmla="*/ 187 w 423"/>
              <a:gd name="T9" fmla="*/ 0 h 483"/>
              <a:gd name="T10" fmla="*/ 63 w 423"/>
              <a:gd name="T11" fmla="*/ 0 h 483"/>
              <a:gd name="T12" fmla="*/ 63 w 423"/>
              <a:gd name="T13" fmla="*/ 190 h 483"/>
              <a:gd name="T14" fmla="*/ 55 w 423"/>
              <a:gd name="T15" fmla="*/ 190 h 483"/>
              <a:gd name="T16" fmla="*/ 0 w 423"/>
              <a:gd name="T17" fmla="*/ 250 h 483"/>
              <a:gd name="T18" fmla="*/ 55 w 423"/>
              <a:gd name="T19" fmla="*/ 309 h 483"/>
              <a:gd name="T20" fmla="*/ 63 w 423"/>
              <a:gd name="T21" fmla="*/ 310 h 483"/>
              <a:gd name="T22" fmla="*/ 63 w 423"/>
              <a:gd name="T23" fmla="*/ 483 h 483"/>
              <a:gd name="T24" fmla="*/ 216 w 423"/>
              <a:gd name="T25" fmla="*/ 483 h 483"/>
              <a:gd name="T26" fmla="*/ 319 w 423"/>
              <a:gd name="T27" fmla="*/ 195 h 483"/>
              <a:gd name="T28" fmla="*/ 356 w 423"/>
              <a:gd name="T29" fmla="*/ 127 h 483"/>
              <a:gd name="T30" fmla="*/ 423 w 423"/>
              <a:gd name="T31" fmla="*/ 0 h 483"/>
              <a:gd name="T32" fmla="*/ 336 w 423"/>
              <a:gd name="T33" fmla="*/ 0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3" h="483">
                <a:moveTo>
                  <a:pt x="336" y="0"/>
                </a:moveTo>
                <a:cubicBezTo>
                  <a:pt x="334" y="16"/>
                  <a:pt x="326" y="31"/>
                  <a:pt x="313" y="42"/>
                </a:cubicBezTo>
                <a:cubicBezTo>
                  <a:pt x="299" y="55"/>
                  <a:pt x="281" y="62"/>
                  <a:pt x="262" y="62"/>
                </a:cubicBezTo>
                <a:cubicBezTo>
                  <a:pt x="242" y="62"/>
                  <a:pt x="224" y="55"/>
                  <a:pt x="210" y="42"/>
                </a:cubicBezTo>
                <a:cubicBezTo>
                  <a:pt x="198" y="31"/>
                  <a:pt x="190" y="16"/>
                  <a:pt x="187" y="0"/>
                </a:cubicBezTo>
                <a:cubicBezTo>
                  <a:pt x="63" y="0"/>
                  <a:pt x="63" y="0"/>
                  <a:pt x="63" y="0"/>
                </a:cubicBezTo>
                <a:cubicBezTo>
                  <a:pt x="63" y="190"/>
                  <a:pt x="63" y="190"/>
                  <a:pt x="63" y="190"/>
                </a:cubicBezTo>
                <a:cubicBezTo>
                  <a:pt x="55" y="190"/>
                  <a:pt x="55" y="190"/>
                  <a:pt x="55" y="190"/>
                </a:cubicBezTo>
                <a:cubicBezTo>
                  <a:pt x="24" y="193"/>
                  <a:pt x="0" y="219"/>
                  <a:pt x="0" y="250"/>
                </a:cubicBezTo>
                <a:cubicBezTo>
                  <a:pt x="0" y="281"/>
                  <a:pt x="24" y="307"/>
                  <a:pt x="55" y="309"/>
                </a:cubicBezTo>
                <a:cubicBezTo>
                  <a:pt x="63" y="310"/>
                  <a:pt x="63" y="310"/>
                  <a:pt x="63" y="310"/>
                </a:cubicBezTo>
                <a:cubicBezTo>
                  <a:pt x="63" y="483"/>
                  <a:pt x="63" y="483"/>
                  <a:pt x="63" y="483"/>
                </a:cubicBezTo>
                <a:cubicBezTo>
                  <a:pt x="216" y="483"/>
                  <a:pt x="216" y="483"/>
                  <a:pt x="216" y="483"/>
                </a:cubicBezTo>
                <a:cubicBezTo>
                  <a:pt x="231" y="419"/>
                  <a:pt x="260" y="321"/>
                  <a:pt x="319" y="195"/>
                </a:cubicBezTo>
                <a:cubicBezTo>
                  <a:pt x="328" y="175"/>
                  <a:pt x="341" y="153"/>
                  <a:pt x="356" y="127"/>
                </a:cubicBezTo>
                <a:cubicBezTo>
                  <a:pt x="378" y="90"/>
                  <a:pt x="404" y="45"/>
                  <a:pt x="423" y="0"/>
                </a:cubicBezTo>
                <a:lnTo>
                  <a:pt x="336" y="0"/>
                </a:lnTo>
                <a:close/>
              </a:path>
            </a:pathLst>
          </a:custGeom>
          <a:solidFill>
            <a:schemeClr val="accent1"/>
          </a:solidFill>
          <a:ln>
            <a:noFill/>
          </a:ln>
        </p:spPr>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4" name="iSľíḑè"/>
          <p:cNvSpPr txBox="1"/>
          <p:nvPr/>
        </p:nvSpPr>
        <p:spPr>
          <a:xfrm>
            <a:off x="5628867" y="2950727"/>
            <a:ext cx="347800" cy="291181"/>
          </a:xfrm>
          <a:prstGeom prst="rect">
            <a:avLst/>
          </a:prstGeom>
          <a:noFill/>
        </p:spPr>
        <p:txBody>
          <a:bodyPr wrap="none">
            <a:normAutofit fontScale="85000" lnSpcReduction="20000"/>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id-ID" sz="1800" b="1" i="0" u="none" strike="noStrike" kern="1200" cap="none" spc="0" normalizeH="0" baseline="0" noProof="0">
                <a:ln>
                  <a:noFill/>
                </a:ln>
                <a:solidFill>
                  <a:srgbClr val="FFFFFF"/>
                </a:solidFill>
                <a:effectLst/>
                <a:uLnTx/>
                <a:uFillTx/>
                <a:cs typeface="+mn-ea"/>
                <a:sym typeface="+mn-lt"/>
              </a:rPr>
              <a:t>01</a:t>
            </a:r>
          </a:p>
        </p:txBody>
      </p:sp>
      <p:sp>
        <p:nvSpPr>
          <p:cNvPr id="5" name="î$ḻïḓé"/>
          <p:cNvSpPr/>
          <p:nvPr/>
        </p:nvSpPr>
        <p:spPr bwMode="auto">
          <a:xfrm rot="10800000">
            <a:off x="6109142" y="2458114"/>
            <a:ext cx="798511" cy="1191509"/>
          </a:xfrm>
          <a:custGeom>
            <a:avLst/>
            <a:gdLst>
              <a:gd name="T0" fmla="*/ 365 w 365"/>
              <a:gd name="T1" fmla="*/ 387 h 545"/>
              <a:gd name="T2" fmla="*/ 323 w 365"/>
              <a:gd name="T3" fmla="*/ 363 h 545"/>
              <a:gd name="T4" fmla="*/ 303 w 365"/>
              <a:gd name="T5" fmla="*/ 312 h 545"/>
              <a:gd name="T6" fmla="*/ 323 w 365"/>
              <a:gd name="T7" fmla="*/ 260 h 545"/>
              <a:gd name="T8" fmla="*/ 365 w 365"/>
              <a:gd name="T9" fmla="*/ 237 h 545"/>
              <a:gd name="T10" fmla="*/ 365 w 365"/>
              <a:gd name="T11" fmla="*/ 62 h 545"/>
              <a:gd name="T12" fmla="*/ 231 w 365"/>
              <a:gd name="T13" fmla="*/ 62 h 545"/>
              <a:gd name="T14" fmla="*/ 230 w 365"/>
              <a:gd name="T15" fmla="*/ 55 h 545"/>
              <a:gd name="T16" fmla="*/ 170 w 365"/>
              <a:gd name="T17" fmla="*/ 0 h 545"/>
              <a:gd name="T18" fmla="*/ 111 w 365"/>
              <a:gd name="T19" fmla="*/ 55 h 545"/>
              <a:gd name="T20" fmla="*/ 110 w 365"/>
              <a:gd name="T21" fmla="*/ 62 h 545"/>
              <a:gd name="T22" fmla="*/ 0 w 365"/>
              <a:gd name="T23" fmla="*/ 62 h 545"/>
              <a:gd name="T24" fmla="*/ 66 w 365"/>
              <a:gd name="T25" fmla="*/ 189 h 545"/>
              <a:gd name="T26" fmla="*/ 103 w 365"/>
              <a:gd name="T27" fmla="*/ 257 h 545"/>
              <a:gd name="T28" fmla="*/ 206 w 365"/>
              <a:gd name="T29" fmla="*/ 545 h 545"/>
              <a:gd name="T30" fmla="*/ 365 w 365"/>
              <a:gd name="T31" fmla="*/ 545 h 545"/>
              <a:gd name="T32" fmla="*/ 365 w 365"/>
              <a:gd name="T33" fmla="*/ 387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5" h="545">
                <a:moveTo>
                  <a:pt x="365" y="387"/>
                </a:moveTo>
                <a:cubicBezTo>
                  <a:pt x="349" y="384"/>
                  <a:pt x="335" y="376"/>
                  <a:pt x="323" y="363"/>
                </a:cubicBezTo>
                <a:cubicBezTo>
                  <a:pt x="310" y="349"/>
                  <a:pt x="303" y="331"/>
                  <a:pt x="303" y="312"/>
                </a:cubicBezTo>
                <a:cubicBezTo>
                  <a:pt x="303" y="293"/>
                  <a:pt x="310" y="274"/>
                  <a:pt x="323" y="260"/>
                </a:cubicBezTo>
                <a:cubicBezTo>
                  <a:pt x="335" y="248"/>
                  <a:pt x="349" y="240"/>
                  <a:pt x="365" y="237"/>
                </a:cubicBezTo>
                <a:cubicBezTo>
                  <a:pt x="365" y="62"/>
                  <a:pt x="365" y="62"/>
                  <a:pt x="365" y="62"/>
                </a:cubicBezTo>
                <a:cubicBezTo>
                  <a:pt x="231" y="62"/>
                  <a:pt x="231" y="62"/>
                  <a:pt x="231" y="62"/>
                </a:cubicBezTo>
                <a:cubicBezTo>
                  <a:pt x="230" y="55"/>
                  <a:pt x="230" y="55"/>
                  <a:pt x="230" y="55"/>
                </a:cubicBezTo>
                <a:cubicBezTo>
                  <a:pt x="228" y="24"/>
                  <a:pt x="201" y="0"/>
                  <a:pt x="170" y="0"/>
                </a:cubicBezTo>
                <a:cubicBezTo>
                  <a:pt x="140" y="0"/>
                  <a:pt x="113" y="24"/>
                  <a:pt x="111" y="55"/>
                </a:cubicBezTo>
                <a:cubicBezTo>
                  <a:pt x="110" y="62"/>
                  <a:pt x="110" y="62"/>
                  <a:pt x="110" y="62"/>
                </a:cubicBezTo>
                <a:cubicBezTo>
                  <a:pt x="0" y="62"/>
                  <a:pt x="0" y="62"/>
                  <a:pt x="0" y="62"/>
                </a:cubicBezTo>
                <a:cubicBezTo>
                  <a:pt x="19" y="107"/>
                  <a:pt x="45" y="152"/>
                  <a:pt x="66" y="189"/>
                </a:cubicBezTo>
                <a:cubicBezTo>
                  <a:pt x="81" y="215"/>
                  <a:pt x="94" y="237"/>
                  <a:pt x="103" y="257"/>
                </a:cubicBezTo>
                <a:cubicBezTo>
                  <a:pt x="162" y="383"/>
                  <a:pt x="192" y="481"/>
                  <a:pt x="206" y="545"/>
                </a:cubicBezTo>
                <a:cubicBezTo>
                  <a:pt x="365" y="545"/>
                  <a:pt x="365" y="545"/>
                  <a:pt x="365" y="545"/>
                </a:cubicBezTo>
                <a:lnTo>
                  <a:pt x="365" y="387"/>
                </a:lnTo>
                <a:close/>
              </a:path>
            </a:pathLst>
          </a:custGeom>
          <a:solidFill>
            <a:schemeClr val="accent2"/>
          </a:solidFill>
          <a:ln>
            <a:noFill/>
          </a:ln>
        </p:spPr>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6" name="ïš1ïďe"/>
          <p:cNvSpPr txBox="1"/>
          <p:nvPr/>
        </p:nvSpPr>
        <p:spPr>
          <a:xfrm>
            <a:off x="6275777" y="2950729"/>
            <a:ext cx="347800" cy="291181"/>
          </a:xfrm>
          <a:prstGeom prst="rect">
            <a:avLst/>
          </a:prstGeom>
          <a:noFill/>
        </p:spPr>
        <p:txBody>
          <a:bodyPr wrap="none">
            <a:normAutofit fontScale="85000" lnSpcReduction="20000"/>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id-ID" sz="1800" b="1" i="0" u="none" strike="noStrike" kern="1200" cap="none" spc="0" normalizeH="0" baseline="0" noProof="0">
                <a:ln>
                  <a:noFill/>
                </a:ln>
                <a:solidFill>
                  <a:srgbClr val="FFFFFF"/>
                </a:solidFill>
                <a:effectLst/>
                <a:uLnTx/>
                <a:uFillTx/>
                <a:cs typeface="+mn-ea"/>
                <a:sym typeface="+mn-lt"/>
              </a:rPr>
              <a:t>02</a:t>
            </a:r>
          </a:p>
        </p:txBody>
      </p:sp>
      <p:sp>
        <p:nvSpPr>
          <p:cNvPr id="7" name="îśḻidê"/>
          <p:cNvSpPr/>
          <p:nvPr/>
        </p:nvSpPr>
        <p:spPr bwMode="auto">
          <a:xfrm rot="10800000">
            <a:off x="5228026" y="3413074"/>
            <a:ext cx="843569" cy="1204025"/>
          </a:xfrm>
          <a:custGeom>
            <a:avLst/>
            <a:gdLst>
              <a:gd name="T0" fmla="*/ 0 w 386"/>
              <a:gd name="T1" fmla="*/ 164 h 551"/>
              <a:gd name="T2" fmla="*/ 42 w 386"/>
              <a:gd name="T3" fmla="*/ 187 h 551"/>
              <a:gd name="T4" fmla="*/ 62 w 386"/>
              <a:gd name="T5" fmla="*/ 239 h 551"/>
              <a:gd name="T6" fmla="*/ 42 w 386"/>
              <a:gd name="T7" fmla="*/ 291 h 551"/>
              <a:gd name="T8" fmla="*/ 0 w 386"/>
              <a:gd name="T9" fmla="*/ 314 h 551"/>
              <a:gd name="T10" fmla="*/ 0 w 386"/>
              <a:gd name="T11" fmla="*/ 488 h 551"/>
              <a:gd name="T12" fmla="*/ 139 w 386"/>
              <a:gd name="T13" fmla="*/ 488 h 551"/>
              <a:gd name="T14" fmla="*/ 139 w 386"/>
              <a:gd name="T15" fmla="*/ 496 h 551"/>
              <a:gd name="T16" fmla="*/ 199 w 386"/>
              <a:gd name="T17" fmla="*/ 551 h 551"/>
              <a:gd name="T18" fmla="*/ 258 w 386"/>
              <a:gd name="T19" fmla="*/ 496 h 551"/>
              <a:gd name="T20" fmla="*/ 259 w 386"/>
              <a:gd name="T21" fmla="*/ 488 h 551"/>
              <a:gd name="T22" fmla="*/ 366 w 386"/>
              <a:gd name="T23" fmla="*/ 488 h 551"/>
              <a:gd name="T24" fmla="*/ 386 w 386"/>
              <a:gd name="T25" fmla="*/ 397 h 551"/>
              <a:gd name="T26" fmla="*/ 0 w 386"/>
              <a:gd name="T27" fmla="*/ 0 h 551"/>
              <a:gd name="T28" fmla="*/ 0 w 386"/>
              <a:gd name="T29" fmla="*/ 164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6" h="551">
                <a:moveTo>
                  <a:pt x="0" y="164"/>
                </a:moveTo>
                <a:cubicBezTo>
                  <a:pt x="16" y="167"/>
                  <a:pt x="31" y="175"/>
                  <a:pt x="42" y="187"/>
                </a:cubicBezTo>
                <a:cubicBezTo>
                  <a:pt x="55" y="201"/>
                  <a:pt x="62" y="220"/>
                  <a:pt x="62" y="239"/>
                </a:cubicBezTo>
                <a:cubicBezTo>
                  <a:pt x="62" y="258"/>
                  <a:pt x="55" y="276"/>
                  <a:pt x="42" y="291"/>
                </a:cubicBezTo>
                <a:cubicBezTo>
                  <a:pt x="31" y="303"/>
                  <a:pt x="16" y="311"/>
                  <a:pt x="0" y="314"/>
                </a:cubicBezTo>
                <a:cubicBezTo>
                  <a:pt x="0" y="488"/>
                  <a:pt x="0" y="488"/>
                  <a:pt x="0" y="488"/>
                </a:cubicBezTo>
                <a:cubicBezTo>
                  <a:pt x="139" y="488"/>
                  <a:pt x="139" y="488"/>
                  <a:pt x="139" y="488"/>
                </a:cubicBezTo>
                <a:cubicBezTo>
                  <a:pt x="139" y="496"/>
                  <a:pt x="139" y="496"/>
                  <a:pt x="139" y="496"/>
                </a:cubicBezTo>
                <a:cubicBezTo>
                  <a:pt x="142" y="527"/>
                  <a:pt x="168" y="551"/>
                  <a:pt x="199" y="551"/>
                </a:cubicBezTo>
                <a:cubicBezTo>
                  <a:pt x="230" y="551"/>
                  <a:pt x="256" y="527"/>
                  <a:pt x="258" y="496"/>
                </a:cubicBezTo>
                <a:cubicBezTo>
                  <a:pt x="259" y="488"/>
                  <a:pt x="259" y="488"/>
                  <a:pt x="259" y="488"/>
                </a:cubicBezTo>
                <a:cubicBezTo>
                  <a:pt x="366" y="488"/>
                  <a:pt x="366" y="488"/>
                  <a:pt x="366" y="488"/>
                </a:cubicBezTo>
                <a:cubicBezTo>
                  <a:pt x="378" y="457"/>
                  <a:pt x="386" y="426"/>
                  <a:pt x="386" y="397"/>
                </a:cubicBezTo>
                <a:cubicBezTo>
                  <a:pt x="386" y="182"/>
                  <a:pt x="214" y="6"/>
                  <a:pt x="0" y="0"/>
                </a:cubicBezTo>
                <a:lnTo>
                  <a:pt x="0" y="164"/>
                </a:lnTo>
                <a:close/>
              </a:path>
            </a:pathLst>
          </a:custGeom>
          <a:solidFill>
            <a:schemeClr val="accent3"/>
          </a:solidFill>
          <a:ln>
            <a:noFill/>
          </a:ln>
        </p:spPr>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8" name="ïslíḑe"/>
          <p:cNvSpPr txBox="1"/>
          <p:nvPr/>
        </p:nvSpPr>
        <p:spPr>
          <a:xfrm>
            <a:off x="5421666" y="3842179"/>
            <a:ext cx="347800" cy="291181"/>
          </a:xfrm>
          <a:prstGeom prst="rect">
            <a:avLst/>
          </a:prstGeom>
          <a:noFill/>
        </p:spPr>
        <p:txBody>
          <a:bodyPr wrap="none">
            <a:normAutofit fontScale="85000" lnSpcReduction="20000"/>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id-ID" sz="1800" b="1" i="0" u="none" strike="noStrike" kern="1200" cap="none" spc="0" normalizeH="0" baseline="0" noProof="0">
                <a:ln>
                  <a:noFill/>
                </a:ln>
                <a:solidFill>
                  <a:srgbClr val="FFFFFF"/>
                </a:solidFill>
                <a:effectLst/>
                <a:uLnTx/>
                <a:uFillTx/>
                <a:cs typeface="+mn-ea"/>
                <a:sym typeface="+mn-lt"/>
              </a:rPr>
              <a:t>04</a:t>
            </a:r>
          </a:p>
        </p:txBody>
      </p:sp>
      <p:sp>
        <p:nvSpPr>
          <p:cNvPr id="9" name="íş1ídê"/>
          <p:cNvSpPr/>
          <p:nvPr/>
        </p:nvSpPr>
        <p:spPr bwMode="auto">
          <a:xfrm rot="10800000">
            <a:off x="5971468" y="3549495"/>
            <a:ext cx="993759" cy="1067603"/>
          </a:xfrm>
          <a:custGeom>
            <a:avLst/>
            <a:gdLst>
              <a:gd name="T0" fmla="*/ 122 w 454"/>
              <a:gd name="T1" fmla="*/ 489 h 489"/>
              <a:gd name="T2" fmla="*/ 145 w 454"/>
              <a:gd name="T3" fmla="*/ 447 h 489"/>
              <a:gd name="T4" fmla="*/ 196 w 454"/>
              <a:gd name="T5" fmla="*/ 426 h 489"/>
              <a:gd name="T6" fmla="*/ 248 w 454"/>
              <a:gd name="T7" fmla="*/ 447 h 489"/>
              <a:gd name="T8" fmla="*/ 271 w 454"/>
              <a:gd name="T9" fmla="*/ 489 h 489"/>
              <a:gd name="T10" fmla="*/ 391 w 454"/>
              <a:gd name="T11" fmla="*/ 489 h 489"/>
              <a:gd name="T12" fmla="*/ 391 w 454"/>
              <a:gd name="T13" fmla="*/ 299 h 489"/>
              <a:gd name="T14" fmla="*/ 399 w 454"/>
              <a:gd name="T15" fmla="*/ 298 h 489"/>
              <a:gd name="T16" fmla="*/ 454 w 454"/>
              <a:gd name="T17" fmla="*/ 239 h 489"/>
              <a:gd name="T18" fmla="*/ 399 w 454"/>
              <a:gd name="T19" fmla="*/ 179 h 489"/>
              <a:gd name="T20" fmla="*/ 391 w 454"/>
              <a:gd name="T21" fmla="*/ 179 h 489"/>
              <a:gd name="T22" fmla="*/ 391 w 454"/>
              <a:gd name="T23" fmla="*/ 0 h 489"/>
              <a:gd name="T24" fmla="*/ 0 w 454"/>
              <a:gd name="T25" fmla="*/ 397 h 489"/>
              <a:gd name="T26" fmla="*/ 19 w 454"/>
              <a:gd name="T27" fmla="*/ 489 h 489"/>
              <a:gd name="T28" fmla="*/ 122 w 454"/>
              <a:gd name="T29" fmla="*/ 48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4" h="489">
                <a:moveTo>
                  <a:pt x="122" y="489"/>
                </a:moveTo>
                <a:cubicBezTo>
                  <a:pt x="125" y="473"/>
                  <a:pt x="133" y="458"/>
                  <a:pt x="145" y="447"/>
                </a:cubicBezTo>
                <a:cubicBezTo>
                  <a:pt x="159" y="434"/>
                  <a:pt x="177" y="426"/>
                  <a:pt x="196" y="426"/>
                </a:cubicBezTo>
                <a:cubicBezTo>
                  <a:pt x="216" y="426"/>
                  <a:pt x="234" y="434"/>
                  <a:pt x="248" y="447"/>
                </a:cubicBezTo>
                <a:cubicBezTo>
                  <a:pt x="260" y="458"/>
                  <a:pt x="268" y="473"/>
                  <a:pt x="271" y="489"/>
                </a:cubicBezTo>
                <a:cubicBezTo>
                  <a:pt x="391" y="489"/>
                  <a:pt x="391" y="489"/>
                  <a:pt x="391" y="489"/>
                </a:cubicBezTo>
                <a:cubicBezTo>
                  <a:pt x="391" y="299"/>
                  <a:pt x="391" y="299"/>
                  <a:pt x="391" y="299"/>
                </a:cubicBezTo>
                <a:cubicBezTo>
                  <a:pt x="399" y="298"/>
                  <a:pt x="399" y="298"/>
                  <a:pt x="399" y="298"/>
                </a:cubicBezTo>
                <a:cubicBezTo>
                  <a:pt x="430" y="296"/>
                  <a:pt x="454" y="270"/>
                  <a:pt x="454" y="239"/>
                </a:cubicBezTo>
                <a:cubicBezTo>
                  <a:pt x="454" y="208"/>
                  <a:pt x="430" y="182"/>
                  <a:pt x="399" y="179"/>
                </a:cubicBezTo>
                <a:cubicBezTo>
                  <a:pt x="391" y="179"/>
                  <a:pt x="391" y="179"/>
                  <a:pt x="391" y="179"/>
                </a:cubicBezTo>
                <a:cubicBezTo>
                  <a:pt x="391" y="0"/>
                  <a:pt x="391" y="0"/>
                  <a:pt x="391" y="0"/>
                </a:cubicBezTo>
                <a:cubicBezTo>
                  <a:pt x="175" y="3"/>
                  <a:pt x="0" y="180"/>
                  <a:pt x="0" y="397"/>
                </a:cubicBezTo>
                <a:cubicBezTo>
                  <a:pt x="0" y="426"/>
                  <a:pt x="7" y="457"/>
                  <a:pt x="19" y="489"/>
                </a:cubicBezTo>
                <a:lnTo>
                  <a:pt x="122" y="489"/>
                </a:lnTo>
                <a:close/>
              </a:path>
            </a:pathLst>
          </a:custGeom>
          <a:solidFill>
            <a:schemeClr val="accent4"/>
          </a:solidFill>
          <a:ln>
            <a:noFill/>
          </a:ln>
        </p:spPr>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10" name="îśḻíďé"/>
          <p:cNvSpPr txBox="1"/>
          <p:nvPr/>
        </p:nvSpPr>
        <p:spPr>
          <a:xfrm>
            <a:off x="6395506" y="3842179"/>
            <a:ext cx="347800" cy="291181"/>
          </a:xfrm>
          <a:prstGeom prst="rect">
            <a:avLst/>
          </a:prstGeom>
          <a:noFill/>
        </p:spPr>
        <p:txBody>
          <a:bodyPr wrap="none">
            <a:normAutofit fontScale="85000" lnSpcReduction="20000"/>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id-ID" sz="1800" b="1" i="0" u="none" strike="noStrike" kern="1200" cap="none" spc="0" normalizeH="0" baseline="0" noProof="0">
                <a:ln>
                  <a:noFill/>
                </a:ln>
                <a:solidFill>
                  <a:srgbClr val="FFFFFF"/>
                </a:solidFill>
                <a:effectLst/>
                <a:uLnTx/>
                <a:uFillTx/>
                <a:cs typeface="+mn-ea"/>
                <a:sym typeface="+mn-lt"/>
              </a:rPr>
              <a:t>03</a:t>
            </a:r>
          </a:p>
        </p:txBody>
      </p:sp>
      <p:sp>
        <p:nvSpPr>
          <p:cNvPr id="14" name="iṥḷíḓê"/>
          <p:cNvSpPr/>
          <p:nvPr/>
        </p:nvSpPr>
        <p:spPr bwMode="auto">
          <a:xfrm rot="10800000">
            <a:off x="4938910" y="2170249"/>
            <a:ext cx="2314181" cy="2735965"/>
          </a:xfrm>
          <a:custGeom>
            <a:avLst/>
            <a:gdLst>
              <a:gd name="T0" fmla="*/ 774 w 1058"/>
              <a:gd name="T1" fmla="*/ 1252 h 1252"/>
              <a:gd name="T2" fmla="*/ 283 w 1058"/>
              <a:gd name="T3" fmla="*/ 1252 h 1252"/>
              <a:gd name="T4" fmla="*/ 248 w 1058"/>
              <a:gd name="T5" fmla="*/ 1218 h 1252"/>
              <a:gd name="T6" fmla="*/ 142 w 1058"/>
              <a:gd name="T7" fmla="*/ 887 h 1252"/>
              <a:gd name="T8" fmla="*/ 110 w 1058"/>
              <a:gd name="T9" fmla="*/ 831 h 1252"/>
              <a:gd name="T10" fmla="*/ 0 w 1058"/>
              <a:gd name="T11" fmla="*/ 529 h 1252"/>
              <a:gd name="T12" fmla="*/ 529 w 1058"/>
              <a:gd name="T13" fmla="*/ 0 h 1252"/>
              <a:gd name="T14" fmla="*/ 1058 w 1058"/>
              <a:gd name="T15" fmla="*/ 529 h 1252"/>
              <a:gd name="T16" fmla="*/ 947 w 1058"/>
              <a:gd name="T17" fmla="*/ 831 h 1252"/>
              <a:gd name="T18" fmla="*/ 916 w 1058"/>
              <a:gd name="T19" fmla="*/ 887 h 1252"/>
              <a:gd name="T20" fmla="*/ 810 w 1058"/>
              <a:gd name="T21" fmla="*/ 1218 h 1252"/>
              <a:gd name="T22" fmla="*/ 774 w 1058"/>
              <a:gd name="T23" fmla="*/ 1252 h 1252"/>
              <a:gd name="T24" fmla="*/ 315 w 1058"/>
              <a:gd name="T25" fmla="*/ 1180 h 1252"/>
              <a:gd name="T26" fmla="*/ 742 w 1058"/>
              <a:gd name="T27" fmla="*/ 1180 h 1252"/>
              <a:gd name="T28" fmla="*/ 851 w 1058"/>
              <a:gd name="T29" fmla="*/ 857 h 1252"/>
              <a:gd name="T30" fmla="*/ 885 w 1058"/>
              <a:gd name="T31" fmla="*/ 794 h 1252"/>
              <a:gd name="T32" fmla="*/ 986 w 1058"/>
              <a:gd name="T33" fmla="*/ 529 h 1252"/>
              <a:gd name="T34" fmla="*/ 529 w 1058"/>
              <a:gd name="T35" fmla="*/ 72 h 1252"/>
              <a:gd name="T36" fmla="*/ 72 w 1058"/>
              <a:gd name="T37" fmla="*/ 529 h 1252"/>
              <a:gd name="T38" fmla="*/ 172 w 1058"/>
              <a:gd name="T39" fmla="*/ 794 h 1252"/>
              <a:gd name="T40" fmla="*/ 207 w 1058"/>
              <a:gd name="T41" fmla="*/ 857 h 1252"/>
              <a:gd name="T42" fmla="*/ 315 w 1058"/>
              <a:gd name="T43" fmla="*/ 1180 h 1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58" h="1252">
                <a:moveTo>
                  <a:pt x="774" y="1252"/>
                </a:moveTo>
                <a:cubicBezTo>
                  <a:pt x="283" y="1252"/>
                  <a:pt x="283" y="1252"/>
                  <a:pt x="283" y="1252"/>
                </a:cubicBezTo>
                <a:cubicBezTo>
                  <a:pt x="264" y="1252"/>
                  <a:pt x="249" y="1237"/>
                  <a:pt x="248" y="1218"/>
                </a:cubicBezTo>
                <a:cubicBezTo>
                  <a:pt x="247" y="1217"/>
                  <a:pt x="239" y="1097"/>
                  <a:pt x="142" y="887"/>
                </a:cubicBezTo>
                <a:cubicBezTo>
                  <a:pt x="135" y="873"/>
                  <a:pt x="123" y="853"/>
                  <a:pt x="110" y="831"/>
                </a:cubicBezTo>
                <a:cubicBezTo>
                  <a:pt x="66" y="755"/>
                  <a:pt x="0" y="640"/>
                  <a:pt x="0" y="529"/>
                </a:cubicBezTo>
                <a:cubicBezTo>
                  <a:pt x="0" y="238"/>
                  <a:pt x="237" y="0"/>
                  <a:pt x="529" y="0"/>
                </a:cubicBezTo>
                <a:cubicBezTo>
                  <a:pt x="820" y="0"/>
                  <a:pt x="1058" y="238"/>
                  <a:pt x="1058" y="529"/>
                </a:cubicBezTo>
                <a:cubicBezTo>
                  <a:pt x="1058" y="640"/>
                  <a:pt x="991" y="755"/>
                  <a:pt x="947" y="831"/>
                </a:cubicBezTo>
                <a:cubicBezTo>
                  <a:pt x="934" y="853"/>
                  <a:pt x="923" y="873"/>
                  <a:pt x="916" y="887"/>
                </a:cubicBezTo>
                <a:cubicBezTo>
                  <a:pt x="818" y="1097"/>
                  <a:pt x="810" y="1217"/>
                  <a:pt x="810" y="1218"/>
                </a:cubicBezTo>
                <a:cubicBezTo>
                  <a:pt x="809" y="1237"/>
                  <a:pt x="793" y="1252"/>
                  <a:pt x="774" y="1252"/>
                </a:cubicBezTo>
                <a:close/>
                <a:moveTo>
                  <a:pt x="315" y="1180"/>
                </a:moveTo>
                <a:cubicBezTo>
                  <a:pt x="742" y="1180"/>
                  <a:pt x="742" y="1180"/>
                  <a:pt x="742" y="1180"/>
                </a:cubicBezTo>
                <a:cubicBezTo>
                  <a:pt x="751" y="1127"/>
                  <a:pt x="776" y="1017"/>
                  <a:pt x="851" y="857"/>
                </a:cubicBezTo>
                <a:cubicBezTo>
                  <a:pt x="859" y="840"/>
                  <a:pt x="871" y="819"/>
                  <a:pt x="885" y="794"/>
                </a:cubicBezTo>
                <a:cubicBezTo>
                  <a:pt x="928" y="721"/>
                  <a:pt x="986" y="621"/>
                  <a:pt x="986" y="529"/>
                </a:cubicBezTo>
                <a:cubicBezTo>
                  <a:pt x="986" y="277"/>
                  <a:pt x="781" y="72"/>
                  <a:pt x="529" y="72"/>
                </a:cubicBezTo>
                <a:cubicBezTo>
                  <a:pt x="277" y="72"/>
                  <a:pt x="72" y="277"/>
                  <a:pt x="72" y="529"/>
                </a:cubicBezTo>
                <a:cubicBezTo>
                  <a:pt x="72" y="621"/>
                  <a:pt x="130" y="721"/>
                  <a:pt x="172" y="794"/>
                </a:cubicBezTo>
                <a:cubicBezTo>
                  <a:pt x="187" y="819"/>
                  <a:pt x="199" y="840"/>
                  <a:pt x="207" y="857"/>
                </a:cubicBezTo>
                <a:cubicBezTo>
                  <a:pt x="281" y="1017"/>
                  <a:pt x="307" y="1127"/>
                  <a:pt x="315" y="1180"/>
                </a:cubicBezTo>
                <a:close/>
              </a:path>
            </a:pathLst>
          </a:custGeom>
          <a:solidFill>
            <a:schemeClr val="tx2"/>
          </a:solidFill>
          <a:ln>
            <a:noFill/>
          </a:ln>
        </p:spPr>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15" name="íṡḷïḋe"/>
          <p:cNvSpPr/>
          <p:nvPr/>
        </p:nvSpPr>
        <p:spPr bwMode="auto">
          <a:xfrm rot="10800000">
            <a:off x="5488356" y="1146452"/>
            <a:ext cx="1182748" cy="948702"/>
          </a:xfrm>
          <a:custGeom>
            <a:avLst/>
            <a:gdLst>
              <a:gd name="T0" fmla="*/ 495 w 541"/>
              <a:gd name="T1" fmla="*/ 223 h 434"/>
              <a:gd name="T2" fmla="*/ 540 w 541"/>
              <a:gd name="T3" fmla="*/ 168 h 434"/>
              <a:gd name="T4" fmla="*/ 494 w 541"/>
              <a:gd name="T5" fmla="*/ 112 h 434"/>
              <a:gd name="T6" fmla="*/ 540 w 541"/>
              <a:gd name="T7" fmla="*/ 57 h 434"/>
              <a:gd name="T8" fmla="*/ 483 w 541"/>
              <a:gd name="T9" fmla="*/ 0 h 434"/>
              <a:gd name="T10" fmla="*/ 56 w 541"/>
              <a:gd name="T11" fmla="*/ 0 h 434"/>
              <a:gd name="T12" fmla="*/ 0 w 541"/>
              <a:gd name="T13" fmla="*/ 56 h 434"/>
              <a:gd name="T14" fmla="*/ 46 w 541"/>
              <a:gd name="T15" fmla="*/ 112 h 434"/>
              <a:gd name="T16" fmla="*/ 0 w 541"/>
              <a:gd name="T17" fmla="*/ 167 h 434"/>
              <a:gd name="T18" fmla="*/ 46 w 541"/>
              <a:gd name="T19" fmla="*/ 223 h 434"/>
              <a:gd name="T20" fmla="*/ 1 w 541"/>
              <a:gd name="T21" fmla="*/ 278 h 434"/>
              <a:gd name="T22" fmla="*/ 57 w 541"/>
              <a:gd name="T23" fmla="*/ 334 h 434"/>
              <a:gd name="T24" fmla="*/ 157 w 541"/>
              <a:gd name="T25" fmla="*/ 334 h 434"/>
              <a:gd name="T26" fmla="*/ 161 w 541"/>
              <a:gd name="T27" fmla="*/ 351 h 434"/>
              <a:gd name="T28" fmla="*/ 272 w 541"/>
              <a:gd name="T29" fmla="*/ 433 h 434"/>
              <a:gd name="T30" fmla="*/ 383 w 541"/>
              <a:gd name="T31" fmla="*/ 335 h 434"/>
              <a:gd name="T32" fmla="*/ 484 w 541"/>
              <a:gd name="T33" fmla="*/ 335 h 434"/>
              <a:gd name="T34" fmla="*/ 541 w 541"/>
              <a:gd name="T35" fmla="*/ 278 h 434"/>
              <a:gd name="T36" fmla="*/ 495 w 541"/>
              <a:gd name="T37" fmla="*/ 223 h 434"/>
              <a:gd name="T38" fmla="*/ 423 w 541"/>
              <a:gd name="T39" fmla="*/ 241 h 434"/>
              <a:gd name="T40" fmla="*/ 118 w 541"/>
              <a:gd name="T41" fmla="*/ 241 h 434"/>
              <a:gd name="T42" fmla="*/ 104 w 541"/>
              <a:gd name="T43" fmla="*/ 227 h 434"/>
              <a:gd name="T44" fmla="*/ 118 w 541"/>
              <a:gd name="T45" fmla="*/ 213 h 434"/>
              <a:gd name="T46" fmla="*/ 423 w 541"/>
              <a:gd name="T47" fmla="*/ 213 h 434"/>
              <a:gd name="T48" fmla="*/ 437 w 541"/>
              <a:gd name="T49" fmla="*/ 227 h 434"/>
              <a:gd name="T50" fmla="*/ 423 w 541"/>
              <a:gd name="T51" fmla="*/ 241 h 434"/>
              <a:gd name="T52" fmla="*/ 423 w 541"/>
              <a:gd name="T53" fmla="*/ 116 h 434"/>
              <a:gd name="T54" fmla="*/ 118 w 541"/>
              <a:gd name="T55" fmla="*/ 116 h 434"/>
              <a:gd name="T56" fmla="*/ 104 w 541"/>
              <a:gd name="T57" fmla="*/ 102 h 434"/>
              <a:gd name="T58" fmla="*/ 118 w 541"/>
              <a:gd name="T59" fmla="*/ 88 h 434"/>
              <a:gd name="T60" fmla="*/ 423 w 541"/>
              <a:gd name="T61" fmla="*/ 88 h 434"/>
              <a:gd name="T62" fmla="*/ 437 w 541"/>
              <a:gd name="T63" fmla="*/ 102 h 434"/>
              <a:gd name="T64" fmla="*/ 423 w 541"/>
              <a:gd name="T65" fmla="*/ 116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41" h="434">
                <a:moveTo>
                  <a:pt x="495" y="223"/>
                </a:moveTo>
                <a:cubicBezTo>
                  <a:pt x="521" y="218"/>
                  <a:pt x="540" y="195"/>
                  <a:pt x="540" y="168"/>
                </a:cubicBezTo>
                <a:cubicBezTo>
                  <a:pt x="540" y="140"/>
                  <a:pt x="520" y="117"/>
                  <a:pt x="494" y="112"/>
                </a:cubicBezTo>
                <a:cubicBezTo>
                  <a:pt x="520" y="107"/>
                  <a:pt x="540" y="84"/>
                  <a:pt x="540" y="57"/>
                </a:cubicBezTo>
                <a:cubicBezTo>
                  <a:pt x="540" y="26"/>
                  <a:pt x="514" y="0"/>
                  <a:pt x="483" y="0"/>
                </a:cubicBezTo>
                <a:cubicBezTo>
                  <a:pt x="56" y="0"/>
                  <a:pt x="56" y="0"/>
                  <a:pt x="56" y="0"/>
                </a:cubicBezTo>
                <a:cubicBezTo>
                  <a:pt x="25" y="0"/>
                  <a:pt x="0" y="25"/>
                  <a:pt x="0" y="56"/>
                </a:cubicBezTo>
                <a:cubicBezTo>
                  <a:pt x="0" y="84"/>
                  <a:pt x="20" y="107"/>
                  <a:pt x="46" y="112"/>
                </a:cubicBezTo>
                <a:cubicBezTo>
                  <a:pt x="20" y="117"/>
                  <a:pt x="0" y="140"/>
                  <a:pt x="0" y="167"/>
                </a:cubicBezTo>
                <a:cubicBezTo>
                  <a:pt x="0" y="195"/>
                  <a:pt x="20" y="218"/>
                  <a:pt x="46" y="223"/>
                </a:cubicBezTo>
                <a:cubicBezTo>
                  <a:pt x="20" y="228"/>
                  <a:pt x="1" y="250"/>
                  <a:pt x="1" y="278"/>
                </a:cubicBezTo>
                <a:cubicBezTo>
                  <a:pt x="1" y="309"/>
                  <a:pt x="26" y="334"/>
                  <a:pt x="57" y="334"/>
                </a:cubicBezTo>
                <a:cubicBezTo>
                  <a:pt x="157" y="334"/>
                  <a:pt x="157" y="334"/>
                  <a:pt x="157" y="334"/>
                </a:cubicBezTo>
                <a:cubicBezTo>
                  <a:pt x="158" y="340"/>
                  <a:pt x="159" y="345"/>
                  <a:pt x="161" y="351"/>
                </a:cubicBezTo>
                <a:cubicBezTo>
                  <a:pt x="175" y="399"/>
                  <a:pt x="219" y="434"/>
                  <a:pt x="272" y="433"/>
                </a:cubicBezTo>
                <a:cubicBezTo>
                  <a:pt x="331" y="433"/>
                  <a:pt x="380" y="392"/>
                  <a:pt x="383" y="335"/>
                </a:cubicBezTo>
                <a:cubicBezTo>
                  <a:pt x="484" y="335"/>
                  <a:pt x="484" y="335"/>
                  <a:pt x="484" y="335"/>
                </a:cubicBezTo>
                <a:cubicBezTo>
                  <a:pt x="515" y="335"/>
                  <a:pt x="541" y="309"/>
                  <a:pt x="541" y="278"/>
                </a:cubicBezTo>
                <a:cubicBezTo>
                  <a:pt x="541" y="251"/>
                  <a:pt x="521" y="228"/>
                  <a:pt x="495" y="223"/>
                </a:cubicBezTo>
                <a:close/>
                <a:moveTo>
                  <a:pt x="423" y="241"/>
                </a:moveTo>
                <a:cubicBezTo>
                  <a:pt x="118" y="241"/>
                  <a:pt x="118" y="241"/>
                  <a:pt x="118" y="241"/>
                </a:cubicBezTo>
                <a:cubicBezTo>
                  <a:pt x="110" y="241"/>
                  <a:pt x="104" y="234"/>
                  <a:pt x="104" y="227"/>
                </a:cubicBezTo>
                <a:cubicBezTo>
                  <a:pt x="104" y="219"/>
                  <a:pt x="110" y="213"/>
                  <a:pt x="118" y="213"/>
                </a:cubicBezTo>
                <a:cubicBezTo>
                  <a:pt x="423" y="213"/>
                  <a:pt x="423" y="213"/>
                  <a:pt x="423" y="213"/>
                </a:cubicBezTo>
                <a:cubicBezTo>
                  <a:pt x="431" y="213"/>
                  <a:pt x="437" y="219"/>
                  <a:pt x="437" y="227"/>
                </a:cubicBezTo>
                <a:cubicBezTo>
                  <a:pt x="437" y="234"/>
                  <a:pt x="431" y="241"/>
                  <a:pt x="423" y="241"/>
                </a:cubicBezTo>
                <a:close/>
                <a:moveTo>
                  <a:pt x="423" y="116"/>
                </a:moveTo>
                <a:cubicBezTo>
                  <a:pt x="118" y="116"/>
                  <a:pt x="118" y="116"/>
                  <a:pt x="118" y="116"/>
                </a:cubicBezTo>
                <a:cubicBezTo>
                  <a:pt x="110" y="116"/>
                  <a:pt x="104" y="110"/>
                  <a:pt x="104" y="102"/>
                </a:cubicBezTo>
                <a:cubicBezTo>
                  <a:pt x="104" y="95"/>
                  <a:pt x="110" y="88"/>
                  <a:pt x="118" y="88"/>
                </a:cubicBezTo>
                <a:cubicBezTo>
                  <a:pt x="423" y="88"/>
                  <a:pt x="423" y="88"/>
                  <a:pt x="423" y="88"/>
                </a:cubicBezTo>
                <a:cubicBezTo>
                  <a:pt x="431" y="88"/>
                  <a:pt x="437" y="95"/>
                  <a:pt x="437" y="102"/>
                </a:cubicBezTo>
                <a:cubicBezTo>
                  <a:pt x="437" y="110"/>
                  <a:pt x="431" y="116"/>
                  <a:pt x="423" y="116"/>
                </a:cubicBezTo>
                <a:close/>
              </a:path>
            </a:pathLst>
          </a:custGeom>
          <a:solidFill>
            <a:schemeClr val="tx2"/>
          </a:solidFill>
          <a:ln>
            <a:noFill/>
          </a:ln>
        </p:spPr>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cxnSp>
        <p:nvCxnSpPr>
          <p:cNvPr id="13" name="Straight Connector 12"/>
          <p:cNvCxnSpPr/>
          <p:nvPr/>
        </p:nvCxnSpPr>
        <p:spPr>
          <a:xfrm>
            <a:off x="6065963" y="0"/>
            <a:ext cx="0" cy="1313642"/>
          </a:xfrm>
          <a:prstGeom prst="line">
            <a:avLst/>
          </a:prstGeom>
          <a:ln w="1651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íṡ1íḑè"/>
          <p:cNvSpPr txBox="1"/>
          <p:nvPr/>
        </p:nvSpPr>
        <p:spPr bwMode="auto">
          <a:xfrm>
            <a:off x="0" y="5715259"/>
            <a:ext cx="12192000" cy="441805"/>
          </a:xfrm>
          <a:prstGeom prst="rect">
            <a:avLst/>
          </a:prstGeom>
          <a:solidFill>
            <a:schemeClr val="bg1">
              <a:lumMod val="85000"/>
            </a:schemeClr>
          </a:solidFill>
          <a:ln>
            <a:noFill/>
          </a:ln>
        </p:spPr>
        <p:txBody>
          <a:bodyPr wrap="none" lIns="90000" tIns="46800" rIns="90000" bIns="4680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lvl="0" algn="ctr">
              <a:spcBef>
                <a:spcPct val="0"/>
              </a:spcBef>
              <a:defRPr/>
            </a:pPr>
            <a:r>
              <a:rPr lang="en-US" altLang="zh-CN" sz="2000" b="1" dirty="0">
                <a:solidFill>
                  <a:srgbClr val="000000"/>
                </a:solidFill>
                <a:cs typeface="+mn-ea"/>
                <a:sym typeface="+mn-lt"/>
              </a:rPr>
              <a:t>Implementation Plan</a:t>
            </a:r>
            <a:endParaRPr kumimoji="0" lang="en-US" altLang="zh-CN" sz="2000" b="1" i="0" u="none" strike="noStrike" kern="1200" cap="none" spc="0" normalizeH="0" baseline="0" noProof="0" dirty="0">
              <a:ln>
                <a:noFill/>
              </a:ln>
              <a:solidFill>
                <a:srgbClr val="000000"/>
              </a:solidFill>
              <a:effectLst/>
              <a:uLnTx/>
              <a:uFillTx/>
              <a:cs typeface="+mn-ea"/>
              <a:sym typeface="+mn-lt"/>
            </a:endParaRPr>
          </a:p>
        </p:txBody>
      </p:sp>
      <p:sp>
        <p:nvSpPr>
          <p:cNvPr id="18" name="Shape 6065"/>
          <p:cNvSpPr/>
          <p:nvPr/>
        </p:nvSpPr>
        <p:spPr>
          <a:xfrm>
            <a:off x="727728" y="1547489"/>
            <a:ext cx="577851" cy="577851"/>
          </a:xfrm>
          <a:prstGeom prst="roundRect">
            <a:avLst>
              <a:gd name="adj" fmla="val 50000"/>
            </a:avLst>
          </a:prstGeom>
          <a:solidFill>
            <a:srgbClr val="1A3172"/>
          </a:solidFill>
          <a:ln w="12700" cap="flat">
            <a:noFill/>
            <a:miter lim="400000"/>
          </a:ln>
          <a:effectLst/>
        </p:spPr>
        <p:txBody>
          <a:bodyPr wrap="square" lIns="0" tIns="0" rIns="0" bIns="0" numCol="1" anchor="ctr">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srgbClr val="000000"/>
              </a:solidFill>
              <a:effectLst/>
              <a:uLnTx/>
              <a:uFillTx/>
              <a:cs typeface="+mn-ea"/>
              <a:sym typeface="+mn-lt"/>
            </a:endParaRPr>
          </a:p>
        </p:txBody>
      </p:sp>
      <p:sp>
        <p:nvSpPr>
          <p:cNvPr id="19" name="Shape 6066"/>
          <p:cNvSpPr/>
          <p:nvPr/>
        </p:nvSpPr>
        <p:spPr>
          <a:xfrm>
            <a:off x="876799" y="1695512"/>
            <a:ext cx="279708" cy="281804"/>
          </a:xfrm>
          <a:custGeom>
            <a:avLst/>
            <a:gdLst>
              <a:gd name="connsiteX0" fmla="*/ 386204 w 602205"/>
              <a:gd name="connsiteY0" fmla="*/ 222916 h 606722"/>
              <a:gd name="connsiteX1" fmla="*/ 516692 w 602205"/>
              <a:gd name="connsiteY1" fmla="*/ 222916 h 606722"/>
              <a:gd name="connsiteX2" fmla="*/ 545129 w 602205"/>
              <a:gd name="connsiteY2" fmla="*/ 231976 h 606722"/>
              <a:gd name="connsiteX3" fmla="*/ 594743 w 602205"/>
              <a:gd name="connsiteY3" fmla="*/ 270632 h 606722"/>
              <a:gd name="connsiteX4" fmla="*/ 602205 w 602205"/>
              <a:gd name="connsiteY4" fmla="*/ 285329 h 606722"/>
              <a:gd name="connsiteX5" fmla="*/ 594944 w 602205"/>
              <a:gd name="connsiteY5" fmla="*/ 300228 h 606722"/>
              <a:gd name="connsiteX6" fmla="*/ 545129 w 602205"/>
              <a:gd name="connsiteY6" fmla="*/ 340293 h 606722"/>
              <a:gd name="connsiteX7" fmla="*/ 516692 w 602205"/>
              <a:gd name="connsiteY7" fmla="*/ 351769 h 606722"/>
              <a:gd name="connsiteX8" fmla="*/ 386204 w 602205"/>
              <a:gd name="connsiteY8" fmla="*/ 351769 h 606722"/>
              <a:gd name="connsiteX9" fmla="*/ 85299 w 602205"/>
              <a:gd name="connsiteY9" fmla="*/ 131463 h 606722"/>
              <a:gd name="connsiteX10" fmla="*/ 216777 w 602205"/>
              <a:gd name="connsiteY10" fmla="*/ 131463 h 606722"/>
              <a:gd name="connsiteX11" fmla="*/ 216777 w 602205"/>
              <a:gd name="connsiteY11" fmla="*/ 260386 h 606722"/>
              <a:gd name="connsiteX12" fmla="*/ 85299 w 602205"/>
              <a:gd name="connsiteY12" fmla="*/ 260386 h 606722"/>
              <a:gd name="connsiteX13" fmla="*/ 57068 w 602205"/>
              <a:gd name="connsiteY13" fmla="*/ 248501 h 606722"/>
              <a:gd name="connsiteX14" fmla="*/ 7058 w 602205"/>
              <a:gd name="connsiteY14" fmla="*/ 206803 h 606722"/>
              <a:gd name="connsiteX15" fmla="*/ 0 w 602205"/>
              <a:gd name="connsiteY15" fmla="*/ 192903 h 606722"/>
              <a:gd name="connsiteX16" fmla="*/ 7260 w 602205"/>
              <a:gd name="connsiteY16" fmla="*/ 178802 h 606722"/>
              <a:gd name="connsiteX17" fmla="*/ 57068 w 602205"/>
              <a:gd name="connsiteY17" fmla="*/ 139924 h 606722"/>
              <a:gd name="connsiteX18" fmla="*/ 85299 w 602205"/>
              <a:gd name="connsiteY18" fmla="*/ 131463 h 606722"/>
              <a:gd name="connsiteX19" fmla="*/ 386204 w 602205"/>
              <a:gd name="connsiteY19" fmla="*/ 42904 h 606722"/>
              <a:gd name="connsiteX20" fmla="*/ 516692 w 602205"/>
              <a:gd name="connsiteY20" fmla="*/ 42904 h 606722"/>
              <a:gd name="connsiteX21" fmla="*/ 545129 w 602205"/>
              <a:gd name="connsiteY21" fmla="*/ 51964 h 606722"/>
              <a:gd name="connsiteX22" fmla="*/ 594743 w 602205"/>
              <a:gd name="connsiteY22" fmla="*/ 90620 h 606722"/>
              <a:gd name="connsiteX23" fmla="*/ 602205 w 602205"/>
              <a:gd name="connsiteY23" fmla="*/ 105317 h 606722"/>
              <a:gd name="connsiteX24" fmla="*/ 594944 w 602205"/>
              <a:gd name="connsiteY24" fmla="*/ 120216 h 606722"/>
              <a:gd name="connsiteX25" fmla="*/ 545129 w 602205"/>
              <a:gd name="connsiteY25" fmla="*/ 160281 h 606722"/>
              <a:gd name="connsiteX26" fmla="*/ 516692 w 602205"/>
              <a:gd name="connsiteY26" fmla="*/ 171757 h 606722"/>
              <a:gd name="connsiteX27" fmla="*/ 386204 w 602205"/>
              <a:gd name="connsiteY27" fmla="*/ 171757 h 606722"/>
              <a:gd name="connsiteX28" fmla="*/ 297432 w 602205"/>
              <a:gd name="connsiteY28" fmla="*/ 0 h 606722"/>
              <a:gd name="connsiteX29" fmla="*/ 337765 w 602205"/>
              <a:gd name="connsiteY29" fmla="*/ 40274 h 606722"/>
              <a:gd name="connsiteX30" fmla="*/ 337765 w 602205"/>
              <a:gd name="connsiteY30" fmla="*/ 496775 h 606722"/>
              <a:gd name="connsiteX31" fmla="*/ 419238 w 602205"/>
              <a:gd name="connsiteY31" fmla="*/ 496775 h 606722"/>
              <a:gd name="connsiteX32" fmla="*/ 455739 w 602205"/>
              <a:gd name="connsiteY32" fmla="*/ 515100 h 606722"/>
              <a:gd name="connsiteX33" fmla="*/ 497887 w 602205"/>
              <a:gd name="connsiteY33" fmla="*/ 572490 h 606722"/>
              <a:gd name="connsiteX34" fmla="*/ 500912 w 602205"/>
              <a:gd name="connsiteY34" fmla="*/ 595647 h 606722"/>
              <a:gd name="connsiteX35" fmla="*/ 480342 w 602205"/>
              <a:gd name="connsiteY35" fmla="*/ 606722 h 606722"/>
              <a:gd name="connsiteX36" fmla="*/ 121580 w 602205"/>
              <a:gd name="connsiteY36" fmla="*/ 606722 h 606722"/>
              <a:gd name="connsiteX37" fmla="*/ 101010 w 602205"/>
              <a:gd name="connsiteY37" fmla="*/ 595647 h 606722"/>
              <a:gd name="connsiteX38" fmla="*/ 104237 w 602205"/>
              <a:gd name="connsiteY38" fmla="*/ 572490 h 606722"/>
              <a:gd name="connsiteX39" fmla="*/ 146183 w 602205"/>
              <a:gd name="connsiteY39" fmla="*/ 515100 h 606722"/>
              <a:gd name="connsiteX40" fmla="*/ 182684 w 602205"/>
              <a:gd name="connsiteY40" fmla="*/ 496775 h 606722"/>
              <a:gd name="connsiteX41" fmla="*/ 257099 w 602205"/>
              <a:gd name="connsiteY41" fmla="*/ 496775 h 606722"/>
              <a:gd name="connsiteX42" fmla="*/ 257099 w 602205"/>
              <a:gd name="connsiteY42" fmla="*/ 40274 h 606722"/>
              <a:gd name="connsiteX43" fmla="*/ 297432 w 602205"/>
              <a:gd name="connsiteY43"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2205" h="606722">
                <a:moveTo>
                  <a:pt x="386204" y="222916"/>
                </a:moveTo>
                <a:lnTo>
                  <a:pt x="516692" y="222916"/>
                </a:lnTo>
                <a:cubicBezTo>
                  <a:pt x="525163" y="222916"/>
                  <a:pt x="537465" y="225936"/>
                  <a:pt x="545129" y="231976"/>
                </a:cubicBezTo>
                <a:lnTo>
                  <a:pt x="594743" y="270632"/>
                </a:lnTo>
                <a:cubicBezTo>
                  <a:pt x="599381" y="274256"/>
                  <a:pt x="602205" y="279692"/>
                  <a:pt x="602205" y="285329"/>
                </a:cubicBezTo>
                <a:cubicBezTo>
                  <a:pt x="602205" y="291168"/>
                  <a:pt x="599381" y="296604"/>
                  <a:pt x="594944" y="300228"/>
                </a:cubicBezTo>
                <a:lnTo>
                  <a:pt x="545129" y="340293"/>
                </a:lnTo>
                <a:cubicBezTo>
                  <a:pt x="539280" y="344924"/>
                  <a:pt x="526978" y="351769"/>
                  <a:pt x="516692" y="351769"/>
                </a:cubicBezTo>
                <a:lnTo>
                  <a:pt x="386204" y="351769"/>
                </a:lnTo>
                <a:close/>
                <a:moveTo>
                  <a:pt x="85299" y="131463"/>
                </a:moveTo>
                <a:lnTo>
                  <a:pt x="216777" y="131463"/>
                </a:lnTo>
                <a:lnTo>
                  <a:pt x="216777" y="260386"/>
                </a:lnTo>
                <a:lnTo>
                  <a:pt x="85299" y="260386"/>
                </a:lnTo>
                <a:cubicBezTo>
                  <a:pt x="74813" y="260386"/>
                  <a:pt x="62311" y="252530"/>
                  <a:pt x="57068" y="248501"/>
                </a:cubicBezTo>
                <a:lnTo>
                  <a:pt x="7058" y="206803"/>
                </a:lnTo>
                <a:cubicBezTo>
                  <a:pt x="2621" y="203177"/>
                  <a:pt x="0" y="198140"/>
                  <a:pt x="0" y="192903"/>
                </a:cubicBezTo>
                <a:cubicBezTo>
                  <a:pt x="0" y="187464"/>
                  <a:pt x="2621" y="182428"/>
                  <a:pt x="7260" y="178802"/>
                </a:cubicBezTo>
                <a:lnTo>
                  <a:pt x="57068" y="139924"/>
                </a:lnTo>
                <a:cubicBezTo>
                  <a:pt x="64327" y="134082"/>
                  <a:pt x="76426" y="131463"/>
                  <a:pt x="85299" y="131463"/>
                </a:cubicBezTo>
                <a:close/>
                <a:moveTo>
                  <a:pt x="386204" y="42904"/>
                </a:moveTo>
                <a:lnTo>
                  <a:pt x="516692" y="42904"/>
                </a:lnTo>
                <a:cubicBezTo>
                  <a:pt x="525163" y="42904"/>
                  <a:pt x="537667" y="46125"/>
                  <a:pt x="545129" y="51964"/>
                </a:cubicBezTo>
                <a:lnTo>
                  <a:pt x="594743" y="90620"/>
                </a:lnTo>
                <a:cubicBezTo>
                  <a:pt x="599381" y="94244"/>
                  <a:pt x="602205" y="99680"/>
                  <a:pt x="602205" y="105317"/>
                </a:cubicBezTo>
                <a:cubicBezTo>
                  <a:pt x="602205" y="111156"/>
                  <a:pt x="599381" y="116592"/>
                  <a:pt x="594944" y="120216"/>
                </a:cubicBezTo>
                <a:lnTo>
                  <a:pt x="545129" y="160281"/>
                </a:lnTo>
                <a:cubicBezTo>
                  <a:pt x="539280" y="164912"/>
                  <a:pt x="526978" y="171757"/>
                  <a:pt x="516692" y="171757"/>
                </a:cubicBezTo>
                <a:lnTo>
                  <a:pt x="386204" y="171757"/>
                </a:lnTo>
                <a:close/>
                <a:moveTo>
                  <a:pt x="297432" y="0"/>
                </a:moveTo>
                <a:cubicBezTo>
                  <a:pt x="319615" y="0"/>
                  <a:pt x="337765" y="18123"/>
                  <a:pt x="337765" y="40274"/>
                </a:cubicBezTo>
                <a:lnTo>
                  <a:pt x="337765" y="496775"/>
                </a:lnTo>
                <a:lnTo>
                  <a:pt x="419238" y="496775"/>
                </a:lnTo>
                <a:cubicBezTo>
                  <a:pt x="432346" y="496775"/>
                  <a:pt x="448076" y="504629"/>
                  <a:pt x="455739" y="515100"/>
                </a:cubicBezTo>
                <a:lnTo>
                  <a:pt x="497887" y="572490"/>
                </a:lnTo>
                <a:cubicBezTo>
                  <a:pt x="503332" y="580142"/>
                  <a:pt x="504542" y="588599"/>
                  <a:pt x="500912" y="595647"/>
                </a:cubicBezTo>
                <a:cubicBezTo>
                  <a:pt x="497282" y="602695"/>
                  <a:pt x="489820" y="606722"/>
                  <a:pt x="480342" y="606722"/>
                </a:cubicBezTo>
                <a:lnTo>
                  <a:pt x="121580" y="606722"/>
                </a:lnTo>
                <a:cubicBezTo>
                  <a:pt x="112102" y="606722"/>
                  <a:pt x="104640" y="602695"/>
                  <a:pt x="101010" y="595647"/>
                </a:cubicBezTo>
                <a:cubicBezTo>
                  <a:pt x="97380" y="588599"/>
                  <a:pt x="98590" y="580142"/>
                  <a:pt x="104237" y="572490"/>
                </a:cubicBezTo>
                <a:lnTo>
                  <a:pt x="146183" y="515100"/>
                </a:lnTo>
                <a:cubicBezTo>
                  <a:pt x="153846" y="504629"/>
                  <a:pt x="169576" y="496775"/>
                  <a:pt x="182684" y="496775"/>
                </a:cubicBezTo>
                <a:lnTo>
                  <a:pt x="257099" y="496775"/>
                </a:lnTo>
                <a:lnTo>
                  <a:pt x="257099" y="40274"/>
                </a:lnTo>
                <a:cubicBezTo>
                  <a:pt x="257099" y="18123"/>
                  <a:pt x="275249" y="0"/>
                  <a:pt x="297432" y="0"/>
                </a:cubicBezTo>
                <a:close/>
              </a:path>
            </a:pathLst>
          </a:custGeom>
          <a:solidFill>
            <a:srgbClr val="FFFFFF"/>
          </a:solidFill>
          <a:ln w="12700" cap="flat">
            <a:noFill/>
            <a:miter lim="400000"/>
          </a:ln>
          <a:effectLst/>
        </p:spPr>
        <p:txBody>
          <a:bodyPr wrap="square" lIns="19050" tIns="19050" rIns="19050" bIns="19050" numCol="1" anchor="ctr">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cs typeface="+mn-ea"/>
              <a:sym typeface="+mn-lt"/>
            </a:endParaRPr>
          </a:p>
        </p:txBody>
      </p:sp>
      <p:sp>
        <p:nvSpPr>
          <p:cNvPr id="20" name="Rectangle 30"/>
          <p:cNvSpPr/>
          <p:nvPr/>
        </p:nvSpPr>
        <p:spPr bwMode="auto">
          <a:xfrm>
            <a:off x="1420537" y="1764155"/>
            <a:ext cx="3523335" cy="143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lnSpcReduction="1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lvl="0" indent="-171450">
              <a:lnSpc>
                <a:spcPct val="150000"/>
              </a:lnSpc>
              <a:buFont typeface="Arial" panose="020B0604020202020204" pitchFamily="34" charset="0"/>
              <a:buChar char="•"/>
              <a:tabLst>
                <a:tab pos="227965" algn="l"/>
              </a:tabLst>
              <a:defRPr/>
            </a:pPr>
            <a:r>
              <a:rPr lang="zh-CN" altLang="en-US" sz="1600" dirty="0">
                <a:solidFill>
                  <a:srgbClr val="000000"/>
                </a:solidFill>
                <a:cs typeface="+mn-ea"/>
                <a:sym typeface="+mn-lt"/>
              </a:rPr>
              <a:t>进行文献调研与理论梳理，明确研究思路，依据现有材料建立荧光材料与</a:t>
            </a:r>
            <a:r>
              <a:rPr lang="en-US" altLang="zh-CN" sz="1600" dirty="0">
                <a:solidFill>
                  <a:srgbClr val="000000"/>
                </a:solidFill>
                <a:cs typeface="+mn-ea"/>
                <a:sym typeface="+mn-lt"/>
              </a:rPr>
              <a:t>LSC</a:t>
            </a:r>
            <a:r>
              <a:rPr lang="zh-CN" altLang="en-US" sz="1600" dirty="0">
                <a:solidFill>
                  <a:srgbClr val="000000"/>
                </a:solidFill>
                <a:cs typeface="+mn-ea"/>
                <a:sym typeface="+mn-lt"/>
              </a:rPr>
              <a:t>性能数据库，完成数据清洗与标准化</a:t>
            </a:r>
            <a:endParaRPr lang="en-US" altLang="zh-CN" sz="1600" dirty="0">
              <a:solidFill>
                <a:srgbClr val="000000"/>
              </a:solidFill>
              <a:cs typeface="+mn-ea"/>
              <a:sym typeface="+mn-lt"/>
            </a:endParaRPr>
          </a:p>
        </p:txBody>
      </p:sp>
      <p:sp>
        <p:nvSpPr>
          <p:cNvPr id="21" name="TextBox 31"/>
          <p:cNvSpPr txBox="1"/>
          <p:nvPr/>
        </p:nvSpPr>
        <p:spPr bwMode="auto">
          <a:xfrm>
            <a:off x="1420537" y="1351275"/>
            <a:ext cx="3523335"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ct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前期准备</a:t>
            </a:r>
            <a:endParaRPr kumimoji="0" lang="en-US" altLang="zh-CN" sz="1800" b="1" i="0" u="none" strike="noStrike" kern="1200" cap="none" spc="0" normalizeH="0" baseline="0" noProof="0" dirty="0">
              <a:ln>
                <a:noFill/>
              </a:ln>
              <a:solidFill>
                <a:srgbClr val="000000"/>
              </a:solidFill>
              <a:effectLst/>
              <a:uLnTx/>
              <a:uFillTx/>
              <a:cs typeface="+mn-ea"/>
              <a:sym typeface="+mn-lt"/>
            </a:endParaRPr>
          </a:p>
        </p:txBody>
      </p:sp>
      <p:sp>
        <p:nvSpPr>
          <p:cNvPr id="23" name="Shape 6065"/>
          <p:cNvSpPr/>
          <p:nvPr/>
        </p:nvSpPr>
        <p:spPr>
          <a:xfrm>
            <a:off x="727728" y="3720155"/>
            <a:ext cx="577851" cy="577851"/>
          </a:xfrm>
          <a:prstGeom prst="roundRect">
            <a:avLst>
              <a:gd name="adj" fmla="val 50000"/>
            </a:avLst>
          </a:prstGeom>
          <a:solidFill>
            <a:srgbClr val="1A3172"/>
          </a:solidFill>
          <a:ln w="12700" cap="flat">
            <a:noFill/>
            <a:miter lim="400000"/>
          </a:ln>
          <a:effectLst/>
        </p:spPr>
        <p:txBody>
          <a:bodyPr wrap="square" lIns="0" tIns="0" rIns="0" bIns="0" numCol="1" anchor="ctr">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srgbClr val="000000"/>
              </a:solidFill>
              <a:effectLst/>
              <a:uLnTx/>
              <a:uFillTx/>
              <a:cs typeface="+mn-ea"/>
              <a:sym typeface="+mn-lt"/>
            </a:endParaRPr>
          </a:p>
        </p:txBody>
      </p:sp>
      <p:sp>
        <p:nvSpPr>
          <p:cNvPr id="24" name="Shape 6066"/>
          <p:cNvSpPr/>
          <p:nvPr/>
        </p:nvSpPr>
        <p:spPr>
          <a:xfrm>
            <a:off x="876799" y="3868178"/>
            <a:ext cx="279708" cy="281804"/>
          </a:xfrm>
          <a:custGeom>
            <a:avLst/>
            <a:gdLst>
              <a:gd name="connsiteX0" fmla="*/ 386204 w 602205"/>
              <a:gd name="connsiteY0" fmla="*/ 222916 h 606722"/>
              <a:gd name="connsiteX1" fmla="*/ 516692 w 602205"/>
              <a:gd name="connsiteY1" fmla="*/ 222916 h 606722"/>
              <a:gd name="connsiteX2" fmla="*/ 545129 w 602205"/>
              <a:gd name="connsiteY2" fmla="*/ 231976 h 606722"/>
              <a:gd name="connsiteX3" fmla="*/ 594743 w 602205"/>
              <a:gd name="connsiteY3" fmla="*/ 270632 h 606722"/>
              <a:gd name="connsiteX4" fmla="*/ 602205 w 602205"/>
              <a:gd name="connsiteY4" fmla="*/ 285329 h 606722"/>
              <a:gd name="connsiteX5" fmla="*/ 594944 w 602205"/>
              <a:gd name="connsiteY5" fmla="*/ 300228 h 606722"/>
              <a:gd name="connsiteX6" fmla="*/ 545129 w 602205"/>
              <a:gd name="connsiteY6" fmla="*/ 340293 h 606722"/>
              <a:gd name="connsiteX7" fmla="*/ 516692 w 602205"/>
              <a:gd name="connsiteY7" fmla="*/ 351769 h 606722"/>
              <a:gd name="connsiteX8" fmla="*/ 386204 w 602205"/>
              <a:gd name="connsiteY8" fmla="*/ 351769 h 606722"/>
              <a:gd name="connsiteX9" fmla="*/ 85299 w 602205"/>
              <a:gd name="connsiteY9" fmla="*/ 131463 h 606722"/>
              <a:gd name="connsiteX10" fmla="*/ 216777 w 602205"/>
              <a:gd name="connsiteY10" fmla="*/ 131463 h 606722"/>
              <a:gd name="connsiteX11" fmla="*/ 216777 w 602205"/>
              <a:gd name="connsiteY11" fmla="*/ 260386 h 606722"/>
              <a:gd name="connsiteX12" fmla="*/ 85299 w 602205"/>
              <a:gd name="connsiteY12" fmla="*/ 260386 h 606722"/>
              <a:gd name="connsiteX13" fmla="*/ 57068 w 602205"/>
              <a:gd name="connsiteY13" fmla="*/ 248501 h 606722"/>
              <a:gd name="connsiteX14" fmla="*/ 7058 w 602205"/>
              <a:gd name="connsiteY14" fmla="*/ 206803 h 606722"/>
              <a:gd name="connsiteX15" fmla="*/ 0 w 602205"/>
              <a:gd name="connsiteY15" fmla="*/ 192903 h 606722"/>
              <a:gd name="connsiteX16" fmla="*/ 7260 w 602205"/>
              <a:gd name="connsiteY16" fmla="*/ 178802 h 606722"/>
              <a:gd name="connsiteX17" fmla="*/ 57068 w 602205"/>
              <a:gd name="connsiteY17" fmla="*/ 139924 h 606722"/>
              <a:gd name="connsiteX18" fmla="*/ 85299 w 602205"/>
              <a:gd name="connsiteY18" fmla="*/ 131463 h 606722"/>
              <a:gd name="connsiteX19" fmla="*/ 386204 w 602205"/>
              <a:gd name="connsiteY19" fmla="*/ 42904 h 606722"/>
              <a:gd name="connsiteX20" fmla="*/ 516692 w 602205"/>
              <a:gd name="connsiteY20" fmla="*/ 42904 h 606722"/>
              <a:gd name="connsiteX21" fmla="*/ 545129 w 602205"/>
              <a:gd name="connsiteY21" fmla="*/ 51964 h 606722"/>
              <a:gd name="connsiteX22" fmla="*/ 594743 w 602205"/>
              <a:gd name="connsiteY22" fmla="*/ 90620 h 606722"/>
              <a:gd name="connsiteX23" fmla="*/ 602205 w 602205"/>
              <a:gd name="connsiteY23" fmla="*/ 105317 h 606722"/>
              <a:gd name="connsiteX24" fmla="*/ 594944 w 602205"/>
              <a:gd name="connsiteY24" fmla="*/ 120216 h 606722"/>
              <a:gd name="connsiteX25" fmla="*/ 545129 w 602205"/>
              <a:gd name="connsiteY25" fmla="*/ 160281 h 606722"/>
              <a:gd name="connsiteX26" fmla="*/ 516692 w 602205"/>
              <a:gd name="connsiteY26" fmla="*/ 171757 h 606722"/>
              <a:gd name="connsiteX27" fmla="*/ 386204 w 602205"/>
              <a:gd name="connsiteY27" fmla="*/ 171757 h 606722"/>
              <a:gd name="connsiteX28" fmla="*/ 297432 w 602205"/>
              <a:gd name="connsiteY28" fmla="*/ 0 h 606722"/>
              <a:gd name="connsiteX29" fmla="*/ 337765 w 602205"/>
              <a:gd name="connsiteY29" fmla="*/ 40274 h 606722"/>
              <a:gd name="connsiteX30" fmla="*/ 337765 w 602205"/>
              <a:gd name="connsiteY30" fmla="*/ 496775 h 606722"/>
              <a:gd name="connsiteX31" fmla="*/ 419238 w 602205"/>
              <a:gd name="connsiteY31" fmla="*/ 496775 h 606722"/>
              <a:gd name="connsiteX32" fmla="*/ 455739 w 602205"/>
              <a:gd name="connsiteY32" fmla="*/ 515100 h 606722"/>
              <a:gd name="connsiteX33" fmla="*/ 497887 w 602205"/>
              <a:gd name="connsiteY33" fmla="*/ 572490 h 606722"/>
              <a:gd name="connsiteX34" fmla="*/ 500912 w 602205"/>
              <a:gd name="connsiteY34" fmla="*/ 595647 h 606722"/>
              <a:gd name="connsiteX35" fmla="*/ 480342 w 602205"/>
              <a:gd name="connsiteY35" fmla="*/ 606722 h 606722"/>
              <a:gd name="connsiteX36" fmla="*/ 121580 w 602205"/>
              <a:gd name="connsiteY36" fmla="*/ 606722 h 606722"/>
              <a:gd name="connsiteX37" fmla="*/ 101010 w 602205"/>
              <a:gd name="connsiteY37" fmla="*/ 595647 h 606722"/>
              <a:gd name="connsiteX38" fmla="*/ 104237 w 602205"/>
              <a:gd name="connsiteY38" fmla="*/ 572490 h 606722"/>
              <a:gd name="connsiteX39" fmla="*/ 146183 w 602205"/>
              <a:gd name="connsiteY39" fmla="*/ 515100 h 606722"/>
              <a:gd name="connsiteX40" fmla="*/ 182684 w 602205"/>
              <a:gd name="connsiteY40" fmla="*/ 496775 h 606722"/>
              <a:gd name="connsiteX41" fmla="*/ 257099 w 602205"/>
              <a:gd name="connsiteY41" fmla="*/ 496775 h 606722"/>
              <a:gd name="connsiteX42" fmla="*/ 257099 w 602205"/>
              <a:gd name="connsiteY42" fmla="*/ 40274 h 606722"/>
              <a:gd name="connsiteX43" fmla="*/ 297432 w 602205"/>
              <a:gd name="connsiteY43"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2205" h="606722">
                <a:moveTo>
                  <a:pt x="386204" y="222916"/>
                </a:moveTo>
                <a:lnTo>
                  <a:pt x="516692" y="222916"/>
                </a:lnTo>
                <a:cubicBezTo>
                  <a:pt x="525163" y="222916"/>
                  <a:pt x="537465" y="225936"/>
                  <a:pt x="545129" y="231976"/>
                </a:cubicBezTo>
                <a:lnTo>
                  <a:pt x="594743" y="270632"/>
                </a:lnTo>
                <a:cubicBezTo>
                  <a:pt x="599381" y="274256"/>
                  <a:pt x="602205" y="279692"/>
                  <a:pt x="602205" y="285329"/>
                </a:cubicBezTo>
                <a:cubicBezTo>
                  <a:pt x="602205" y="291168"/>
                  <a:pt x="599381" y="296604"/>
                  <a:pt x="594944" y="300228"/>
                </a:cubicBezTo>
                <a:lnTo>
                  <a:pt x="545129" y="340293"/>
                </a:lnTo>
                <a:cubicBezTo>
                  <a:pt x="539280" y="344924"/>
                  <a:pt x="526978" y="351769"/>
                  <a:pt x="516692" y="351769"/>
                </a:cubicBezTo>
                <a:lnTo>
                  <a:pt x="386204" y="351769"/>
                </a:lnTo>
                <a:close/>
                <a:moveTo>
                  <a:pt x="85299" y="131463"/>
                </a:moveTo>
                <a:lnTo>
                  <a:pt x="216777" y="131463"/>
                </a:lnTo>
                <a:lnTo>
                  <a:pt x="216777" y="260386"/>
                </a:lnTo>
                <a:lnTo>
                  <a:pt x="85299" y="260386"/>
                </a:lnTo>
                <a:cubicBezTo>
                  <a:pt x="74813" y="260386"/>
                  <a:pt x="62311" y="252530"/>
                  <a:pt x="57068" y="248501"/>
                </a:cubicBezTo>
                <a:lnTo>
                  <a:pt x="7058" y="206803"/>
                </a:lnTo>
                <a:cubicBezTo>
                  <a:pt x="2621" y="203177"/>
                  <a:pt x="0" y="198140"/>
                  <a:pt x="0" y="192903"/>
                </a:cubicBezTo>
                <a:cubicBezTo>
                  <a:pt x="0" y="187464"/>
                  <a:pt x="2621" y="182428"/>
                  <a:pt x="7260" y="178802"/>
                </a:cubicBezTo>
                <a:lnTo>
                  <a:pt x="57068" y="139924"/>
                </a:lnTo>
                <a:cubicBezTo>
                  <a:pt x="64327" y="134082"/>
                  <a:pt x="76426" y="131463"/>
                  <a:pt x="85299" y="131463"/>
                </a:cubicBezTo>
                <a:close/>
                <a:moveTo>
                  <a:pt x="386204" y="42904"/>
                </a:moveTo>
                <a:lnTo>
                  <a:pt x="516692" y="42904"/>
                </a:lnTo>
                <a:cubicBezTo>
                  <a:pt x="525163" y="42904"/>
                  <a:pt x="537667" y="46125"/>
                  <a:pt x="545129" y="51964"/>
                </a:cubicBezTo>
                <a:lnTo>
                  <a:pt x="594743" y="90620"/>
                </a:lnTo>
                <a:cubicBezTo>
                  <a:pt x="599381" y="94244"/>
                  <a:pt x="602205" y="99680"/>
                  <a:pt x="602205" y="105317"/>
                </a:cubicBezTo>
                <a:cubicBezTo>
                  <a:pt x="602205" y="111156"/>
                  <a:pt x="599381" y="116592"/>
                  <a:pt x="594944" y="120216"/>
                </a:cubicBezTo>
                <a:lnTo>
                  <a:pt x="545129" y="160281"/>
                </a:lnTo>
                <a:cubicBezTo>
                  <a:pt x="539280" y="164912"/>
                  <a:pt x="526978" y="171757"/>
                  <a:pt x="516692" y="171757"/>
                </a:cubicBezTo>
                <a:lnTo>
                  <a:pt x="386204" y="171757"/>
                </a:lnTo>
                <a:close/>
                <a:moveTo>
                  <a:pt x="297432" y="0"/>
                </a:moveTo>
                <a:cubicBezTo>
                  <a:pt x="319615" y="0"/>
                  <a:pt x="337765" y="18123"/>
                  <a:pt x="337765" y="40274"/>
                </a:cubicBezTo>
                <a:lnTo>
                  <a:pt x="337765" y="496775"/>
                </a:lnTo>
                <a:lnTo>
                  <a:pt x="419238" y="496775"/>
                </a:lnTo>
                <a:cubicBezTo>
                  <a:pt x="432346" y="496775"/>
                  <a:pt x="448076" y="504629"/>
                  <a:pt x="455739" y="515100"/>
                </a:cubicBezTo>
                <a:lnTo>
                  <a:pt x="497887" y="572490"/>
                </a:lnTo>
                <a:cubicBezTo>
                  <a:pt x="503332" y="580142"/>
                  <a:pt x="504542" y="588599"/>
                  <a:pt x="500912" y="595647"/>
                </a:cubicBezTo>
                <a:cubicBezTo>
                  <a:pt x="497282" y="602695"/>
                  <a:pt x="489820" y="606722"/>
                  <a:pt x="480342" y="606722"/>
                </a:cubicBezTo>
                <a:lnTo>
                  <a:pt x="121580" y="606722"/>
                </a:lnTo>
                <a:cubicBezTo>
                  <a:pt x="112102" y="606722"/>
                  <a:pt x="104640" y="602695"/>
                  <a:pt x="101010" y="595647"/>
                </a:cubicBezTo>
                <a:cubicBezTo>
                  <a:pt x="97380" y="588599"/>
                  <a:pt x="98590" y="580142"/>
                  <a:pt x="104237" y="572490"/>
                </a:cubicBezTo>
                <a:lnTo>
                  <a:pt x="146183" y="515100"/>
                </a:lnTo>
                <a:cubicBezTo>
                  <a:pt x="153846" y="504629"/>
                  <a:pt x="169576" y="496775"/>
                  <a:pt x="182684" y="496775"/>
                </a:cubicBezTo>
                <a:lnTo>
                  <a:pt x="257099" y="496775"/>
                </a:lnTo>
                <a:lnTo>
                  <a:pt x="257099" y="40274"/>
                </a:lnTo>
                <a:cubicBezTo>
                  <a:pt x="257099" y="18123"/>
                  <a:pt x="275249" y="0"/>
                  <a:pt x="297432" y="0"/>
                </a:cubicBezTo>
                <a:close/>
              </a:path>
            </a:pathLst>
          </a:custGeom>
          <a:solidFill>
            <a:srgbClr val="FFFFFF"/>
          </a:solidFill>
          <a:ln w="12700" cap="flat">
            <a:noFill/>
            <a:miter lim="400000"/>
          </a:ln>
          <a:effectLst/>
        </p:spPr>
        <p:txBody>
          <a:bodyPr wrap="square" lIns="19050" tIns="19050" rIns="19050" bIns="19050" numCol="1" anchor="ctr">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cs typeface="+mn-ea"/>
              <a:sym typeface="+mn-lt"/>
            </a:endParaRPr>
          </a:p>
        </p:txBody>
      </p:sp>
      <p:sp>
        <p:nvSpPr>
          <p:cNvPr id="25" name="Rectangle 30"/>
          <p:cNvSpPr/>
          <p:nvPr/>
        </p:nvSpPr>
        <p:spPr bwMode="auto">
          <a:xfrm>
            <a:off x="1420537" y="3936821"/>
            <a:ext cx="3523335" cy="969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lvl="0" indent="-171450">
              <a:lnSpc>
                <a:spcPct val="150000"/>
              </a:lnSpc>
              <a:buFont typeface="Arial" panose="020B0604020202020204" pitchFamily="34" charset="0"/>
              <a:buChar char="•"/>
              <a:tabLst>
                <a:tab pos="227965" algn="l"/>
              </a:tabLst>
              <a:defRPr/>
            </a:pPr>
            <a:r>
              <a:rPr lang="zh-CN" altLang="en-US" sz="1600" dirty="0">
                <a:solidFill>
                  <a:srgbClr val="000000"/>
                </a:solidFill>
                <a:cs typeface="+mn-ea"/>
                <a:sym typeface="+mn-lt"/>
              </a:rPr>
              <a:t>开发多目标优化算法，完成模型可解释性分析。</a:t>
            </a:r>
            <a:endParaRPr lang="en-US" altLang="zh-CN" sz="1600" dirty="0">
              <a:solidFill>
                <a:srgbClr val="000000"/>
              </a:solidFill>
              <a:cs typeface="+mn-ea"/>
              <a:sym typeface="+mn-lt"/>
            </a:endParaRPr>
          </a:p>
        </p:txBody>
      </p:sp>
      <p:sp>
        <p:nvSpPr>
          <p:cNvPr id="26" name="TextBox 31"/>
          <p:cNvSpPr txBox="1"/>
          <p:nvPr/>
        </p:nvSpPr>
        <p:spPr bwMode="auto">
          <a:xfrm>
            <a:off x="1420537" y="3523941"/>
            <a:ext cx="3523335"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ct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算法优化</a:t>
            </a:r>
            <a:endParaRPr kumimoji="0" lang="en-US" altLang="zh-CN" sz="1800" b="1" i="0" u="none" strike="noStrike" kern="1200" cap="none" spc="0" normalizeH="0" baseline="0" noProof="0" dirty="0">
              <a:ln>
                <a:noFill/>
              </a:ln>
              <a:solidFill>
                <a:srgbClr val="000000"/>
              </a:solidFill>
              <a:effectLst/>
              <a:uLnTx/>
              <a:uFillTx/>
              <a:cs typeface="+mn-ea"/>
              <a:sym typeface="+mn-lt"/>
            </a:endParaRPr>
          </a:p>
        </p:txBody>
      </p:sp>
      <p:sp>
        <p:nvSpPr>
          <p:cNvPr id="28" name="Shape 6065"/>
          <p:cNvSpPr/>
          <p:nvPr/>
        </p:nvSpPr>
        <p:spPr>
          <a:xfrm>
            <a:off x="7520244" y="1547489"/>
            <a:ext cx="577851" cy="577851"/>
          </a:xfrm>
          <a:prstGeom prst="roundRect">
            <a:avLst>
              <a:gd name="adj" fmla="val 50000"/>
            </a:avLst>
          </a:prstGeom>
          <a:solidFill>
            <a:srgbClr val="1A3172"/>
          </a:solidFill>
          <a:ln w="12700" cap="flat">
            <a:noFill/>
            <a:miter lim="400000"/>
          </a:ln>
          <a:effectLst/>
        </p:spPr>
        <p:txBody>
          <a:bodyPr wrap="square" lIns="0" tIns="0" rIns="0" bIns="0" numCol="1" anchor="ctr">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srgbClr val="000000"/>
              </a:solidFill>
              <a:effectLst/>
              <a:uLnTx/>
              <a:uFillTx/>
              <a:cs typeface="+mn-ea"/>
              <a:sym typeface="+mn-lt"/>
            </a:endParaRPr>
          </a:p>
        </p:txBody>
      </p:sp>
      <p:sp>
        <p:nvSpPr>
          <p:cNvPr id="29" name="Shape 6066"/>
          <p:cNvSpPr/>
          <p:nvPr/>
        </p:nvSpPr>
        <p:spPr>
          <a:xfrm>
            <a:off x="7669315" y="1695512"/>
            <a:ext cx="279708" cy="281804"/>
          </a:xfrm>
          <a:custGeom>
            <a:avLst/>
            <a:gdLst>
              <a:gd name="connsiteX0" fmla="*/ 386204 w 602205"/>
              <a:gd name="connsiteY0" fmla="*/ 222916 h 606722"/>
              <a:gd name="connsiteX1" fmla="*/ 516692 w 602205"/>
              <a:gd name="connsiteY1" fmla="*/ 222916 h 606722"/>
              <a:gd name="connsiteX2" fmla="*/ 545129 w 602205"/>
              <a:gd name="connsiteY2" fmla="*/ 231976 h 606722"/>
              <a:gd name="connsiteX3" fmla="*/ 594743 w 602205"/>
              <a:gd name="connsiteY3" fmla="*/ 270632 h 606722"/>
              <a:gd name="connsiteX4" fmla="*/ 602205 w 602205"/>
              <a:gd name="connsiteY4" fmla="*/ 285329 h 606722"/>
              <a:gd name="connsiteX5" fmla="*/ 594944 w 602205"/>
              <a:gd name="connsiteY5" fmla="*/ 300228 h 606722"/>
              <a:gd name="connsiteX6" fmla="*/ 545129 w 602205"/>
              <a:gd name="connsiteY6" fmla="*/ 340293 h 606722"/>
              <a:gd name="connsiteX7" fmla="*/ 516692 w 602205"/>
              <a:gd name="connsiteY7" fmla="*/ 351769 h 606722"/>
              <a:gd name="connsiteX8" fmla="*/ 386204 w 602205"/>
              <a:gd name="connsiteY8" fmla="*/ 351769 h 606722"/>
              <a:gd name="connsiteX9" fmla="*/ 85299 w 602205"/>
              <a:gd name="connsiteY9" fmla="*/ 131463 h 606722"/>
              <a:gd name="connsiteX10" fmla="*/ 216777 w 602205"/>
              <a:gd name="connsiteY10" fmla="*/ 131463 h 606722"/>
              <a:gd name="connsiteX11" fmla="*/ 216777 w 602205"/>
              <a:gd name="connsiteY11" fmla="*/ 260386 h 606722"/>
              <a:gd name="connsiteX12" fmla="*/ 85299 w 602205"/>
              <a:gd name="connsiteY12" fmla="*/ 260386 h 606722"/>
              <a:gd name="connsiteX13" fmla="*/ 57068 w 602205"/>
              <a:gd name="connsiteY13" fmla="*/ 248501 h 606722"/>
              <a:gd name="connsiteX14" fmla="*/ 7058 w 602205"/>
              <a:gd name="connsiteY14" fmla="*/ 206803 h 606722"/>
              <a:gd name="connsiteX15" fmla="*/ 0 w 602205"/>
              <a:gd name="connsiteY15" fmla="*/ 192903 h 606722"/>
              <a:gd name="connsiteX16" fmla="*/ 7260 w 602205"/>
              <a:gd name="connsiteY16" fmla="*/ 178802 h 606722"/>
              <a:gd name="connsiteX17" fmla="*/ 57068 w 602205"/>
              <a:gd name="connsiteY17" fmla="*/ 139924 h 606722"/>
              <a:gd name="connsiteX18" fmla="*/ 85299 w 602205"/>
              <a:gd name="connsiteY18" fmla="*/ 131463 h 606722"/>
              <a:gd name="connsiteX19" fmla="*/ 386204 w 602205"/>
              <a:gd name="connsiteY19" fmla="*/ 42904 h 606722"/>
              <a:gd name="connsiteX20" fmla="*/ 516692 w 602205"/>
              <a:gd name="connsiteY20" fmla="*/ 42904 h 606722"/>
              <a:gd name="connsiteX21" fmla="*/ 545129 w 602205"/>
              <a:gd name="connsiteY21" fmla="*/ 51964 h 606722"/>
              <a:gd name="connsiteX22" fmla="*/ 594743 w 602205"/>
              <a:gd name="connsiteY22" fmla="*/ 90620 h 606722"/>
              <a:gd name="connsiteX23" fmla="*/ 602205 w 602205"/>
              <a:gd name="connsiteY23" fmla="*/ 105317 h 606722"/>
              <a:gd name="connsiteX24" fmla="*/ 594944 w 602205"/>
              <a:gd name="connsiteY24" fmla="*/ 120216 h 606722"/>
              <a:gd name="connsiteX25" fmla="*/ 545129 w 602205"/>
              <a:gd name="connsiteY25" fmla="*/ 160281 h 606722"/>
              <a:gd name="connsiteX26" fmla="*/ 516692 w 602205"/>
              <a:gd name="connsiteY26" fmla="*/ 171757 h 606722"/>
              <a:gd name="connsiteX27" fmla="*/ 386204 w 602205"/>
              <a:gd name="connsiteY27" fmla="*/ 171757 h 606722"/>
              <a:gd name="connsiteX28" fmla="*/ 297432 w 602205"/>
              <a:gd name="connsiteY28" fmla="*/ 0 h 606722"/>
              <a:gd name="connsiteX29" fmla="*/ 337765 w 602205"/>
              <a:gd name="connsiteY29" fmla="*/ 40274 h 606722"/>
              <a:gd name="connsiteX30" fmla="*/ 337765 w 602205"/>
              <a:gd name="connsiteY30" fmla="*/ 496775 h 606722"/>
              <a:gd name="connsiteX31" fmla="*/ 419238 w 602205"/>
              <a:gd name="connsiteY31" fmla="*/ 496775 h 606722"/>
              <a:gd name="connsiteX32" fmla="*/ 455739 w 602205"/>
              <a:gd name="connsiteY32" fmla="*/ 515100 h 606722"/>
              <a:gd name="connsiteX33" fmla="*/ 497887 w 602205"/>
              <a:gd name="connsiteY33" fmla="*/ 572490 h 606722"/>
              <a:gd name="connsiteX34" fmla="*/ 500912 w 602205"/>
              <a:gd name="connsiteY34" fmla="*/ 595647 h 606722"/>
              <a:gd name="connsiteX35" fmla="*/ 480342 w 602205"/>
              <a:gd name="connsiteY35" fmla="*/ 606722 h 606722"/>
              <a:gd name="connsiteX36" fmla="*/ 121580 w 602205"/>
              <a:gd name="connsiteY36" fmla="*/ 606722 h 606722"/>
              <a:gd name="connsiteX37" fmla="*/ 101010 w 602205"/>
              <a:gd name="connsiteY37" fmla="*/ 595647 h 606722"/>
              <a:gd name="connsiteX38" fmla="*/ 104237 w 602205"/>
              <a:gd name="connsiteY38" fmla="*/ 572490 h 606722"/>
              <a:gd name="connsiteX39" fmla="*/ 146183 w 602205"/>
              <a:gd name="connsiteY39" fmla="*/ 515100 h 606722"/>
              <a:gd name="connsiteX40" fmla="*/ 182684 w 602205"/>
              <a:gd name="connsiteY40" fmla="*/ 496775 h 606722"/>
              <a:gd name="connsiteX41" fmla="*/ 257099 w 602205"/>
              <a:gd name="connsiteY41" fmla="*/ 496775 h 606722"/>
              <a:gd name="connsiteX42" fmla="*/ 257099 w 602205"/>
              <a:gd name="connsiteY42" fmla="*/ 40274 h 606722"/>
              <a:gd name="connsiteX43" fmla="*/ 297432 w 602205"/>
              <a:gd name="connsiteY43"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2205" h="606722">
                <a:moveTo>
                  <a:pt x="386204" y="222916"/>
                </a:moveTo>
                <a:lnTo>
                  <a:pt x="516692" y="222916"/>
                </a:lnTo>
                <a:cubicBezTo>
                  <a:pt x="525163" y="222916"/>
                  <a:pt x="537465" y="225936"/>
                  <a:pt x="545129" y="231976"/>
                </a:cubicBezTo>
                <a:lnTo>
                  <a:pt x="594743" y="270632"/>
                </a:lnTo>
                <a:cubicBezTo>
                  <a:pt x="599381" y="274256"/>
                  <a:pt x="602205" y="279692"/>
                  <a:pt x="602205" y="285329"/>
                </a:cubicBezTo>
                <a:cubicBezTo>
                  <a:pt x="602205" y="291168"/>
                  <a:pt x="599381" y="296604"/>
                  <a:pt x="594944" y="300228"/>
                </a:cubicBezTo>
                <a:lnTo>
                  <a:pt x="545129" y="340293"/>
                </a:lnTo>
                <a:cubicBezTo>
                  <a:pt x="539280" y="344924"/>
                  <a:pt x="526978" y="351769"/>
                  <a:pt x="516692" y="351769"/>
                </a:cubicBezTo>
                <a:lnTo>
                  <a:pt x="386204" y="351769"/>
                </a:lnTo>
                <a:close/>
                <a:moveTo>
                  <a:pt x="85299" y="131463"/>
                </a:moveTo>
                <a:lnTo>
                  <a:pt x="216777" y="131463"/>
                </a:lnTo>
                <a:lnTo>
                  <a:pt x="216777" y="260386"/>
                </a:lnTo>
                <a:lnTo>
                  <a:pt x="85299" y="260386"/>
                </a:lnTo>
                <a:cubicBezTo>
                  <a:pt x="74813" y="260386"/>
                  <a:pt x="62311" y="252530"/>
                  <a:pt x="57068" y="248501"/>
                </a:cubicBezTo>
                <a:lnTo>
                  <a:pt x="7058" y="206803"/>
                </a:lnTo>
                <a:cubicBezTo>
                  <a:pt x="2621" y="203177"/>
                  <a:pt x="0" y="198140"/>
                  <a:pt x="0" y="192903"/>
                </a:cubicBezTo>
                <a:cubicBezTo>
                  <a:pt x="0" y="187464"/>
                  <a:pt x="2621" y="182428"/>
                  <a:pt x="7260" y="178802"/>
                </a:cubicBezTo>
                <a:lnTo>
                  <a:pt x="57068" y="139924"/>
                </a:lnTo>
                <a:cubicBezTo>
                  <a:pt x="64327" y="134082"/>
                  <a:pt x="76426" y="131463"/>
                  <a:pt x="85299" y="131463"/>
                </a:cubicBezTo>
                <a:close/>
                <a:moveTo>
                  <a:pt x="386204" y="42904"/>
                </a:moveTo>
                <a:lnTo>
                  <a:pt x="516692" y="42904"/>
                </a:lnTo>
                <a:cubicBezTo>
                  <a:pt x="525163" y="42904"/>
                  <a:pt x="537667" y="46125"/>
                  <a:pt x="545129" y="51964"/>
                </a:cubicBezTo>
                <a:lnTo>
                  <a:pt x="594743" y="90620"/>
                </a:lnTo>
                <a:cubicBezTo>
                  <a:pt x="599381" y="94244"/>
                  <a:pt x="602205" y="99680"/>
                  <a:pt x="602205" y="105317"/>
                </a:cubicBezTo>
                <a:cubicBezTo>
                  <a:pt x="602205" y="111156"/>
                  <a:pt x="599381" y="116592"/>
                  <a:pt x="594944" y="120216"/>
                </a:cubicBezTo>
                <a:lnTo>
                  <a:pt x="545129" y="160281"/>
                </a:lnTo>
                <a:cubicBezTo>
                  <a:pt x="539280" y="164912"/>
                  <a:pt x="526978" y="171757"/>
                  <a:pt x="516692" y="171757"/>
                </a:cubicBezTo>
                <a:lnTo>
                  <a:pt x="386204" y="171757"/>
                </a:lnTo>
                <a:close/>
                <a:moveTo>
                  <a:pt x="297432" y="0"/>
                </a:moveTo>
                <a:cubicBezTo>
                  <a:pt x="319615" y="0"/>
                  <a:pt x="337765" y="18123"/>
                  <a:pt x="337765" y="40274"/>
                </a:cubicBezTo>
                <a:lnTo>
                  <a:pt x="337765" y="496775"/>
                </a:lnTo>
                <a:lnTo>
                  <a:pt x="419238" y="496775"/>
                </a:lnTo>
                <a:cubicBezTo>
                  <a:pt x="432346" y="496775"/>
                  <a:pt x="448076" y="504629"/>
                  <a:pt x="455739" y="515100"/>
                </a:cubicBezTo>
                <a:lnTo>
                  <a:pt x="497887" y="572490"/>
                </a:lnTo>
                <a:cubicBezTo>
                  <a:pt x="503332" y="580142"/>
                  <a:pt x="504542" y="588599"/>
                  <a:pt x="500912" y="595647"/>
                </a:cubicBezTo>
                <a:cubicBezTo>
                  <a:pt x="497282" y="602695"/>
                  <a:pt x="489820" y="606722"/>
                  <a:pt x="480342" y="606722"/>
                </a:cubicBezTo>
                <a:lnTo>
                  <a:pt x="121580" y="606722"/>
                </a:lnTo>
                <a:cubicBezTo>
                  <a:pt x="112102" y="606722"/>
                  <a:pt x="104640" y="602695"/>
                  <a:pt x="101010" y="595647"/>
                </a:cubicBezTo>
                <a:cubicBezTo>
                  <a:pt x="97380" y="588599"/>
                  <a:pt x="98590" y="580142"/>
                  <a:pt x="104237" y="572490"/>
                </a:cubicBezTo>
                <a:lnTo>
                  <a:pt x="146183" y="515100"/>
                </a:lnTo>
                <a:cubicBezTo>
                  <a:pt x="153846" y="504629"/>
                  <a:pt x="169576" y="496775"/>
                  <a:pt x="182684" y="496775"/>
                </a:cubicBezTo>
                <a:lnTo>
                  <a:pt x="257099" y="496775"/>
                </a:lnTo>
                <a:lnTo>
                  <a:pt x="257099" y="40274"/>
                </a:lnTo>
                <a:cubicBezTo>
                  <a:pt x="257099" y="18123"/>
                  <a:pt x="275249" y="0"/>
                  <a:pt x="297432" y="0"/>
                </a:cubicBezTo>
                <a:close/>
              </a:path>
            </a:pathLst>
          </a:custGeom>
          <a:solidFill>
            <a:srgbClr val="FFFFFF"/>
          </a:solidFill>
          <a:ln w="12700" cap="flat">
            <a:noFill/>
            <a:miter lim="400000"/>
          </a:ln>
          <a:effectLst/>
        </p:spPr>
        <p:txBody>
          <a:bodyPr wrap="square" lIns="19050" tIns="19050" rIns="19050" bIns="19050" numCol="1" anchor="ctr">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cs typeface="+mn-ea"/>
              <a:sym typeface="+mn-lt"/>
            </a:endParaRPr>
          </a:p>
        </p:txBody>
      </p:sp>
      <p:sp>
        <p:nvSpPr>
          <p:cNvPr id="30" name="Rectangle 30"/>
          <p:cNvSpPr/>
          <p:nvPr/>
        </p:nvSpPr>
        <p:spPr bwMode="auto">
          <a:xfrm>
            <a:off x="8213053" y="1764155"/>
            <a:ext cx="3978947" cy="1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lnSpcReduction="1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lvl="0" indent="-171450">
              <a:lnSpc>
                <a:spcPct val="150000"/>
              </a:lnSpc>
              <a:buFont typeface="Arial" panose="020B0604020202020204" pitchFamily="34" charset="0"/>
              <a:buChar char="•"/>
              <a:tabLst>
                <a:tab pos="227965" algn="l"/>
              </a:tabLst>
              <a:defRPr/>
            </a:pPr>
            <a:r>
              <a:rPr lang="zh-CN" altLang="en-US" sz="1600" dirty="0">
                <a:solidFill>
                  <a:srgbClr val="000000"/>
                </a:solidFill>
                <a:cs typeface="+mn-ea"/>
                <a:sym typeface="+mn-lt"/>
              </a:rPr>
              <a:t>搭建计算环境，配置深度学习框架，构建传统机器学习模型、深度学习模型、物理约束神经网络等模型进行训练及性能评估与对比分析</a:t>
            </a:r>
            <a:endParaRPr lang="en-US" altLang="zh-CN" sz="1600" dirty="0">
              <a:solidFill>
                <a:srgbClr val="000000"/>
              </a:solidFill>
              <a:cs typeface="+mn-ea"/>
              <a:sym typeface="+mn-lt"/>
            </a:endParaRPr>
          </a:p>
        </p:txBody>
      </p:sp>
      <p:sp>
        <p:nvSpPr>
          <p:cNvPr id="31" name="TextBox 31"/>
          <p:cNvSpPr txBox="1"/>
          <p:nvPr/>
        </p:nvSpPr>
        <p:spPr bwMode="auto">
          <a:xfrm>
            <a:off x="8213053" y="1351275"/>
            <a:ext cx="3523335"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ct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模型构建</a:t>
            </a:r>
            <a:endParaRPr kumimoji="0" lang="en-US" altLang="zh-CN" sz="1800" b="1" i="0" u="none" strike="noStrike" kern="1200" cap="none" spc="0" normalizeH="0" baseline="0" noProof="0" dirty="0">
              <a:ln>
                <a:noFill/>
              </a:ln>
              <a:solidFill>
                <a:srgbClr val="000000"/>
              </a:solidFill>
              <a:effectLst/>
              <a:uLnTx/>
              <a:uFillTx/>
              <a:cs typeface="+mn-ea"/>
              <a:sym typeface="+mn-lt"/>
            </a:endParaRPr>
          </a:p>
        </p:txBody>
      </p:sp>
      <p:sp>
        <p:nvSpPr>
          <p:cNvPr id="33" name="Shape 6065"/>
          <p:cNvSpPr/>
          <p:nvPr/>
        </p:nvSpPr>
        <p:spPr>
          <a:xfrm>
            <a:off x="7520244" y="3720155"/>
            <a:ext cx="577851" cy="577851"/>
          </a:xfrm>
          <a:prstGeom prst="roundRect">
            <a:avLst>
              <a:gd name="adj" fmla="val 50000"/>
            </a:avLst>
          </a:prstGeom>
          <a:solidFill>
            <a:srgbClr val="1A3172"/>
          </a:solidFill>
          <a:ln w="12700" cap="flat">
            <a:noFill/>
            <a:miter lim="400000"/>
          </a:ln>
          <a:effectLst/>
        </p:spPr>
        <p:txBody>
          <a:bodyPr wrap="square" lIns="0" tIns="0" rIns="0" bIns="0" numCol="1" anchor="ctr">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srgbClr val="000000"/>
              </a:solidFill>
              <a:effectLst/>
              <a:uLnTx/>
              <a:uFillTx/>
              <a:cs typeface="+mn-ea"/>
              <a:sym typeface="+mn-lt"/>
            </a:endParaRPr>
          </a:p>
        </p:txBody>
      </p:sp>
      <p:sp>
        <p:nvSpPr>
          <p:cNvPr id="34" name="Shape 6066"/>
          <p:cNvSpPr/>
          <p:nvPr/>
        </p:nvSpPr>
        <p:spPr>
          <a:xfrm>
            <a:off x="7669315" y="3868178"/>
            <a:ext cx="279708" cy="281804"/>
          </a:xfrm>
          <a:custGeom>
            <a:avLst/>
            <a:gdLst>
              <a:gd name="connsiteX0" fmla="*/ 386204 w 602205"/>
              <a:gd name="connsiteY0" fmla="*/ 222916 h 606722"/>
              <a:gd name="connsiteX1" fmla="*/ 516692 w 602205"/>
              <a:gd name="connsiteY1" fmla="*/ 222916 h 606722"/>
              <a:gd name="connsiteX2" fmla="*/ 545129 w 602205"/>
              <a:gd name="connsiteY2" fmla="*/ 231976 h 606722"/>
              <a:gd name="connsiteX3" fmla="*/ 594743 w 602205"/>
              <a:gd name="connsiteY3" fmla="*/ 270632 h 606722"/>
              <a:gd name="connsiteX4" fmla="*/ 602205 w 602205"/>
              <a:gd name="connsiteY4" fmla="*/ 285329 h 606722"/>
              <a:gd name="connsiteX5" fmla="*/ 594944 w 602205"/>
              <a:gd name="connsiteY5" fmla="*/ 300228 h 606722"/>
              <a:gd name="connsiteX6" fmla="*/ 545129 w 602205"/>
              <a:gd name="connsiteY6" fmla="*/ 340293 h 606722"/>
              <a:gd name="connsiteX7" fmla="*/ 516692 w 602205"/>
              <a:gd name="connsiteY7" fmla="*/ 351769 h 606722"/>
              <a:gd name="connsiteX8" fmla="*/ 386204 w 602205"/>
              <a:gd name="connsiteY8" fmla="*/ 351769 h 606722"/>
              <a:gd name="connsiteX9" fmla="*/ 85299 w 602205"/>
              <a:gd name="connsiteY9" fmla="*/ 131463 h 606722"/>
              <a:gd name="connsiteX10" fmla="*/ 216777 w 602205"/>
              <a:gd name="connsiteY10" fmla="*/ 131463 h 606722"/>
              <a:gd name="connsiteX11" fmla="*/ 216777 w 602205"/>
              <a:gd name="connsiteY11" fmla="*/ 260386 h 606722"/>
              <a:gd name="connsiteX12" fmla="*/ 85299 w 602205"/>
              <a:gd name="connsiteY12" fmla="*/ 260386 h 606722"/>
              <a:gd name="connsiteX13" fmla="*/ 57068 w 602205"/>
              <a:gd name="connsiteY13" fmla="*/ 248501 h 606722"/>
              <a:gd name="connsiteX14" fmla="*/ 7058 w 602205"/>
              <a:gd name="connsiteY14" fmla="*/ 206803 h 606722"/>
              <a:gd name="connsiteX15" fmla="*/ 0 w 602205"/>
              <a:gd name="connsiteY15" fmla="*/ 192903 h 606722"/>
              <a:gd name="connsiteX16" fmla="*/ 7260 w 602205"/>
              <a:gd name="connsiteY16" fmla="*/ 178802 h 606722"/>
              <a:gd name="connsiteX17" fmla="*/ 57068 w 602205"/>
              <a:gd name="connsiteY17" fmla="*/ 139924 h 606722"/>
              <a:gd name="connsiteX18" fmla="*/ 85299 w 602205"/>
              <a:gd name="connsiteY18" fmla="*/ 131463 h 606722"/>
              <a:gd name="connsiteX19" fmla="*/ 386204 w 602205"/>
              <a:gd name="connsiteY19" fmla="*/ 42904 h 606722"/>
              <a:gd name="connsiteX20" fmla="*/ 516692 w 602205"/>
              <a:gd name="connsiteY20" fmla="*/ 42904 h 606722"/>
              <a:gd name="connsiteX21" fmla="*/ 545129 w 602205"/>
              <a:gd name="connsiteY21" fmla="*/ 51964 h 606722"/>
              <a:gd name="connsiteX22" fmla="*/ 594743 w 602205"/>
              <a:gd name="connsiteY22" fmla="*/ 90620 h 606722"/>
              <a:gd name="connsiteX23" fmla="*/ 602205 w 602205"/>
              <a:gd name="connsiteY23" fmla="*/ 105317 h 606722"/>
              <a:gd name="connsiteX24" fmla="*/ 594944 w 602205"/>
              <a:gd name="connsiteY24" fmla="*/ 120216 h 606722"/>
              <a:gd name="connsiteX25" fmla="*/ 545129 w 602205"/>
              <a:gd name="connsiteY25" fmla="*/ 160281 h 606722"/>
              <a:gd name="connsiteX26" fmla="*/ 516692 w 602205"/>
              <a:gd name="connsiteY26" fmla="*/ 171757 h 606722"/>
              <a:gd name="connsiteX27" fmla="*/ 386204 w 602205"/>
              <a:gd name="connsiteY27" fmla="*/ 171757 h 606722"/>
              <a:gd name="connsiteX28" fmla="*/ 297432 w 602205"/>
              <a:gd name="connsiteY28" fmla="*/ 0 h 606722"/>
              <a:gd name="connsiteX29" fmla="*/ 337765 w 602205"/>
              <a:gd name="connsiteY29" fmla="*/ 40274 h 606722"/>
              <a:gd name="connsiteX30" fmla="*/ 337765 w 602205"/>
              <a:gd name="connsiteY30" fmla="*/ 496775 h 606722"/>
              <a:gd name="connsiteX31" fmla="*/ 419238 w 602205"/>
              <a:gd name="connsiteY31" fmla="*/ 496775 h 606722"/>
              <a:gd name="connsiteX32" fmla="*/ 455739 w 602205"/>
              <a:gd name="connsiteY32" fmla="*/ 515100 h 606722"/>
              <a:gd name="connsiteX33" fmla="*/ 497887 w 602205"/>
              <a:gd name="connsiteY33" fmla="*/ 572490 h 606722"/>
              <a:gd name="connsiteX34" fmla="*/ 500912 w 602205"/>
              <a:gd name="connsiteY34" fmla="*/ 595647 h 606722"/>
              <a:gd name="connsiteX35" fmla="*/ 480342 w 602205"/>
              <a:gd name="connsiteY35" fmla="*/ 606722 h 606722"/>
              <a:gd name="connsiteX36" fmla="*/ 121580 w 602205"/>
              <a:gd name="connsiteY36" fmla="*/ 606722 h 606722"/>
              <a:gd name="connsiteX37" fmla="*/ 101010 w 602205"/>
              <a:gd name="connsiteY37" fmla="*/ 595647 h 606722"/>
              <a:gd name="connsiteX38" fmla="*/ 104237 w 602205"/>
              <a:gd name="connsiteY38" fmla="*/ 572490 h 606722"/>
              <a:gd name="connsiteX39" fmla="*/ 146183 w 602205"/>
              <a:gd name="connsiteY39" fmla="*/ 515100 h 606722"/>
              <a:gd name="connsiteX40" fmla="*/ 182684 w 602205"/>
              <a:gd name="connsiteY40" fmla="*/ 496775 h 606722"/>
              <a:gd name="connsiteX41" fmla="*/ 257099 w 602205"/>
              <a:gd name="connsiteY41" fmla="*/ 496775 h 606722"/>
              <a:gd name="connsiteX42" fmla="*/ 257099 w 602205"/>
              <a:gd name="connsiteY42" fmla="*/ 40274 h 606722"/>
              <a:gd name="connsiteX43" fmla="*/ 297432 w 602205"/>
              <a:gd name="connsiteY43"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2205" h="606722">
                <a:moveTo>
                  <a:pt x="386204" y="222916"/>
                </a:moveTo>
                <a:lnTo>
                  <a:pt x="516692" y="222916"/>
                </a:lnTo>
                <a:cubicBezTo>
                  <a:pt x="525163" y="222916"/>
                  <a:pt x="537465" y="225936"/>
                  <a:pt x="545129" y="231976"/>
                </a:cubicBezTo>
                <a:lnTo>
                  <a:pt x="594743" y="270632"/>
                </a:lnTo>
                <a:cubicBezTo>
                  <a:pt x="599381" y="274256"/>
                  <a:pt x="602205" y="279692"/>
                  <a:pt x="602205" y="285329"/>
                </a:cubicBezTo>
                <a:cubicBezTo>
                  <a:pt x="602205" y="291168"/>
                  <a:pt x="599381" y="296604"/>
                  <a:pt x="594944" y="300228"/>
                </a:cubicBezTo>
                <a:lnTo>
                  <a:pt x="545129" y="340293"/>
                </a:lnTo>
                <a:cubicBezTo>
                  <a:pt x="539280" y="344924"/>
                  <a:pt x="526978" y="351769"/>
                  <a:pt x="516692" y="351769"/>
                </a:cubicBezTo>
                <a:lnTo>
                  <a:pt x="386204" y="351769"/>
                </a:lnTo>
                <a:close/>
                <a:moveTo>
                  <a:pt x="85299" y="131463"/>
                </a:moveTo>
                <a:lnTo>
                  <a:pt x="216777" y="131463"/>
                </a:lnTo>
                <a:lnTo>
                  <a:pt x="216777" y="260386"/>
                </a:lnTo>
                <a:lnTo>
                  <a:pt x="85299" y="260386"/>
                </a:lnTo>
                <a:cubicBezTo>
                  <a:pt x="74813" y="260386"/>
                  <a:pt x="62311" y="252530"/>
                  <a:pt x="57068" y="248501"/>
                </a:cubicBezTo>
                <a:lnTo>
                  <a:pt x="7058" y="206803"/>
                </a:lnTo>
                <a:cubicBezTo>
                  <a:pt x="2621" y="203177"/>
                  <a:pt x="0" y="198140"/>
                  <a:pt x="0" y="192903"/>
                </a:cubicBezTo>
                <a:cubicBezTo>
                  <a:pt x="0" y="187464"/>
                  <a:pt x="2621" y="182428"/>
                  <a:pt x="7260" y="178802"/>
                </a:cubicBezTo>
                <a:lnTo>
                  <a:pt x="57068" y="139924"/>
                </a:lnTo>
                <a:cubicBezTo>
                  <a:pt x="64327" y="134082"/>
                  <a:pt x="76426" y="131463"/>
                  <a:pt x="85299" y="131463"/>
                </a:cubicBezTo>
                <a:close/>
                <a:moveTo>
                  <a:pt x="386204" y="42904"/>
                </a:moveTo>
                <a:lnTo>
                  <a:pt x="516692" y="42904"/>
                </a:lnTo>
                <a:cubicBezTo>
                  <a:pt x="525163" y="42904"/>
                  <a:pt x="537667" y="46125"/>
                  <a:pt x="545129" y="51964"/>
                </a:cubicBezTo>
                <a:lnTo>
                  <a:pt x="594743" y="90620"/>
                </a:lnTo>
                <a:cubicBezTo>
                  <a:pt x="599381" y="94244"/>
                  <a:pt x="602205" y="99680"/>
                  <a:pt x="602205" y="105317"/>
                </a:cubicBezTo>
                <a:cubicBezTo>
                  <a:pt x="602205" y="111156"/>
                  <a:pt x="599381" y="116592"/>
                  <a:pt x="594944" y="120216"/>
                </a:cubicBezTo>
                <a:lnTo>
                  <a:pt x="545129" y="160281"/>
                </a:lnTo>
                <a:cubicBezTo>
                  <a:pt x="539280" y="164912"/>
                  <a:pt x="526978" y="171757"/>
                  <a:pt x="516692" y="171757"/>
                </a:cubicBezTo>
                <a:lnTo>
                  <a:pt x="386204" y="171757"/>
                </a:lnTo>
                <a:close/>
                <a:moveTo>
                  <a:pt x="297432" y="0"/>
                </a:moveTo>
                <a:cubicBezTo>
                  <a:pt x="319615" y="0"/>
                  <a:pt x="337765" y="18123"/>
                  <a:pt x="337765" y="40274"/>
                </a:cubicBezTo>
                <a:lnTo>
                  <a:pt x="337765" y="496775"/>
                </a:lnTo>
                <a:lnTo>
                  <a:pt x="419238" y="496775"/>
                </a:lnTo>
                <a:cubicBezTo>
                  <a:pt x="432346" y="496775"/>
                  <a:pt x="448076" y="504629"/>
                  <a:pt x="455739" y="515100"/>
                </a:cubicBezTo>
                <a:lnTo>
                  <a:pt x="497887" y="572490"/>
                </a:lnTo>
                <a:cubicBezTo>
                  <a:pt x="503332" y="580142"/>
                  <a:pt x="504542" y="588599"/>
                  <a:pt x="500912" y="595647"/>
                </a:cubicBezTo>
                <a:cubicBezTo>
                  <a:pt x="497282" y="602695"/>
                  <a:pt x="489820" y="606722"/>
                  <a:pt x="480342" y="606722"/>
                </a:cubicBezTo>
                <a:lnTo>
                  <a:pt x="121580" y="606722"/>
                </a:lnTo>
                <a:cubicBezTo>
                  <a:pt x="112102" y="606722"/>
                  <a:pt x="104640" y="602695"/>
                  <a:pt x="101010" y="595647"/>
                </a:cubicBezTo>
                <a:cubicBezTo>
                  <a:pt x="97380" y="588599"/>
                  <a:pt x="98590" y="580142"/>
                  <a:pt x="104237" y="572490"/>
                </a:cubicBezTo>
                <a:lnTo>
                  <a:pt x="146183" y="515100"/>
                </a:lnTo>
                <a:cubicBezTo>
                  <a:pt x="153846" y="504629"/>
                  <a:pt x="169576" y="496775"/>
                  <a:pt x="182684" y="496775"/>
                </a:cubicBezTo>
                <a:lnTo>
                  <a:pt x="257099" y="496775"/>
                </a:lnTo>
                <a:lnTo>
                  <a:pt x="257099" y="40274"/>
                </a:lnTo>
                <a:cubicBezTo>
                  <a:pt x="257099" y="18123"/>
                  <a:pt x="275249" y="0"/>
                  <a:pt x="297432" y="0"/>
                </a:cubicBezTo>
                <a:close/>
              </a:path>
            </a:pathLst>
          </a:custGeom>
          <a:solidFill>
            <a:srgbClr val="FFFFFF"/>
          </a:solidFill>
          <a:ln w="12700" cap="flat">
            <a:noFill/>
            <a:miter lim="400000"/>
          </a:ln>
          <a:effectLst/>
        </p:spPr>
        <p:txBody>
          <a:bodyPr wrap="square" lIns="19050" tIns="19050" rIns="19050" bIns="19050" numCol="1" anchor="ctr">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cs typeface="+mn-ea"/>
              <a:sym typeface="+mn-lt"/>
            </a:endParaRPr>
          </a:p>
        </p:txBody>
      </p:sp>
      <p:sp>
        <p:nvSpPr>
          <p:cNvPr id="35" name="Rectangle 30"/>
          <p:cNvSpPr/>
          <p:nvPr/>
        </p:nvSpPr>
        <p:spPr bwMode="auto">
          <a:xfrm>
            <a:off x="8213053" y="3936821"/>
            <a:ext cx="3523335" cy="969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tabLst>
                <a:tab pos="227965" algn="l"/>
              </a:tabLst>
              <a:defRPr/>
            </a:pPr>
            <a:r>
              <a:rPr lang="zh-CN" altLang="zh-CN" sz="1600" dirty="0">
                <a:solidFill>
                  <a:srgbClr val="000000"/>
                </a:solidFill>
                <a:cs typeface="+mn-ea"/>
                <a:sym typeface="+mn-lt"/>
              </a:rPr>
              <a:t>进行逆向设计与优化，构造生成对抗网络，实现材料逆向设计</a:t>
            </a:r>
            <a:endParaRPr lang="en-US" altLang="zh-CN" sz="1600" dirty="0">
              <a:solidFill>
                <a:srgbClr val="000000"/>
              </a:solidFill>
              <a:cs typeface="+mn-ea"/>
              <a:sym typeface="+mn-lt"/>
            </a:endParaRPr>
          </a:p>
        </p:txBody>
      </p:sp>
      <p:sp>
        <p:nvSpPr>
          <p:cNvPr id="36" name="TextBox 31"/>
          <p:cNvSpPr txBox="1"/>
          <p:nvPr/>
        </p:nvSpPr>
        <p:spPr bwMode="auto">
          <a:xfrm>
            <a:off x="8213053" y="3523941"/>
            <a:ext cx="3523335"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ct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逆向设计</a:t>
            </a:r>
            <a:endParaRPr kumimoji="0" lang="en-US" altLang="zh-CN" sz="1800" b="1" i="0" u="none" strike="noStrike" kern="1200" cap="none" spc="0" normalizeH="0" baseline="0" noProof="0" dirty="0">
              <a:ln>
                <a:noFill/>
              </a:ln>
              <a:solidFill>
                <a:srgbClr val="000000"/>
              </a:solidFill>
              <a:effectLst/>
              <a:uLnTx/>
              <a:uFillTx/>
              <a:cs typeface="+mn-ea"/>
              <a:sym typeface="+mn-lt"/>
            </a:endParaRPr>
          </a:p>
        </p:txBody>
      </p:sp>
      <p:sp>
        <p:nvSpPr>
          <p:cNvPr id="2" name="标题 1"/>
          <p:cNvSpPr>
            <a:spLocks noGrp="1"/>
          </p:cNvSpPr>
          <p:nvPr>
            <p:ph type="title"/>
          </p:nvPr>
        </p:nvSpPr>
        <p:spPr>
          <a:xfrm>
            <a:off x="1305579" y="222669"/>
            <a:ext cx="10850563" cy="663575"/>
          </a:xfrm>
        </p:spPr>
        <p:txBody>
          <a:bodyPr/>
          <a:lstStyle/>
          <a:p>
            <a:r>
              <a:rPr lang="zh-CN" altLang="en-US" sz="2800" dirty="0">
                <a:latin typeface="+mn-lt"/>
                <a:ea typeface="+mn-ea"/>
                <a:cs typeface="+mn-ea"/>
                <a:sym typeface="+mn-lt"/>
              </a:rPr>
              <a:t>实施方案</a:t>
            </a:r>
          </a:p>
        </p:txBody>
      </p: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11230" y="0"/>
            <a:ext cx="1180770" cy="11749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90637" y="235280"/>
            <a:ext cx="10850563" cy="663575"/>
          </a:xfrm>
        </p:spPr>
        <p:txBody>
          <a:bodyPr/>
          <a:lstStyle/>
          <a:p>
            <a:r>
              <a:rPr lang="zh-CN" altLang="en-US" sz="2800" dirty="0">
                <a:latin typeface="+mn-lt"/>
                <a:ea typeface="+mn-ea"/>
                <a:cs typeface="+mn-ea"/>
                <a:sym typeface="+mn-lt"/>
              </a:rPr>
              <a:t>创新点</a:t>
            </a:r>
          </a:p>
        </p:txBody>
      </p:sp>
      <p:pic>
        <p:nvPicPr>
          <p:cNvPr id="39" name="图片 3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11230" y="0"/>
            <a:ext cx="1180770" cy="1174982"/>
          </a:xfrm>
          <a:prstGeom prst="rect">
            <a:avLst/>
          </a:prstGeom>
        </p:spPr>
      </p:pic>
      <p:sp>
        <p:nvSpPr>
          <p:cNvPr id="3" name="矩形 2"/>
          <p:cNvSpPr/>
          <p:nvPr/>
        </p:nvSpPr>
        <p:spPr bwMode="auto">
          <a:xfrm>
            <a:off x="4070999" y="1381760"/>
            <a:ext cx="7740507" cy="4795520"/>
          </a:xfrm>
          <a:prstGeom prst="rect">
            <a:avLst/>
          </a:prstGeom>
          <a:solidFill>
            <a:schemeClr val="bg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cs typeface="+mn-ea"/>
              <a:sym typeface="+mn-lt"/>
            </a:endParaRPr>
          </a:p>
        </p:txBody>
      </p:sp>
      <p:sp>
        <p:nvSpPr>
          <p:cNvPr id="6" name="trophy_159504"/>
          <p:cNvSpPr>
            <a:spLocks noChangeAspect="1"/>
          </p:cNvSpPr>
          <p:nvPr/>
        </p:nvSpPr>
        <p:spPr bwMode="auto">
          <a:xfrm>
            <a:off x="1361649" y="2991880"/>
            <a:ext cx="973589" cy="947443"/>
          </a:xfrm>
          <a:custGeom>
            <a:avLst/>
            <a:gdLst>
              <a:gd name="connsiteX0" fmla="*/ 92709 w 608527"/>
              <a:gd name="connsiteY0" fmla="*/ 383100 h 592185"/>
              <a:gd name="connsiteX1" fmla="*/ 122674 w 608527"/>
              <a:gd name="connsiteY1" fmla="*/ 392457 h 592185"/>
              <a:gd name="connsiteX2" fmla="*/ 136811 w 608527"/>
              <a:gd name="connsiteY2" fmla="*/ 395986 h 592185"/>
              <a:gd name="connsiteX3" fmla="*/ 140345 w 608527"/>
              <a:gd name="connsiteY3" fmla="*/ 410099 h 592185"/>
              <a:gd name="connsiteX4" fmla="*/ 168466 w 608527"/>
              <a:gd name="connsiteY4" fmla="*/ 460107 h 592185"/>
              <a:gd name="connsiteX5" fmla="*/ 192438 w 608527"/>
              <a:gd name="connsiteY5" fmla="*/ 466243 h 592185"/>
              <a:gd name="connsiteX6" fmla="*/ 225476 w 608527"/>
              <a:gd name="connsiteY6" fmla="*/ 459494 h 592185"/>
              <a:gd name="connsiteX7" fmla="*/ 239767 w 608527"/>
              <a:gd name="connsiteY7" fmla="*/ 455352 h 592185"/>
              <a:gd name="connsiteX8" fmla="*/ 246682 w 608527"/>
              <a:gd name="connsiteY8" fmla="*/ 462408 h 592185"/>
              <a:gd name="connsiteX9" fmla="*/ 120830 w 608527"/>
              <a:gd name="connsiteY9" fmla="*/ 588043 h 592185"/>
              <a:gd name="connsiteX10" fmla="*/ 110841 w 608527"/>
              <a:gd name="connsiteY10" fmla="*/ 592185 h 592185"/>
              <a:gd name="connsiteX11" fmla="*/ 107768 w 608527"/>
              <a:gd name="connsiteY11" fmla="*/ 591725 h 592185"/>
              <a:gd name="connsiteX12" fmla="*/ 97472 w 608527"/>
              <a:gd name="connsiteY12" fmla="*/ 582828 h 592185"/>
              <a:gd name="connsiteX13" fmla="*/ 73347 w 608527"/>
              <a:gd name="connsiteY13" fmla="*/ 516098 h 592185"/>
              <a:gd name="connsiteX14" fmla="*/ 9729 w 608527"/>
              <a:gd name="connsiteY14" fmla="*/ 494929 h 592185"/>
              <a:gd name="connsiteX15" fmla="*/ 356 w 608527"/>
              <a:gd name="connsiteY15" fmla="*/ 484805 h 592185"/>
              <a:gd name="connsiteX16" fmla="*/ 4197 w 608527"/>
              <a:gd name="connsiteY16" fmla="*/ 471459 h 592185"/>
              <a:gd name="connsiteX17" fmla="*/ 512302 w 608527"/>
              <a:gd name="connsiteY17" fmla="*/ 379571 h 592185"/>
              <a:gd name="connsiteX18" fmla="*/ 604331 w 608527"/>
              <a:gd name="connsiteY18" fmla="*/ 471458 h 592185"/>
              <a:gd name="connsiteX19" fmla="*/ 608172 w 608527"/>
              <a:gd name="connsiteY19" fmla="*/ 484804 h 592185"/>
              <a:gd name="connsiteX20" fmla="*/ 598800 w 608527"/>
              <a:gd name="connsiteY20" fmla="*/ 494929 h 592185"/>
              <a:gd name="connsiteX21" fmla="*/ 535194 w 608527"/>
              <a:gd name="connsiteY21" fmla="*/ 516098 h 592185"/>
              <a:gd name="connsiteX22" fmla="*/ 511073 w 608527"/>
              <a:gd name="connsiteY22" fmla="*/ 582828 h 592185"/>
              <a:gd name="connsiteX23" fmla="*/ 500780 w 608527"/>
              <a:gd name="connsiteY23" fmla="*/ 591725 h 592185"/>
              <a:gd name="connsiteX24" fmla="*/ 497707 w 608527"/>
              <a:gd name="connsiteY24" fmla="*/ 592185 h 592185"/>
              <a:gd name="connsiteX25" fmla="*/ 487721 w 608527"/>
              <a:gd name="connsiteY25" fmla="*/ 588043 h 592185"/>
              <a:gd name="connsiteX26" fmla="*/ 356976 w 608527"/>
              <a:gd name="connsiteY26" fmla="*/ 457499 h 592185"/>
              <a:gd name="connsiteX27" fmla="*/ 359281 w 608527"/>
              <a:gd name="connsiteY27" fmla="*/ 455351 h 592185"/>
              <a:gd name="connsiteX28" fmla="*/ 373569 w 608527"/>
              <a:gd name="connsiteY28" fmla="*/ 459493 h 592185"/>
              <a:gd name="connsiteX29" fmla="*/ 406601 w 608527"/>
              <a:gd name="connsiteY29" fmla="*/ 466243 h 592185"/>
              <a:gd name="connsiteX30" fmla="*/ 430721 w 608527"/>
              <a:gd name="connsiteY30" fmla="*/ 460107 h 592185"/>
              <a:gd name="connsiteX31" fmla="*/ 458683 w 608527"/>
              <a:gd name="connsiteY31" fmla="*/ 410098 h 592185"/>
              <a:gd name="connsiteX32" fmla="*/ 462217 w 608527"/>
              <a:gd name="connsiteY32" fmla="*/ 395985 h 592185"/>
              <a:gd name="connsiteX33" fmla="*/ 476352 w 608527"/>
              <a:gd name="connsiteY33" fmla="*/ 392457 h 592185"/>
              <a:gd name="connsiteX34" fmla="*/ 512302 w 608527"/>
              <a:gd name="connsiteY34" fmla="*/ 379571 h 592185"/>
              <a:gd name="connsiteX35" fmla="*/ 299571 w 608527"/>
              <a:gd name="connsiteY35" fmla="*/ 169992 h 592185"/>
              <a:gd name="connsiteX36" fmla="*/ 363115 w 608527"/>
              <a:gd name="connsiteY36" fmla="*/ 233431 h 592185"/>
              <a:gd name="connsiteX37" fmla="*/ 299571 w 608527"/>
              <a:gd name="connsiteY37" fmla="*/ 296870 h 592185"/>
              <a:gd name="connsiteX38" fmla="*/ 236027 w 608527"/>
              <a:gd name="connsiteY38" fmla="*/ 233431 h 592185"/>
              <a:gd name="connsiteX39" fmla="*/ 299571 w 608527"/>
              <a:gd name="connsiteY39" fmla="*/ 169992 h 592185"/>
              <a:gd name="connsiteX40" fmla="*/ 299495 w 608527"/>
              <a:gd name="connsiteY40" fmla="*/ 141609 h 592185"/>
              <a:gd name="connsiteX41" fmla="*/ 207613 w 608527"/>
              <a:gd name="connsiteY41" fmla="*/ 233507 h 592185"/>
              <a:gd name="connsiteX42" fmla="*/ 299495 w 608527"/>
              <a:gd name="connsiteY42" fmla="*/ 325251 h 592185"/>
              <a:gd name="connsiteX43" fmla="*/ 391530 w 608527"/>
              <a:gd name="connsiteY43" fmla="*/ 233507 h 592185"/>
              <a:gd name="connsiteX44" fmla="*/ 299495 w 608527"/>
              <a:gd name="connsiteY44" fmla="*/ 141609 h 592185"/>
              <a:gd name="connsiteX45" fmla="*/ 299495 w 608527"/>
              <a:gd name="connsiteY45" fmla="*/ 115374 h 592185"/>
              <a:gd name="connsiteX46" fmla="*/ 417804 w 608527"/>
              <a:gd name="connsiteY46" fmla="*/ 233507 h 592185"/>
              <a:gd name="connsiteX47" fmla="*/ 299495 w 608527"/>
              <a:gd name="connsiteY47" fmla="*/ 351486 h 592185"/>
              <a:gd name="connsiteX48" fmla="*/ 181339 w 608527"/>
              <a:gd name="connsiteY48" fmla="*/ 233507 h 592185"/>
              <a:gd name="connsiteX49" fmla="*/ 299495 w 608527"/>
              <a:gd name="connsiteY49" fmla="*/ 115374 h 592185"/>
              <a:gd name="connsiteX50" fmla="*/ 299529 w 608527"/>
              <a:gd name="connsiteY50" fmla="*/ 87143 h 592185"/>
              <a:gd name="connsiteX51" fmla="*/ 152944 w 608527"/>
              <a:gd name="connsiteY51" fmla="*/ 233507 h 592185"/>
              <a:gd name="connsiteX52" fmla="*/ 299529 w 608527"/>
              <a:gd name="connsiteY52" fmla="*/ 379871 h 592185"/>
              <a:gd name="connsiteX53" fmla="*/ 446114 w 608527"/>
              <a:gd name="connsiteY53" fmla="*/ 233507 h 592185"/>
              <a:gd name="connsiteX54" fmla="*/ 299529 w 608527"/>
              <a:gd name="connsiteY54" fmla="*/ 87143 h 592185"/>
              <a:gd name="connsiteX55" fmla="*/ 299529 w 608527"/>
              <a:gd name="connsiteY55" fmla="*/ 0 h 592185"/>
              <a:gd name="connsiteX56" fmla="*/ 351618 w 608527"/>
              <a:gd name="connsiteY56" fmla="*/ 39276 h 592185"/>
              <a:gd name="connsiteX57" fmla="*/ 357764 w 608527"/>
              <a:gd name="connsiteY57" fmla="*/ 40043 h 592185"/>
              <a:gd name="connsiteX58" fmla="*/ 406625 w 608527"/>
              <a:gd name="connsiteY58" fmla="*/ 28997 h 592185"/>
              <a:gd name="connsiteX59" fmla="*/ 416459 w 608527"/>
              <a:gd name="connsiteY59" fmla="*/ 31298 h 592185"/>
              <a:gd name="connsiteX60" fmla="*/ 441965 w 608527"/>
              <a:gd name="connsiteY60" fmla="*/ 91286 h 592185"/>
              <a:gd name="connsiteX61" fmla="*/ 502044 w 608527"/>
              <a:gd name="connsiteY61" fmla="*/ 116754 h 592185"/>
              <a:gd name="connsiteX62" fmla="*/ 494054 w 608527"/>
              <a:gd name="connsiteY62" fmla="*/ 181344 h 592185"/>
              <a:gd name="connsiteX63" fmla="*/ 533389 w 608527"/>
              <a:gd name="connsiteY63" fmla="*/ 233507 h 592185"/>
              <a:gd name="connsiteX64" fmla="*/ 494054 w 608527"/>
              <a:gd name="connsiteY64" fmla="*/ 285517 h 592185"/>
              <a:gd name="connsiteX65" fmla="*/ 502044 w 608527"/>
              <a:gd name="connsiteY65" fmla="*/ 350261 h 592185"/>
              <a:gd name="connsiteX66" fmla="*/ 441965 w 608527"/>
              <a:gd name="connsiteY66" fmla="*/ 375575 h 592185"/>
              <a:gd name="connsiteX67" fmla="*/ 416459 w 608527"/>
              <a:gd name="connsiteY67" fmla="*/ 435563 h 592185"/>
              <a:gd name="connsiteX68" fmla="*/ 406625 w 608527"/>
              <a:gd name="connsiteY68" fmla="*/ 438018 h 592185"/>
              <a:gd name="connsiteX69" fmla="*/ 357764 w 608527"/>
              <a:gd name="connsiteY69" fmla="*/ 426971 h 592185"/>
              <a:gd name="connsiteX70" fmla="*/ 351618 w 608527"/>
              <a:gd name="connsiteY70" fmla="*/ 427585 h 592185"/>
              <a:gd name="connsiteX71" fmla="*/ 299529 w 608527"/>
              <a:gd name="connsiteY71" fmla="*/ 466861 h 592185"/>
              <a:gd name="connsiteX72" fmla="*/ 247441 w 608527"/>
              <a:gd name="connsiteY72" fmla="*/ 427585 h 592185"/>
              <a:gd name="connsiteX73" fmla="*/ 241448 w 608527"/>
              <a:gd name="connsiteY73" fmla="*/ 426971 h 592185"/>
              <a:gd name="connsiteX74" fmla="*/ 192433 w 608527"/>
              <a:gd name="connsiteY74" fmla="*/ 438018 h 592185"/>
              <a:gd name="connsiteX75" fmla="*/ 182599 w 608527"/>
              <a:gd name="connsiteY75" fmla="*/ 435563 h 592185"/>
              <a:gd name="connsiteX76" fmla="*/ 157247 w 608527"/>
              <a:gd name="connsiteY76" fmla="*/ 375575 h 592185"/>
              <a:gd name="connsiteX77" fmla="*/ 97168 w 608527"/>
              <a:gd name="connsiteY77" fmla="*/ 350107 h 592185"/>
              <a:gd name="connsiteX78" fmla="*/ 105005 w 608527"/>
              <a:gd name="connsiteY78" fmla="*/ 285517 h 592185"/>
              <a:gd name="connsiteX79" fmla="*/ 65823 w 608527"/>
              <a:gd name="connsiteY79" fmla="*/ 233507 h 592185"/>
              <a:gd name="connsiteX80" fmla="*/ 105005 w 608527"/>
              <a:gd name="connsiteY80" fmla="*/ 181344 h 592185"/>
              <a:gd name="connsiteX81" fmla="*/ 97168 w 608527"/>
              <a:gd name="connsiteY81" fmla="*/ 116754 h 592185"/>
              <a:gd name="connsiteX82" fmla="*/ 157247 w 608527"/>
              <a:gd name="connsiteY82" fmla="*/ 91286 h 592185"/>
              <a:gd name="connsiteX83" fmla="*/ 182599 w 608527"/>
              <a:gd name="connsiteY83" fmla="*/ 31298 h 592185"/>
              <a:gd name="connsiteX84" fmla="*/ 192433 w 608527"/>
              <a:gd name="connsiteY84" fmla="*/ 28997 h 592185"/>
              <a:gd name="connsiteX85" fmla="*/ 241448 w 608527"/>
              <a:gd name="connsiteY85" fmla="*/ 40043 h 592185"/>
              <a:gd name="connsiteX86" fmla="*/ 247441 w 608527"/>
              <a:gd name="connsiteY86" fmla="*/ 39276 h 592185"/>
              <a:gd name="connsiteX87" fmla="*/ 299529 w 608527"/>
              <a:gd name="connsiteY87" fmla="*/ 0 h 592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608527" h="592185">
                <a:moveTo>
                  <a:pt x="92709" y="383100"/>
                </a:moveTo>
                <a:cubicBezTo>
                  <a:pt x="102697" y="388162"/>
                  <a:pt x="113607" y="390463"/>
                  <a:pt x="122674" y="392457"/>
                </a:cubicBezTo>
                <a:cubicBezTo>
                  <a:pt x="127130" y="393378"/>
                  <a:pt x="133584" y="394758"/>
                  <a:pt x="136811" y="395986"/>
                </a:cubicBezTo>
                <a:cubicBezTo>
                  <a:pt x="138040" y="399207"/>
                  <a:pt x="139423" y="405650"/>
                  <a:pt x="140345" y="410099"/>
                </a:cubicBezTo>
                <a:cubicBezTo>
                  <a:pt x="143880" y="426359"/>
                  <a:pt x="148643" y="448755"/>
                  <a:pt x="168466" y="460107"/>
                </a:cubicBezTo>
                <a:cubicBezTo>
                  <a:pt x="175535" y="464249"/>
                  <a:pt x="183525" y="466243"/>
                  <a:pt x="192438" y="466243"/>
                </a:cubicBezTo>
                <a:cubicBezTo>
                  <a:pt x="204270" y="466243"/>
                  <a:pt x="215488" y="462715"/>
                  <a:pt x="225476" y="459494"/>
                </a:cubicBezTo>
                <a:cubicBezTo>
                  <a:pt x="230086" y="457960"/>
                  <a:pt x="236233" y="455965"/>
                  <a:pt x="239767" y="455352"/>
                </a:cubicBezTo>
                <a:cubicBezTo>
                  <a:pt x="241765" y="457039"/>
                  <a:pt x="244377" y="459800"/>
                  <a:pt x="246682" y="462408"/>
                </a:cubicBezTo>
                <a:lnTo>
                  <a:pt x="120830" y="588043"/>
                </a:lnTo>
                <a:cubicBezTo>
                  <a:pt x="118217" y="590651"/>
                  <a:pt x="114529" y="592185"/>
                  <a:pt x="110841" y="592185"/>
                </a:cubicBezTo>
                <a:cubicBezTo>
                  <a:pt x="109766" y="592185"/>
                  <a:pt x="108844" y="592032"/>
                  <a:pt x="107768" y="591725"/>
                </a:cubicBezTo>
                <a:cubicBezTo>
                  <a:pt x="103004" y="590804"/>
                  <a:pt x="99163" y="587276"/>
                  <a:pt x="97472" y="582828"/>
                </a:cubicBezTo>
                <a:lnTo>
                  <a:pt x="73347" y="516098"/>
                </a:lnTo>
                <a:lnTo>
                  <a:pt x="9729" y="494929"/>
                </a:lnTo>
                <a:cubicBezTo>
                  <a:pt x="5119" y="493395"/>
                  <a:pt x="1585" y="489560"/>
                  <a:pt x="356" y="484805"/>
                </a:cubicBezTo>
                <a:cubicBezTo>
                  <a:pt x="-720" y="480049"/>
                  <a:pt x="663" y="474987"/>
                  <a:pt x="4197" y="471459"/>
                </a:cubicBezTo>
                <a:close/>
                <a:moveTo>
                  <a:pt x="512302" y="379571"/>
                </a:moveTo>
                <a:lnTo>
                  <a:pt x="604331" y="471458"/>
                </a:lnTo>
                <a:cubicBezTo>
                  <a:pt x="607864" y="474987"/>
                  <a:pt x="609247" y="480049"/>
                  <a:pt x="608172" y="484804"/>
                </a:cubicBezTo>
                <a:cubicBezTo>
                  <a:pt x="606942" y="489560"/>
                  <a:pt x="603409" y="493395"/>
                  <a:pt x="598800" y="494929"/>
                </a:cubicBezTo>
                <a:lnTo>
                  <a:pt x="535194" y="516098"/>
                </a:lnTo>
                <a:lnTo>
                  <a:pt x="511073" y="582828"/>
                </a:lnTo>
                <a:cubicBezTo>
                  <a:pt x="509383" y="587276"/>
                  <a:pt x="505542" y="590804"/>
                  <a:pt x="500780" y="591725"/>
                </a:cubicBezTo>
                <a:cubicBezTo>
                  <a:pt x="499704" y="592032"/>
                  <a:pt x="498782" y="592185"/>
                  <a:pt x="497707" y="592185"/>
                </a:cubicBezTo>
                <a:cubicBezTo>
                  <a:pt x="494020" y="592185"/>
                  <a:pt x="490332" y="590651"/>
                  <a:pt x="487721" y="588043"/>
                </a:cubicBezTo>
                <a:lnTo>
                  <a:pt x="356976" y="457499"/>
                </a:lnTo>
                <a:cubicBezTo>
                  <a:pt x="357898" y="456732"/>
                  <a:pt x="358666" y="455965"/>
                  <a:pt x="359281" y="455351"/>
                </a:cubicBezTo>
                <a:cubicBezTo>
                  <a:pt x="362814" y="455965"/>
                  <a:pt x="368960" y="457959"/>
                  <a:pt x="373569" y="459493"/>
                </a:cubicBezTo>
                <a:cubicBezTo>
                  <a:pt x="383555" y="462714"/>
                  <a:pt x="394924" y="466243"/>
                  <a:pt x="406601" y="466243"/>
                </a:cubicBezTo>
                <a:cubicBezTo>
                  <a:pt x="415511" y="466243"/>
                  <a:pt x="423654" y="464248"/>
                  <a:pt x="430721" y="460107"/>
                </a:cubicBezTo>
                <a:cubicBezTo>
                  <a:pt x="450541" y="448755"/>
                  <a:pt x="455303" y="426358"/>
                  <a:pt x="458683" y="410098"/>
                </a:cubicBezTo>
                <a:cubicBezTo>
                  <a:pt x="459605" y="405649"/>
                  <a:pt x="460988" y="399206"/>
                  <a:pt x="462217" y="395985"/>
                </a:cubicBezTo>
                <a:cubicBezTo>
                  <a:pt x="465597" y="394758"/>
                  <a:pt x="471896" y="393377"/>
                  <a:pt x="476352" y="392457"/>
                </a:cubicBezTo>
                <a:cubicBezTo>
                  <a:pt x="487260" y="390156"/>
                  <a:pt x="500933" y="387088"/>
                  <a:pt x="512302" y="379571"/>
                </a:cubicBezTo>
                <a:close/>
                <a:moveTo>
                  <a:pt x="299571" y="169992"/>
                </a:moveTo>
                <a:cubicBezTo>
                  <a:pt x="334665" y="169992"/>
                  <a:pt x="363115" y="198395"/>
                  <a:pt x="363115" y="233431"/>
                </a:cubicBezTo>
                <a:cubicBezTo>
                  <a:pt x="363115" y="268467"/>
                  <a:pt x="334665" y="296870"/>
                  <a:pt x="299571" y="296870"/>
                </a:cubicBezTo>
                <a:cubicBezTo>
                  <a:pt x="264477" y="296870"/>
                  <a:pt x="236027" y="268467"/>
                  <a:pt x="236027" y="233431"/>
                </a:cubicBezTo>
                <a:cubicBezTo>
                  <a:pt x="236027" y="198395"/>
                  <a:pt x="264477" y="169992"/>
                  <a:pt x="299571" y="169992"/>
                </a:cubicBezTo>
                <a:close/>
                <a:moveTo>
                  <a:pt x="299495" y="141609"/>
                </a:moveTo>
                <a:cubicBezTo>
                  <a:pt x="248791" y="141609"/>
                  <a:pt x="207613" y="182878"/>
                  <a:pt x="207613" y="233507"/>
                </a:cubicBezTo>
                <a:cubicBezTo>
                  <a:pt x="207613" y="284135"/>
                  <a:pt x="248791" y="325251"/>
                  <a:pt x="299495" y="325251"/>
                </a:cubicBezTo>
                <a:cubicBezTo>
                  <a:pt x="350199" y="325251"/>
                  <a:pt x="391530" y="284135"/>
                  <a:pt x="391530" y="233507"/>
                </a:cubicBezTo>
                <a:cubicBezTo>
                  <a:pt x="391530" y="182878"/>
                  <a:pt x="350199" y="141609"/>
                  <a:pt x="299495" y="141609"/>
                </a:cubicBezTo>
                <a:close/>
                <a:moveTo>
                  <a:pt x="299495" y="115374"/>
                </a:moveTo>
                <a:cubicBezTo>
                  <a:pt x="364642" y="115374"/>
                  <a:pt x="417804" y="168304"/>
                  <a:pt x="417804" y="233507"/>
                </a:cubicBezTo>
                <a:cubicBezTo>
                  <a:pt x="417804" y="298556"/>
                  <a:pt x="364642" y="351486"/>
                  <a:pt x="299495" y="351486"/>
                </a:cubicBezTo>
                <a:cubicBezTo>
                  <a:pt x="234348" y="351486"/>
                  <a:pt x="181339" y="298556"/>
                  <a:pt x="181339" y="233507"/>
                </a:cubicBezTo>
                <a:cubicBezTo>
                  <a:pt x="181339" y="168304"/>
                  <a:pt x="234348" y="115374"/>
                  <a:pt x="299495" y="115374"/>
                </a:cubicBezTo>
                <a:close/>
                <a:moveTo>
                  <a:pt x="299529" y="87143"/>
                </a:moveTo>
                <a:cubicBezTo>
                  <a:pt x="218708" y="87143"/>
                  <a:pt x="152944" y="152808"/>
                  <a:pt x="152944" y="233507"/>
                </a:cubicBezTo>
                <a:cubicBezTo>
                  <a:pt x="152944" y="314207"/>
                  <a:pt x="218708" y="379871"/>
                  <a:pt x="299529" y="379871"/>
                </a:cubicBezTo>
                <a:cubicBezTo>
                  <a:pt x="380351" y="379871"/>
                  <a:pt x="446114" y="314207"/>
                  <a:pt x="446114" y="233507"/>
                </a:cubicBezTo>
                <a:cubicBezTo>
                  <a:pt x="446114" y="152808"/>
                  <a:pt x="380351" y="87143"/>
                  <a:pt x="299529" y="87143"/>
                </a:cubicBezTo>
                <a:close/>
                <a:moveTo>
                  <a:pt x="299529" y="0"/>
                </a:moveTo>
                <a:cubicBezTo>
                  <a:pt x="319043" y="0"/>
                  <a:pt x="333794" y="34520"/>
                  <a:pt x="351618" y="39276"/>
                </a:cubicBezTo>
                <a:cubicBezTo>
                  <a:pt x="353615" y="39736"/>
                  <a:pt x="355612" y="40043"/>
                  <a:pt x="357764" y="40043"/>
                </a:cubicBezTo>
                <a:cubicBezTo>
                  <a:pt x="372514" y="40043"/>
                  <a:pt x="392028" y="28997"/>
                  <a:pt x="406625" y="28997"/>
                </a:cubicBezTo>
                <a:cubicBezTo>
                  <a:pt x="410313" y="28997"/>
                  <a:pt x="413540" y="29610"/>
                  <a:pt x="416459" y="31298"/>
                </a:cubicBezTo>
                <a:cubicBezTo>
                  <a:pt x="432900" y="40810"/>
                  <a:pt x="428444" y="77938"/>
                  <a:pt x="441965" y="91286"/>
                </a:cubicBezTo>
                <a:cubicBezTo>
                  <a:pt x="455333" y="104633"/>
                  <a:pt x="492517" y="100184"/>
                  <a:pt x="502044" y="116754"/>
                </a:cubicBezTo>
                <a:cubicBezTo>
                  <a:pt x="511417" y="133016"/>
                  <a:pt x="489137" y="162780"/>
                  <a:pt x="494054" y="181344"/>
                </a:cubicBezTo>
                <a:cubicBezTo>
                  <a:pt x="498817" y="199294"/>
                  <a:pt x="533389" y="214023"/>
                  <a:pt x="533389" y="233507"/>
                </a:cubicBezTo>
                <a:cubicBezTo>
                  <a:pt x="533389" y="252838"/>
                  <a:pt x="498817" y="267567"/>
                  <a:pt x="494054" y="285517"/>
                </a:cubicBezTo>
                <a:cubicBezTo>
                  <a:pt x="489137" y="304081"/>
                  <a:pt x="511417" y="333998"/>
                  <a:pt x="502044" y="350261"/>
                </a:cubicBezTo>
                <a:cubicBezTo>
                  <a:pt x="492517" y="366677"/>
                  <a:pt x="455333" y="362228"/>
                  <a:pt x="441965" y="375575"/>
                </a:cubicBezTo>
                <a:cubicBezTo>
                  <a:pt x="428444" y="388923"/>
                  <a:pt x="432900" y="426051"/>
                  <a:pt x="416459" y="435563"/>
                </a:cubicBezTo>
                <a:cubicBezTo>
                  <a:pt x="413540" y="437251"/>
                  <a:pt x="410313" y="438018"/>
                  <a:pt x="406625" y="438018"/>
                </a:cubicBezTo>
                <a:cubicBezTo>
                  <a:pt x="392028" y="438018"/>
                  <a:pt x="372514" y="426971"/>
                  <a:pt x="357764" y="426971"/>
                </a:cubicBezTo>
                <a:cubicBezTo>
                  <a:pt x="355612" y="426971"/>
                  <a:pt x="353615" y="427125"/>
                  <a:pt x="351618" y="427585"/>
                </a:cubicBezTo>
                <a:cubicBezTo>
                  <a:pt x="333794" y="432495"/>
                  <a:pt x="319043" y="466861"/>
                  <a:pt x="299529" y="466861"/>
                </a:cubicBezTo>
                <a:cubicBezTo>
                  <a:pt x="280015" y="466861"/>
                  <a:pt x="265418" y="432495"/>
                  <a:pt x="247441" y="427585"/>
                </a:cubicBezTo>
                <a:cubicBezTo>
                  <a:pt x="245597" y="427125"/>
                  <a:pt x="243446" y="426971"/>
                  <a:pt x="241448" y="426971"/>
                </a:cubicBezTo>
                <a:cubicBezTo>
                  <a:pt x="226544" y="426971"/>
                  <a:pt x="207184" y="438018"/>
                  <a:pt x="192433" y="438018"/>
                </a:cubicBezTo>
                <a:cubicBezTo>
                  <a:pt x="188899" y="438018"/>
                  <a:pt x="185519" y="437251"/>
                  <a:pt x="182599" y="435563"/>
                </a:cubicBezTo>
                <a:cubicBezTo>
                  <a:pt x="166158" y="426051"/>
                  <a:pt x="170614" y="388923"/>
                  <a:pt x="157247" y="375575"/>
                </a:cubicBezTo>
                <a:cubicBezTo>
                  <a:pt x="143879" y="362228"/>
                  <a:pt x="106695" y="366677"/>
                  <a:pt x="97168" y="350107"/>
                </a:cubicBezTo>
                <a:cubicBezTo>
                  <a:pt x="87642" y="333998"/>
                  <a:pt x="110075" y="304081"/>
                  <a:pt x="105005" y="285517"/>
                </a:cubicBezTo>
                <a:cubicBezTo>
                  <a:pt x="100241" y="267567"/>
                  <a:pt x="65823" y="252838"/>
                  <a:pt x="65823" y="233507"/>
                </a:cubicBezTo>
                <a:cubicBezTo>
                  <a:pt x="65823" y="214023"/>
                  <a:pt x="100241" y="199294"/>
                  <a:pt x="105005" y="181344"/>
                </a:cubicBezTo>
                <a:cubicBezTo>
                  <a:pt x="110075" y="162780"/>
                  <a:pt x="87642" y="133016"/>
                  <a:pt x="97168" y="116754"/>
                </a:cubicBezTo>
                <a:cubicBezTo>
                  <a:pt x="106695" y="100184"/>
                  <a:pt x="143879" y="104633"/>
                  <a:pt x="157247" y="91286"/>
                </a:cubicBezTo>
                <a:cubicBezTo>
                  <a:pt x="170614" y="77938"/>
                  <a:pt x="166158" y="40810"/>
                  <a:pt x="182599" y="31298"/>
                </a:cubicBezTo>
                <a:cubicBezTo>
                  <a:pt x="185519" y="29610"/>
                  <a:pt x="188899" y="28997"/>
                  <a:pt x="192433" y="28997"/>
                </a:cubicBezTo>
                <a:cubicBezTo>
                  <a:pt x="207184" y="28997"/>
                  <a:pt x="226544" y="40043"/>
                  <a:pt x="241448" y="40043"/>
                </a:cubicBezTo>
                <a:cubicBezTo>
                  <a:pt x="243599" y="40043"/>
                  <a:pt x="245597" y="39736"/>
                  <a:pt x="247441" y="39276"/>
                </a:cubicBezTo>
                <a:cubicBezTo>
                  <a:pt x="265418" y="34520"/>
                  <a:pt x="280169" y="0"/>
                  <a:pt x="299529" y="0"/>
                </a:cubicBezTo>
                <a:close/>
              </a:path>
            </a:pathLst>
          </a:custGeom>
          <a:solidFill>
            <a:srgbClr val="1A3172"/>
          </a:solidFill>
          <a:ln>
            <a:noFill/>
          </a:ln>
        </p:spPr>
        <p:txBody>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10" name="矩形: 圆角 9"/>
          <p:cNvSpPr/>
          <p:nvPr/>
        </p:nvSpPr>
        <p:spPr>
          <a:xfrm>
            <a:off x="780966" y="4071880"/>
            <a:ext cx="2134954" cy="408623"/>
          </a:xfrm>
          <a:prstGeom prst="roundRect">
            <a:avLst>
              <a:gd name="adj" fmla="val 9674"/>
            </a:avLst>
          </a:prstGeom>
          <a:solidFill>
            <a:schemeClr val="bg1">
              <a:lumMod val="75000"/>
            </a:schemeClr>
          </a:solidFill>
        </p:spPr>
        <p:txBody>
          <a:bodyPr wrap="none">
            <a:normAutofit/>
          </a:bodyPr>
          <a:lstStyle/>
          <a:p>
            <a:pPr lvl="0" algn="ctr" defTabSz="913765">
              <a:defRPr/>
            </a:pPr>
            <a:r>
              <a:rPr lang="en-US" altLang="zh-CN" b="1" kern="0" dirty="0">
                <a:solidFill>
                  <a:srgbClr val="000000"/>
                </a:solidFill>
                <a:cs typeface="+mn-ea"/>
                <a:sym typeface="+mn-lt"/>
              </a:rPr>
              <a:t>Innovation Points</a:t>
            </a:r>
            <a:endParaRPr kumimoji="0" lang="zh-CN" altLang="en-US" sz="1800" b="1" i="0" u="none" strike="noStrike" kern="0" cap="none" spc="0" normalizeH="0" baseline="0" noProof="0" dirty="0">
              <a:ln>
                <a:noFill/>
              </a:ln>
              <a:solidFill>
                <a:srgbClr val="000000"/>
              </a:solidFill>
              <a:effectLst/>
              <a:uLnTx/>
              <a:uFillTx/>
              <a:cs typeface="+mn-ea"/>
              <a:sym typeface="+mn-lt"/>
            </a:endParaRPr>
          </a:p>
        </p:txBody>
      </p:sp>
      <p:cxnSp>
        <p:nvCxnSpPr>
          <p:cNvPr id="11" name="直接连接符 10"/>
          <p:cNvCxnSpPr/>
          <p:nvPr/>
        </p:nvCxnSpPr>
        <p:spPr>
          <a:xfrm>
            <a:off x="3036000" y="2576830"/>
            <a:ext cx="0" cy="230505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2" name="椭圆 11"/>
          <p:cNvSpPr/>
          <p:nvPr/>
        </p:nvSpPr>
        <p:spPr bwMode="auto">
          <a:xfrm>
            <a:off x="3619548" y="2027026"/>
            <a:ext cx="316452" cy="316450"/>
          </a:xfrm>
          <a:prstGeom prst="ellipse">
            <a:avLst/>
          </a:prstGeom>
          <a:solidFill>
            <a:srgbClr val="1A3172"/>
          </a:solidFill>
          <a:ln w="38100">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FFFFFF"/>
                </a:solidFill>
                <a:effectLst/>
                <a:uLnTx/>
                <a:uFillTx/>
                <a:cs typeface="+mn-ea"/>
                <a:sym typeface="+mn-lt"/>
              </a:rPr>
              <a:t>1</a:t>
            </a:r>
            <a:endParaRPr kumimoji="0" lang="zh-CN" altLang="en-US" sz="1800" b="1" i="0" u="none" strike="noStrike" kern="1200" cap="none" spc="0" normalizeH="0" baseline="0" noProof="0" dirty="0">
              <a:ln>
                <a:noFill/>
              </a:ln>
              <a:solidFill>
                <a:srgbClr val="FFFFFF"/>
              </a:solidFill>
              <a:effectLst/>
              <a:uLnTx/>
              <a:uFillTx/>
              <a:cs typeface="+mn-ea"/>
              <a:sym typeface="+mn-lt"/>
            </a:endParaRPr>
          </a:p>
        </p:txBody>
      </p:sp>
      <p:sp>
        <p:nvSpPr>
          <p:cNvPr id="13" name="矩形 12"/>
          <p:cNvSpPr/>
          <p:nvPr/>
        </p:nvSpPr>
        <p:spPr bwMode="auto">
          <a:xfrm>
            <a:off x="3936001" y="1473200"/>
            <a:ext cx="7584484" cy="1442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lvl="0" indent="-171450">
              <a:lnSpc>
                <a:spcPct val="150000"/>
              </a:lnSpc>
              <a:buFont typeface="Arial" panose="020B0604020202020204" pitchFamily="34" charset="0"/>
              <a:buChar char="•"/>
              <a:tabLst>
                <a:tab pos="227965" algn="l"/>
              </a:tabLst>
              <a:defRPr/>
            </a:pPr>
            <a:r>
              <a:rPr lang="zh-CN" altLang="en-US" dirty="0">
                <a:solidFill>
                  <a:srgbClr val="000000"/>
                </a:solidFill>
                <a:cs typeface="+mn-ea"/>
                <a:sym typeface="+mn-lt"/>
              </a:rPr>
              <a:t>多学科深度交叉融合，包括材料科学、光学工程、计算机科学、人工智能等多个学科深度融合，构建了</a:t>
            </a:r>
            <a:r>
              <a:rPr lang="en-US" altLang="zh-CN" dirty="0">
                <a:solidFill>
                  <a:srgbClr val="000000"/>
                </a:solidFill>
                <a:cs typeface="+mn-ea"/>
                <a:sym typeface="+mn-lt"/>
              </a:rPr>
              <a:t>"</a:t>
            </a:r>
            <a:r>
              <a:rPr lang="zh-CN" altLang="en-US" dirty="0">
                <a:solidFill>
                  <a:srgbClr val="000000"/>
                </a:solidFill>
                <a:cs typeface="+mn-ea"/>
                <a:sym typeface="+mn-lt"/>
              </a:rPr>
              <a:t>材料</a:t>
            </a:r>
            <a:r>
              <a:rPr lang="en-US" altLang="zh-CN" dirty="0">
                <a:solidFill>
                  <a:srgbClr val="000000"/>
                </a:solidFill>
                <a:cs typeface="+mn-ea"/>
                <a:sym typeface="+mn-lt"/>
              </a:rPr>
              <a:t>-</a:t>
            </a:r>
            <a:r>
              <a:rPr lang="zh-CN" altLang="en-US" dirty="0">
                <a:solidFill>
                  <a:srgbClr val="000000"/>
                </a:solidFill>
                <a:cs typeface="+mn-ea"/>
                <a:sym typeface="+mn-lt"/>
              </a:rPr>
              <a:t>结构</a:t>
            </a:r>
            <a:r>
              <a:rPr lang="en-US" altLang="zh-CN" dirty="0">
                <a:solidFill>
                  <a:srgbClr val="000000"/>
                </a:solidFill>
                <a:cs typeface="+mn-ea"/>
                <a:sym typeface="+mn-lt"/>
              </a:rPr>
              <a:t>-</a:t>
            </a:r>
            <a:r>
              <a:rPr lang="zh-CN" altLang="en-US" dirty="0">
                <a:solidFill>
                  <a:srgbClr val="000000"/>
                </a:solidFill>
                <a:cs typeface="+mn-ea"/>
                <a:sym typeface="+mn-lt"/>
              </a:rPr>
              <a:t>性能</a:t>
            </a:r>
            <a:r>
              <a:rPr lang="en-US" altLang="zh-CN" dirty="0">
                <a:solidFill>
                  <a:srgbClr val="000000"/>
                </a:solidFill>
                <a:cs typeface="+mn-ea"/>
                <a:sym typeface="+mn-lt"/>
              </a:rPr>
              <a:t>"</a:t>
            </a:r>
            <a:r>
              <a:rPr lang="zh-CN" altLang="en-US" dirty="0">
                <a:solidFill>
                  <a:srgbClr val="000000"/>
                </a:solidFill>
                <a:cs typeface="+mn-ea"/>
                <a:sym typeface="+mn-lt"/>
              </a:rPr>
              <a:t>一体化的智能预测框架。</a:t>
            </a:r>
            <a:endParaRPr lang="en-US" altLang="zh-CN" dirty="0">
              <a:solidFill>
                <a:srgbClr val="000000"/>
              </a:solidFill>
              <a:cs typeface="+mn-ea"/>
              <a:sym typeface="+mn-lt"/>
            </a:endParaRPr>
          </a:p>
        </p:txBody>
      </p:sp>
      <p:cxnSp>
        <p:nvCxnSpPr>
          <p:cNvPr id="15" name="直接连接符 14"/>
          <p:cNvCxnSpPr/>
          <p:nvPr/>
        </p:nvCxnSpPr>
        <p:spPr>
          <a:xfrm>
            <a:off x="4071000" y="2828588"/>
            <a:ext cx="7449485"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6" name="椭圆 15"/>
          <p:cNvSpPr/>
          <p:nvPr/>
        </p:nvSpPr>
        <p:spPr bwMode="auto">
          <a:xfrm>
            <a:off x="3619548" y="3547383"/>
            <a:ext cx="316452" cy="316450"/>
          </a:xfrm>
          <a:prstGeom prst="ellipse">
            <a:avLst/>
          </a:prstGeom>
          <a:solidFill>
            <a:srgbClr val="1A3172"/>
          </a:solidFill>
          <a:ln w="38100">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FFFFFF"/>
                </a:solidFill>
                <a:effectLst/>
                <a:uLnTx/>
                <a:uFillTx/>
                <a:cs typeface="+mn-ea"/>
                <a:sym typeface="+mn-lt"/>
              </a:rPr>
              <a:t>2</a:t>
            </a:r>
            <a:endParaRPr kumimoji="0" lang="zh-CN" altLang="en-US" sz="1800" b="1" i="0" u="none" strike="noStrike" kern="1200" cap="none" spc="0" normalizeH="0" baseline="0" noProof="0" dirty="0">
              <a:ln>
                <a:noFill/>
              </a:ln>
              <a:solidFill>
                <a:srgbClr val="FFFFFF"/>
              </a:solidFill>
              <a:effectLst/>
              <a:uLnTx/>
              <a:uFillTx/>
              <a:cs typeface="+mn-ea"/>
              <a:sym typeface="+mn-lt"/>
            </a:endParaRPr>
          </a:p>
        </p:txBody>
      </p:sp>
      <p:sp>
        <p:nvSpPr>
          <p:cNvPr id="17" name="矩形 16"/>
          <p:cNvSpPr/>
          <p:nvPr/>
        </p:nvSpPr>
        <p:spPr bwMode="auto">
          <a:xfrm>
            <a:off x="3936001" y="2854960"/>
            <a:ext cx="7584484" cy="1595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lvl="0" indent="-171450">
              <a:lnSpc>
                <a:spcPct val="150000"/>
              </a:lnSpc>
              <a:buFont typeface="Arial" panose="020B0604020202020204" pitchFamily="34" charset="0"/>
              <a:buChar char="•"/>
              <a:tabLst>
                <a:tab pos="227965" algn="l"/>
              </a:tabLst>
              <a:defRPr/>
            </a:pPr>
            <a:r>
              <a:rPr lang="zh-CN" altLang="en-US" dirty="0">
                <a:solidFill>
                  <a:srgbClr val="000000"/>
                </a:solidFill>
                <a:cs typeface="+mn-ea"/>
                <a:sym typeface="+mn-lt"/>
              </a:rPr>
              <a:t>数据驱动与物理规律相融合，突破传统</a:t>
            </a:r>
            <a:r>
              <a:rPr lang="en-US" altLang="zh-CN" dirty="0">
                <a:solidFill>
                  <a:srgbClr val="000000"/>
                </a:solidFill>
                <a:cs typeface="+mn-ea"/>
                <a:sym typeface="+mn-lt"/>
              </a:rPr>
              <a:t>"</a:t>
            </a:r>
            <a:r>
              <a:rPr lang="zh-CN" altLang="en-US" dirty="0">
                <a:solidFill>
                  <a:srgbClr val="000000"/>
                </a:solidFill>
                <a:cs typeface="+mn-ea"/>
                <a:sym typeface="+mn-lt"/>
              </a:rPr>
              <a:t>纯数据驱动</a:t>
            </a:r>
            <a:r>
              <a:rPr lang="en-US" altLang="zh-CN" dirty="0">
                <a:solidFill>
                  <a:srgbClr val="000000"/>
                </a:solidFill>
                <a:cs typeface="+mn-ea"/>
                <a:sym typeface="+mn-lt"/>
              </a:rPr>
              <a:t>"</a:t>
            </a:r>
            <a:r>
              <a:rPr lang="zh-CN" altLang="en-US" dirty="0">
                <a:solidFill>
                  <a:srgbClr val="000000"/>
                </a:solidFill>
                <a:cs typeface="+mn-ea"/>
                <a:sym typeface="+mn-lt"/>
              </a:rPr>
              <a:t>或</a:t>
            </a:r>
            <a:r>
              <a:rPr lang="en-US" altLang="zh-CN" dirty="0">
                <a:solidFill>
                  <a:srgbClr val="000000"/>
                </a:solidFill>
                <a:cs typeface="+mn-ea"/>
                <a:sym typeface="+mn-lt"/>
              </a:rPr>
              <a:t>"</a:t>
            </a:r>
            <a:r>
              <a:rPr lang="zh-CN" altLang="en-US" dirty="0">
                <a:solidFill>
                  <a:srgbClr val="000000"/>
                </a:solidFill>
                <a:cs typeface="+mn-ea"/>
                <a:sym typeface="+mn-lt"/>
              </a:rPr>
              <a:t>纯物理建模</a:t>
            </a:r>
            <a:r>
              <a:rPr lang="en-US" altLang="zh-CN" dirty="0">
                <a:solidFill>
                  <a:srgbClr val="000000"/>
                </a:solidFill>
                <a:cs typeface="+mn-ea"/>
                <a:sym typeface="+mn-lt"/>
              </a:rPr>
              <a:t>"</a:t>
            </a:r>
            <a:r>
              <a:rPr lang="zh-CN" altLang="en-US" dirty="0">
                <a:solidFill>
                  <a:srgbClr val="000000"/>
                </a:solidFill>
                <a:cs typeface="+mn-ea"/>
                <a:sym typeface="+mn-lt"/>
              </a:rPr>
              <a:t>的局限，创新性地将物理守恒方程、经验公式等先验知识嵌入神经网络，实现了数据驱动与物理规律的双向融合，既保证了预测精度，又增强了模型的可解释性。</a:t>
            </a:r>
            <a:endParaRPr lang="en-US" altLang="zh-CN" dirty="0">
              <a:solidFill>
                <a:srgbClr val="000000"/>
              </a:solidFill>
              <a:cs typeface="+mn-ea"/>
              <a:sym typeface="+mn-lt"/>
            </a:endParaRPr>
          </a:p>
        </p:txBody>
      </p:sp>
      <p:cxnSp>
        <p:nvCxnSpPr>
          <p:cNvPr id="18" name="直接连接符 17"/>
          <p:cNvCxnSpPr/>
          <p:nvPr/>
        </p:nvCxnSpPr>
        <p:spPr>
          <a:xfrm>
            <a:off x="4071000" y="4521665"/>
            <a:ext cx="7449485"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5" name="椭圆 24"/>
          <p:cNvSpPr/>
          <p:nvPr/>
        </p:nvSpPr>
        <p:spPr bwMode="auto">
          <a:xfrm>
            <a:off x="3619548" y="5240460"/>
            <a:ext cx="316452" cy="316450"/>
          </a:xfrm>
          <a:prstGeom prst="ellipse">
            <a:avLst/>
          </a:prstGeom>
          <a:solidFill>
            <a:srgbClr val="1A3172"/>
          </a:solidFill>
          <a:ln w="38100">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FFFFFF"/>
                </a:solidFill>
                <a:effectLst/>
                <a:uLnTx/>
                <a:uFillTx/>
                <a:cs typeface="+mn-ea"/>
                <a:sym typeface="+mn-lt"/>
              </a:rPr>
              <a:t>3</a:t>
            </a:r>
            <a:endParaRPr kumimoji="0" lang="zh-CN" altLang="en-US" sz="1800" b="1" i="0" u="none" strike="noStrike" kern="1200" cap="none" spc="0" normalizeH="0" baseline="0" noProof="0" dirty="0">
              <a:ln>
                <a:noFill/>
              </a:ln>
              <a:solidFill>
                <a:srgbClr val="FFFFFF"/>
              </a:solidFill>
              <a:effectLst/>
              <a:uLnTx/>
              <a:uFillTx/>
              <a:cs typeface="+mn-ea"/>
              <a:sym typeface="+mn-lt"/>
            </a:endParaRPr>
          </a:p>
        </p:txBody>
      </p:sp>
      <p:sp>
        <p:nvSpPr>
          <p:cNvPr id="26" name="矩形 25"/>
          <p:cNvSpPr/>
          <p:nvPr/>
        </p:nvSpPr>
        <p:spPr bwMode="auto">
          <a:xfrm>
            <a:off x="3936001" y="4946984"/>
            <a:ext cx="7584484" cy="74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lvl="0" indent="-171450">
              <a:lnSpc>
                <a:spcPct val="150000"/>
              </a:lnSpc>
              <a:buFont typeface="Arial" panose="020B0604020202020204" pitchFamily="34" charset="0"/>
              <a:buChar char="•"/>
              <a:tabLst>
                <a:tab pos="227965" algn="l"/>
              </a:tabLst>
              <a:defRPr/>
            </a:pPr>
            <a:r>
              <a:rPr lang="zh-CN" altLang="en-US" dirty="0">
                <a:solidFill>
                  <a:srgbClr val="000000"/>
                </a:solidFill>
                <a:cs typeface="+mn-ea"/>
                <a:sym typeface="+mn-lt"/>
              </a:rPr>
              <a:t>创新性地构建了以目标光学效率为条件的生成对抗网络，实现了从</a:t>
            </a:r>
            <a:r>
              <a:rPr lang="en-US" altLang="zh-CN" dirty="0">
                <a:solidFill>
                  <a:srgbClr val="000000"/>
                </a:solidFill>
                <a:cs typeface="+mn-ea"/>
                <a:sym typeface="+mn-lt"/>
              </a:rPr>
              <a:t>"</a:t>
            </a:r>
            <a:r>
              <a:rPr lang="zh-CN" altLang="en-US" dirty="0">
                <a:solidFill>
                  <a:srgbClr val="000000"/>
                </a:solidFill>
                <a:cs typeface="+mn-ea"/>
                <a:sym typeface="+mn-lt"/>
              </a:rPr>
              <a:t>性能需求</a:t>
            </a:r>
            <a:r>
              <a:rPr lang="en-US" altLang="zh-CN" dirty="0">
                <a:solidFill>
                  <a:srgbClr val="000000"/>
                </a:solidFill>
                <a:cs typeface="+mn-ea"/>
                <a:sym typeface="+mn-lt"/>
              </a:rPr>
              <a:t>"</a:t>
            </a:r>
            <a:r>
              <a:rPr lang="zh-CN" altLang="en-US" dirty="0">
                <a:solidFill>
                  <a:srgbClr val="000000"/>
                </a:solidFill>
                <a:cs typeface="+mn-ea"/>
                <a:sym typeface="+mn-lt"/>
              </a:rPr>
              <a:t>到</a:t>
            </a:r>
            <a:r>
              <a:rPr lang="en-US" altLang="zh-CN" dirty="0">
                <a:solidFill>
                  <a:srgbClr val="000000"/>
                </a:solidFill>
                <a:cs typeface="+mn-ea"/>
                <a:sym typeface="+mn-lt"/>
              </a:rPr>
              <a:t>"</a:t>
            </a:r>
            <a:r>
              <a:rPr lang="zh-CN" altLang="en-US" dirty="0">
                <a:solidFill>
                  <a:srgbClr val="000000"/>
                </a:solidFill>
                <a:cs typeface="+mn-ea"/>
                <a:sym typeface="+mn-lt"/>
              </a:rPr>
              <a:t>材料设计</a:t>
            </a:r>
            <a:r>
              <a:rPr lang="en-US" altLang="zh-CN" dirty="0">
                <a:solidFill>
                  <a:srgbClr val="000000"/>
                </a:solidFill>
                <a:cs typeface="+mn-ea"/>
                <a:sym typeface="+mn-lt"/>
              </a:rPr>
              <a:t>"</a:t>
            </a:r>
            <a:r>
              <a:rPr lang="zh-CN" altLang="en-US" dirty="0">
                <a:solidFill>
                  <a:srgbClr val="000000"/>
                </a:solidFill>
                <a:cs typeface="+mn-ea"/>
                <a:sym typeface="+mn-lt"/>
              </a:rPr>
              <a:t>的逆向映射。该方法能够根据目标光学效率、成本约束、稳定性要求等条件，自动生成满足性能要求的荧光材料分子结构或组分配方，突破了传统</a:t>
            </a:r>
            <a:r>
              <a:rPr lang="en-US" altLang="zh-CN" dirty="0">
                <a:solidFill>
                  <a:srgbClr val="000000"/>
                </a:solidFill>
                <a:cs typeface="+mn-ea"/>
                <a:sym typeface="+mn-lt"/>
              </a:rPr>
              <a:t>"</a:t>
            </a:r>
            <a:r>
              <a:rPr lang="zh-CN" altLang="en-US" dirty="0">
                <a:solidFill>
                  <a:srgbClr val="000000"/>
                </a:solidFill>
                <a:cs typeface="+mn-ea"/>
                <a:sym typeface="+mn-lt"/>
              </a:rPr>
              <a:t>试错法</a:t>
            </a:r>
            <a:r>
              <a:rPr lang="en-US" altLang="zh-CN" dirty="0">
                <a:solidFill>
                  <a:srgbClr val="000000"/>
                </a:solidFill>
                <a:cs typeface="+mn-ea"/>
                <a:sym typeface="+mn-lt"/>
              </a:rPr>
              <a:t>"</a:t>
            </a:r>
            <a:r>
              <a:rPr lang="zh-CN" altLang="en-US" dirty="0">
                <a:solidFill>
                  <a:srgbClr val="000000"/>
                </a:solidFill>
                <a:cs typeface="+mn-ea"/>
                <a:sym typeface="+mn-lt"/>
              </a:rPr>
              <a:t>设计的局限。</a:t>
            </a:r>
            <a:endParaRPr lang="en-US" altLang="zh-CN" dirty="0">
              <a:solidFill>
                <a:srgbClr val="000000"/>
              </a:solidFill>
              <a:cs typeface="+mn-ea"/>
              <a:sym typeface="+mn-lt"/>
            </a:endParaRPr>
          </a:p>
        </p:txBody>
      </p:sp>
      <p:cxnSp>
        <p:nvCxnSpPr>
          <p:cNvPr id="41" name="直接连接符 40"/>
          <p:cNvCxnSpPr/>
          <p:nvPr/>
        </p:nvCxnSpPr>
        <p:spPr>
          <a:xfrm>
            <a:off x="4071000" y="6123302"/>
            <a:ext cx="7449485"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íṧḷïďé"/>
          <p:cNvSpPr/>
          <p:nvPr/>
        </p:nvSpPr>
        <p:spPr bwMode="auto">
          <a:xfrm>
            <a:off x="741000" y="2032133"/>
            <a:ext cx="4822826" cy="893076"/>
          </a:xfrm>
          <a:custGeom>
            <a:avLst/>
            <a:gdLst>
              <a:gd name="T0" fmla="*/ 1375 w 2897"/>
              <a:gd name="T1" fmla="*/ 509 h 537"/>
              <a:gd name="T2" fmla="*/ 1284 w 2897"/>
              <a:gd name="T3" fmla="*/ 418 h 537"/>
              <a:gd name="T4" fmla="*/ 35 w 2897"/>
              <a:gd name="T5" fmla="*/ 61 h 537"/>
              <a:gd name="T6" fmla="*/ 1313 w 2897"/>
              <a:gd name="T7" fmla="*/ 379 h 537"/>
              <a:gd name="T8" fmla="*/ 1303 w 2897"/>
              <a:gd name="T9" fmla="*/ 365 h 537"/>
              <a:gd name="T10" fmla="*/ 1356 w 2897"/>
              <a:gd name="T11" fmla="*/ 474 h 537"/>
              <a:gd name="T12" fmla="*/ 1430 w 2897"/>
              <a:gd name="T13" fmla="*/ 484 h 537"/>
              <a:gd name="T14" fmla="*/ 1503 w 2897"/>
              <a:gd name="T15" fmla="*/ 484 h 537"/>
              <a:gd name="T16" fmla="*/ 1579 w 2897"/>
              <a:gd name="T17" fmla="*/ 430 h 537"/>
              <a:gd name="T18" fmla="*/ 1579 w 2897"/>
              <a:gd name="T19" fmla="*/ 365 h 537"/>
              <a:gd name="T20" fmla="*/ 2846 w 2897"/>
              <a:gd name="T21" fmla="*/ 32 h 537"/>
              <a:gd name="T22" fmla="*/ 1622 w 2897"/>
              <a:gd name="T23" fmla="*/ 404 h 537"/>
              <a:gd name="T24" fmla="*/ 1585 w 2897"/>
              <a:gd name="T25" fmla="*/ 482 h 537"/>
              <a:gd name="T26" fmla="*/ 1448 w 2897"/>
              <a:gd name="T27" fmla="*/ 509 h 537"/>
              <a:gd name="T28" fmla="*/ 1448 w 2897"/>
              <a:gd name="T29" fmla="*/ 537 h 537"/>
              <a:gd name="T30" fmla="*/ 1605 w 2897"/>
              <a:gd name="T31" fmla="*/ 502 h 537"/>
              <a:gd name="T32" fmla="*/ 1626 w 2897"/>
              <a:gd name="T33" fmla="*/ 418 h 537"/>
              <a:gd name="T34" fmla="*/ 2886 w 2897"/>
              <a:gd name="T35" fmla="*/ 83 h 537"/>
              <a:gd name="T36" fmla="*/ 2894 w 2897"/>
              <a:gd name="T37" fmla="*/ 63 h 537"/>
              <a:gd name="T38" fmla="*/ 2849 w 2897"/>
              <a:gd name="T39" fmla="*/ 2 h 537"/>
              <a:gd name="T40" fmla="*/ 1565 w 2897"/>
              <a:gd name="T41" fmla="*/ 365 h 537"/>
              <a:gd name="T42" fmla="*/ 1526 w 2897"/>
              <a:gd name="T43" fmla="*/ 450 h 537"/>
              <a:gd name="T44" fmla="*/ 1466 w 2897"/>
              <a:gd name="T45" fmla="*/ 456 h 537"/>
              <a:gd name="T46" fmla="*/ 1393 w 2897"/>
              <a:gd name="T47" fmla="*/ 456 h 537"/>
              <a:gd name="T48" fmla="*/ 1343 w 2897"/>
              <a:gd name="T49" fmla="*/ 418 h 537"/>
              <a:gd name="T50" fmla="*/ 1321 w 2897"/>
              <a:gd name="T51" fmla="*/ 352 h 537"/>
              <a:gd name="T52" fmla="*/ 31 w 2897"/>
              <a:gd name="T53" fmla="*/ 9 h 537"/>
              <a:gd name="T54" fmla="*/ 1 w 2897"/>
              <a:gd name="T55" fmla="*/ 75 h 537"/>
              <a:gd name="T56" fmla="*/ 1266 w 2897"/>
              <a:gd name="T57" fmla="*/ 431 h 537"/>
              <a:gd name="T58" fmla="*/ 1256 w 2897"/>
              <a:gd name="T59" fmla="*/ 418 h 537"/>
              <a:gd name="T60" fmla="*/ 1375 w 2897"/>
              <a:gd name="T61" fmla="*/ 537 h 537"/>
              <a:gd name="T62" fmla="*/ 1462 w 2897"/>
              <a:gd name="T63" fmla="*/ 523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897" h="537">
                <a:moveTo>
                  <a:pt x="1448" y="509"/>
                </a:moveTo>
                <a:cubicBezTo>
                  <a:pt x="1375" y="509"/>
                  <a:pt x="1375" y="509"/>
                  <a:pt x="1375" y="509"/>
                </a:cubicBezTo>
                <a:cubicBezTo>
                  <a:pt x="1350" y="509"/>
                  <a:pt x="1327" y="499"/>
                  <a:pt x="1311" y="482"/>
                </a:cubicBezTo>
                <a:cubicBezTo>
                  <a:pt x="1294" y="466"/>
                  <a:pt x="1284" y="443"/>
                  <a:pt x="1284" y="418"/>
                </a:cubicBezTo>
                <a:cubicBezTo>
                  <a:pt x="1284" y="411"/>
                  <a:pt x="1280" y="406"/>
                  <a:pt x="1274" y="404"/>
                </a:cubicBezTo>
                <a:cubicBezTo>
                  <a:pt x="35" y="61"/>
                  <a:pt x="35" y="61"/>
                  <a:pt x="35" y="61"/>
                </a:cubicBezTo>
                <a:cubicBezTo>
                  <a:pt x="50" y="32"/>
                  <a:pt x="50" y="32"/>
                  <a:pt x="50" y="32"/>
                </a:cubicBezTo>
                <a:cubicBezTo>
                  <a:pt x="1313" y="379"/>
                  <a:pt x="1313" y="379"/>
                  <a:pt x="1313" y="379"/>
                </a:cubicBezTo>
                <a:cubicBezTo>
                  <a:pt x="1317" y="365"/>
                  <a:pt x="1317" y="365"/>
                  <a:pt x="1317" y="365"/>
                </a:cubicBezTo>
                <a:cubicBezTo>
                  <a:pt x="1303" y="365"/>
                  <a:pt x="1303" y="365"/>
                  <a:pt x="1303" y="365"/>
                </a:cubicBezTo>
                <a:cubicBezTo>
                  <a:pt x="1303" y="397"/>
                  <a:pt x="1312" y="426"/>
                  <a:pt x="1328" y="448"/>
                </a:cubicBezTo>
                <a:cubicBezTo>
                  <a:pt x="1336" y="459"/>
                  <a:pt x="1345" y="468"/>
                  <a:pt x="1356" y="474"/>
                </a:cubicBezTo>
                <a:cubicBezTo>
                  <a:pt x="1367" y="481"/>
                  <a:pt x="1380" y="484"/>
                  <a:pt x="1393" y="484"/>
                </a:cubicBezTo>
                <a:cubicBezTo>
                  <a:pt x="1430" y="484"/>
                  <a:pt x="1430" y="484"/>
                  <a:pt x="1430" y="484"/>
                </a:cubicBezTo>
                <a:cubicBezTo>
                  <a:pt x="1466" y="484"/>
                  <a:pt x="1466" y="484"/>
                  <a:pt x="1466" y="484"/>
                </a:cubicBezTo>
                <a:cubicBezTo>
                  <a:pt x="1503" y="484"/>
                  <a:pt x="1503" y="484"/>
                  <a:pt x="1503" y="484"/>
                </a:cubicBezTo>
                <a:cubicBezTo>
                  <a:pt x="1517" y="484"/>
                  <a:pt x="1529" y="481"/>
                  <a:pt x="1540" y="474"/>
                </a:cubicBezTo>
                <a:cubicBezTo>
                  <a:pt x="1557" y="464"/>
                  <a:pt x="1570" y="449"/>
                  <a:pt x="1579" y="430"/>
                </a:cubicBezTo>
                <a:cubicBezTo>
                  <a:pt x="1588" y="411"/>
                  <a:pt x="1593" y="389"/>
                  <a:pt x="1593" y="365"/>
                </a:cubicBezTo>
                <a:cubicBezTo>
                  <a:pt x="1579" y="365"/>
                  <a:pt x="1579" y="365"/>
                  <a:pt x="1579" y="365"/>
                </a:cubicBezTo>
                <a:cubicBezTo>
                  <a:pt x="1583" y="379"/>
                  <a:pt x="1583" y="379"/>
                  <a:pt x="1583" y="379"/>
                </a:cubicBezTo>
                <a:cubicBezTo>
                  <a:pt x="2846" y="32"/>
                  <a:pt x="2846" y="32"/>
                  <a:pt x="2846" y="32"/>
                </a:cubicBezTo>
                <a:cubicBezTo>
                  <a:pt x="2861" y="61"/>
                  <a:pt x="2861" y="61"/>
                  <a:pt x="2861" y="61"/>
                </a:cubicBezTo>
                <a:cubicBezTo>
                  <a:pt x="1622" y="404"/>
                  <a:pt x="1622" y="404"/>
                  <a:pt x="1622" y="404"/>
                </a:cubicBezTo>
                <a:cubicBezTo>
                  <a:pt x="1616" y="406"/>
                  <a:pt x="1612" y="411"/>
                  <a:pt x="1612" y="418"/>
                </a:cubicBezTo>
                <a:cubicBezTo>
                  <a:pt x="1612" y="443"/>
                  <a:pt x="1602" y="466"/>
                  <a:pt x="1585" y="482"/>
                </a:cubicBezTo>
                <a:cubicBezTo>
                  <a:pt x="1569" y="499"/>
                  <a:pt x="1546" y="509"/>
                  <a:pt x="1521" y="509"/>
                </a:cubicBezTo>
                <a:cubicBezTo>
                  <a:pt x="1448" y="509"/>
                  <a:pt x="1448" y="509"/>
                  <a:pt x="1448" y="509"/>
                </a:cubicBezTo>
                <a:cubicBezTo>
                  <a:pt x="1440" y="509"/>
                  <a:pt x="1434" y="515"/>
                  <a:pt x="1434" y="523"/>
                </a:cubicBezTo>
                <a:cubicBezTo>
                  <a:pt x="1434" y="531"/>
                  <a:pt x="1440" y="537"/>
                  <a:pt x="1448" y="537"/>
                </a:cubicBezTo>
                <a:cubicBezTo>
                  <a:pt x="1521" y="537"/>
                  <a:pt x="1521" y="537"/>
                  <a:pt x="1521" y="537"/>
                </a:cubicBezTo>
                <a:cubicBezTo>
                  <a:pt x="1554" y="537"/>
                  <a:pt x="1584" y="523"/>
                  <a:pt x="1605" y="502"/>
                </a:cubicBezTo>
                <a:cubicBezTo>
                  <a:pt x="1627" y="480"/>
                  <a:pt x="1640" y="451"/>
                  <a:pt x="1640" y="418"/>
                </a:cubicBezTo>
                <a:cubicBezTo>
                  <a:pt x="1626" y="418"/>
                  <a:pt x="1626" y="418"/>
                  <a:pt x="1626" y="418"/>
                </a:cubicBezTo>
                <a:cubicBezTo>
                  <a:pt x="1630" y="431"/>
                  <a:pt x="1630" y="431"/>
                  <a:pt x="1630" y="431"/>
                </a:cubicBezTo>
                <a:cubicBezTo>
                  <a:pt x="2886" y="83"/>
                  <a:pt x="2886" y="83"/>
                  <a:pt x="2886" y="83"/>
                </a:cubicBezTo>
                <a:cubicBezTo>
                  <a:pt x="2890" y="82"/>
                  <a:pt x="2893" y="79"/>
                  <a:pt x="2895" y="75"/>
                </a:cubicBezTo>
                <a:cubicBezTo>
                  <a:pt x="2897" y="71"/>
                  <a:pt x="2896" y="67"/>
                  <a:pt x="2894" y="63"/>
                </a:cubicBezTo>
                <a:cubicBezTo>
                  <a:pt x="2866" y="9"/>
                  <a:pt x="2866" y="9"/>
                  <a:pt x="2866" y="9"/>
                </a:cubicBezTo>
                <a:cubicBezTo>
                  <a:pt x="2862" y="3"/>
                  <a:pt x="2856" y="0"/>
                  <a:pt x="2849" y="2"/>
                </a:cubicBezTo>
                <a:cubicBezTo>
                  <a:pt x="1576" y="352"/>
                  <a:pt x="1576" y="352"/>
                  <a:pt x="1576" y="352"/>
                </a:cubicBezTo>
                <a:cubicBezTo>
                  <a:pt x="1570" y="353"/>
                  <a:pt x="1565" y="359"/>
                  <a:pt x="1565" y="365"/>
                </a:cubicBezTo>
                <a:cubicBezTo>
                  <a:pt x="1565" y="392"/>
                  <a:pt x="1558" y="415"/>
                  <a:pt x="1546" y="431"/>
                </a:cubicBezTo>
                <a:cubicBezTo>
                  <a:pt x="1540" y="439"/>
                  <a:pt x="1533" y="446"/>
                  <a:pt x="1526" y="450"/>
                </a:cubicBezTo>
                <a:cubicBezTo>
                  <a:pt x="1519" y="454"/>
                  <a:pt x="1511" y="456"/>
                  <a:pt x="1503" y="456"/>
                </a:cubicBezTo>
                <a:cubicBezTo>
                  <a:pt x="1466" y="456"/>
                  <a:pt x="1466" y="456"/>
                  <a:pt x="1466" y="456"/>
                </a:cubicBezTo>
                <a:cubicBezTo>
                  <a:pt x="1430" y="456"/>
                  <a:pt x="1430" y="456"/>
                  <a:pt x="1430" y="456"/>
                </a:cubicBezTo>
                <a:cubicBezTo>
                  <a:pt x="1393" y="456"/>
                  <a:pt x="1393" y="456"/>
                  <a:pt x="1393" y="456"/>
                </a:cubicBezTo>
                <a:cubicBezTo>
                  <a:pt x="1385" y="456"/>
                  <a:pt x="1378" y="454"/>
                  <a:pt x="1370" y="450"/>
                </a:cubicBezTo>
                <a:cubicBezTo>
                  <a:pt x="1360" y="444"/>
                  <a:pt x="1350" y="433"/>
                  <a:pt x="1343" y="418"/>
                </a:cubicBezTo>
                <a:cubicBezTo>
                  <a:pt x="1335" y="403"/>
                  <a:pt x="1331" y="385"/>
                  <a:pt x="1331" y="365"/>
                </a:cubicBezTo>
                <a:cubicBezTo>
                  <a:pt x="1331" y="359"/>
                  <a:pt x="1327" y="353"/>
                  <a:pt x="1321" y="352"/>
                </a:cubicBezTo>
                <a:cubicBezTo>
                  <a:pt x="47" y="2"/>
                  <a:pt x="47" y="2"/>
                  <a:pt x="47" y="2"/>
                </a:cubicBezTo>
                <a:cubicBezTo>
                  <a:pt x="40" y="0"/>
                  <a:pt x="34" y="3"/>
                  <a:pt x="31" y="9"/>
                </a:cubicBezTo>
                <a:cubicBezTo>
                  <a:pt x="2" y="63"/>
                  <a:pt x="2" y="63"/>
                  <a:pt x="2" y="63"/>
                </a:cubicBezTo>
                <a:cubicBezTo>
                  <a:pt x="0" y="67"/>
                  <a:pt x="0" y="71"/>
                  <a:pt x="1" y="75"/>
                </a:cubicBezTo>
                <a:cubicBezTo>
                  <a:pt x="3" y="79"/>
                  <a:pt x="6" y="82"/>
                  <a:pt x="11" y="83"/>
                </a:cubicBezTo>
                <a:cubicBezTo>
                  <a:pt x="1266" y="431"/>
                  <a:pt x="1266" y="431"/>
                  <a:pt x="1266" y="431"/>
                </a:cubicBezTo>
                <a:cubicBezTo>
                  <a:pt x="1270" y="418"/>
                  <a:pt x="1270" y="418"/>
                  <a:pt x="1270" y="418"/>
                </a:cubicBezTo>
                <a:cubicBezTo>
                  <a:pt x="1256" y="418"/>
                  <a:pt x="1256" y="418"/>
                  <a:pt x="1256" y="418"/>
                </a:cubicBezTo>
                <a:cubicBezTo>
                  <a:pt x="1256" y="451"/>
                  <a:pt x="1269" y="480"/>
                  <a:pt x="1291" y="502"/>
                </a:cubicBezTo>
                <a:cubicBezTo>
                  <a:pt x="1312" y="523"/>
                  <a:pt x="1342" y="537"/>
                  <a:pt x="1375" y="537"/>
                </a:cubicBezTo>
                <a:cubicBezTo>
                  <a:pt x="1448" y="537"/>
                  <a:pt x="1448" y="537"/>
                  <a:pt x="1448" y="537"/>
                </a:cubicBezTo>
                <a:cubicBezTo>
                  <a:pt x="1456" y="537"/>
                  <a:pt x="1462" y="531"/>
                  <a:pt x="1462" y="523"/>
                </a:cubicBezTo>
                <a:cubicBezTo>
                  <a:pt x="1462" y="515"/>
                  <a:pt x="1456" y="509"/>
                  <a:pt x="1448" y="509"/>
                </a:cubicBezTo>
              </a:path>
            </a:pathLst>
          </a:custGeom>
          <a:solidFill>
            <a:srgbClr val="5F6160"/>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36" name="iSľîḋe"/>
          <p:cNvSpPr/>
          <p:nvPr/>
        </p:nvSpPr>
        <p:spPr bwMode="auto">
          <a:xfrm>
            <a:off x="763678" y="2171439"/>
            <a:ext cx="4775310" cy="3609020"/>
          </a:xfrm>
          <a:custGeom>
            <a:avLst/>
            <a:gdLst>
              <a:gd name="T0" fmla="*/ 2868 w 2868"/>
              <a:gd name="T1" fmla="*/ 0 h 2168"/>
              <a:gd name="T2" fmla="*/ 1626 w 2868"/>
              <a:gd name="T3" fmla="*/ 345 h 2168"/>
              <a:gd name="T4" fmla="*/ 1591 w 2868"/>
              <a:gd name="T5" fmla="*/ 418 h 2168"/>
              <a:gd name="T6" fmla="*/ 1507 w 2868"/>
              <a:gd name="T7" fmla="*/ 453 h 2168"/>
              <a:gd name="T8" fmla="*/ 1507 w 2868"/>
              <a:gd name="T9" fmla="*/ 453 h 2168"/>
              <a:gd name="T10" fmla="*/ 1434 w 2868"/>
              <a:gd name="T11" fmla="*/ 453 h 2168"/>
              <a:gd name="T12" fmla="*/ 1434 w 2868"/>
              <a:gd name="T13" fmla="*/ 453 h 2168"/>
              <a:gd name="T14" fmla="*/ 1361 w 2868"/>
              <a:gd name="T15" fmla="*/ 453 h 2168"/>
              <a:gd name="T16" fmla="*/ 1361 w 2868"/>
              <a:gd name="T17" fmla="*/ 453 h 2168"/>
              <a:gd name="T18" fmla="*/ 1277 w 2868"/>
              <a:gd name="T19" fmla="*/ 418 h 2168"/>
              <a:gd name="T20" fmla="*/ 1243 w 2868"/>
              <a:gd name="T21" fmla="*/ 345 h 2168"/>
              <a:gd name="T22" fmla="*/ 0 w 2868"/>
              <a:gd name="T23" fmla="*/ 0 h 2168"/>
              <a:gd name="T24" fmla="*/ 0 w 2868"/>
              <a:gd name="T25" fmla="*/ 1705 h 2168"/>
              <a:gd name="T26" fmla="*/ 1256 w 2868"/>
              <a:gd name="T27" fmla="*/ 2063 h 2168"/>
              <a:gd name="T28" fmla="*/ 1361 w 2868"/>
              <a:gd name="T29" fmla="*/ 2168 h 2168"/>
              <a:gd name="T30" fmla="*/ 1434 w 2868"/>
              <a:gd name="T31" fmla="*/ 2168 h 2168"/>
              <a:gd name="T32" fmla="*/ 1507 w 2868"/>
              <a:gd name="T33" fmla="*/ 2168 h 2168"/>
              <a:gd name="T34" fmla="*/ 1612 w 2868"/>
              <a:gd name="T35" fmla="*/ 2063 h 2168"/>
              <a:gd name="T36" fmla="*/ 2868 w 2868"/>
              <a:gd name="T37" fmla="*/ 1705 h 2168"/>
              <a:gd name="T38" fmla="*/ 2868 w 2868"/>
              <a:gd name="T39" fmla="*/ 0 h 2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868" h="2168">
                <a:moveTo>
                  <a:pt x="2868" y="0"/>
                </a:moveTo>
                <a:cubicBezTo>
                  <a:pt x="1626" y="345"/>
                  <a:pt x="1626" y="345"/>
                  <a:pt x="1626" y="345"/>
                </a:cubicBezTo>
                <a:cubicBezTo>
                  <a:pt x="1623" y="373"/>
                  <a:pt x="1610" y="399"/>
                  <a:pt x="1591" y="418"/>
                </a:cubicBezTo>
                <a:cubicBezTo>
                  <a:pt x="1570" y="439"/>
                  <a:pt x="1540" y="453"/>
                  <a:pt x="1507" y="453"/>
                </a:cubicBezTo>
                <a:cubicBezTo>
                  <a:pt x="1507" y="453"/>
                  <a:pt x="1507" y="453"/>
                  <a:pt x="1507" y="453"/>
                </a:cubicBezTo>
                <a:cubicBezTo>
                  <a:pt x="1434" y="453"/>
                  <a:pt x="1434" y="453"/>
                  <a:pt x="1434" y="453"/>
                </a:cubicBezTo>
                <a:cubicBezTo>
                  <a:pt x="1434" y="453"/>
                  <a:pt x="1434" y="453"/>
                  <a:pt x="1434" y="453"/>
                </a:cubicBezTo>
                <a:cubicBezTo>
                  <a:pt x="1361" y="453"/>
                  <a:pt x="1361" y="453"/>
                  <a:pt x="1361" y="453"/>
                </a:cubicBezTo>
                <a:cubicBezTo>
                  <a:pt x="1361" y="453"/>
                  <a:pt x="1361" y="453"/>
                  <a:pt x="1361" y="453"/>
                </a:cubicBezTo>
                <a:cubicBezTo>
                  <a:pt x="1328" y="453"/>
                  <a:pt x="1298" y="439"/>
                  <a:pt x="1277" y="418"/>
                </a:cubicBezTo>
                <a:cubicBezTo>
                  <a:pt x="1258" y="399"/>
                  <a:pt x="1245" y="373"/>
                  <a:pt x="1243" y="345"/>
                </a:cubicBezTo>
                <a:cubicBezTo>
                  <a:pt x="0" y="0"/>
                  <a:pt x="0" y="0"/>
                  <a:pt x="0" y="0"/>
                </a:cubicBezTo>
                <a:cubicBezTo>
                  <a:pt x="0" y="1705"/>
                  <a:pt x="0" y="1705"/>
                  <a:pt x="0" y="1705"/>
                </a:cubicBezTo>
                <a:cubicBezTo>
                  <a:pt x="1256" y="2063"/>
                  <a:pt x="1256" y="2063"/>
                  <a:pt x="1256" y="2063"/>
                </a:cubicBezTo>
                <a:cubicBezTo>
                  <a:pt x="1256" y="2121"/>
                  <a:pt x="1303" y="2168"/>
                  <a:pt x="1361" y="2168"/>
                </a:cubicBezTo>
                <a:cubicBezTo>
                  <a:pt x="1434" y="2168"/>
                  <a:pt x="1434" y="2168"/>
                  <a:pt x="1434" y="2168"/>
                </a:cubicBezTo>
                <a:cubicBezTo>
                  <a:pt x="1507" y="2168"/>
                  <a:pt x="1507" y="2168"/>
                  <a:pt x="1507" y="2168"/>
                </a:cubicBezTo>
                <a:cubicBezTo>
                  <a:pt x="1565" y="2168"/>
                  <a:pt x="1612" y="2121"/>
                  <a:pt x="1612" y="2063"/>
                </a:cubicBezTo>
                <a:cubicBezTo>
                  <a:pt x="2868" y="1705"/>
                  <a:pt x="2868" y="1705"/>
                  <a:pt x="2868" y="1705"/>
                </a:cubicBezTo>
                <a:cubicBezTo>
                  <a:pt x="2868" y="0"/>
                  <a:pt x="2868" y="0"/>
                  <a:pt x="2868"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37" name="ïṣ1ïḍé"/>
          <p:cNvSpPr/>
          <p:nvPr/>
        </p:nvSpPr>
        <p:spPr bwMode="auto">
          <a:xfrm>
            <a:off x="763678" y="2146602"/>
            <a:ext cx="4775310" cy="778607"/>
          </a:xfrm>
          <a:custGeom>
            <a:avLst/>
            <a:gdLst>
              <a:gd name="T0" fmla="*/ 2868 w 2868"/>
              <a:gd name="T1" fmla="*/ 0 h 468"/>
              <a:gd name="T2" fmla="*/ 1612 w 2868"/>
              <a:gd name="T3" fmla="*/ 349 h 468"/>
              <a:gd name="T4" fmla="*/ 1507 w 2868"/>
              <a:gd name="T5" fmla="*/ 454 h 468"/>
              <a:gd name="T6" fmla="*/ 1434 w 2868"/>
              <a:gd name="T7" fmla="*/ 454 h 468"/>
              <a:gd name="T8" fmla="*/ 1361 w 2868"/>
              <a:gd name="T9" fmla="*/ 454 h 468"/>
              <a:gd name="T10" fmla="*/ 1256 w 2868"/>
              <a:gd name="T11" fmla="*/ 349 h 468"/>
              <a:gd name="T12" fmla="*/ 0 w 2868"/>
              <a:gd name="T13" fmla="*/ 0 h 468"/>
              <a:gd name="T14" fmla="*/ 0 w 2868"/>
              <a:gd name="T15" fmla="*/ 15 h 468"/>
              <a:gd name="T16" fmla="*/ 1243 w 2868"/>
              <a:gd name="T17" fmla="*/ 360 h 468"/>
              <a:gd name="T18" fmla="*/ 1277 w 2868"/>
              <a:gd name="T19" fmla="*/ 433 h 468"/>
              <a:gd name="T20" fmla="*/ 1361 w 2868"/>
              <a:gd name="T21" fmla="*/ 468 h 468"/>
              <a:gd name="T22" fmla="*/ 1361 w 2868"/>
              <a:gd name="T23" fmla="*/ 468 h 468"/>
              <a:gd name="T24" fmla="*/ 1434 w 2868"/>
              <a:gd name="T25" fmla="*/ 468 h 468"/>
              <a:gd name="T26" fmla="*/ 1434 w 2868"/>
              <a:gd name="T27" fmla="*/ 468 h 468"/>
              <a:gd name="T28" fmla="*/ 1507 w 2868"/>
              <a:gd name="T29" fmla="*/ 468 h 468"/>
              <a:gd name="T30" fmla="*/ 1507 w 2868"/>
              <a:gd name="T31" fmla="*/ 468 h 468"/>
              <a:gd name="T32" fmla="*/ 1591 w 2868"/>
              <a:gd name="T33" fmla="*/ 433 h 468"/>
              <a:gd name="T34" fmla="*/ 1626 w 2868"/>
              <a:gd name="T35" fmla="*/ 360 h 468"/>
              <a:gd name="T36" fmla="*/ 2868 w 2868"/>
              <a:gd name="T37" fmla="*/ 15 h 468"/>
              <a:gd name="T38" fmla="*/ 2868 w 2868"/>
              <a:gd name="T39"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868" h="468">
                <a:moveTo>
                  <a:pt x="2868" y="0"/>
                </a:moveTo>
                <a:cubicBezTo>
                  <a:pt x="1612" y="349"/>
                  <a:pt x="1612" y="349"/>
                  <a:pt x="1612" y="349"/>
                </a:cubicBezTo>
                <a:cubicBezTo>
                  <a:pt x="1612" y="407"/>
                  <a:pt x="1565" y="454"/>
                  <a:pt x="1507" y="454"/>
                </a:cubicBezTo>
                <a:cubicBezTo>
                  <a:pt x="1434" y="454"/>
                  <a:pt x="1434" y="454"/>
                  <a:pt x="1434" y="454"/>
                </a:cubicBezTo>
                <a:cubicBezTo>
                  <a:pt x="1361" y="454"/>
                  <a:pt x="1361" y="454"/>
                  <a:pt x="1361" y="454"/>
                </a:cubicBezTo>
                <a:cubicBezTo>
                  <a:pt x="1303" y="454"/>
                  <a:pt x="1256" y="407"/>
                  <a:pt x="1256" y="349"/>
                </a:cubicBezTo>
                <a:cubicBezTo>
                  <a:pt x="0" y="0"/>
                  <a:pt x="0" y="0"/>
                  <a:pt x="0" y="0"/>
                </a:cubicBezTo>
                <a:cubicBezTo>
                  <a:pt x="0" y="15"/>
                  <a:pt x="0" y="15"/>
                  <a:pt x="0" y="15"/>
                </a:cubicBezTo>
                <a:cubicBezTo>
                  <a:pt x="1243" y="360"/>
                  <a:pt x="1243" y="360"/>
                  <a:pt x="1243" y="360"/>
                </a:cubicBezTo>
                <a:cubicBezTo>
                  <a:pt x="1245" y="388"/>
                  <a:pt x="1258" y="414"/>
                  <a:pt x="1277" y="433"/>
                </a:cubicBezTo>
                <a:cubicBezTo>
                  <a:pt x="1298" y="454"/>
                  <a:pt x="1328" y="468"/>
                  <a:pt x="1361" y="468"/>
                </a:cubicBezTo>
                <a:cubicBezTo>
                  <a:pt x="1361" y="468"/>
                  <a:pt x="1361" y="468"/>
                  <a:pt x="1361" y="468"/>
                </a:cubicBezTo>
                <a:cubicBezTo>
                  <a:pt x="1434" y="468"/>
                  <a:pt x="1434" y="468"/>
                  <a:pt x="1434" y="468"/>
                </a:cubicBezTo>
                <a:cubicBezTo>
                  <a:pt x="1434" y="468"/>
                  <a:pt x="1434" y="468"/>
                  <a:pt x="1434" y="468"/>
                </a:cubicBezTo>
                <a:cubicBezTo>
                  <a:pt x="1507" y="468"/>
                  <a:pt x="1507" y="468"/>
                  <a:pt x="1507" y="468"/>
                </a:cubicBezTo>
                <a:cubicBezTo>
                  <a:pt x="1507" y="468"/>
                  <a:pt x="1507" y="468"/>
                  <a:pt x="1507" y="468"/>
                </a:cubicBezTo>
                <a:cubicBezTo>
                  <a:pt x="1540" y="468"/>
                  <a:pt x="1570" y="454"/>
                  <a:pt x="1591" y="433"/>
                </a:cubicBezTo>
                <a:cubicBezTo>
                  <a:pt x="1610" y="414"/>
                  <a:pt x="1623" y="388"/>
                  <a:pt x="1626" y="360"/>
                </a:cubicBezTo>
                <a:cubicBezTo>
                  <a:pt x="2868" y="15"/>
                  <a:pt x="2868" y="15"/>
                  <a:pt x="2868" y="15"/>
                </a:cubicBezTo>
                <a:cubicBezTo>
                  <a:pt x="2868" y="0"/>
                  <a:pt x="2868" y="0"/>
                  <a:pt x="2868" y="0"/>
                </a:cubicBezTo>
              </a:path>
            </a:pathLst>
          </a:custGeom>
          <a:solidFill>
            <a:srgbClr val="5F6160"/>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38" name="ïŝļïḋê"/>
          <p:cNvSpPr/>
          <p:nvPr/>
        </p:nvSpPr>
        <p:spPr bwMode="auto">
          <a:xfrm>
            <a:off x="741000" y="2122844"/>
            <a:ext cx="4820666" cy="3681374"/>
          </a:xfrm>
          <a:custGeom>
            <a:avLst/>
            <a:gdLst>
              <a:gd name="T0" fmla="*/ 0 w 2896"/>
              <a:gd name="T1" fmla="*/ 14 h 2211"/>
              <a:gd name="T2" fmla="*/ 0 w 2896"/>
              <a:gd name="T3" fmla="*/ 1734 h 2211"/>
              <a:gd name="T4" fmla="*/ 10 w 2896"/>
              <a:gd name="T5" fmla="*/ 1748 h 2211"/>
              <a:gd name="T6" fmla="*/ 1266 w 2896"/>
              <a:gd name="T7" fmla="*/ 2105 h 2211"/>
              <a:gd name="T8" fmla="*/ 1270 w 2896"/>
              <a:gd name="T9" fmla="*/ 2092 h 2211"/>
              <a:gd name="T10" fmla="*/ 1256 w 2896"/>
              <a:gd name="T11" fmla="*/ 2092 h 2211"/>
              <a:gd name="T12" fmla="*/ 1291 w 2896"/>
              <a:gd name="T13" fmla="*/ 2176 h 2211"/>
              <a:gd name="T14" fmla="*/ 1375 w 2896"/>
              <a:gd name="T15" fmla="*/ 2211 h 2211"/>
              <a:gd name="T16" fmla="*/ 1448 w 2896"/>
              <a:gd name="T17" fmla="*/ 2211 h 2211"/>
              <a:gd name="T18" fmla="*/ 1521 w 2896"/>
              <a:gd name="T19" fmla="*/ 2211 h 2211"/>
              <a:gd name="T20" fmla="*/ 1605 w 2896"/>
              <a:gd name="T21" fmla="*/ 2176 h 2211"/>
              <a:gd name="T22" fmla="*/ 1640 w 2896"/>
              <a:gd name="T23" fmla="*/ 2092 h 2211"/>
              <a:gd name="T24" fmla="*/ 1626 w 2896"/>
              <a:gd name="T25" fmla="*/ 2092 h 2211"/>
              <a:gd name="T26" fmla="*/ 1630 w 2896"/>
              <a:gd name="T27" fmla="*/ 2105 h 2211"/>
              <a:gd name="T28" fmla="*/ 2886 w 2896"/>
              <a:gd name="T29" fmla="*/ 1748 h 2211"/>
              <a:gd name="T30" fmla="*/ 2896 w 2896"/>
              <a:gd name="T31" fmla="*/ 1734 h 2211"/>
              <a:gd name="T32" fmla="*/ 2896 w 2896"/>
              <a:gd name="T33" fmla="*/ 14 h 2211"/>
              <a:gd name="T34" fmla="*/ 2882 w 2896"/>
              <a:gd name="T35" fmla="*/ 0 h 2211"/>
              <a:gd name="T36" fmla="*/ 2868 w 2896"/>
              <a:gd name="T37" fmla="*/ 14 h 2211"/>
              <a:gd name="T38" fmla="*/ 2868 w 2896"/>
              <a:gd name="T39" fmla="*/ 1724 h 2211"/>
              <a:gd name="T40" fmla="*/ 1622 w 2896"/>
              <a:gd name="T41" fmla="*/ 2078 h 2211"/>
              <a:gd name="T42" fmla="*/ 1612 w 2896"/>
              <a:gd name="T43" fmla="*/ 2092 h 2211"/>
              <a:gd name="T44" fmla="*/ 1585 w 2896"/>
              <a:gd name="T45" fmla="*/ 2156 h 2211"/>
              <a:gd name="T46" fmla="*/ 1521 w 2896"/>
              <a:gd name="T47" fmla="*/ 2183 h 2211"/>
              <a:gd name="T48" fmla="*/ 1448 w 2896"/>
              <a:gd name="T49" fmla="*/ 2183 h 2211"/>
              <a:gd name="T50" fmla="*/ 1375 w 2896"/>
              <a:gd name="T51" fmla="*/ 2183 h 2211"/>
              <a:gd name="T52" fmla="*/ 1311 w 2896"/>
              <a:gd name="T53" fmla="*/ 2156 h 2211"/>
              <a:gd name="T54" fmla="*/ 1284 w 2896"/>
              <a:gd name="T55" fmla="*/ 2092 h 2211"/>
              <a:gd name="T56" fmla="*/ 1274 w 2896"/>
              <a:gd name="T57" fmla="*/ 2078 h 2211"/>
              <a:gd name="T58" fmla="*/ 28 w 2896"/>
              <a:gd name="T59" fmla="*/ 1724 h 2211"/>
              <a:gd name="T60" fmla="*/ 28 w 2896"/>
              <a:gd name="T61" fmla="*/ 14 h 2211"/>
              <a:gd name="T62" fmla="*/ 14 w 2896"/>
              <a:gd name="T63" fmla="*/ 0 h 2211"/>
              <a:gd name="T64" fmla="*/ 0 w 2896"/>
              <a:gd name="T65" fmla="*/ 14 h 2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96" h="2211">
                <a:moveTo>
                  <a:pt x="0" y="14"/>
                </a:moveTo>
                <a:cubicBezTo>
                  <a:pt x="0" y="1734"/>
                  <a:pt x="0" y="1734"/>
                  <a:pt x="0" y="1734"/>
                </a:cubicBezTo>
                <a:cubicBezTo>
                  <a:pt x="0" y="1741"/>
                  <a:pt x="4" y="1746"/>
                  <a:pt x="10" y="1748"/>
                </a:cubicBezTo>
                <a:cubicBezTo>
                  <a:pt x="1266" y="2105"/>
                  <a:pt x="1266" y="2105"/>
                  <a:pt x="1266" y="2105"/>
                </a:cubicBezTo>
                <a:cubicBezTo>
                  <a:pt x="1270" y="2092"/>
                  <a:pt x="1270" y="2092"/>
                  <a:pt x="1270" y="2092"/>
                </a:cubicBezTo>
                <a:cubicBezTo>
                  <a:pt x="1256" y="2092"/>
                  <a:pt x="1256" y="2092"/>
                  <a:pt x="1256" y="2092"/>
                </a:cubicBezTo>
                <a:cubicBezTo>
                  <a:pt x="1256" y="2125"/>
                  <a:pt x="1269" y="2154"/>
                  <a:pt x="1291" y="2176"/>
                </a:cubicBezTo>
                <a:cubicBezTo>
                  <a:pt x="1312" y="2197"/>
                  <a:pt x="1342" y="2211"/>
                  <a:pt x="1375" y="2211"/>
                </a:cubicBezTo>
                <a:cubicBezTo>
                  <a:pt x="1448" y="2211"/>
                  <a:pt x="1448" y="2211"/>
                  <a:pt x="1448" y="2211"/>
                </a:cubicBezTo>
                <a:cubicBezTo>
                  <a:pt x="1521" y="2211"/>
                  <a:pt x="1521" y="2211"/>
                  <a:pt x="1521" y="2211"/>
                </a:cubicBezTo>
                <a:cubicBezTo>
                  <a:pt x="1554" y="2211"/>
                  <a:pt x="1584" y="2197"/>
                  <a:pt x="1605" y="2176"/>
                </a:cubicBezTo>
                <a:cubicBezTo>
                  <a:pt x="1627" y="2154"/>
                  <a:pt x="1640" y="2125"/>
                  <a:pt x="1640" y="2092"/>
                </a:cubicBezTo>
                <a:cubicBezTo>
                  <a:pt x="1626" y="2092"/>
                  <a:pt x="1626" y="2092"/>
                  <a:pt x="1626" y="2092"/>
                </a:cubicBezTo>
                <a:cubicBezTo>
                  <a:pt x="1630" y="2105"/>
                  <a:pt x="1630" y="2105"/>
                  <a:pt x="1630" y="2105"/>
                </a:cubicBezTo>
                <a:cubicBezTo>
                  <a:pt x="2886" y="1748"/>
                  <a:pt x="2886" y="1748"/>
                  <a:pt x="2886" y="1748"/>
                </a:cubicBezTo>
                <a:cubicBezTo>
                  <a:pt x="2892" y="1746"/>
                  <a:pt x="2896" y="1741"/>
                  <a:pt x="2896" y="1734"/>
                </a:cubicBezTo>
                <a:cubicBezTo>
                  <a:pt x="2896" y="14"/>
                  <a:pt x="2896" y="14"/>
                  <a:pt x="2896" y="14"/>
                </a:cubicBezTo>
                <a:cubicBezTo>
                  <a:pt x="2896" y="7"/>
                  <a:pt x="2890" y="0"/>
                  <a:pt x="2882" y="0"/>
                </a:cubicBezTo>
                <a:cubicBezTo>
                  <a:pt x="2874" y="0"/>
                  <a:pt x="2868" y="7"/>
                  <a:pt x="2868" y="14"/>
                </a:cubicBezTo>
                <a:cubicBezTo>
                  <a:pt x="2868" y="1724"/>
                  <a:pt x="2868" y="1724"/>
                  <a:pt x="2868" y="1724"/>
                </a:cubicBezTo>
                <a:cubicBezTo>
                  <a:pt x="1622" y="2078"/>
                  <a:pt x="1622" y="2078"/>
                  <a:pt x="1622" y="2078"/>
                </a:cubicBezTo>
                <a:cubicBezTo>
                  <a:pt x="1616" y="2080"/>
                  <a:pt x="1612" y="2086"/>
                  <a:pt x="1612" y="2092"/>
                </a:cubicBezTo>
                <a:cubicBezTo>
                  <a:pt x="1612" y="2117"/>
                  <a:pt x="1602" y="2140"/>
                  <a:pt x="1585" y="2156"/>
                </a:cubicBezTo>
                <a:cubicBezTo>
                  <a:pt x="1569" y="2173"/>
                  <a:pt x="1546" y="2183"/>
                  <a:pt x="1521" y="2183"/>
                </a:cubicBezTo>
                <a:cubicBezTo>
                  <a:pt x="1448" y="2183"/>
                  <a:pt x="1448" y="2183"/>
                  <a:pt x="1448" y="2183"/>
                </a:cubicBezTo>
                <a:cubicBezTo>
                  <a:pt x="1375" y="2183"/>
                  <a:pt x="1375" y="2183"/>
                  <a:pt x="1375" y="2183"/>
                </a:cubicBezTo>
                <a:cubicBezTo>
                  <a:pt x="1350" y="2183"/>
                  <a:pt x="1327" y="2173"/>
                  <a:pt x="1311" y="2156"/>
                </a:cubicBezTo>
                <a:cubicBezTo>
                  <a:pt x="1294" y="2140"/>
                  <a:pt x="1284" y="2117"/>
                  <a:pt x="1284" y="2092"/>
                </a:cubicBezTo>
                <a:cubicBezTo>
                  <a:pt x="1284" y="2086"/>
                  <a:pt x="1280" y="2080"/>
                  <a:pt x="1274" y="2078"/>
                </a:cubicBezTo>
                <a:cubicBezTo>
                  <a:pt x="28" y="1724"/>
                  <a:pt x="28" y="1724"/>
                  <a:pt x="28" y="1724"/>
                </a:cubicBezTo>
                <a:cubicBezTo>
                  <a:pt x="28" y="14"/>
                  <a:pt x="28" y="14"/>
                  <a:pt x="28" y="14"/>
                </a:cubicBezTo>
                <a:cubicBezTo>
                  <a:pt x="28" y="7"/>
                  <a:pt x="22" y="0"/>
                  <a:pt x="14" y="0"/>
                </a:cubicBezTo>
                <a:cubicBezTo>
                  <a:pt x="7" y="0"/>
                  <a:pt x="0" y="7"/>
                  <a:pt x="0" y="14"/>
                </a:cubicBezTo>
                <a:close/>
              </a:path>
            </a:pathLst>
          </a:custGeom>
          <a:solidFill>
            <a:srgbClr val="5F6160"/>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39" name="îsliďè"/>
          <p:cNvSpPr/>
          <p:nvPr/>
        </p:nvSpPr>
        <p:spPr bwMode="auto">
          <a:xfrm>
            <a:off x="750719" y="5359299"/>
            <a:ext cx="1106896" cy="333689"/>
          </a:xfrm>
          <a:custGeom>
            <a:avLst/>
            <a:gdLst>
              <a:gd name="T0" fmla="*/ 6 w 665"/>
              <a:gd name="T1" fmla="*/ 14 h 200"/>
              <a:gd name="T2" fmla="*/ 655 w 665"/>
              <a:gd name="T3" fmla="*/ 199 h 200"/>
              <a:gd name="T4" fmla="*/ 664 w 665"/>
              <a:gd name="T5" fmla="*/ 194 h 200"/>
              <a:gd name="T6" fmla="*/ 659 w 665"/>
              <a:gd name="T7" fmla="*/ 186 h 200"/>
              <a:gd name="T8" fmla="*/ 10 w 665"/>
              <a:gd name="T9" fmla="*/ 1 h 200"/>
              <a:gd name="T10" fmla="*/ 2 w 665"/>
              <a:gd name="T11" fmla="*/ 6 h 200"/>
              <a:gd name="T12" fmla="*/ 6 w 665"/>
              <a:gd name="T13" fmla="*/ 14 h 200"/>
            </a:gdLst>
            <a:ahLst/>
            <a:cxnLst>
              <a:cxn ang="0">
                <a:pos x="T0" y="T1"/>
              </a:cxn>
              <a:cxn ang="0">
                <a:pos x="T2" y="T3"/>
              </a:cxn>
              <a:cxn ang="0">
                <a:pos x="T4" y="T5"/>
              </a:cxn>
              <a:cxn ang="0">
                <a:pos x="T6" y="T7"/>
              </a:cxn>
              <a:cxn ang="0">
                <a:pos x="T8" y="T9"/>
              </a:cxn>
              <a:cxn ang="0">
                <a:pos x="T10" y="T11"/>
              </a:cxn>
              <a:cxn ang="0">
                <a:pos x="T12" y="T13"/>
              </a:cxn>
            </a:cxnLst>
            <a:rect l="0" t="0" r="r" b="b"/>
            <a:pathLst>
              <a:path w="665" h="200">
                <a:moveTo>
                  <a:pt x="6" y="14"/>
                </a:moveTo>
                <a:cubicBezTo>
                  <a:pt x="655" y="199"/>
                  <a:pt x="655" y="199"/>
                  <a:pt x="655" y="199"/>
                </a:cubicBezTo>
                <a:cubicBezTo>
                  <a:pt x="659" y="200"/>
                  <a:pt x="663" y="198"/>
                  <a:pt x="664" y="194"/>
                </a:cubicBezTo>
                <a:cubicBezTo>
                  <a:pt x="665" y="191"/>
                  <a:pt x="663" y="187"/>
                  <a:pt x="659" y="186"/>
                </a:cubicBezTo>
                <a:cubicBezTo>
                  <a:pt x="10" y="1"/>
                  <a:pt x="10" y="1"/>
                  <a:pt x="10" y="1"/>
                </a:cubicBezTo>
                <a:cubicBezTo>
                  <a:pt x="7" y="0"/>
                  <a:pt x="3" y="2"/>
                  <a:pt x="2" y="6"/>
                </a:cubicBezTo>
                <a:cubicBezTo>
                  <a:pt x="0" y="10"/>
                  <a:pt x="3" y="13"/>
                  <a:pt x="6" y="14"/>
                </a:cubicBezTo>
                <a:close/>
              </a:path>
            </a:pathLst>
          </a:custGeom>
          <a:solidFill>
            <a:srgbClr val="5F6160"/>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40" name="îśľïḍê"/>
          <p:cNvSpPr/>
          <p:nvPr/>
        </p:nvSpPr>
        <p:spPr bwMode="auto">
          <a:xfrm>
            <a:off x="4445051" y="5359299"/>
            <a:ext cx="1106896" cy="333689"/>
          </a:xfrm>
          <a:custGeom>
            <a:avLst/>
            <a:gdLst>
              <a:gd name="T0" fmla="*/ 655 w 665"/>
              <a:gd name="T1" fmla="*/ 1 h 200"/>
              <a:gd name="T2" fmla="*/ 6 w 665"/>
              <a:gd name="T3" fmla="*/ 186 h 200"/>
              <a:gd name="T4" fmla="*/ 1 w 665"/>
              <a:gd name="T5" fmla="*/ 194 h 200"/>
              <a:gd name="T6" fmla="*/ 10 w 665"/>
              <a:gd name="T7" fmla="*/ 199 h 200"/>
              <a:gd name="T8" fmla="*/ 659 w 665"/>
              <a:gd name="T9" fmla="*/ 14 h 200"/>
              <a:gd name="T10" fmla="*/ 664 w 665"/>
              <a:gd name="T11" fmla="*/ 6 h 200"/>
              <a:gd name="T12" fmla="*/ 655 w 665"/>
              <a:gd name="T13" fmla="*/ 1 h 200"/>
            </a:gdLst>
            <a:ahLst/>
            <a:cxnLst>
              <a:cxn ang="0">
                <a:pos x="T0" y="T1"/>
              </a:cxn>
              <a:cxn ang="0">
                <a:pos x="T2" y="T3"/>
              </a:cxn>
              <a:cxn ang="0">
                <a:pos x="T4" y="T5"/>
              </a:cxn>
              <a:cxn ang="0">
                <a:pos x="T6" y="T7"/>
              </a:cxn>
              <a:cxn ang="0">
                <a:pos x="T8" y="T9"/>
              </a:cxn>
              <a:cxn ang="0">
                <a:pos x="T10" y="T11"/>
              </a:cxn>
              <a:cxn ang="0">
                <a:pos x="T12" y="T13"/>
              </a:cxn>
            </a:cxnLst>
            <a:rect l="0" t="0" r="r" b="b"/>
            <a:pathLst>
              <a:path w="665" h="200">
                <a:moveTo>
                  <a:pt x="655" y="1"/>
                </a:moveTo>
                <a:cubicBezTo>
                  <a:pt x="6" y="186"/>
                  <a:pt x="6" y="186"/>
                  <a:pt x="6" y="186"/>
                </a:cubicBezTo>
                <a:cubicBezTo>
                  <a:pt x="3" y="187"/>
                  <a:pt x="0" y="191"/>
                  <a:pt x="1" y="194"/>
                </a:cubicBezTo>
                <a:cubicBezTo>
                  <a:pt x="2" y="198"/>
                  <a:pt x="6" y="200"/>
                  <a:pt x="10" y="199"/>
                </a:cubicBezTo>
                <a:cubicBezTo>
                  <a:pt x="659" y="14"/>
                  <a:pt x="659" y="14"/>
                  <a:pt x="659" y="14"/>
                </a:cubicBezTo>
                <a:cubicBezTo>
                  <a:pt x="663" y="13"/>
                  <a:pt x="665" y="10"/>
                  <a:pt x="664" y="6"/>
                </a:cubicBezTo>
                <a:cubicBezTo>
                  <a:pt x="663" y="2"/>
                  <a:pt x="659" y="0"/>
                  <a:pt x="655" y="1"/>
                </a:cubicBezTo>
                <a:close/>
              </a:path>
            </a:pathLst>
          </a:custGeom>
          <a:solidFill>
            <a:srgbClr val="5F6160"/>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41" name="isliḋè"/>
          <p:cNvSpPr/>
          <p:nvPr/>
        </p:nvSpPr>
        <p:spPr bwMode="auto">
          <a:xfrm>
            <a:off x="3436426" y="2715708"/>
            <a:ext cx="22678" cy="2901687"/>
          </a:xfrm>
          <a:custGeom>
            <a:avLst/>
            <a:gdLst>
              <a:gd name="T0" fmla="*/ 0 w 14"/>
              <a:gd name="T1" fmla="*/ 7 h 1743"/>
              <a:gd name="T2" fmla="*/ 0 w 14"/>
              <a:gd name="T3" fmla="*/ 1736 h 1743"/>
              <a:gd name="T4" fmla="*/ 7 w 14"/>
              <a:gd name="T5" fmla="*/ 1743 h 1743"/>
              <a:gd name="T6" fmla="*/ 14 w 14"/>
              <a:gd name="T7" fmla="*/ 1736 h 1743"/>
              <a:gd name="T8" fmla="*/ 14 w 14"/>
              <a:gd name="T9" fmla="*/ 7 h 1743"/>
              <a:gd name="T10" fmla="*/ 7 w 14"/>
              <a:gd name="T11" fmla="*/ 0 h 1743"/>
              <a:gd name="T12" fmla="*/ 0 w 14"/>
              <a:gd name="T13" fmla="*/ 7 h 1743"/>
            </a:gdLst>
            <a:ahLst/>
            <a:cxnLst>
              <a:cxn ang="0">
                <a:pos x="T0" y="T1"/>
              </a:cxn>
              <a:cxn ang="0">
                <a:pos x="T2" y="T3"/>
              </a:cxn>
              <a:cxn ang="0">
                <a:pos x="T4" y="T5"/>
              </a:cxn>
              <a:cxn ang="0">
                <a:pos x="T6" y="T7"/>
              </a:cxn>
              <a:cxn ang="0">
                <a:pos x="T8" y="T9"/>
              </a:cxn>
              <a:cxn ang="0">
                <a:pos x="T10" y="T11"/>
              </a:cxn>
              <a:cxn ang="0">
                <a:pos x="T12" y="T13"/>
              </a:cxn>
            </a:cxnLst>
            <a:rect l="0" t="0" r="r" b="b"/>
            <a:pathLst>
              <a:path w="14" h="1743">
                <a:moveTo>
                  <a:pt x="0" y="7"/>
                </a:moveTo>
                <a:cubicBezTo>
                  <a:pt x="0" y="1736"/>
                  <a:pt x="0" y="1736"/>
                  <a:pt x="0" y="1736"/>
                </a:cubicBezTo>
                <a:cubicBezTo>
                  <a:pt x="0" y="1740"/>
                  <a:pt x="3" y="1743"/>
                  <a:pt x="7" y="1743"/>
                </a:cubicBezTo>
                <a:cubicBezTo>
                  <a:pt x="11" y="1743"/>
                  <a:pt x="14" y="1740"/>
                  <a:pt x="14" y="1736"/>
                </a:cubicBezTo>
                <a:cubicBezTo>
                  <a:pt x="14" y="7"/>
                  <a:pt x="14" y="7"/>
                  <a:pt x="14" y="7"/>
                </a:cubicBezTo>
                <a:cubicBezTo>
                  <a:pt x="14" y="3"/>
                  <a:pt x="11" y="0"/>
                  <a:pt x="7" y="0"/>
                </a:cubicBezTo>
                <a:cubicBezTo>
                  <a:pt x="3" y="0"/>
                  <a:pt x="0" y="3"/>
                  <a:pt x="0" y="7"/>
                </a:cubicBezTo>
              </a:path>
            </a:pathLst>
          </a:custGeom>
          <a:solidFill>
            <a:srgbClr val="5F6160"/>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42" name="ïṡľîḍê"/>
          <p:cNvSpPr/>
          <p:nvPr/>
        </p:nvSpPr>
        <p:spPr bwMode="auto">
          <a:xfrm>
            <a:off x="2843562" y="2715708"/>
            <a:ext cx="22678" cy="2901687"/>
          </a:xfrm>
          <a:custGeom>
            <a:avLst/>
            <a:gdLst>
              <a:gd name="T0" fmla="*/ 0 w 14"/>
              <a:gd name="T1" fmla="*/ 7 h 1743"/>
              <a:gd name="T2" fmla="*/ 0 w 14"/>
              <a:gd name="T3" fmla="*/ 1736 h 1743"/>
              <a:gd name="T4" fmla="*/ 7 w 14"/>
              <a:gd name="T5" fmla="*/ 1743 h 1743"/>
              <a:gd name="T6" fmla="*/ 14 w 14"/>
              <a:gd name="T7" fmla="*/ 1736 h 1743"/>
              <a:gd name="T8" fmla="*/ 14 w 14"/>
              <a:gd name="T9" fmla="*/ 7 h 1743"/>
              <a:gd name="T10" fmla="*/ 7 w 14"/>
              <a:gd name="T11" fmla="*/ 0 h 1743"/>
              <a:gd name="T12" fmla="*/ 0 w 14"/>
              <a:gd name="T13" fmla="*/ 7 h 1743"/>
            </a:gdLst>
            <a:ahLst/>
            <a:cxnLst>
              <a:cxn ang="0">
                <a:pos x="T0" y="T1"/>
              </a:cxn>
              <a:cxn ang="0">
                <a:pos x="T2" y="T3"/>
              </a:cxn>
              <a:cxn ang="0">
                <a:pos x="T4" y="T5"/>
              </a:cxn>
              <a:cxn ang="0">
                <a:pos x="T6" y="T7"/>
              </a:cxn>
              <a:cxn ang="0">
                <a:pos x="T8" y="T9"/>
              </a:cxn>
              <a:cxn ang="0">
                <a:pos x="T10" y="T11"/>
              </a:cxn>
              <a:cxn ang="0">
                <a:pos x="T12" y="T13"/>
              </a:cxn>
            </a:cxnLst>
            <a:rect l="0" t="0" r="r" b="b"/>
            <a:pathLst>
              <a:path w="14" h="1743">
                <a:moveTo>
                  <a:pt x="0" y="7"/>
                </a:moveTo>
                <a:cubicBezTo>
                  <a:pt x="0" y="1736"/>
                  <a:pt x="0" y="1736"/>
                  <a:pt x="0" y="1736"/>
                </a:cubicBezTo>
                <a:cubicBezTo>
                  <a:pt x="0" y="1740"/>
                  <a:pt x="3" y="1743"/>
                  <a:pt x="7" y="1743"/>
                </a:cubicBezTo>
                <a:cubicBezTo>
                  <a:pt x="11" y="1743"/>
                  <a:pt x="14" y="1740"/>
                  <a:pt x="14" y="1736"/>
                </a:cubicBezTo>
                <a:cubicBezTo>
                  <a:pt x="14" y="7"/>
                  <a:pt x="14" y="7"/>
                  <a:pt x="14" y="7"/>
                </a:cubicBezTo>
                <a:cubicBezTo>
                  <a:pt x="14" y="3"/>
                  <a:pt x="11" y="0"/>
                  <a:pt x="7" y="0"/>
                </a:cubicBezTo>
                <a:cubicBezTo>
                  <a:pt x="3" y="0"/>
                  <a:pt x="0" y="3"/>
                  <a:pt x="0" y="7"/>
                </a:cubicBezTo>
              </a:path>
            </a:pathLst>
          </a:custGeom>
          <a:solidFill>
            <a:srgbClr val="5F6160"/>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43" name="í$ḷîḑé"/>
          <p:cNvSpPr/>
          <p:nvPr/>
        </p:nvSpPr>
        <p:spPr bwMode="auto">
          <a:xfrm>
            <a:off x="1171880" y="1541859"/>
            <a:ext cx="1992413" cy="1127414"/>
          </a:xfrm>
          <a:custGeom>
            <a:avLst/>
            <a:gdLst>
              <a:gd name="T0" fmla="*/ 248 w 1197"/>
              <a:gd name="T1" fmla="*/ 280 h 677"/>
              <a:gd name="T2" fmla="*/ 248 w 1197"/>
              <a:gd name="T3" fmla="*/ 21 h 677"/>
              <a:gd name="T4" fmla="*/ 1133 w 1197"/>
              <a:gd name="T5" fmla="*/ 639 h 677"/>
              <a:gd name="T6" fmla="*/ 10 w 1197"/>
              <a:gd name="T7" fmla="*/ 177 h 677"/>
              <a:gd name="T8" fmla="*/ 3 w 1197"/>
              <a:gd name="T9" fmla="*/ 178 h 677"/>
              <a:gd name="T10" fmla="*/ 0 w 1197"/>
              <a:gd name="T11" fmla="*/ 183 h 677"/>
              <a:gd name="T12" fmla="*/ 0 w 1197"/>
              <a:gd name="T13" fmla="*/ 363 h 677"/>
              <a:gd name="T14" fmla="*/ 7 w 1197"/>
              <a:gd name="T15" fmla="*/ 370 h 677"/>
              <a:gd name="T16" fmla="*/ 14 w 1197"/>
              <a:gd name="T17" fmla="*/ 363 h 677"/>
              <a:gd name="T18" fmla="*/ 14 w 1197"/>
              <a:gd name="T19" fmla="*/ 194 h 677"/>
              <a:gd name="T20" fmla="*/ 1186 w 1197"/>
              <a:gd name="T21" fmla="*/ 676 h 677"/>
              <a:gd name="T22" fmla="*/ 1195 w 1197"/>
              <a:gd name="T23" fmla="*/ 673 h 677"/>
              <a:gd name="T24" fmla="*/ 1193 w 1197"/>
              <a:gd name="T25" fmla="*/ 663 h 677"/>
              <a:gd name="T26" fmla="*/ 245 w 1197"/>
              <a:gd name="T27" fmla="*/ 1 h 677"/>
              <a:gd name="T28" fmla="*/ 238 w 1197"/>
              <a:gd name="T29" fmla="*/ 1 h 677"/>
              <a:gd name="T30" fmla="*/ 234 w 1197"/>
              <a:gd name="T31" fmla="*/ 7 h 677"/>
              <a:gd name="T32" fmla="*/ 234 w 1197"/>
              <a:gd name="T33" fmla="*/ 280 h 677"/>
              <a:gd name="T34" fmla="*/ 241 w 1197"/>
              <a:gd name="T35" fmla="*/ 287 h 677"/>
              <a:gd name="T36" fmla="*/ 248 w 1197"/>
              <a:gd name="T37" fmla="*/ 280 h 6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7" h="677">
                <a:moveTo>
                  <a:pt x="248" y="280"/>
                </a:moveTo>
                <a:cubicBezTo>
                  <a:pt x="248" y="21"/>
                  <a:pt x="248" y="21"/>
                  <a:pt x="248" y="21"/>
                </a:cubicBezTo>
                <a:cubicBezTo>
                  <a:pt x="1133" y="639"/>
                  <a:pt x="1133" y="639"/>
                  <a:pt x="1133" y="639"/>
                </a:cubicBezTo>
                <a:cubicBezTo>
                  <a:pt x="10" y="177"/>
                  <a:pt x="10" y="177"/>
                  <a:pt x="10" y="177"/>
                </a:cubicBezTo>
                <a:cubicBezTo>
                  <a:pt x="7" y="176"/>
                  <a:pt x="5" y="176"/>
                  <a:pt x="3" y="178"/>
                </a:cubicBezTo>
                <a:cubicBezTo>
                  <a:pt x="1" y="179"/>
                  <a:pt x="0" y="181"/>
                  <a:pt x="0" y="183"/>
                </a:cubicBezTo>
                <a:cubicBezTo>
                  <a:pt x="0" y="363"/>
                  <a:pt x="0" y="363"/>
                  <a:pt x="0" y="363"/>
                </a:cubicBezTo>
                <a:cubicBezTo>
                  <a:pt x="0" y="367"/>
                  <a:pt x="3" y="370"/>
                  <a:pt x="7" y="370"/>
                </a:cubicBezTo>
                <a:cubicBezTo>
                  <a:pt x="11" y="370"/>
                  <a:pt x="14" y="367"/>
                  <a:pt x="14" y="363"/>
                </a:cubicBezTo>
                <a:cubicBezTo>
                  <a:pt x="14" y="194"/>
                  <a:pt x="14" y="194"/>
                  <a:pt x="14" y="194"/>
                </a:cubicBezTo>
                <a:cubicBezTo>
                  <a:pt x="1186" y="676"/>
                  <a:pt x="1186" y="676"/>
                  <a:pt x="1186" y="676"/>
                </a:cubicBezTo>
                <a:cubicBezTo>
                  <a:pt x="1190" y="677"/>
                  <a:pt x="1194" y="676"/>
                  <a:pt x="1195" y="673"/>
                </a:cubicBezTo>
                <a:cubicBezTo>
                  <a:pt x="1197" y="669"/>
                  <a:pt x="1196" y="666"/>
                  <a:pt x="1193" y="663"/>
                </a:cubicBezTo>
                <a:cubicBezTo>
                  <a:pt x="245" y="1"/>
                  <a:pt x="245" y="1"/>
                  <a:pt x="245" y="1"/>
                </a:cubicBezTo>
                <a:cubicBezTo>
                  <a:pt x="243" y="0"/>
                  <a:pt x="240" y="0"/>
                  <a:pt x="238" y="1"/>
                </a:cubicBezTo>
                <a:cubicBezTo>
                  <a:pt x="236" y="2"/>
                  <a:pt x="234" y="5"/>
                  <a:pt x="234" y="7"/>
                </a:cubicBezTo>
                <a:cubicBezTo>
                  <a:pt x="234" y="280"/>
                  <a:pt x="234" y="280"/>
                  <a:pt x="234" y="280"/>
                </a:cubicBezTo>
                <a:cubicBezTo>
                  <a:pt x="234" y="284"/>
                  <a:pt x="237" y="287"/>
                  <a:pt x="241" y="287"/>
                </a:cubicBezTo>
                <a:cubicBezTo>
                  <a:pt x="245" y="287"/>
                  <a:pt x="248" y="284"/>
                  <a:pt x="248" y="280"/>
                </a:cubicBezTo>
                <a:close/>
              </a:path>
            </a:pathLst>
          </a:custGeom>
          <a:solidFill>
            <a:srgbClr val="5F6160"/>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44" name="îṥľïḋê"/>
          <p:cNvSpPr/>
          <p:nvPr/>
        </p:nvSpPr>
        <p:spPr bwMode="auto">
          <a:xfrm>
            <a:off x="1928888" y="1314000"/>
            <a:ext cx="1235404" cy="1355273"/>
          </a:xfrm>
          <a:custGeom>
            <a:avLst/>
            <a:gdLst>
              <a:gd name="T0" fmla="*/ 14 w 742"/>
              <a:gd name="T1" fmla="*/ 295 h 814"/>
              <a:gd name="T2" fmla="*/ 10 w 742"/>
              <a:gd name="T3" fmla="*/ 299 h 814"/>
              <a:gd name="T4" fmla="*/ 16 w 742"/>
              <a:gd name="T5" fmla="*/ 297 h 814"/>
              <a:gd name="T6" fmla="*/ 14 w 742"/>
              <a:gd name="T7" fmla="*/ 295 h 814"/>
              <a:gd name="T8" fmla="*/ 10 w 742"/>
              <a:gd name="T9" fmla="*/ 299 h 814"/>
              <a:gd name="T10" fmla="*/ 16 w 742"/>
              <a:gd name="T11" fmla="*/ 297 h 814"/>
              <a:gd name="T12" fmla="*/ 12 w 742"/>
              <a:gd name="T13" fmla="*/ 299 h 814"/>
              <a:gd name="T14" fmla="*/ 16 w 742"/>
              <a:gd name="T15" fmla="*/ 298 h 814"/>
              <a:gd name="T16" fmla="*/ 16 w 742"/>
              <a:gd name="T17" fmla="*/ 297 h 814"/>
              <a:gd name="T18" fmla="*/ 12 w 742"/>
              <a:gd name="T19" fmla="*/ 299 h 814"/>
              <a:gd name="T20" fmla="*/ 16 w 742"/>
              <a:gd name="T21" fmla="*/ 298 h 814"/>
              <a:gd name="T22" fmla="*/ 15 w 742"/>
              <a:gd name="T23" fmla="*/ 298 h 814"/>
              <a:gd name="T24" fmla="*/ 16 w 742"/>
              <a:gd name="T25" fmla="*/ 298 h 814"/>
              <a:gd name="T26" fmla="*/ 16 w 742"/>
              <a:gd name="T27" fmla="*/ 298 h 814"/>
              <a:gd name="T28" fmla="*/ 15 w 742"/>
              <a:gd name="T29" fmla="*/ 298 h 814"/>
              <a:gd name="T30" fmla="*/ 16 w 742"/>
              <a:gd name="T31" fmla="*/ 298 h 814"/>
              <a:gd name="T32" fmla="*/ 16 w 742"/>
              <a:gd name="T33" fmla="*/ 295 h 814"/>
              <a:gd name="T34" fmla="*/ 15 w 742"/>
              <a:gd name="T35" fmla="*/ 268 h 814"/>
              <a:gd name="T36" fmla="*/ 14 w 742"/>
              <a:gd name="T37" fmla="*/ 222 h 814"/>
              <a:gd name="T38" fmla="*/ 15 w 742"/>
              <a:gd name="T39" fmla="*/ 82 h 814"/>
              <a:gd name="T40" fmla="*/ 16 w 742"/>
              <a:gd name="T41" fmla="*/ 29 h 814"/>
              <a:gd name="T42" fmla="*/ 16 w 742"/>
              <a:gd name="T43" fmla="*/ 8 h 814"/>
              <a:gd name="T44" fmla="*/ 9 w 742"/>
              <a:gd name="T45" fmla="*/ 7 h 814"/>
              <a:gd name="T46" fmla="*/ 4 w 742"/>
              <a:gd name="T47" fmla="*/ 12 h 814"/>
              <a:gd name="T48" fmla="*/ 729 w 742"/>
              <a:gd name="T49" fmla="*/ 811 h 814"/>
              <a:gd name="T50" fmla="*/ 739 w 742"/>
              <a:gd name="T51" fmla="*/ 811 h 814"/>
              <a:gd name="T52" fmla="*/ 739 w 742"/>
              <a:gd name="T53" fmla="*/ 802 h 814"/>
              <a:gd name="T54" fmla="*/ 14 w 742"/>
              <a:gd name="T55" fmla="*/ 3 h 814"/>
              <a:gd name="T56" fmla="*/ 7 w 742"/>
              <a:gd name="T57" fmla="*/ 1 h 814"/>
              <a:gd name="T58" fmla="*/ 2 w 742"/>
              <a:gd name="T59" fmla="*/ 7 h 814"/>
              <a:gd name="T60" fmla="*/ 0 w 742"/>
              <a:gd name="T61" fmla="*/ 222 h 814"/>
              <a:gd name="T62" fmla="*/ 1 w 742"/>
              <a:gd name="T63" fmla="*/ 277 h 814"/>
              <a:gd name="T64" fmla="*/ 1 w 742"/>
              <a:gd name="T65" fmla="*/ 294 h 814"/>
              <a:gd name="T66" fmla="*/ 2 w 742"/>
              <a:gd name="T67" fmla="*/ 299 h 814"/>
              <a:gd name="T68" fmla="*/ 2 w 742"/>
              <a:gd name="T69" fmla="*/ 301 h 814"/>
              <a:gd name="T70" fmla="*/ 3 w 742"/>
              <a:gd name="T71" fmla="*/ 302 h 814"/>
              <a:gd name="T72" fmla="*/ 4 w 742"/>
              <a:gd name="T73" fmla="*/ 305 h 814"/>
              <a:gd name="T74" fmla="*/ 14 w 742"/>
              <a:gd name="T75" fmla="*/ 305 h 814"/>
              <a:gd name="T76" fmla="*/ 14 w 742"/>
              <a:gd name="T77" fmla="*/ 295 h 8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42" h="814">
                <a:moveTo>
                  <a:pt x="14" y="295"/>
                </a:moveTo>
                <a:cubicBezTo>
                  <a:pt x="10" y="299"/>
                  <a:pt x="10" y="299"/>
                  <a:pt x="10" y="299"/>
                </a:cubicBezTo>
                <a:cubicBezTo>
                  <a:pt x="16" y="297"/>
                  <a:pt x="16" y="297"/>
                  <a:pt x="16" y="297"/>
                </a:cubicBezTo>
                <a:cubicBezTo>
                  <a:pt x="15" y="297"/>
                  <a:pt x="15" y="296"/>
                  <a:pt x="14" y="295"/>
                </a:cubicBezTo>
                <a:cubicBezTo>
                  <a:pt x="10" y="299"/>
                  <a:pt x="10" y="299"/>
                  <a:pt x="10" y="299"/>
                </a:cubicBezTo>
                <a:cubicBezTo>
                  <a:pt x="16" y="297"/>
                  <a:pt x="16" y="297"/>
                  <a:pt x="16" y="297"/>
                </a:cubicBezTo>
                <a:cubicBezTo>
                  <a:pt x="12" y="299"/>
                  <a:pt x="12" y="299"/>
                  <a:pt x="12" y="299"/>
                </a:cubicBezTo>
                <a:cubicBezTo>
                  <a:pt x="16" y="298"/>
                  <a:pt x="16" y="298"/>
                  <a:pt x="16" y="298"/>
                </a:cubicBezTo>
                <a:cubicBezTo>
                  <a:pt x="16" y="297"/>
                  <a:pt x="16" y="297"/>
                  <a:pt x="16" y="297"/>
                </a:cubicBezTo>
                <a:cubicBezTo>
                  <a:pt x="12" y="299"/>
                  <a:pt x="12" y="299"/>
                  <a:pt x="12" y="299"/>
                </a:cubicBezTo>
                <a:cubicBezTo>
                  <a:pt x="16" y="298"/>
                  <a:pt x="16" y="298"/>
                  <a:pt x="16" y="298"/>
                </a:cubicBezTo>
                <a:cubicBezTo>
                  <a:pt x="15" y="298"/>
                  <a:pt x="15" y="298"/>
                  <a:pt x="15" y="298"/>
                </a:cubicBezTo>
                <a:cubicBezTo>
                  <a:pt x="16" y="298"/>
                  <a:pt x="16" y="298"/>
                  <a:pt x="16" y="298"/>
                </a:cubicBezTo>
                <a:cubicBezTo>
                  <a:pt x="16" y="298"/>
                  <a:pt x="16" y="298"/>
                  <a:pt x="16" y="298"/>
                </a:cubicBezTo>
                <a:cubicBezTo>
                  <a:pt x="15" y="298"/>
                  <a:pt x="15" y="298"/>
                  <a:pt x="15" y="298"/>
                </a:cubicBezTo>
                <a:cubicBezTo>
                  <a:pt x="16" y="298"/>
                  <a:pt x="16" y="298"/>
                  <a:pt x="16" y="298"/>
                </a:cubicBezTo>
                <a:cubicBezTo>
                  <a:pt x="16" y="297"/>
                  <a:pt x="16" y="297"/>
                  <a:pt x="16" y="295"/>
                </a:cubicBezTo>
                <a:cubicBezTo>
                  <a:pt x="15" y="290"/>
                  <a:pt x="15" y="281"/>
                  <a:pt x="15" y="268"/>
                </a:cubicBezTo>
                <a:cubicBezTo>
                  <a:pt x="14" y="255"/>
                  <a:pt x="14" y="240"/>
                  <a:pt x="14" y="222"/>
                </a:cubicBezTo>
                <a:cubicBezTo>
                  <a:pt x="14" y="179"/>
                  <a:pt x="15" y="125"/>
                  <a:pt x="15" y="82"/>
                </a:cubicBezTo>
                <a:cubicBezTo>
                  <a:pt x="16" y="61"/>
                  <a:pt x="16" y="42"/>
                  <a:pt x="16" y="29"/>
                </a:cubicBezTo>
                <a:cubicBezTo>
                  <a:pt x="16" y="16"/>
                  <a:pt x="16" y="8"/>
                  <a:pt x="16" y="8"/>
                </a:cubicBezTo>
                <a:cubicBezTo>
                  <a:pt x="9" y="7"/>
                  <a:pt x="9" y="7"/>
                  <a:pt x="9" y="7"/>
                </a:cubicBezTo>
                <a:cubicBezTo>
                  <a:pt x="4" y="12"/>
                  <a:pt x="4" y="12"/>
                  <a:pt x="4" y="12"/>
                </a:cubicBezTo>
                <a:cubicBezTo>
                  <a:pt x="729" y="811"/>
                  <a:pt x="729" y="811"/>
                  <a:pt x="729" y="811"/>
                </a:cubicBezTo>
                <a:cubicBezTo>
                  <a:pt x="732" y="814"/>
                  <a:pt x="736" y="814"/>
                  <a:pt x="739" y="811"/>
                </a:cubicBezTo>
                <a:cubicBezTo>
                  <a:pt x="742" y="809"/>
                  <a:pt x="742" y="804"/>
                  <a:pt x="739" y="802"/>
                </a:cubicBezTo>
                <a:cubicBezTo>
                  <a:pt x="14" y="3"/>
                  <a:pt x="14" y="3"/>
                  <a:pt x="14" y="3"/>
                </a:cubicBezTo>
                <a:cubicBezTo>
                  <a:pt x="13" y="1"/>
                  <a:pt x="9" y="0"/>
                  <a:pt x="7" y="1"/>
                </a:cubicBezTo>
                <a:cubicBezTo>
                  <a:pt x="4" y="2"/>
                  <a:pt x="2" y="4"/>
                  <a:pt x="2" y="7"/>
                </a:cubicBezTo>
                <a:cubicBezTo>
                  <a:pt x="2" y="7"/>
                  <a:pt x="0" y="135"/>
                  <a:pt x="0" y="222"/>
                </a:cubicBezTo>
                <a:cubicBezTo>
                  <a:pt x="0" y="244"/>
                  <a:pt x="0" y="263"/>
                  <a:pt x="1" y="277"/>
                </a:cubicBezTo>
                <a:cubicBezTo>
                  <a:pt x="1" y="284"/>
                  <a:pt x="1" y="290"/>
                  <a:pt x="1" y="294"/>
                </a:cubicBezTo>
                <a:cubicBezTo>
                  <a:pt x="1" y="296"/>
                  <a:pt x="2" y="297"/>
                  <a:pt x="2" y="299"/>
                </a:cubicBezTo>
                <a:cubicBezTo>
                  <a:pt x="2" y="300"/>
                  <a:pt x="2" y="300"/>
                  <a:pt x="2" y="301"/>
                </a:cubicBezTo>
                <a:cubicBezTo>
                  <a:pt x="2" y="301"/>
                  <a:pt x="2" y="302"/>
                  <a:pt x="3" y="302"/>
                </a:cubicBezTo>
                <a:cubicBezTo>
                  <a:pt x="3" y="303"/>
                  <a:pt x="3" y="304"/>
                  <a:pt x="4" y="305"/>
                </a:cubicBezTo>
                <a:cubicBezTo>
                  <a:pt x="7" y="308"/>
                  <a:pt x="12" y="308"/>
                  <a:pt x="14" y="305"/>
                </a:cubicBezTo>
                <a:cubicBezTo>
                  <a:pt x="17" y="302"/>
                  <a:pt x="17" y="298"/>
                  <a:pt x="14" y="295"/>
                </a:cubicBezTo>
                <a:close/>
              </a:path>
            </a:pathLst>
          </a:custGeom>
          <a:solidFill>
            <a:srgbClr val="5F6160"/>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45" name="íS1iḋê"/>
          <p:cNvSpPr/>
          <p:nvPr/>
        </p:nvSpPr>
        <p:spPr bwMode="auto">
          <a:xfrm>
            <a:off x="3138374" y="1541859"/>
            <a:ext cx="1992413" cy="1127414"/>
          </a:xfrm>
          <a:custGeom>
            <a:avLst/>
            <a:gdLst>
              <a:gd name="T0" fmla="*/ 963 w 1197"/>
              <a:gd name="T1" fmla="*/ 280 h 677"/>
              <a:gd name="T2" fmla="*/ 963 w 1197"/>
              <a:gd name="T3" fmla="*/ 7 h 677"/>
              <a:gd name="T4" fmla="*/ 959 w 1197"/>
              <a:gd name="T5" fmla="*/ 1 h 677"/>
              <a:gd name="T6" fmla="*/ 952 w 1197"/>
              <a:gd name="T7" fmla="*/ 1 h 677"/>
              <a:gd name="T8" fmla="*/ 4 w 1197"/>
              <a:gd name="T9" fmla="*/ 663 h 677"/>
              <a:gd name="T10" fmla="*/ 2 w 1197"/>
              <a:gd name="T11" fmla="*/ 673 h 677"/>
              <a:gd name="T12" fmla="*/ 11 w 1197"/>
              <a:gd name="T13" fmla="*/ 676 h 677"/>
              <a:gd name="T14" fmla="*/ 1183 w 1197"/>
              <a:gd name="T15" fmla="*/ 194 h 677"/>
              <a:gd name="T16" fmla="*/ 1183 w 1197"/>
              <a:gd name="T17" fmla="*/ 363 h 677"/>
              <a:gd name="T18" fmla="*/ 1190 w 1197"/>
              <a:gd name="T19" fmla="*/ 370 h 677"/>
              <a:gd name="T20" fmla="*/ 1197 w 1197"/>
              <a:gd name="T21" fmla="*/ 363 h 677"/>
              <a:gd name="T22" fmla="*/ 1197 w 1197"/>
              <a:gd name="T23" fmla="*/ 183 h 677"/>
              <a:gd name="T24" fmla="*/ 1194 w 1197"/>
              <a:gd name="T25" fmla="*/ 178 h 677"/>
              <a:gd name="T26" fmla="*/ 1188 w 1197"/>
              <a:gd name="T27" fmla="*/ 177 h 677"/>
              <a:gd name="T28" fmla="*/ 64 w 1197"/>
              <a:gd name="T29" fmla="*/ 639 h 677"/>
              <a:gd name="T30" fmla="*/ 949 w 1197"/>
              <a:gd name="T31" fmla="*/ 21 h 677"/>
              <a:gd name="T32" fmla="*/ 949 w 1197"/>
              <a:gd name="T33" fmla="*/ 280 h 677"/>
              <a:gd name="T34" fmla="*/ 956 w 1197"/>
              <a:gd name="T35" fmla="*/ 287 h 677"/>
              <a:gd name="T36" fmla="*/ 963 w 1197"/>
              <a:gd name="T37" fmla="*/ 280 h 6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7" h="677">
                <a:moveTo>
                  <a:pt x="963" y="280"/>
                </a:moveTo>
                <a:cubicBezTo>
                  <a:pt x="963" y="7"/>
                  <a:pt x="963" y="7"/>
                  <a:pt x="963" y="7"/>
                </a:cubicBezTo>
                <a:cubicBezTo>
                  <a:pt x="963" y="5"/>
                  <a:pt x="962" y="2"/>
                  <a:pt x="959" y="1"/>
                </a:cubicBezTo>
                <a:cubicBezTo>
                  <a:pt x="957" y="0"/>
                  <a:pt x="954" y="0"/>
                  <a:pt x="952" y="1"/>
                </a:cubicBezTo>
                <a:cubicBezTo>
                  <a:pt x="4" y="663"/>
                  <a:pt x="4" y="663"/>
                  <a:pt x="4" y="663"/>
                </a:cubicBezTo>
                <a:cubicBezTo>
                  <a:pt x="1" y="666"/>
                  <a:pt x="0" y="669"/>
                  <a:pt x="2" y="673"/>
                </a:cubicBezTo>
                <a:cubicBezTo>
                  <a:pt x="4" y="676"/>
                  <a:pt x="7" y="677"/>
                  <a:pt x="11" y="676"/>
                </a:cubicBezTo>
                <a:cubicBezTo>
                  <a:pt x="1183" y="194"/>
                  <a:pt x="1183" y="194"/>
                  <a:pt x="1183" y="194"/>
                </a:cubicBezTo>
                <a:cubicBezTo>
                  <a:pt x="1183" y="363"/>
                  <a:pt x="1183" y="363"/>
                  <a:pt x="1183" y="363"/>
                </a:cubicBezTo>
                <a:cubicBezTo>
                  <a:pt x="1183" y="367"/>
                  <a:pt x="1186" y="370"/>
                  <a:pt x="1190" y="370"/>
                </a:cubicBezTo>
                <a:cubicBezTo>
                  <a:pt x="1194" y="370"/>
                  <a:pt x="1197" y="367"/>
                  <a:pt x="1197" y="363"/>
                </a:cubicBezTo>
                <a:cubicBezTo>
                  <a:pt x="1197" y="183"/>
                  <a:pt x="1197" y="183"/>
                  <a:pt x="1197" y="183"/>
                </a:cubicBezTo>
                <a:cubicBezTo>
                  <a:pt x="1197" y="181"/>
                  <a:pt x="1196" y="179"/>
                  <a:pt x="1194" y="178"/>
                </a:cubicBezTo>
                <a:cubicBezTo>
                  <a:pt x="1192" y="176"/>
                  <a:pt x="1190" y="176"/>
                  <a:pt x="1188" y="177"/>
                </a:cubicBezTo>
                <a:cubicBezTo>
                  <a:pt x="64" y="639"/>
                  <a:pt x="64" y="639"/>
                  <a:pt x="64" y="639"/>
                </a:cubicBezTo>
                <a:cubicBezTo>
                  <a:pt x="949" y="21"/>
                  <a:pt x="949" y="21"/>
                  <a:pt x="949" y="21"/>
                </a:cubicBezTo>
                <a:cubicBezTo>
                  <a:pt x="949" y="280"/>
                  <a:pt x="949" y="280"/>
                  <a:pt x="949" y="280"/>
                </a:cubicBezTo>
                <a:cubicBezTo>
                  <a:pt x="949" y="284"/>
                  <a:pt x="952" y="287"/>
                  <a:pt x="956" y="287"/>
                </a:cubicBezTo>
                <a:cubicBezTo>
                  <a:pt x="960" y="287"/>
                  <a:pt x="963" y="284"/>
                  <a:pt x="963" y="280"/>
                </a:cubicBezTo>
                <a:close/>
              </a:path>
            </a:pathLst>
          </a:custGeom>
          <a:solidFill>
            <a:srgbClr val="5F6160"/>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46" name="îslíďe"/>
          <p:cNvSpPr/>
          <p:nvPr/>
        </p:nvSpPr>
        <p:spPr bwMode="auto">
          <a:xfrm>
            <a:off x="3138374" y="1314000"/>
            <a:ext cx="1235404" cy="1355273"/>
          </a:xfrm>
          <a:custGeom>
            <a:avLst/>
            <a:gdLst>
              <a:gd name="T0" fmla="*/ 738 w 742"/>
              <a:gd name="T1" fmla="*/ 305 h 814"/>
              <a:gd name="T2" fmla="*/ 740 w 742"/>
              <a:gd name="T3" fmla="*/ 302 h 814"/>
              <a:gd name="T4" fmla="*/ 740 w 742"/>
              <a:gd name="T5" fmla="*/ 300 h 814"/>
              <a:gd name="T6" fmla="*/ 741 w 742"/>
              <a:gd name="T7" fmla="*/ 296 h 814"/>
              <a:gd name="T8" fmla="*/ 742 w 742"/>
              <a:gd name="T9" fmla="*/ 268 h 814"/>
              <a:gd name="T10" fmla="*/ 742 w 742"/>
              <a:gd name="T11" fmla="*/ 222 h 814"/>
              <a:gd name="T12" fmla="*/ 740 w 742"/>
              <a:gd name="T13" fmla="*/ 7 h 814"/>
              <a:gd name="T14" fmla="*/ 735 w 742"/>
              <a:gd name="T15" fmla="*/ 1 h 814"/>
              <a:gd name="T16" fmla="*/ 728 w 742"/>
              <a:gd name="T17" fmla="*/ 3 h 814"/>
              <a:gd name="T18" fmla="*/ 3 w 742"/>
              <a:gd name="T19" fmla="*/ 802 h 814"/>
              <a:gd name="T20" fmla="*/ 3 w 742"/>
              <a:gd name="T21" fmla="*/ 811 h 814"/>
              <a:gd name="T22" fmla="*/ 13 w 742"/>
              <a:gd name="T23" fmla="*/ 811 h 814"/>
              <a:gd name="T24" fmla="*/ 738 w 742"/>
              <a:gd name="T25" fmla="*/ 12 h 814"/>
              <a:gd name="T26" fmla="*/ 733 w 742"/>
              <a:gd name="T27" fmla="*/ 7 h 814"/>
              <a:gd name="T28" fmla="*/ 726 w 742"/>
              <a:gd name="T29" fmla="*/ 8 h 814"/>
              <a:gd name="T30" fmla="*/ 726 w 742"/>
              <a:gd name="T31" fmla="*/ 29 h 814"/>
              <a:gd name="T32" fmla="*/ 728 w 742"/>
              <a:gd name="T33" fmla="*/ 222 h 814"/>
              <a:gd name="T34" fmla="*/ 727 w 742"/>
              <a:gd name="T35" fmla="*/ 277 h 814"/>
              <a:gd name="T36" fmla="*/ 727 w 742"/>
              <a:gd name="T37" fmla="*/ 293 h 814"/>
              <a:gd name="T38" fmla="*/ 727 w 742"/>
              <a:gd name="T39" fmla="*/ 297 h 814"/>
              <a:gd name="T40" fmla="*/ 726 w 742"/>
              <a:gd name="T41" fmla="*/ 298 h 814"/>
              <a:gd name="T42" fmla="*/ 726 w 742"/>
              <a:gd name="T43" fmla="*/ 298 h 814"/>
              <a:gd name="T44" fmla="*/ 730 w 742"/>
              <a:gd name="T45" fmla="*/ 298 h 814"/>
              <a:gd name="T46" fmla="*/ 727 w 742"/>
              <a:gd name="T47" fmla="*/ 297 h 814"/>
              <a:gd name="T48" fmla="*/ 726 w 742"/>
              <a:gd name="T49" fmla="*/ 298 h 814"/>
              <a:gd name="T50" fmla="*/ 730 w 742"/>
              <a:gd name="T51" fmla="*/ 298 h 814"/>
              <a:gd name="T52" fmla="*/ 727 w 742"/>
              <a:gd name="T53" fmla="*/ 297 h 814"/>
              <a:gd name="T54" fmla="*/ 732 w 742"/>
              <a:gd name="T55" fmla="*/ 299 h 814"/>
              <a:gd name="T56" fmla="*/ 728 w 742"/>
              <a:gd name="T57" fmla="*/ 295 h 814"/>
              <a:gd name="T58" fmla="*/ 727 w 742"/>
              <a:gd name="T59" fmla="*/ 297 h 814"/>
              <a:gd name="T60" fmla="*/ 732 w 742"/>
              <a:gd name="T61" fmla="*/ 299 h 814"/>
              <a:gd name="T62" fmla="*/ 728 w 742"/>
              <a:gd name="T63" fmla="*/ 295 h 814"/>
              <a:gd name="T64" fmla="*/ 728 w 742"/>
              <a:gd name="T65" fmla="*/ 305 h 814"/>
              <a:gd name="T66" fmla="*/ 738 w 742"/>
              <a:gd name="T67" fmla="*/ 305 h 8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2" h="814">
                <a:moveTo>
                  <a:pt x="738" y="305"/>
                </a:moveTo>
                <a:cubicBezTo>
                  <a:pt x="739" y="304"/>
                  <a:pt x="739" y="303"/>
                  <a:pt x="740" y="302"/>
                </a:cubicBezTo>
                <a:cubicBezTo>
                  <a:pt x="740" y="301"/>
                  <a:pt x="740" y="301"/>
                  <a:pt x="740" y="300"/>
                </a:cubicBezTo>
                <a:cubicBezTo>
                  <a:pt x="740" y="299"/>
                  <a:pt x="741" y="297"/>
                  <a:pt x="741" y="296"/>
                </a:cubicBezTo>
                <a:cubicBezTo>
                  <a:pt x="741" y="290"/>
                  <a:pt x="741" y="280"/>
                  <a:pt x="742" y="268"/>
                </a:cubicBezTo>
                <a:cubicBezTo>
                  <a:pt x="742" y="255"/>
                  <a:pt x="742" y="239"/>
                  <a:pt x="742" y="222"/>
                </a:cubicBezTo>
                <a:cubicBezTo>
                  <a:pt x="742" y="135"/>
                  <a:pt x="740" y="7"/>
                  <a:pt x="740" y="7"/>
                </a:cubicBezTo>
                <a:cubicBezTo>
                  <a:pt x="740" y="4"/>
                  <a:pt x="738" y="2"/>
                  <a:pt x="735" y="1"/>
                </a:cubicBezTo>
                <a:cubicBezTo>
                  <a:pt x="733" y="0"/>
                  <a:pt x="730" y="1"/>
                  <a:pt x="728" y="3"/>
                </a:cubicBezTo>
                <a:cubicBezTo>
                  <a:pt x="3" y="802"/>
                  <a:pt x="3" y="802"/>
                  <a:pt x="3" y="802"/>
                </a:cubicBezTo>
                <a:cubicBezTo>
                  <a:pt x="0" y="804"/>
                  <a:pt x="1" y="809"/>
                  <a:pt x="3" y="811"/>
                </a:cubicBezTo>
                <a:cubicBezTo>
                  <a:pt x="6" y="814"/>
                  <a:pt x="11" y="814"/>
                  <a:pt x="13" y="811"/>
                </a:cubicBezTo>
                <a:cubicBezTo>
                  <a:pt x="738" y="12"/>
                  <a:pt x="738" y="12"/>
                  <a:pt x="738" y="12"/>
                </a:cubicBezTo>
                <a:cubicBezTo>
                  <a:pt x="733" y="7"/>
                  <a:pt x="733" y="7"/>
                  <a:pt x="733" y="7"/>
                </a:cubicBezTo>
                <a:cubicBezTo>
                  <a:pt x="726" y="8"/>
                  <a:pt x="726" y="8"/>
                  <a:pt x="726" y="8"/>
                </a:cubicBezTo>
                <a:cubicBezTo>
                  <a:pt x="726" y="8"/>
                  <a:pt x="726" y="16"/>
                  <a:pt x="726" y="29"/>
                </a:cubicBezTo>
                <a:cubicBezTo>
                  <a:pt x="727" y="69"/>
                  <a:pt x="728" y="157"/>
                  <a:pt x="728" y="222"/>
                </a:cubicBezTo>
                <a:cubicBezTo>
                  <a:pt x="728" y="244"/>
                  <a:pt x="728" y="263"/>
                  <a:pt x="727" y="277"/>
                </a:cubicBezTo>
                <a:cubicBezTo>
                  <a:pt x="727" y="283"/>
                  <a:pt x="727" y="289"/>
                  <a:pt x="727" y="293"/>
                </a:cubicBezTo>
                <a:cubicBezTo>
                  <a:pt x="727" y="295"/>
                  <a:pt x="727" y="296"/>
                  <a:pt x="727" y="297"/>
                </a:cubicBezTo>
                <a:cubicBezTo>
                  <a:pt x="726" y="298"/>
                  <a:pt x="726" y="298"/>
                  <a:pt x="726" y="298"/>
                </a:cubicBezTo>
                <a:cubicBezTo>
                  <a:pt x="726" y="298"/>
                  <a:pt x="726" y="298"/>
                  <a:pt x="726" y="298"/>
                </a:cubicBezTo>
                <a:cubicBezTo>
                  <a:pt x="730" y="298"/>
                  <a:pt x="730" y="298"/>
                  <a:pt x="730" y="298"/>
                </a:cubicBezTo>
                <a:cubicBezTo>
                  <a:pt x="727" y="297"/>
                  <a:pt x="727" y="297"/>
                  <a:pt x="727" y="297"/>
                </a:cubicBezTo>
                <a:cubicBezTo>
                  <a:pt x="726" y="298"/>
                  <a:pt x="726" y="298"/>
                  <a:pt x="726" y="298"/>
                </a:cubicBezTo>
                <a:cubicBezTo>
                  <a:pt x="730" y="298"/>
                  <a:pt x="730" y="298"/>
                  <a:pt x="730" y="298"/>
                </a:cubicBezTo>
                <a:cubicBezTo>
                  <a:pt x="727" y="297"/>
                  <a:pt x="727" y="297"/>
                  <a:pt x="727" y="297"/>
                </a:cubicBezTo>
                <a:cubicBezTo>
                  <a:pt x="732" y="299"/>
                  <a:pt x="732" y="299"/>
                  <a:pt x="732" y="299"/>
                </a:cubicBezTo>
                <a:cubicBezTo>
                  <a:pt x="728" y="295"/>
                  <a:pt x="728" y="295"/>
                  <a:pt x="728" y="295"/>
                </a:cubicBezTo>
                <a:cubicBezTo>
                  <a:pt x="727" y="296"/>
                  <a:pt x="727" y="297"/>
                  <a:pt x="727" y="297"/>
                </a:cubicBezTo>
                <a:cubicBezTo>
                  <a:pt x="732" y="299"/>
                  <a:pt x="732" y="299"/>
                  <a:pt x="732" y="299"/>
                </a:cubicBezTo>
                <a:cubicBezTo>
                  <a:pt x="728" y="295"/>
                  <a:pt x="728" y="295"/>
                  <a:pt x="728" y="295"/>
                </a:cubicBezTo>
                <a:cubicBezTo>
                  <a:pt x="725" y="298"/>
                  <a:pt x="725" y="302"/>
                  <a:pt x="728" y="305"/>
                </a:cubicBezTo>
                <a:cubicBezTo>
                  <a:pt x="731" y="308"/>
                  <a:pt x="735" y="308"/>
                  <a:pt x="738" y="305"/>
                </a:cubicBezTo>
                <a:close/>
              </a:path>
            </a:pathLst>
          </a:custGeom>
          <a:solidFill>
            <a:srgbClr val="5F6160"/>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cs typeface="+mn-ea"/>
              <a:sym typeface="+mn-lt"/>
            </a:endParaRPr>
          </a:p>
        </p:txBody>
      </p:sp>
      <p:cxnSp>
        <p:nvCxnSpPr>
          <p:cNvPr id="48" name="直接连接符 47"/>
          <p:cNvCxnSpPr/>
          <p:nvPr/>
        </p:nvCxnSpPr>
        <p:spPr>
          <a:xfrm>
            <a:off x="6006000" y="1123950"/>
            <a:ext cx="0" cy="5019675"/>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9" name="文本框 48"/>
          <p:cNvSpPr txBox="1"/>
          <p:nvPr/>
        </p:nvSpPr>
        <p:spPr>
          <a:xfrm>
            <a:off x="6366000" y="1123950"/>
            <a:ext cx="5154488" cy="5019675"/>
          </a:xfrm>
          <a:prstGeom prst="rect">
            <a:avLst/>
          </a:prstGeom>
          <a:noFill/>
        </p:spPr>
        <p:txBody>
          <a:bodyPr wrap="square" lIns="90000" tIns="46800" rIns="90000" bIns="46800" rtlCol="0" anchor="t" anchorCtr="0">
            <a:normAutofit fontScale="92500" lnSpcReduction="20000"/>
          </a:bodyPr>
          <a:lstStyle/>
          <a:p>
            <a:r>
              <a:rPr lang="en-US" altLang="zh-CN" dirty="0"/>
              <a:t>[1].ANN-integrated modeling of HTL-free </a:t>
            </a:r>
            <a:r>
              <a:rPr lang="en-US" altLang="zh-CN" dirty="0" err="1"/>
              <a:t>Cs₂SnI</a:t>
            </a:r>
            <a:r>
              <a:rPr lang="en-US" altLang="zh-CN" dirty="0"/>
              <a:t>₆ perovskite solar cells under.</a:t>
            </a:r>
          </a:p>
          <a:p>
            <a:endParaRPr lang="en-US" altLang="zh-CN" dirty="0"/>
          </a:p>
          <a:p>
            <a:r>
              <a:rPr lang="en-US" altLang="zh-CN" dirty="0"/>
              <a:t>[2].</a:t>
            </a:r>
            <a:r>
              <a:rPr lang="en-US" altLang="zh-CN" dirty="0" err="1"/>
              <a:t>Ayasi</a:t>
            </a:r>
            <a:r>
              <a:rPr lang="en-US" altLang="zh-CN" dirty="0"/>
              <a:t>, B., et al., Application of spiking neural networks and traditional artificial neural networks for solar radiation forecasting in photovoltaic systems in Arab countries. Neural computing &amp; applications, 2025. 37(15): p. 9095-9127.</a:t>
            </a:r>
          </a:p>
          <a:p>
            <a:endParaRPr lang="en-US" altLang="zh-CN" dirty="0"/>
          </a:p>
          <a:p>
            <a:r>
              <a:rPr lang="en-US" altLang="zh-CN" dirty="0"/>
              <a:t>[3].Artificial intelligence-aided generative design of non-imaging secondary.</a:t>
            </a:r>
          </a:p>
          <a:p>
            <a:endParaRPr lang="en-US" altLang="zh-CN" dirty="0"/>
          </a:p>
          <a:p>
            <a:r>
              <a:rPr lang="en-US" altLang="zh-CN" dirty="0"/>
              <a:t>[4].André, P.S., et al., Artificial neural networks for predicting optical conversion efficiency in luminescent solar concentrators. Solar energy, 2024. 268: p. 112290.</a:t>
            </a:r>
          </a:p>
          <a:p>
            <a:endParaRPr lang="en-US" altLang="zh-CN" dirty="0"/>
          </a:p>
          <a:p>
            <a:r>
              <a:rPr lang="en-US" altLang="zh-CN" dirty="0"/>
              <a:t>[5].Ferreira, R.A.S., et al., Predicting the efficiency of luminescent solar concentrators for solar energy harvesting using machine learning. Scientific Reports, 2024. 14(1): p. 4160.</a:t>
            </a:r>
          </a:p>
          <a:p>
            <a:endParaRPr lang="en-US" altLang="zh-CN" dirty="0"/>
          </a:p>
          <a:p>
            <a:r>
              <a:rPr lang="en-US" altLang="zh-CN" dirty="0"/>
              <a:t>[6].</a:t>
            </a:r>
            <a:r>
              <a:rPr lang="zh-CN" altLang="en-US" dirty="0"/>
              <a:t>基于钙钛矿量子点荧光太阳集光器的蒙特卡洛光子追踪模拟</a:t>
            </a:r>
            <a:r>
              <a:rPr lang="en-US" altLang="zh-CN" dirty="0"/>
              <a:t>.</a:t>
            </a:r>
            <a:endParaRPr kumimoji="0" lang="en-US" altLang="zh-CN" sz="1200" b="0" i="0" u="none" strike="noStrike" kern="1200" cap="none" spc="0" normalizeH="0" baseline="0" noProof="0" dirty="0">
              <a:ln>
                <a:noFill/>
              </a:ln>
              <a:solidFill>
                <a:srgbClr val="000000"/>
              </a:solidFill>
              <a:effectLst/>
              <a:uLnTx/>
              <a:uFillTx/>
              <a:cs typeface="+mn-ea"/>
              <a:sym typeface="+mn-lt"/>
            </a:endParaRPr>
          </a:p>
        </p:txBody>
      </p:sp>
      <p:sp>
        <p:nvSpPr>
          <p:cNvPr id="2" name="标题 1"/>
          <p:cNvSpPr>
            <a:spLocks noGrp="1"/>
          </p:cNvSpPr>
          <p:nvPr>
            <p:ph type="title"/>
          </p:nvPr>
        </p:nvSpPr>
        <p:spPr>
          <a:xfrm>
            <a:off x="1304167" y="215238"/>
            <a:ext cx="10850563" cy="663575"/>
          </a:xfrm>
        </p:spPr>
        <p:txBody>
          <a:bodyPr/>
          <a:lstStyle/>
          <a:p>
            <a:r>
              <a:rPr lang="zh-CN" altLang="en-US" sz="2800" dirty="0">
                <a:latin typeface="+mn-lt"/>
                <a:ea typeface="+mn-ea"/>
                <a:cs typeface="+mn-ea"/>
                <a:sym typeface="+mn-lt"/>
              </a:rPr>
              <a:t>参考文献</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EC8B8-A5CA-9CAA-CD26-56CCAC87609F}"/>
            </a:ext>
          </a:extLst>
        </p:cNvPr>
        <p:cNvGrpSpPr/>
        <p:nvPr/>
      </p:nvGrpSpPr>
      <p:grpSpPr>
        <a:xfrm>
          <a:off x="0" y="0"/>
          <a:ext cx="0" cy="0"/>
          <a:chOff x="0" y="0"/>
          <a:chExt cx="0" cy="0"/>
        </a:xfrm>
      </p:grpSpPr>
      <p:sp>
        <p:nvSpPr>
          <p:cNvPr id="117" name="矩形 116">
            <a:extLst>
              <a:ext uri="{FF2B5EF4-FFF2-40B4-BE49-F238E27FC236}">
                <a16:creationId xmlns:a16="http://schemas.microsoft.com/office/drawing/2014/main" id="{7B479CA8-AF42-9D27-A97C-0E6378515CD9}"/>
              </a:ext>
            </a:extLst>
          </p:cNvPr>
          <p:cNvSpPr/>
          <p:nvPr/>
        </p:nvSpPr>
        <p:spPr>
          <a:xfrm flipH="1">
            <a:off x="677419" y="598161"/>
            <a:ext cx="10825884" cy="5667826"/>
          </a:xfrm>
          <a:prstGeom prst="rect">
            <a:avLst/>
          </a:prstGeom>
          <a:blipFill dpi="0" rotWithShape="1">
            <a:blip r:embed="rId3">
              <a:alphaModFix amt="85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5" name="矩形 114">
            <a:extLst>
              <a:ext uri="{FF2B5EF4-FFF2-40B4-BE49-F238E27FC236}">
                <a16:creationId xmlns:a16="http://schemas.microsoft.com/office/drawing/2014/main" id="{C55EDD33-2775-1524-D0CB-06F75BEDD014}"/>
              </a:ext>
            </a:extLst>
          </p:cNvPr>
          <p:cNvSpPr/>
          <p:nvPr/>
        </p:nvSpPr>
        <p:spPr>
          <a:xfrm>
            <a:off x="716532" y="4900965"/>
            <a:ext cx="10825884" cy="14083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32" name="组合 131">
            <a:extLst>
              <a:ext uri="{FF2B5EF4-FFF2-40B4-BE49-F238E27FC236}">
                <a16:creationId xmlns:a16="http://schemas.microsoft.com/office/drawing/2014/main" id="{1B472A7D-55BF-8FD2-1C18-5C697BE065F7}"/>
              </a:ext>
            </a:extLst>
          </p:cNvPr>
          <p:cNvGrpSpPr/>
          <p:nvPr/>
        </p:nvGrpSpPr>
        <p:grpSpPr>
          <a:xfrm>
            <a:off x="1026052" y="5394358"/>
            <a:ext cx="2879011" cy="406487"/>
            <a:chOff x="1038752" y="5253033"/>
            <a:chExt cx="2879011" cy="406487"/>
          </a:xfrm>
        </p:grpSpPr>
        <p:grpSp>
          <p:nvGrpSpPr>
            <p:cNvPr id="131" name="组合 130">
              <a:extLst>
                <a:ext uri="{FF2B5EF4-FFF2-40B4-BE49-F238E27FC236}">
                  <a16:creationId xmlns:a16="http://schemas.microsoft.com/office/drawing/2014/main" id="{985D64B6-FDBE-2C31-391C-D02BEC1DD682}"/>
                </a:ext>
              </a:extLst>
            </p:cNvPr>
            <p:cNvGrpSpPr/>
            <p:nvPr/>
          </p:nvGrpSpPr>
          <p:grpSpPr>
            <a:xfrm>
              <a:off x="1546569" y="5253033"/>
              <a:ext cx="1855688" cy="391431"/>
              <a:chOff x="1546569" y="5326964"/>
              <a:chExt cx="1855688" cy="317500"/>
            </a:xfrm>
          </p:grpSpPr>
          <p:sp>
            <p:nvSpPr>
              <p:cNvPr id="118" name="矩形 117">
                <a:extLst>
                  <a:ext uri="{FF2B5EF4-FFF2-40B4-BE49-F238E27FC236}">
                    <a16:creationId xmlns:a16="http://schemas.microsoft.com/office/drawing/2014/main" id="{D95FCD28-6188-C4B9-DA21-2F104A0EE23F}"/>
                  </a:ext>
                </a:extLst>
              </p:cNvPr>
              <p:cNvSpPr/>
              <p:nvPr/>
            </p:nvSpPr>
            <p:spPr>
              <a:xfrm>
                <a:off x="1692618" y="5326964"/>
                <a:ext cx="1571281" cy="317500"/>
              </a:xfrm>
              <a:prstGeom prst="rect">
                <a:avLst/>
              </a:prstGeom>
              <a:solidFill>
                <a:srgbClr val="FF9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9" name="椭圆 118">
                <a:extLst>
                  <a:ext uri="{FF2B5EF4-FFF2-40B4-BE49-F238E27FC236}">
                    <a16:creationId xmlns:a16="http://schemas.microsoft.com/office/drawing/2014/main" id="{F072D080-DA3B-4D2A-5046-9F1D0BB8A2B2}"/>
                  </a:ext>
                </a:extLst>
              </p:cNvPr>
              <p:cNvSpPr/>
              <p:nvPr/>
            </p:nvSpPr>
            <p:spPr>
              <a:xfrm>
                <a:off x="1546569" y="5326964"/>
                <a:ext cx="292100" cy="317500"/>
              </a:xfrm>
              <a:prstGeom prst="ellipse">
                <a:avLst/>
              </a:prstGeom>
              <a:solidFill>
                <a:srgbClr val="FF9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6" name="椭圆 125">
                <a:extLst>
                  <a:ext uri="{FF2B5EF4-FFF2-40B4-BE49-F238E27FC236}">
                    <a16:creationId xmlns:a16="http://schemas.microsoft.com/office/drawing/2014/main" id="{1CF095E4-5E33-61AC-6E4D-A14593932D83}"/>
                  </a:ext>
                </a:extLst>
              </p:cNvPr>
              <p:cNvSpPr/>
              <p:nvPr/>
            </p:nvSpPr>
            <p:spPr>
              <a:xfrm>
                <a:off x="3110157" y="5326964"/>
                <a:ext cx="292100" cy="317500"/>
              </a:xfrm>
              <a:prstGeom prst="ellipse">
                <a:avLst/>
              </a:prstGeom>
              <a:solidFill>
                <a:srgbClr val="FF9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24" name="文本占位符 1110">
              <a:extLst>
                <a:ext uri="{FF2B5EF4-FFF2-40B4-BE49-F238E27FC236}">
                  <a16:creationId xmlns:a16="http://schemas.microsoft.com/office/drawing/2014/main" id="{86E33A47-8DC1-0D11-FA32-499A9FE270CE}"/>
                </a:ext>
              </a:extLst>
            </p:cNvPr>
            <p:cNvSpPr txBox="1"/>
            <p:nvPr/>
          </p:nvSpPr>
          <p:spPr>
            <a:xfrm>
              <a:off x="1038752" y="5268089"/>
              <a:ext cx="2879011" cy="391431"/>
            </a:xfrm>
            <a:prstGeom prst="rect">
              <a:avLst/>
            </a:prstGeom>
          </p:spPr>
          <p:txBody>
            <a:bodyPr vert="horz" lIns="91440" tIns="45720" rIns="91440" bIns="45720" rtlCol="0" anchor="ctr">
              <a:noAutofit/>
            </a:bodyPr>
            <a:lstStyle>
              <a:lvl1pPr marL="0" indent="0" algn="r" defTabSz="913765" rtl="0" eaLnBrk="1" latinLnBrk="0" hangingPunct="1">
                <a:lnSpc>
                  <a:spcPct val="90000"/>
                </a:lnSpc>
                <a:spcBef>
                  <a:spcPts val="1000"/>
                </a:spcBef>
                <a:buFont typeface="Arial" panose="020B0604020202020204" pitchFamily="34" charset="0"/>
                <a:buNone/>
                <a:defRPr sz="1500" b="0" kern="1200">
                  <a:solidFill>
                    <a:srgbClr val="08A0E2"/>
                  </a:solidFill>
                  <a:latin typeface="+mn-lt"/>
                  <a:ea typeface="+mn-ea"/>
                  <a:cs typeface="+mn-cs"/>
                </a:defRPr>
              </a:lvl1pPr>
              <a:lvl2pPr marL="457200" indent="0" algn="l" defTabSz="913765"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3765"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3765"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3765"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3765"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1800" b="1" i="0" u="none" strike="noStrike" kern="1200" cap="none" spc="0" normalizeH="0" baseline="0" noProof="0" dirty="0">
                  <a:ln>
                    <a:noFill/>
                  </a:ln>
                  <a:solidFill>
                    <a:schemeClr val="bg1"/>
                  </a:solidFill>
                  <a:effectLst>
                    <a:outerShdw blurRad="355600" dist="88900" dir="2700000" algn="tl" rotWithShape="0">
                      <a:prstClr val="black">
                        <a:alpha val="28000"/>
                      </a:prstClr>
                    </a:outerShdw>
                  </a:effectLst>
                  <a:uLnTx/>
                  <a:uFillTx/>
                  <a:cs typeface="+mn-ea"/>
                  <a:sym typeface="+mn-lt"/>
                </a:rPr>
                <a:t>汇报人：</a:t>
              </a:r>
              <a:r>
                <a:rPr lang="zh-CN" altLang="en-US" sz="1800" b="1" dirty="0">
                  <a:solidFill>
                    <a:schemeClr val="bg1"/>
                  </a:solidFill>
                  <a:effectLst>
                    <a:outerShdw blurRad="355600" dist="88900" dir="2700000" algn="tl" rotWithShape="0">
                      <a:prstClr val="black">
                        <a:alpha val="28000"/>
                      </a:prstClr>
                    </a:outerShdw>
                  </a:effectLst>
                  <a:cs typeface="+mn-ea"/>
                  <a:sym typeface="+mn-lt"/>
                </a:rPr>
                <a:t>王坚泽</a:t>
              </a:r>
              <a:endParaRPr kumimoji="0" lang="en-US" altLang="zh-CN" sz="1800" b="1" i="0" u="none" strike="noStrike" kern="1200" cap="none" spc="0" normalizeH="0" baseline="0" noProof="0" dirty="0">
                <a:ln>
                  <a:noFill/>
                </a:ln>
                <a:solidFill>
                  <a:schemeClr val="bg1"/>
                </a:solidFill>
                <a:effectLst>
                  <a:outerShdw blurRad="355600" dist="88900" dir="2700000" algn="tl" rotWithShape="0">
                    <a:prstClr val="black">
                      <a:alpha val="28000"/>
                    </a:prstClr>
                  </a:outerShdw>
                </a:effectLst>
                <a:uLnTx/>
                <a:uFillTx/>
                <a:cs typeface="+mn-ea"/>
                <a:sym typeface="+mn-lt"/>
              </a:endParaRPr>
            </a:p>
          </p:txBody>
        </p:sp>
      </p:grpSp>
      <p:grpSp>
        <p:nvGrpSpPr>
          <p:cNvPr id="138" name="组合 137">
            <a:extLst>
              <a:ext uri="{FF2B5EF4-FFF2-40B4-BE49-F238E27FC236}">
                <a16:creationId xmlns:a16="http://schemas.microsoft.com/office/drawing/2014/main" id="{F414CBC6-7D5F-A313-850A-0F58324543AF}"/>
              </a:ext>
            </a:extLst>
          </p:cNvPr>
          <p:cNvGrpSpPr/>
          <p:nvPr/>
        </p:nvGrpSpPr>
        <p:grpSpPr>
          <a:xfrm>
            <a:off x="5772220" y="5396770"/>
            <a:ext cx="2879011" cy="401662"/>
            <a:chOff x="6064368" y="-979684"/>
            <a:chExt cx="3102362" cy="401662"/>
          </a:xfrm>
        </p:grpSpPr>
        <p:grpSp>
          <p:nvGrpSpPr>
            <p:cNvPr id="137" name="组合 136">
              <a:extLst>
                <a:ext uri="{FF2B5EF4-FFF2-40B4-BE49-F238E27FC236}">
                  <a16:creationId xmlns:a16="http://schemas.microsoft.com/office/drawing/2014/main" id="{D49F4107-B3BF-C317-4508-7766F653D0D8}"/>
                </a:ext>
              </a:extLst>
            </p:cNvPr>
            <p:cNvGrpSpPr/>
            <p:nvPr/>
          </p:nvGrpSpPr>
          <p:grpSpPr>
            <a:xfrm>
              <a:off x="6196432" y="-979684"/>
              <a:ext cx="2858407" cy="391432"/>
              <a:chOff x="6196432" y="-979684"/>
              <a:chExt cx="2858407" cy="391432"/>
            </a:xfrm>
          </p:grpSpPr>
          <p:sp>
            <p:nvSpPr>
              <p:cNvPr id="133" name="矩形 132">
                <a:extLst>
                  <a:ext uri="{FF2B5EF4-FFF2-40B4-BE49-F238E27FC236}">
                    <a16:creationId xmlns:a16="http://schemas.microsoft.com/office/drawing/2014/main" id="{A00CEA07-30C2-4DF4-3026-1187DA8DA1D2}"/>
                  </a:ext>
                </a:extLst>
              </p:cNvPr>
              <p:cNvSpPr/>
              <p:nvPr/>
            </p:nvSpPr>
            <p:spPr>
              <a:xfrm>
                <a:off x="6322310" y="-979684"/>
                <a:ext cx="2586479" cy="391431"/>
              </a:xfrm>
              <a:prstGeom prst="rect">
                <a:avLst/>
              </a:prstGeom>
              <a:solidFill>
                <a:srgbClr val="FF9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4" name="椭圆 133">
                <a:extLst>
                  <a:ext uri="{FF2B5EF4-FFF2-40B4-BE49-F238E27FC236}">
                    <a16:creationId xmlns:a16="http://schemas.microsoft.com/office/drawing/2014/main" id="{1BB6AE01-987A-C886-2209-A82BEB53324F}"/>
                  </a:ext>
                </a:extLst>
              </p:cNvPr>
              <p:cNvSpPr/>
              <p:nvPr/>
            </p:nvSpPr>
            <p:spPr>
              <a:xfrm>
                <a:off x="6196432" y="-979683"/>
                <a:ext cx="292100" cy="391431"/>
              </a:xfrm>
              <a:prstGeom prst="ellipse">
                <a:avLst/>
              </a:prstGeom>
              <a:solidFill>
                <a:srgbClr val="FF9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5" name="椭圆 134">
                <a:extLst>
                  <a:ext uri="{FF2B5EF4-FFF2-40B4-BE49-F238E27FC236}">
                    <a16:creationId xmlns:a16="http://schemas.microsoft.com/office/drawing/2014/main" id="{3B002B58-BE83-DCA0-1DAD-E8519589F2A3}"/>
                  </a:ext>
                </a:extLst>
              </p:cNvPr>
              <p:cNvSpPr/>
              <p:nvPr/>
            </p:nvSpPr>
            <p:spPr>
              <a:xfrm>
                <a:off x="8762739" y="-979683"/>
                <a:ext cx="292100" cy="391431"/>
              </a:xfrm>
              <a:prstGeom prst="ellipse">
                <a:avLst/>
              </a:prstGeom>
              <a:solidFill>
                <a:srgbClr val="FF9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25" name="文本占位符 1111">
              <a:extLst>
                <a:ext uri="{FF2B5EF4-FFF2-40B4-BE49-F238E27FC236}">
                  <a16:creationId xmlns:a16="http://schemas.microsoft.com/office/drawing/2014/main" id="{3BAF46A1-1B70-A0A0-AA4B-506697F07FD5}"/>
                </a:ext>
              </a:extLst>
            </p:cNvPr>
            <p:cNvSpPr txBox="1"/>
            <p:nvPr/>
          </p:nvSpPr>
          <p:spPr>
            <a:xfrm>
              <a:off x="6064368" y="-969453"/>
              <a:ext cx="3102362" cy="391431"/>
            </a:xfrm>
            <a:prstGeom prst="rect">
              <a:avLst/>
            </a:prstGeom>
          </p:spPr>
          <p:txBody>
            <a:bodyPr vert="horz" lIns="91440" tIns="45720" rIns="91440" bIns="45720" rtlCol="0" anchor="ctr">
              <a:noAutofit/>
            </a:bodyPr>
            <a:lstStyle>
              <a:lvl1pPr marL="0" indent="0" algn="r" defTabSz="913765" rtl="0" eaLnBrk="1" latinLnBrk="0" hangingPunct="1">
                <a:lnSpc>
                  <a:spcPct val="90000"/>
                </a:lnSpc>
                <a:spcBef>
                  <a:spcPts val="1000"/>
                </a:spcBef>
                <a:buFont typeface="Arial" panose="020B0604020202020204" pitchFamily="34" charset="0"/>
                <a:buNone/>
                <a:defRPr sz="1500" b="0" kern="1200">
                  <a:solidFill>
                    <a:srgbClr val="08A0E2"/>
                  </a:solidFill>
                  <a:latin typeface="+mn-lt"/>
                  <a:ea typeface="+mn-ea"/>
                  <a:cs typeface="+mn-cs"/>
                </a:defRPr>
              </a:lvl1pPr>
              <a:lvl2pPr marL="457200" indent="0" algn="l" defTabSz="913765"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3765"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3765"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3765"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3765"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1800" b="1" i="0" u="none" strike="noStrike" kern="1200" cap="none" spc="0" normalizeH="0" baseline="0" noProof="0" dirty="0">
                  <a:ln>
                    <a:noFill/>
                  </a:ln>
                  <a:solidFill>
                    <a:schemeClr val="bg1"/>
                  </a:solidFill>
                  <a:effectLst>
                    <a:outerShdw blurRad="355600" dist="88900" dir="2700000" algn="tl" rotWithShape="0">
                      <a:prstClr val="black">
                        <a:alpha val="28000"/>
                      </a:prstClr>
                    </a:outerShdw>
                  </a:effectLst>
                  <a:uLnTx/>
                  <a:uFillTx/>
                  <a:cs typeface="+mn-ea"/>
                  <a:sym typeface="+mn-lt"/>
                </a:rPr>
                <a:t>汇报时间：</a:t>
              </a:r>
              <a:r>
                <a:rPr kumimoji="0" lang="en-US" altLang="zh-CN" sz="1800" b="1" i="0" u="none" strike="noStrike" kern="1200" cap="none" spc="0" normalizeH="0" baseline="0" noProof="0" dirty="0">
                  <a:ln>
                    <a:noFill/>
                  </a:ln>
                  <a:solidFill>
                    <a:schemeClr val="bg1"/>
                  </a:solidFill>
                  <a:effectLst>
                    <a:outerShdw blurRad="355600" dist="88900" dir="2700000" algn="tl" rotWithShape="0">
                      <a:prstClr val="black">
                        <a:alpha val="28000"/>
                      </a:prstClr>
                    </a:outerShdw>
                  </a:effectLst>
                  <a:uLnTx/>
                  <a:uFillTx/>
                  <a:cs typeface="+mn-ea"/>
                  <a:sym typeface="+mn-lt"/>
                </a:rPr>
                <a:t>2026</a:t>
              </a:r>
              <a:r>
                <a:rPr kumimoji="0" lang="zh-CN" altLang="en-US" sz="1800" b="1" i="0" u="none" strike="noStrike" kern="1200" cap="none" spc="0" normalizeH="0" baseline="0" noProof="0" dirty="0">
                  <a:ln>
                    <a:noFill/>
                  </a:ln>
                  <a:solidFill>
                    <a:schemeClr val="bg1"/>
                  </a:solidFill>
                  <a:effectLst>
                    <a:outerShdw blurRad="355600" dist="88900" dir="2700000" algn="tl" rotWithShape="0">
                      <a:prstClr val="black">
                        <a:alpha val="28000"/>
                      </a:prstClr>
                    </a:outerShdw>
                  </a:effectLst>
                  <a:uLnTx/>
                  <a:uFillTx/>
                  <a:cs typeface="+mn-ea"/>
                  <a:sym typeface="+mn-lt"/>
                </a:rPr>
                <a:t>年</a:t>
              </a:r>
              <a:r>
                <a:rPr lang="en-US" altLang="zh-CN" sz="1800" b="1" dirty="0">
                  <a:solidFill>
                    <a:schemeClr val="bg1"/>
                  </a:solidFill>
                  <a:effectLst>
                    <a:outerShdw blurRad="355600" dist="88900" dir="2700000" algn="tl" rotWithShape="0">
                      <a:prstClr val="black">
                        <a:alpha val="28000"/>
                      </a:prstClr>
                    </a:outerShdw>
                  </a:effectLst>
                  <a:cs typeface="+mn-ea"/>
                  <a:sym typeface="+mn-lt"/>
                </a:rPr>
                <a:t>1</a:t>
              </a:r>
              <a:r>
                <a:rPr kumimoji="0" lang="zh-CN" altLang="en-US" sz="1800" b="1" i="0" u="none" strike="noStrike" kern="1200" cap="none" spc="0" normalizeH="0" baseline="0" noProof="0" dirty="0">
                  <a:ln>
                    <a:noFill/>
                  </a:ln>
                  <a:solidFill>
                    <a:schemeClr val="bg1"/>
                  </a:solidFill>
                  <a:effectLst>
                    <a:outerShdw blurRad="355600" dist="88900" dir="2700000" algn="tl" rotWithShape="0">
                      <a:prstClr val="black">
                        <a:alpha val="28000"/>
                      </a:prstClr>
                    </a:outerShdw>
                  </a:effectLst>
                  <a:uLnTx/>
                  <a:uFillTx/>
                  <a:cs typeface="+mn-ea"/>
                  <a:sym typeface="+mn-lt"/>
                </a:rPr>
                <a:t>月</a:t>
              </a:r>
              <a:endParaRPr kumimoji="0" lang="en-US" altLang="en-US" sz="1800" b="1" i="0" u="none" strike="noStrike" kern="1200" cap="none" spc="0" normalizeH="0" baseline="0" noProof="0" dirty="0">
                <a:ln>
                  <a:noFill/>
                </a:ln>
                <a:solidFill>
                  <a:schemeClr val="bg1"/>
                </a:solidFill>
                <a:effectLst>
                  <a:outerShdw blurRad="355600" dist="88900" dir="2700000" algn="tl" rotWithShape="0">
                    <a:prstClr val="black">
                      <a:alpha val="28000"/>
                    </a:prstClr>
                  </a:outerShdw>
                </a:effectLst>
                <a:uLnTx/>
                <a:uFillTx/>
                <a:cs typeface="+mn-ea"/>
                <a:sym typeface="+mn-lt"/>
              </a:endParaRPr>
            </a:p>
          </p:txBody>
        </p:sp>
      </p:grpSp>
      <p:grpSp>
        <p:nvGrpSpPr>
          <p:cNvPr id="150" name="组合 149">
            <a:extLst>
              <a:ext uri="{FF2B5EF4-FFF2-40B4-BE49-F238E27FC236}">
                <a16:creationId xmlns:a16="http://schemas.microsoft.com/office/drawing/2014/main" id="{015E518F-03B8-2942-7DCE-E00E26548825}"/>
              </a:ext>
            </a:extLst>
          </p:cNvPr>
          <p:cNvGrpSpPr/>
          <p:nvPr/>
        </p:nvGrpSpPr>
        <p:grpSpPr>
          <a:xfrm>
            <a:off x="7076661" y="837908"/>
            <a:ext cx="4162838" cy="457054"/>
            <a:chOff x="7076661" y="837908"/>
            <a:chExt cx="4162838" cy="457054"/>
          </a:xfrm>
        </p:grpSpPr>
        <p:grpSp>
          <p:nvGrpSpPr>
            <p:cNvPr id="143" name="组合 142">
              <a:extLst>
                <a:ext uri="{FF2B5EF4-FFF2-40B4-BE49-F238E27FC236}">
                  <a16:creationId xmlns:a16="http://schemas.microsoft.com/office/drawing/2014/main" id="{8ECD6D43-B830-20FB-A0CE-11E1C2C7FB3C}"/>
                </a:ext>
              </a:extLst>
            </p:cNvPr>
            <p:cNvGrpSpPr/>
            <p:nvPr/>
          </p:nvGrpSpPr>
          <p:grpSpPr>
            <a:xfrm>
              <a:off x="10795050" y="837908"/>
              <a:ext cx="444449" cy="457054"/>
              <a:chOff x="10795050" y="837908"/>
              <a:chExt cx="444449" cy="457054"/>
            </a:xfrm>
          </p:grpSpPr>
          <p:sp>
            <p:nvSpPr>
              <p:cNvPr id="141" name="businessman_57134">
                <a:extLst>
                  <a:ext uri="{FF2B5EF4-FFF2-40B4-BE49-F238E27FC236}">
                    <a16:creationId xmlns:a16="http://schemas.microsoft.com/office/drawing/2014/main" id="{7ABCDA78-52F7-8D8F-8AAC-1DFA56314F45}"/>
                  </a:ext>
                </a:extLst>
              </p:cNvPr>
              <p:cNvSpPr>
                <a:spLocks noChangeAspect="1"/>
              </p:cNvSpPr>
              <p:nvPr/>
            </p:nvSpPr>
            <p:spPr bwMode="auto">
              <a:xfrm>
                <a:off x="10884001" y="895204"/>
                <a:ext cx="279300" cy="304842"/>
              </a:xfrm>
              <a:custGeom>
                <a:avLst/>
                <a:gdLst>
                  <a:gd name="connsiteX0" fmla="*/ 243589 w 557114"/>
                  <a:gd name="connsiteY0" fmla="*/ 355438 h 608062"/>
                  <a:gd name="connsiteX1" fmla="*/ 277656 w 557114"/>
                  <a:gd name="connsiteY1" fmla="*/ 355438 h 608062"/>
                  <a:gd name="connsiteX2" fmla="*/ 277940 w 557114"/>
                  <a:gd name="connsiteY2" fmla="*/ 355438 h 608062"/>
                  <a:gd name="connsiteX3" fmla="*/ 278604 w 557114"/>
                  <a:gd name="connsiteY3" fmla="*/ 355438 h 608062"/>
                  <a:gd name="connsiteX4" fmla="*/ 279174 w 557114"/>
                  <a:gd name="connsiteY4" fmla="*/ 355438 h 608062"/>
                  <a:gd name="connsiteX5" fmla="*/ 279458 w 557114"/>
                  <a:gd name="connsiteY5" fmla="*/ 355438 h 608062"/>
                  <a:gd name="connsiteX6" fmla="*/ 279553 w 557114"/>
                  <a:gd name="connsiteY6" fmla="*/ 355438 h 608062"/>
                  <a:gd name="connsiteX7" fmla="*/ 313620 w 557114"/>
                  <a:gd name="connsiteY7" fmla="*/ 355438 h 608062"/>
                  <a:gd name="connsiteX8" fmla="*/ 324438 w 557114"/>
                  <a:gd name="connsiteY8" fmla="*/ 375432 h 608062"/>
                  <a:gd name="connsiteX9" fmla="*/ 298152 w 557114"/>
                  <a:gd name="connsiteY9" fmla="*/ 430202 h 608062"/>
                  <a:gd name="connsiteX10" fmla="*/ 301948 w 557114"/>
                  <a:gd name="connsiteY10" fmla="*/ 510272 h 608062"/>
                  <a:gd name="connsiteX11" fmla="*/ 356891 w 557114"/>
                  <a:gd name="connsiteY11" fmla="*/ 389172 h 608062"/>
                  <a:gd name="connsiteX12" fmla="*/ 356986 w 557114"/>
                  <a:gd name="connsiteY12" fmla="*/ 389172 h 608062"/>
                  <a:gd name="connsiteX13" fmla="*/ 376628 w 557114"/>
                  <a:gd name="connsiteY13" fmla="*/ 375337 h 608062"/>
                  <a:gd name="connsiteX14" fmla="*/ 383556 w 557114"/>
                  <a:gd name="connsiteY14" fmla="*/ 376474 h 608062"/>
                  <a:gd name="connsiteX15" fmla="*/ 383745 w 557114"/>
                  <a:gd name="connsiteY15" fmla="*/ 376569 h 608062"/>
                  <a:gd name="connsiteX16" fmla="*/ 518588 w 557114"/>
                  <a:gd name="connsiteY16" fmla="*/ 438920 h 608062"/>
                  <a:gd name="connsiteX17" fmla="*/ 557114 w 557114"/>
                  <a:gd name="connsiteY17" fmla="*/ 482224 h 608062"/>
                  <a:gd name="connsiteX18" fmla="*/ 557114 w 557114"/>
                  <a:gd name="connsiteY18" fmla="*/ 608062 h 608062"/>
                  <a:gd name="connsiteX19" fmla="*/ 279743 w 557114"/>
                  <a:gd name="connsiteY19" fmla="*/ 608062 h 608062"/>
                  <a:gd name="connsiteX20" fmla="*/ 279458 w 557114"/>
                  <a:gd name="connsiteY20" fmla="*/ 608062 h 608062"/>
                  <a:gd name="connsiteX21" fmla="*/ 279364 w 557114"/>
                  <a:gd name="connsiteY21" fmla="*/ 608062 h 608062"/>
                  <a:gd name="connsiteX22" fmla="*/ 279174 w 557114"/>
                  <a:gd name="connsiteY22" fmla="*/ 608062 h 608062"/>
                  <a:gd name="connsiteX23" fmla="*/ 278984 w 557114"/>
                  <a:gd name="connsiteY23" fmla="*/ 608062 h 608062"/>
                  <a:gd name="connsiteX24" fmla="*/ 278604 w 557114"/>
                  <a:gd name="connsiteY24" fmla="*/ 608062 h 608062"/>
                  <a:gd name="connsiteX25" fmla="*/ 278130 w 557114"/>
                  <a:gd name="connsiteY25" fmla="*/ 608062 h 608062"/>
                  <a:gd name="connsiteX26" fmla="*/ 277940 w 557114"/>
                  <a:gd name="connsiteY26" fmla="*/ 608062 h 608062"/>
                  <a:gd name="connsiteX27" fmla="*/ 277845 w 557114"/>
                  <a:gd name="connsiteY27" fmla="*/ 608062 h 608062"/>
                  <a:gd name="connsiteX28" fmla="*/ 277750 w 557114"/>
                  <a:gd name="connsiteY28" fmla="*/ 608062 h 608062"/>
                  <a:gd name="connsiteX29" fmla="*/ 277656 w 557114"/>
                  <a:gd name="connsiteY29" fmla="*/ 608062 h 608062"/>
                  <a:gd name="connsiteX30" fmla="*/ 277371 w 557114"/>
                  <a:gd name="connsiteY30" fmla="*/ 608062 h 608062"/>
                  <a:gd name="connsiteX31" fmla="*/ 0 w 557114"/>
                  <a:gd name="connsiteY31" fmla="*/ 608062 h 608062"/>
                  <a:gd name="connsiteX32" fmla="*/ 0 w 557114"/>
                  <a:gd name="connsiteY32" fmla="*/ 482224 h 608062"/>
                  <a:gd name="connsiteX33" fmla="*/ 38621 w 557114"/>
                  <a:gd name="connsiteY33" fmla="*/ 438920 h 608062"/>
                  <a:gd name="connsiteX34" fmla="*/ 173464 w 557114"/>
                  <a:gd name="connsiteY34" fmla="*/ 376569 h 608062"/>
                  <a:gd name="connsiteX35" fmla="*/ 173558 w 557114"/>
                  <a:gd name="connsiteY35" fmla="*/ 376474 h 608062"/>
                  <a:gd name="connsiteX36" fmla="*/ 180486 w 557114"/>
                  <a:gd name="connsiteY36" fmla="*/ 375337 h 608062"/>
                  <a:gd name="connsiteX37" fmla="*/ 200223 w 557114"/>
                  <a:gd name="connsiteY37" fmla="*/ 389172 h 608062"/>
                  <a:gd name="connsiteX38" fmla="*/ 255166 w 557114"/>
                  <a:gd name="connsiteY38" fmla="*/ 510272 h 608062"/>
                  <a:gd name="connsiteX39" fmla="*/ 258962 w 557114"/>
                  <a:gd name="connsiteY39" fmla="*/ 430202 h 608062"/>
                  <a:gd name="connsiteX40" fmla="*/ 232676 w 557114"/>
                  <a:gd name="connsiteY40" fmla="*/ 375432 h 608062"/>
                  <a:gd name="connsiteX41" fmla="*/ 243589 w 557114"/>
                  <a:gd name="connsiteY41" fmla="*/ 355438 h 608062"/>
                  <a:gd name="connsiteX42" fmla="*/ 276250 w 557114"/>
                  <a:gd name="connsiteY42" fmla="*/ 0 h 608062"/>
                  <a:gd name="connsiteX43" fmla="*/ 277674 w 557114"/>
                  <a:gd name="connsiteY43" fmla="*/ 0 h 608062"/>
                  <a:gd name="connsiteX44" fmla="*/ 277863 w 557114"/>
                  <a:gd name="connsiteY44" fmla="*/ 0 h 608062"/>
                  <a:gd name="connsiteX45" fmla="*/ 277958 w 557114"/>
                  <a:gd name="connsiteY45" fmla="*/ 0 h 608062"/>
                  <a:gd name="connsiteX46" fmla="*/ 279382 w 557114"/>
                  <a:gd name="connsiteY46" fmla="*/ 0 h 608062"/>
                  <a:gd name="connsiteX47" fmla="*/ 402570 w 557114"/>
                  <a:gd name="connsiteY47" fmla="*/ 104895 h 608062"/>
                  <a:gd name="connsiteX48" fmla="*/ 394693 w 557114"/>
                  <a:gd name="connsiteY48" fmla="*/ 159001 h 608062"/>
                  <a:gd name="connsiteX49" fmla="*/ 405892 w 557114"/>
                  <a:gd name="connsiteY49" fmla="*/ 184774 h 608062"/>
                  <a:gd name="connsiteX50" fmla="*/ 377040 w 557114"/>
                  <a:gd name="connsiteY50" fmla="*/ 236890 h 608062"/>
                  <a:gd name="connsiteX51" fmla="*/ 315731 w 557114"/>
                  <a:gd name="connsiteY51" fmla="*/ 311274 h 608062"/>
                  <a:gd name="connsiteX52" fmla="*/ 277958 w 557114"/>
                  <a:gd name="connsiteY52" fmla="*/ 319707 h 608062"/>
                  <a:gd name="connsiteX53" fmla="*/ 277958 w 557114"/>
                  <a:gd name="connsiteY53" fmla="*/ 319802 h 608062"/>
                  <a:gd name="connsiteX54" fmla="*/ 277863 w 557114"/>
                  <a:gd name="connsiteY54" fmla="*/ 319802 h 608062"/>
                  <a:gd name="connsiteX55" fmla="*/ 277674 w 557114"/>
                  <a:gd name="connsiteY55" fmla="*/ 319802 h 608062"/>
                  <a:gd name="connsiteX56" fmla="*/ 277674 w 557114"/>
                  <a:gd name="connsiteY56" fmla="*/ 319707 h 608062"/>
                  <a:gd name="connsiteX57" fmla="*/ 239901 w 557114"/>
                  <a:gd name="connsiteY57" fmla="*/ 311274 h 608062"/>
                  <a:gd name="connsiteX58" fmla="*/ 178592 w 557114"/>
                  <a:gd name="connsiteY58" fmla="*/ 236890 h 608062"/>
                  <a:gd name="connsiteX59" fmla="*/ 149740 w 557114"/>
                  <a:gd name="connsiteY59" fmla="*/ 184774 h 608062"/>
                  <a:gd name="connsiteX60" fmla="*/ 161034 w 557114"/>
                  <a:gd name="connsiteY60" fmla="*/ 159001 h 608062"/>
                  <a:gd name="connsiteX61" fmla="*/ 153062 w 557114"/>
                  <a:gd name="connsiteY61" fmla="*/ 104895 h 608062"/>
                  <a:gd name="connsiteX62" fmla="*/ 276250 w 557114"/>
                  <a:gd name="connsiteY62" fmla="*/ 0 h 608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57114" h="608062">
                    <a:moveTo>
                      <a:pt x="243589" y="355438"/>
                    </a:moveTo>
                    <a:lnTo>
                      <a:pt x="277656" y="355438"/>
                    </a:lnTo>
                    <a:lnTo>
                      <a:pt x="277940" y="355438"/>
                    </a:lnTo>
                    <a:lnTo>
                      <a:pt x="278604" y="355438"/>
                    </a:lnTo>
                    <a:lnTo>
                      <a:pt x="279174" y="355438"/>
                    </a:lnTo>
                    <a:lnTo>
                      <a:pt x="279458" y="355438"/>
                    </a:lnTo>
                    <a:lnTo>
                      <a:pt x="279553" y="355438"/>
                    </a:lnTo>
                    <a:lnTo>
                      <a:pt x="313620" y="355438"/>
                    </a:lnTo>
                    <a:cubicBezTo>
                      <a:pt x="325007" y="355438"/>
                      <a:pt x="330511" y="364630"/>
                      <a:pt x="324438" y="375432"/>
                    </a:cubicBezTo>
                    <a:cubicBezTo>
                      <a:pt x="321781" y="379980"/>
                      <a:pt x="298152" y="430202"/>
                      <a:pt x="298152" y="430202"/>
                    </a:cubicBezTo>
                    <a:lnTo>
                      <a:pt x="301948" y="510272"/>
                    </a:lnTo>
                    <a:cubicBezTo>
                      <a:pt x="317700" y="481655"/>
                      <a:pt x="343131" y="422432"/>
                      <a:pt x="356891" y="389172"/>
                    </a:cubicBezTo>
                    <a:cubicBezTo>
                      <a:pt x="356891" y="389172"/>
                      <a:pt x="356891" y="389172"/>
                      <a:pt x="356986" y="389172"/>
                    </a:cubicBezTo>
                    <a:cubicBezTo>
                      <a:pt x="359832" y="381117"/>
                      <a:pt x="367519" y="375337"/>
                      <a:pt x="376628" y="375337"/>
                    </a:cubicBezTo>
                    <a:cubicBezTo>
                      <a:pt x="379096" y="375337"/>
                      <a:pt x="381373" y="375716"/>
                      <a:pt x="383556" y="376474"/>
                    </a:cubicBezTo>
                    <a:cubicBezTo>
                      <a:pt x="383650" y="376474"/>
                      <a:pt x="383650" y="376474"/>
                      <a:pt x="383745" y="376569"/>
                    </a:cubicBezTo>
                    <a:cubicBezTo>
                      <a:pt x="387446" y="377706"/>
                      <a:pt x="464973" y="411724"/>
                      <a:pt x="518588" y="438920"/>
                    </a:cubicBezTo>
                    <a:cubicBezTo>
                      <a:pt x="542595" y="451049"/>
                      <a:pt x="557114" y="466305"/>
                      <a:pt x="557114" y="482224"/>
                    </a:cubicBezTo>
                    <a:lnTo>
                      <a:pt x="557114" y="608062"/>
                    </a:lnTo>
                    <a:lnTo>
                      <a:pt x="279743" y="608062"/>
                    </a:lnTo>
                    <a:lnTo>
                      <a:pt x="279458" y="608062"/>
                    </a:lnTo>
                    <a:lnTo>
                      <a:pt x="279364" y="608062"/>
                    </a:lnTo>
                    <a:lnTo>
                      <a:pt x="279174" y="608062"/>
                    </a:lnTo>
                    <a:lnTo>
                      <a:pt x="278984" y="608062"/>
                    </a:lnTo>
                    <a:lnTo>
                      <a:pt x="278604" y="608062"/>
                    </a:lnTo>
                    <a:lnTo>
                      <a:pt x="278130" y="608062"/>
                    </a:lnTo>
                    <a:lnTo>
                      <a:pt x="277940" y="608062"/>
                    </a:lnTo>
                    <a:lnTo>
                      <a:pt x="277845" y="608062"/>
                    </a:lnTo>
                    <a:lnTo>
                      <a:pt x="277750" y="608062"/>
                    </a:lnTo>
                    <a:lnTo>
                      <a:pt x="277656" y="608062"/>
                    </a:lnTo>
                    <a:lnTo>
                      <a:pt x="277371" y="608062"/>
                    </a:lnTo>
                    <a:lnTo>
                      <a:pt x="0" y="608062"/>
                    </a:lnTo>
                    <a:lnTo>
                      <a:pt x="0" y="482224"/>
                    </a:lnTo>
                    <a:cubicBezTo>
                      <a:pt x="0" y="466305"/>
                      <a:pt x="14519" y="451049"/>
                      <a:pt x="38621" y="438920"/>
                    </a:cubicBezTo>
                    <a:cubicBezTo>
                      <a:pt x="92141" y="411724"/>
                      <a:pt x="169668" y="377706"/>
                      <a:pt x="173464" y="376569"/>
                    </a:cubicBezTo>
                    <a:cubicBezTo>
                      <a:pt x="173464" y="376474"/>
                      <a:pt x="173464" y="376474"/>
                      <a:pt x="173558" y="376474"/>
                    </a:cubicBezTo>
                    <a:cubicBezTo>
                      <a:pt x="175741" y="375716"/>
                      <a:pt x="178018" y="375337"/>
                      <a:pt x="180486" y="375337"/>
                    </a:cubicBezTo>
                    <a:cubicBezTo>
                      <a:pt x="189595" y="375337"/>
                      <a:pt x="197282" y="381117"/>
                      <a:pt x="200223" y="389172"/>
                    </a:cubicBezTo>
                    <a:cubicBezTo>
                      <a:pt x="214078" y="422432"/>
                      <a:pt x="239414" y="481655"/>
                      <a:pt x="255166" y="510272"/>
                    </a:cubicBezTo>
                    <a:lnTo>
                      <a:pt x="258962" y="430202"/>
                    </a:lnTo>
                    <a:cubicBezTo>
                      <a:pt x="258962" y="430202"/>
                      <a:pt x="235333" y="379980"/>
                      <a:pt x="232676" y="375432"/>
                    </a:cubicBezTo>
                    <a:cubicBezTo>
                      <a:pt x="226603" y="364630"/>
                      <a:pt x="232107" y="355438"/>
                      <a:pt x="243589" y="355438"/>
                    </a:cubicBezTo>
                    <a:close/>
                    <a:moveTo>
                      <a:pt x="276250" y="0"/>
                    </a:moveTo>
                    <a:cubicBezTo>
                      <a:pt x="276725" y="0"/>
                      <a:pt x="277199" y="0"/>
                      <a:pt x="277674" y="0"/>
                    </a:cubicBezTo>
                    <a:cubicBezTo>
                      <a:pt x="277769" y="0"/>
                      <a:pt x="277769" y="0"/>
                      <a:pt x="277863" y="0"/>
                    </a:cubicBezTo>
                    <a:cubicBezTo>
                      <a:pt x="277863" y="0"/>
                      <a:pt x="277863" y="0"/>
                      <a:pt x="277958" y="0"/>
                    </a:cubicBezTo>
                    <a:cubicBezTo>
                      <a:pt x="278433" y="0"/>
                      <a:pt x="278907" y="0"/>
                      <a:pt x="279382" y="0"/>
                    </a:cubicBezTo>
                    <a:cubicBezTo>
                      <a:pt x="385487" y="0"/>
                      <a:pt x="405417" y="75615"/>
                      <a:pt x="402570" y="104895"/>
                    </a:cubicBezTo>
                    <a:cubicBezTo>
                      <a:pt x="400387" y="128395"/>
                      <a:pt x="394693" y="159001"/>
                      <a:pt x="394693" y="159001"/>
                    </a:cubicBezTo>
                    <a:cubicBezTo>
                      <a:pt x="394693" y="159001"/>
                      <a:pt x="405892" y="164118"/>
                      <a:pt x="405892" y="184774"/>
                    </a:cubicBezTo>
                    <a:cubicBezTo>
                      <a:pt x="402001" y="236511"/>
                      <a:pt x="381311" y="214149"/>
                      <a:pt x="377040" y="236890"/>
                    </a:cubicBezTo>
                    <a:cubicBezTo>
                      <a:pt x="370017" y="274603"/>
                      <a:pt x="336610" y="301893"/>
                      <a:pt x="315731" y="311274"/>
                    </a:cubicBezTo>
                    <a:cubicBezTo>
                      <a:pt x="303583" y="316770"/>
                      <a:pt x="291055" y="319518"/>
                      <a:pt x="277958" y="319707"/>
                    </a:cubicBezTo>
                    <a:lnTo>
                      <a:pt x="277958" y="319802"/>
                    </a:lnTo>
                    <a:cubicBezTo>
                      <a:pt x="277863" y="319802"/>
                      <a:pt x="277863" y="319802"/>
                      <a:pt x="277863" y="319802"/>
                    </a:cubicBezTo>
                    <a:cubicBezTo>
                      <a:pt x="277769" y="319802"/>
                      <a:pt x="277769" y="319802"/>
                      <a:pt x="277674" y="319802"/>
                    </a:cubicBezTo>
                    <a:lnTo>
                      <a:pt x="277674" y="319707"/>
                    </a:lnTo>
                    <a:cubicBezTo>
                      <a:pt x="264577" y="319518"/>
                      <a:pt x="252049" y="316770"/>
                      <a:pt x="239901" y="311274"/>
                    </a:cubicBezTo>
                    <a:cubicBezTo>
                      <a:pt x="219022" y="301893"/>
                      <a:pt x="185615" y="274603"/>
                      <a:pt x="178592" y="236890"/>
                    </a:cubicBezTo>
                    <a:cubicBezTo>
                      <a:pt x="174321" y="214149"/>
                      <a:pt x="153631" y="236511"/>
                      <a:pt x="149740" y="184774"/>
                    </a:cubicBezTo>
                    <a:cubicBezTo>
                      <a:pt x="149740" y="164118"/>
                      <a:pt x="161034" y="159001"/>
                      <a:pt x="161034" y="159001"/>
                    </a:cubicBezTo>
                    <a:cubicBezTo>
                      <a:pt x="161034" y="159001"/>
                      <a:pt x="155245" y="128395"/>
                      <a:pt x="153062" y="104895"/>
                    </a:cubicBezTo>
                    <a:cubicBezTo>
                      <a:pt x="150215" y="75615"/>
                      <a:pt x="170145" y="0"/>
                      <a:pt x="276250" y="0"/>
                    </a:cubicBezTo>
                    <a:close/>
                  </a:path>
                </a:pathLst>
              </a:custGeom>
              <a:solidFill>
                <a:srgbClr val="1A3172"/>
              </a:solidFill>
              <a:ln>
                <a:noFill/>
              </a:ln>
            </p:spPr>
            <p:txBody>
              <a:bodyPr/>
              <a:lstStyle/>
              <a:p>
                <a:endParaRPr lang="zh-CN" altLang="en-US">
                  <a:cs typeface="+mn-ea"/>
                  <a:sym typeface="+mn-lt"/>
                </a:endParaRPr>
              </a:p>
            </p:txBody>
          </p:sp>
          <p:sp>
            <p:nvSpPr>
              <p:cNvPr id="142" name="椭圆 141">
                <a:extLst>
                  <a:ext uri="{FF2B5EF4-FFF2-40B4-BE49-F238E27FC236}">
                    <a16:creationId xmlns:a16="http://schemas.microsoft.com/office/drawing/2014/main" id="{C70F9316-720D-2759-5313-2C1BD7409703}"/>
                  </a:ext>
                </a:extLst>
              </p:cNvPr>
              <p:cNvSpPr/>
              <p:nvPr/>
            </p:nvSpPr>
            <p:spPr>
              <a:xfrm>
                <a:off x="10795050" y="837908"/>
                <a:ext cx="444449" cy="457054"/>
              </a:xfrm>
              <a:prstGeom prst="ellipse">
                <a:avLst/>
              </a:prstGeom>
              <a:noFill/>
              <a:ln w="25400">
                <a:solidFill>
                  <a:srgbClr val="1A31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44" name="文本框 143">
              <a:extLst>
                <a:ext uri="{FF2B5EF4-FFF2-40B4-BE49-F238E27FC236}">
                  <a16:creationId xmlns:a16="http://schemas.microsoft.com/office/drawing/2014/main" id="{D8F7C9B3-5795-6B8B-1DF1-D5E2597D2237}"/>
                </a:ext>
              </a:extLst>
            </p:cNvPr>
            <p:cNvSpPr txBox="1"/>
            <p:nvPr/>
          </p:nvSpPr>
          <p:spPr>
            <a:xfrm>
              <a:off x="7076661" y="915813"/>
              <a:ext cx="3673913" cy="369332"/>
            </a:xfrm>
            <a:prstGeom prst="rect">
              <a:avLst/>
            </a:prstGeom>
            <a:noFill/>
          </p:spPr>
          <p:txBody>
            <a:bodyPr wrap="square" rtlCol="0">
              <a:spAutoFit/>
            </a:bodyPr>
            <a:lstStyle/>
            <a:p>
              <a:pPr algn="r"/>
              <a:r>
                <a:rPr lang="zh-CN" altLang="en-US" dirty="0">
                  <a:solidFill>
                    <a:schemeClr val="tx1">
                      <a:lumMod val="85000"/>
                      <a:lumOff val="15000"/>
                    </a:schemeClr>
                  </a:solidFill>
                  <a:cs typeface="+mn-ea"/>
                  <a:sym typeface="+mn-lt"/>
                </a:rPr>
                <a:t>电子科技大学光电科学与工程学院</a:t>
              </a:r>
            </a:p>
          </p:txBody>
        </p:sp>
      </p:grpSp>
      <p:cxnSp>
        <p:nvCxnSpPr>
          <p:cNvPr id="146" name="直接连接符 145">
            <a:extLst>
              <a:ext uri="{FF2B5EF4-FFF2-40B4-BE49-F238E27FC236}">
                <a16:creationId xmlns:a16="http://schemas.microsoft.com/office/drawing/2014/main" id="{F5EF6398-CAAE-FABC-02DC-D288F990028C}"/>
              </a:ext>
            </a:extLst>
          </p:cNvPr>
          <p:cNvCxnSpPr/>
          <p:nvPr/>
        </p:nvCxnSpPr>
        <p:spPr>
          <a:xfrm>
            <a:off x="1651343" y="4943475"/>
            <a:ext cx="663232" cy="0"/>
          </a:xfrm>
          <a:prstGeom prst="line">
            <a:avLst/>
          </a:prstGeom>
          <a:ln w="38100">
            <a:solidFill>
              <a:srgbClr val="FF9C00"/>
            </a:solidFill>
          </a:ln>
        </p:spPr>
        <p:style>
          <a:lnRef idx="1">
            <a:schemeClr val="accent1"/>
          </a:lnRef>
          <a:fillRef idx="0">
            <a:schemeClr val="accent1"/>
          </a:fillRef>
          <a:effectRef idx="0">
            <a:schemeClr val="accent1"/>
          </a:effectRef>
          <a:fontRef idx="minor">
            <a:schemeClr val="tx1"/>
          </a:fontRef>
        </p:style>
      </p:cxnSp>
      <p:grpSp>
        <p:nvGrpSpPr>
          <p:cNvPr id="149" name="组合 148">
            <a:extLst>
              <a:ext uri="{FF2B5EF4-FFF2-40B4-BE49-F238E27FC236}">
                <a16:creationId xmlns:a16="http://schemas.microsoft.com/office/drawing/2014/main" id="{725F13E9-889E-BAAB-8019-2D7155845465}"/>
              </a:ext>
            </a:extLst>
          </p:cNvPr>
          <p:cNvGrpSpPr/>
          <p:nvPr/>
        </p:nvGrpSpPr>
        <p:grpSpPr>
          <a:xfrm>
            <a:off x="1508469" y="2587244"/>
            <a:ext cx="8802410" cy="1927566"/>
            <a:chOff x="1508469" y="2587244"/>
            <a:chExt cx="8802410" cy="1927566"/>
          </a:xfrm>
        </p:grpSpPr>
        <p:sp>
          <p:nvSpPr>
            <p:cNvPr id="123" name="标题 1104">
              <a:extLst>
                <a:ext uri="{FF2B5EF4-FFF2-40B4-BE49-F238E27FC236}">
                  <a16:creationId xmlns:a16="http://schemas.microsoft.com/office/drawing/2014/main" id="{3996437F-AB0B-65B8-B623-F0ECAD42E7EA}"/>
                </a:ext>
              </a:extLst>
            </p:cNvPr>
            <p:cNvSpPr txBox="1"/>
            <p:nvPr/>
          </p:nvSpPr>
          <p:spPr>
            <a:xfrm>
              <a:off x="1533869" y="2891804"/>
              <a:ext cx="6188531" cy="478635"/>
            </a:xfrm>
            <a:prstGeom prst="rect">
              <a:avLst/>
            </a:prstGeom>
          </p:spPr>
          <p:txBody>
            <a:bodyPr vert="horz" lIns="91440" tIns="45720" rIns="91440" bIns="45720" rtlCol="0" anchor="ctr">
              <a:normAutofit/>
            </a:bodyPr>
            <a:lstStyle>
              <a:lvl1pPr algn="r" defTabSz="913765" rtl="0" eaLnBrk="1" latinLnBrk="0" hangingPunct="1">
                <a:lnSpc>
                  <a:spcPct val="90000"/>
                </a:lnSpc>
                <a:spcBef>
                  <a:spcPct val="0"/>
                </a:spcBef>
                <a:buNone/>
                <a:defRPr sz="4000" b="1" kern="1200">
                  <a:solidFill>
                    <a:srgbClr val="08A0E2"/>
                  </a:solidFill>
                  <a:latin typeface="+mj-lt"/>
                  <a:ea typeface="+mj-ea"/>
                  <a:cs typeface="+mj-cs"/>
                </a:defRPr>
              </a:lvl1pPr>
            </a:lstStyle>
            <a:p>
              <a:pPr marL="0" marR="0" lvl="0" indent="0" algn="l" defTabSz="913765" rtl="0" eaLnBrk="1" fontAlgn="auto" latinLnBrk="0" hangingPunct="1">
                <a:lnSpc>
                  <a:spcPct val="90000"/>
                </a:lnSpc>
                <a:spcBef>
                  <a:spcPct val="0"/>
                </a:spcBef>
                <a:spcAft>
                  <a:spcPts val="0"/>
                </a:spcAft>
                <a:buClrTx/>
                <a:buSzTx/>
                <a:buFontTx/>
                <a:buNone/>
                <a:defRPr/>
              </a:pPr>
              <a:endParaRPr kumimoji="0" lang="zh-CN" altLang="en-US" sz="2800" i="0" u="none" strike="noStrike" kern="1200" cap="none" spc="0" normalizeH="0" baseline="0" noProof="0" dirty="0">
                <a:ln>
                  <a:noFill/>
                </a:ln>
                <a:solidFill>
                  <a:schemeClr val="tx1">
                    <a:lumMod val="85000"/>
                    <a:lumOff val="15000"/>
                  </a:schemeClr>
                </a:solidFill>
                <a:uLnTx/>
                <a:uFillTx/>
                <a:latin typeface="+mn-lt"/>
                <a:ea typeface="+mn-ea"/>
                <a:cs typeface="+mn-ea"/>
                <a:sym typeface="+mn-lt"/>
              </a:endParaRPr>
            </a:p>
          </p:txBody>
        </p:sp>
        <p:sp>
          <p:nvSpPr>
            <p:cNvPr id="5" name="矩形 4">
              <a:extLst>
                <a:ext uri="{FF2B5EF4-FFF2-40B4-BE49-F238E27FC236}">
                  <a16:creationId xmlns:a16="http://schemas.microsoft.com/office/drawing/2014/main" id="{C6B4ACE2-9FAC-ACE2-95B0-06A84074E9A1}"/>
                </a:ext>
              </a:extLst>
            </p:cNvPr>
            <p:cNvSpPr/>
            <p:nvPr/>
          </p:nvSpPr>
          <p:spPr>
            <a:xfrm>
              <a:off x="1508469" y="3308709"/>
              <a:ext cx="8802410" cy="830997"/>
            </a:xfrm>
            <a:prstGeom prst="rect">
              <a:avLst/>
            </a:prstGeom>
          </p:spPr>
          <p:txBody>
            <a:bodyPr wrap="none">
              <a:spAutoFit/>
            </a:bodyPr>
            <a:lstStyle/>
            <a:p>
              <a:r>
                <a:rPr lang="zh-CN" altLang="en-US" sz="4800" b="1" dirty="0">
                  <a:solidFill>
                    <a:schemeClr val="tx1">
                      <a:lumMod val="85000"/>
                      <a:lumOff val="15000"/>
                    </a:schemeClr>
                  </a:solidFill>
                  <a:cs typeface="+mn-ea"/>
                  <a:sym typeface="+mn-lt"/>
                </a:rPr>
                <a:t>荧光太阳能聚光器光学效率研究</a:t>
              </a:r>
            </a:p>
          </p:txBody>
        </p:sp>
        <p:sp>
          <p:nvSpPr>
            <p:cNvPr id="140" name="矩形 139">
              <a:extLst>
                <a:ext uri="{FF2B5EF4-FFF2-40B4-BE49-F238E27FC236}">
                  <a16:creationId xmlns:a16="http://schemas.microsoft.com/office/drawing/2014/main" id="{04822F79-B00B-444C-4C8E-25E6BB85134B}"/>
                </a:ext>
              </a:extLst>
            </p:cNvPr>
            <p:cNvSpPr/>
            <p:nvPr/>
          </p:nvSpPr>
          <p:spPr>
            <a:xfrm>
              <a:off x="1533869" y="4126242"/>
              <a:ext cx="6281320" cy="388568"/>
            </a:xfrm>
            <a:prstGeom prst="rect">
              <a:avLst/>
            </a:prstGeom>
          </p:spPr>
          <p:txBody>
            <a:bodyPr wrap="square">
              <a:spAutoFit/>
            </a:bodyPr>
            <a:lstStyle/>
            <a:p>
              <a:pPr>
                <a:lnSpc>
                  <a:spcPct val="150000"/>
                </a:lnSpc>
              </a:pPr>
              <a:endParaRPr lang="en-US" altLang="zh-CN" sz="1400" dirty="0">
                <a:solidFill>
                  <a:schemeClr val="tx1">
                    <a:lumMod val="75000"/>
                    <a:lumOff val="25000"/>
                  </a:schemeClr>
                </a:solidFill>
                <a:cs typeface="+mn-ea"/>
                <a:sym typeface="+mn-lt"/>
              </a:endParaRPr>
            </a:p>
          </p:txBody>
        </p:sp>
        <p:sp>
          <p:nvSpPr>
            <p:cNvPr id="147" name="文本框 146">
              <a:extLst>
                <a:ext uri="{FF2B5EF4-FFF2-40B4-BE49-F238E27FC236}">
                  <a16:creationId xmlns:a16="http://schemas.microsoft.com/office/drawing/2014/main" id="{A7F8A8A1-582A-C412-CDB6-7A0FD6F72BA1}"/>
                </a:ext>
              </a:extLst>
            </p:cNvPr>
            <p:cNvSpPr txBox="1"/>
            <p:nvPr/>
          </p:nvSpPr>
          <p:spPr>
            <a:xfrm>
              <a:off x="1508469" y="2587244"/>
              <a:ext cx="6983966" cy="830997"/>
            </a:xfrm>
            <a:prstGeom prst="rect">
              <a:avLst/>
            </a:prstGeom>
            <a:noFill/>
          </p:spPr>
          <p:txBody>
            <a:bodyPr wrap="square" rtlCol="0">
              <a:spAutoFit/>
            </a:bodyPr>
            <a:lstStyle/>
            <a:p>
              <a:r>
                <a:rPr lang="zh-CN" altLang="en-US" sz="4800" b="1" dirty="0">
                  <a:solidFill>
                    <a:schemeClr val="tx1">
                      <a:lumMod val="85000"/>
                      <a:lumOff val="15000"/>
                    </a:schemeClr>
                  </a:solidFill>
                  <a:cs typeface="+mn-ea"/>
                  <a:sym typeface="+mn-lt"/>
                </a:rPr>
                <a:t>人工智能算法预测</a:t>
              </a:r>
            </a:p>
          </p:txBody>
        </p:sp>
      </p:grpSp>
      <p:pic>
        <p:nvPicPr>
          <p:cNvPr id="2" name="图片 1">
            <a:extLst>
              <a:ext uri="{FF2B5EF4-FFF2-40B4-BE49-F238E27FC236}">
                <a16:creationId xmlns:a16="http://schemas.microsoft.com/office/drawing/2014/main" id="{F46801CA-2AC6-2BAD-F477-A133D8E4623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75960" y="4876901"/>
            <a:ext cx="1305133" cy="1298735"/>
          </a:xfrm>
          <a:prstGeom prst="rect">
            <a:avLst/>
          </a:prstGeom>
        </p:spPr>
      </p:pic>
      <p:grpSp>
        <p:nvGrpSpPr>
          <p:cNvPr id="3" name="组合 2">
            <a:extLst>
              <a:ext uri="{FF2B5EF4-FFF2-40B4-BE49-F238E27FC236}">
                <a16:creationId xmlns:a16="http://schemas.microsoft.com/office/drawing/2014/main" id="{C240CDEB-321C-0480-EA11-32115A71D384}"/>
              </a:ext>
            </a:extLst>
          </p:cNvPr>
          <p:cNvGrpSpPr/>
          <p:nvPr/>
        </p:nvGrpSpPr>
        <p:grpSpPr>
          <a:xfrm>
            <a:off x="3250048" y="5394358"/>
            <a:ext cx="2879011" cy="406487"/>
            <a:chOff x="1038752" y="5253033"/>
            <a:chExt cx="2879011" cy="406487"/>
          </a:xfrm>
        </p:grpSpPr>
        <p:grpSp>
          <p:nvGrpSpPr>
            <p:cNvPr id="4" name="组合 3">
              <a:extLst>
                <a:ext uri="{FF2B5EF4-FFF2-40B4-BE49-F238E27FC236}">
                  <a16:creationId xmlns:a16="http://schemas.microsoft.com/office/drawing/2014/main" id="{EA820DAB-357F-587A-AD50-94AAE20AEBDE}"/>
                </a:ext>
              </a:extLst>
            </p:cNvPr>
            <p:cNvGrpSpPr/>
            <p:nvPr/>
          </p:nvGrpSpPr>
          <p:grpSpPr>
            <a:xfrm>
              <a:off x="1546569" y="5253033"/>
              <a:ext cx="1855688" cy="391431"/>
              <a:chOff x="1546569" y="5326964"/>
              <a:chExt cx="1855688" cy="317500"/>
            </a:xfrm>
          </p:grpSpPr>
          <p:sp>
            <p:nvSpPr>
              <p:cNvPr id="7" name="矩形 6">
                <a:extLst>
                  <a:ext uri="{FF2B5EF4-FFF2-40B4-BE49-F238E27FC236}">
                    <a16:creationId xmlns:a16="http://schemas.microsoft.com/office/drawing/2014/main" id="{6935E7F0-0C0D-3305-6E22-FB68C4C731AC}"/>
                  </a:ext>
                </a:extLst>
              </p:cNvPr>
              <p:cNvSpPr/>
              <p:nvPr/>
            </p:nvSpPr>
            <p:spPr>
              <a:xfrm>
                <a:off x="1692618" y="5326964"/>
                <a:ext cx="1571281" cy="317500"/>
              </a:xfrm>
              <a:prstGeom prst="rect">
                <a:avLst/>
              </a:prstGeom>
              <a:solidFill>
                <a:srgbClr val="FF9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椭圆 7">
                <a:extLst>
                  <a:ext uri="{FF2B5EF4-FFF2-40B4-BE49-F238E27FC236}">
                    <a16:creationId xmlns:a16="http://schemas.microsoft.com/office/drawing/2014/main" id="{D8CF3D7B-2548-1948-B30A-FABD809C3C23}"/>
                  </a:ext>
                </a:extLst>
              </p:cNvPr>
              <p:cNvSpPr/>
              <p:nvPr/>
            </p:nvSpPr>
            <p:spPr>
              <a:xfrm>
                <a:off x="1546569" y="5326964"/>
                <a:ext cx="292100" cy="317500"/>
              </a:xfrm>
              <a:prstGeom prst="ellipse">
                <a:avLst/>
              </a:prstGeom>
              <a:solidFill>
                <a:srgbClr val="FF9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椭圆 8">
                <a:extLst>
                  <a:ext uri="{FF2B5EF4-FFF2-40B4-BE49-F238E27FC236}">
                    <a16:creationId xmlns:a16="http://schemas.microsoft.com/office/drawing/2014/main" id="{34E0340C-6762-9431-A0D6-7A270221C22A}"/>
                  </a:ext>
                </a:extLst>
              </p:cNvPr>
              <p:cNvSpPr/>
              <p:nvPr/>
            </p:nvSpPr>
            <p:spPr>
              <a:xfrm>
                <a:off x="3110157" y="5326964"/>
                <a:ext cx="292100" cy="317500"/>
              </a:xfrm>
              <a:prstGeom prst="ellipse">
                <a:avLst/>
              </a:prstGeom>
              <a:solidFill>
                <a:srgbClr val="FF9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6" name="文本占位符 1110">
              <a:extLst>
                <a:ext uri="{FF2B5EF4-FFF2-40B4-BE49-F238E27FC236}">
                  <a16:creationId xmlns:a16="http://schemas.microsoft.com/office/drawing/2014/main" id="{04D86267-099C-8A75-FD1E-9495B3CD8F24}"/>
                </a:ext>
              </a:extLst>
            </p:cNvPr>
            <p:cNvSpPr txBox="1"/>
            <p:nvPr/>
          </p:nvSpPr>
          <p:spPr>
            <a:xfrm>
              <a:off x="1038752" y="5268089"/>
              <a:ext cx="2879011" cy="391431"/>
            </a:xfrm>
            <a:prstGeom prst="rect">
              <a:avLst/>
            </a:prstGeom>
          </p:spPr>
          <p:txBody>
            <a:bodyPr vert="horz" lIns="91440" tIns="45720" rIns="91440" bIns="45720" rtlCol="0" anchor="ctr">
              <a:noAutofit/>
            </a:bodyPr>
            <a:lstStyle>
              <a:lvl1pPr marL="0" indent="0" algn="r" defTabSz="913765" rtl="0" eaLnBrk="1" latinLnBrk="0" hangingPunct="1">
                <a:lnSpc>
                  <a:spcPct val="90000"/>
                </a:lnSpc>
                <a:spcBef>
                  <a:spcPts val="1000"/>
                </a:spcBef>
                <a:buFont typeface="Arial" panose="020B0604020202020204" pitchFamily="34" charset="0"/>
                <a:buNone/>
                <a:defRPr sz="1500" b="0" kern="1200">
                  <a:solidFill>
                    <a:srgbClr val="08A0E2"/>
                  </a:solidFill>
                  <a:latin typeface="+mn-lt"/>
                  <a:ea typeface="+mn-ea"/>
                  <a:cs typeface="+mn-cs"/>
                </a:defRPr>
              </a:lvl1pPr>
              <a:lvl2pPr marL="457200" indent="0" algn="l" defTabSz="913765"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3765"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3765"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3765"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3765"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1800" b="1" i="0" u="none" strike="noStrike" kern="1200" cap="none" spc="0" normalizeH="0" baseline="0" noProof="0" dirty="0">
                  <a:ln>
                    <a:noFill/>
                  </a:ln>
                  <a:solidFill>
                    <a:schemeClr val="bg1"/>
                  </a:solidFill>
                  <a:effectLst>
                    <a:outerShdw blurRad="355600" dist="88900" dir="2700000" algn="tl" rotWithShape="0">
                      <a:prstClr val="black">
                        <a:alpha val="28000"/>
                      </a:prstClr>
                    </a:outerShdw>
                  </a:effectLst>
                  <a:uLnTx/>
                  <a:uFillTx/>
                  <a:cs typeface="+mn-ea"/>
                  <a:sym typeface="+mn-lt"/>
                </a:rPr>
                <a:t>指导老师：罗消</a:t>
              </a:r>
              <a:endParaRPr kumimoji="0" lang="en-US" altLang="zh-CN" sz="1800" b="1" i="0" u="none" strike="noStrike" kern="1200" cap="none" spc="0" normalizeH="0" baseline="0" noProof="0" dirty="0">
                <a:ln>
                  <a:noFill/>
                </a:ln>
                <a:solidFill>
                  <a:schemeClr val="bg1"/>
                </a:solidFill>
                <a:effectLst>
                  <a:outerShdw blurRad="355600" dist="88900" dir="2700000" algn="tl" rotWithShape="0">
                    <a:prstClr val="black">
                      <a:alpha val="28000"/>
                    </a:prstClr>
                  </a:outerShdw>
                </a:effectLst>
                <a:uLnTx/>
                <a:uFillTx/>
                <a:cs typeface="+mn-ea"/>
                <a:sym typeface="+mn-lt"/>
              </a:endParaRPr>
            </a:p>
          </p:txBody>
        </p:sp>
      </p:grpSp>
    </p:spTree>
    <p:extLst>
      <p:ext uri="{BB962C8B-B14F-4D97-AF65-F5344CB8AC3E}">
        <p14:creationId xmlns:p14="http://schemas.microsoft.com/office/powerpoint/2010/main" val="40949083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7"/>
                                        </p:tgtEl>
                                        <p:attrNameLst>
                                          <p:attrName>style.visibility</p:attrName>
                                        </p:attrNameLst>
                                      </p:cBhvr>
                                      <p:to>
                                        <p:strVal val="visible"/>
                                      </p:to>
                                    </p:set>
                                    <p:anim calcmode="lin" valueType="num">
                                      <p:cBhvr additive="base">
                                        <p:cTn id="7" dur="500" fill="hold"/>
                                        <p:tgtEl>
                                          <p:spTgt spid="117"/>
                                        </p:tgtEl>
                                        <p:attrNameLst>
                                          <p:attrName>ppt_x</p:attrName>
                                        </p:attrNameLst>
                                      </p:cBhvr>
                                      <p:tavLst>
                                        <p:tav tm="0">
                                          <p:val>
                                            <p:strVal val="#ppt_x"/>
                                          </p:val>
                                        </p:tav>
                                        <p:tav tm="100000">
                                          <p:val>
                                            <p:strVal val="#ppt_x"/>
                                          </p:val>
                                        </p:tav>
                                      </p:tavLst>
                                    </p:anim>
                                    <p:anim calcmode="lin" valueType="num">
                                      <p:cBhvr additive="base">
                                        <p:cTn id="8" dur="500" fill="hold"/>
                                        <p:tgtEl>
                                          <p:spTgt spid="11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4" presetClass="entr" presetSubtype="10" fill="hold" nodeType="afterEffect">
                                  <p:stCondLst>
                                    <p:cond delay="0"/>
                                  </p:stCondLst>
                                  <p:childTnLst>
                                    <p:set>
                                      <p:cBhvr>
                                        <p:cTn id="11" dur="1" fill="hold">
                                          <p:stCondLst>
                                            <p:cond delay="0"/>
                                          </p:stCondLst>
                                        </p:cTn>
                                        <p:tgtEl>
                                          <p:spTgt spid="149"/>
                                        </p:tgtEl>
                                        <p:attrNameLst>
                                          <p:attrName>style.visibility</p:attrName>
                                        </p:attrNameLst>
                                      </p:cBhvr>
                                      <p:to>
                                        <p:strVal val="visible"/>
                                      </p:to>
                                    </p:set>
                                    <p:animEffect transition="in" filter="randombar(horizontal)">
                                      <p:cBhvr>
                                        <p:cTn id="12" dur="500"/>
                                        <p:tgtEl>
                                          <p:spTgt spid="149"/>
                                        </p:tgtEl>
                                      </p:cBhvr>
                                    </p:animEffect>
                                  </p:childTnLst>
                                </p:cTn>
                              </p:par>
                            </p:childTnLst>
                          </p:cTn>
                        </p:par>
                        <p:par>
                          <p:cTn id="13" fill="hold">
                            <p:stCondLst>
                              <p:cond delay="1000"/>
                            </p:stCondLst>
                            <p:childTnLst>
                              <p:par>
                                <p:cTn id="14" presetID="14" presetClass="entr" presetSubtype="10" fill="hold" nodeType="afterEffect">
                                  <p:stCondLst>
                                    <p:cond delay="0"/>
                                  </p:stCondLst>
                                  <p:childTnLst>
                                    <p:set>
                                      <p:cBhvr>
                                        <p:cTn id="15" dur="1" fill="hold">
                                          <p:stCondLst>
                                            <p:cond delay="0"/>
                                          </p:stCondLst>
                                        </p:cTn>
                                        <p:tgtEl>
                                          <p:spTgt spid="146"/>
                                        </p:tgtEl>
                                        <p:attrNameLst>
                                          <p:attrName>style.visibility</p:attrName>
                                        </p:attrNameLst>
                                      </p:cBhvr>
                                      <p:to>
                                        <p:strVal val="visible"/>
                                      </p:to>
                                    </p:set>
                                    <p:animEffect transition="in" filter="randombar(horizontal)">
                                      <p:cBhvr>
                                        <p:cTn id="16" dur="500"/>
                                        <p:tgtEl>
                                          <p:spTgt spid="146"/>
                                        </p:tgtEl>
                                      </p:cBhvr>
                                    </p:animEffect>
                                  </p:childTnLst>
                                </p:cTn>
                              </p:par>
                            </p:childTnLst>
                          </p:cTn>
                        </p:par>
                        <p:par>
                          <p:cTn id="17" fill="hold">
                            <p:stCondLst>
                              <p:cond delay="1500"/>
                            </p:stCondLst>
                            <p:childTnLst>
                              <p:par>
                                <p:cTn id="18" presetID="42" presetClass="entr" presetSubtype="0" fill="hold" nodeType="afterEffect">
                                  <p:stCondLst>
                                    <p:cond delay="0"/>
                                  </p:stCondLst>
                                  <p:childTnLst>
                                    <p:set>
                                      <p:cBhvr>
                                        <p:cTn id="19" dur="1" fill="hold">
                                          <p:stCondLst>
                                            <p:cond delay="0"/>
                                          </p:stCondLst>
                                        </p:cTn>
                                        <p:tgtEl>
                                          <p:spTgt spid="132"/>
                                        </p:tgtEl>
                                        <p:attrNameLst>
                                          <p:attrName>style.visibility</p:attrName>
                                        </p:attrNameLst>
                                      </p:cBhvr>
                                      <p:to>
                                        <p:strVal val="visible"/>
                                      </p:to>
                                    </p:set>
                                    <p:animEffect transition="in" filter="fade">
                                      <p:cBhvr>
                                        <p:cTn id="20" dur="1000"/>
                                        <p:tgtEl>
                                          <p:spTgt spid="132"/>
                                        </p:tgtEl>
                                      </p:cBhvr>
                                    </p:animEffect>
                                    <p:anim calcmode="lin" valueType="num">
                                      <p:cBhvr>
                                        <p:cTn id="21" dur="1000" fill="hold"/>
                                        <p:tgtEl>
                                          <p:spTgt spid="132"/>
                                        </p:tgtEl>
                                        <p:attrNameLst>
                                          <p:attrName>ppt_x</p:attrName>
                                        </p:attrNameLst>
                                      </p:cBhvr>
                                      <p:tavLst>
                                        <p:tav tm="0">
                                          <p:val>
                                            <p:strVal val="#ppt_x"/>
                                          </p:val>
                                        </p:tav>
                                        <p:tav tm="100000">
                                          <p:val>
                                            <p:strVal val="#ppt_x"/>
                                          </p:val>
                                        </p:tav>
                                      </p:tavLst>
                                    </p:anim>
                                    <p:anim calcmode="lin" valueType="num">
                                      <p:cBhvr>
                                        <p:cTn id="22" dur="1000" fill="hold"/>
                                        <p:tgtEl>
                                          <p:spTgt spid="132"/>
                                        </p:tgtEl>
                                        <p:attrNameLst>
                                          <p:attrName>ppt_y</p:attrName>
                                        </p:attrNameLst>
                                      </p:cBhvr>
                                      <p:tavLst>
                                        <p:tav tm="0">
                                          <p:val>
                                            <p:strVal val="#ppt_y+.1"/>
                                          </p:val>
                                        </p:tav>
                                        <p:tav tm="100000">
                                          <p:val>
                                            <p:strVal val="#ppt_y"/>
                                          </p:val>
                                        </p:tav>
                                      </p:tavLst>
                                    </p:anim>
                                  </p:childTnLst>
                                </p:cTn>
                              </p:par>
                            </p:childTnLst>
                          </p:cTn>
                        </p:par>
                        <p:par>
                          <p:cTn id="23" fill="hold">
                            <p:stCondLst>
                              <p:cond delay="2500"/>
                            </p:stCondLst>
                            <p:childTnLst>
                              <p:par>
                                <p:cTn id="24" presetID="42" presetClass="entr" presetSubtype="0"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1000"/>
                                        <p:tgtEl>
                                          <p:spTgt spid="3"/>
                                        </p:tgtEl>
                                      </p:cBhvr>
                                    </p:animEffect>
                                    <p:anim calcmode="lin" valueType="num">
                                      <p:cBhvr>
                                        <p:cTn id="27" dur="1000" fill="hold"/>
                                        <p:tgtEl>
                                          <p:spTgt spid="3"/>
                                        </p:tgtEl>
                                        <p:attrNameLst>
                                          <p:attrName>ppt_x</p:attrName>
                                        </p:attrNameLst>
                                      </p:cBhvr>
                                      <p:tavLst>
                                        <p:tav tm="0">
                                          <p:val>
                                            <p:strVal val="#ppt_x"/>
                                          </p:val>
                                        </p:tav>
                                        <p:tav tm="100000">
                                          <p:val>
                                            <p:strVal val="#ppt_x"/>
                                          </p:val>
                                        </p:tav>
                                      </p:tavLst>
                                    </p:anim>
                                    <p:anim calcmode="lin" valueType="num">
                                      <p:cBhvr>
                                        <p:cTn id="28" dur="1000" fill="hold"/>
                                        <p:tgtEl>
                                          <p:spTgt spid="3"/>
                                        </p:tgtEl>
                                        <p:attrNameLst>
                                          <p:attrName>ppt_y</p:attrName>
                                        </p:attrNameLst>
                                      </p:cBhvr>
                                      <p:tavLst>
                                        <p:tav tm="0">
                                          <p:val>
                                            <p:strVal val="#ppt_y+.1"/>
                                          </p:val>
                                        </p:tav>
                                        <p:tav tm="100000">
                                          <p:val>
                                            <p:strVal val="#ppt_y"/>
                                          </p:val>
                                        </p:tav>
                                      </p:tavLst>
                                    </p:anim>
                                  </p:childTnLst>
                                </p:cTn>
                              </p:par>
                            </p:childTnLst>
                          </p:cTn>
                        </p:par>
                        <p:par>
                          <p:cTn id="29" fill="hold">
                            <p:stCondLst>
                              <p:cond delay="3500"/>
                            </p:stCondLst>
                            <p:childTnLst>
                              <p:par>
                                <p:cTn id="30" presetID="42" presetClass="entr" presetSubtype="0" fill="hold" nodeType="afterEffect">
                                  <p:stCondLst>
                                    <p:cond delay="0"/>
                                  </p:stCondLst>
                                  <p:childTnLst>
                                    <p:set>
                                      <p:cBhvr>
                                        <p:cTn id="31" dur="1" fill="hold">
                                          <p:stCondLst>
                                            <p:cond delay="0"/>
                                          </p:stCondLst>
                                        </p:cTn>
                                        <p:tgtEl>
                                          <p:spTgt spid="138"/>
                                        </p:tgtEl>
                                        <p:attrNameLst>
                                          <p:attrName>style.visibility</p:attrName>
                                        </p:attrNameLst>
                                      </p:cBhvr>
                                      <p:to>
                                        <p:strVal val="visible"/>
                                      </p:to>
                                    </p:set>
                                    <p:animEffect transition="in" filter="fade">
                                      <p:cBhvr>
                                        <p:cTn id="32" dur="1000"/>
                                        <p:tgtEl>
                                          <p:spTgt spid="138"/>
                                        </p:tgtEl>
                                      </p:cBhvr>
                                    </p:animEffect>
                                    <p:anim calcmode="lin" valueType="num">
                                      <p:cBhvr>
                                        <p:cTn id="33" dur="1000" fill="hold"/>
                                        <p:tgtEl>
                                          <p:spTgt spid="138"/>
                                        </p:tgtEl>
                                        <p:attrNameLst>
                                          <p:attrName>ppt_x</p:attrName>
                                        </p:attrNameLst>
                                      </p:cBhvr>
                                      <p:tavLst>
                                        <p:tav tm="0">
                                          <p:val>
                                            <p:strVal val="#ppt_x"/>
                                          </p:val>
                                        </p:tav>
                                        <p:tav tm="100000">
                                          <p:val>
                                            <p:strVal val="#ppt_x"/>
                                          </p:val>
                                        </p:tav>
                                      </p:tavLst>
                                    </p:anim>
                                    <p:anim calcmode="lin" valueType="num">
                                      <p:cBhvr>
                                        <p:cTn id="34" dur="1000" fill="hold"/>
                                        <p:tgtEl>
                                          <p:spTgt spid="138"/>
                                        </p:tgtEl>
                                        <p:attrNameLst>
                                          <p:attrName>ppt_y</p:attrName>
                                        </p:attrNameLst>
                                      </p:cBhvr>
                                      <p:tavLst>
                                        <p:tav tm="0">
                                          <p:val>
                                            <p:strVal val="#ppt_y+.1"/>
                                          </p:val>
                                        </p:tav>
                                        <p:tav tm="100000">
                                          <p:val>
                                            <p:strVal val="#ppt_y"/>
                                          </p:val>
                                        </p:tav>
                                      </p:tavLst>
                                    </p:anim>
                                  </p:childTnLst>
                                </p:cTn>
                              </p:par>
                            </p:childTnLst>
                          </p:cTn>
                        </p:par>
                        <p:par>
                          <p:cTn id="35" fill="hold">
                            <p:stCondLst>
                              <p:cond delay="4500"/>
                            </p:stCondLst>
                            <p:childTnLst>
                              <p:par>
                                <p:cTn id="36" presetID="14" presetClass="entr" presetSubtype="10" fill="hold" nodeType="afterEffect">
                                  <p:stCondLst>
                                    <p:cond delay="0"/>
                                  </p:stCondLst>
                                  <p:childTnLst>
                                    <p:set>
                                      <p:cBhvr>
                                        <p:cTn id="37" dur="1" fill="hold">
                                          <p:stCondLst>
                                            <p:cond delay="0"/>
                                          </p:stCondLst>
                                        </p:cTn>
                                        <p:tgtEl>
                                          <p:spTgt spid="150"/>
                                        </p:tgtEl>
                                        <p:attrNameLst>
                                          <p:attrName>style.visibility</p:attrName>
                                        </p:attrNameLst>
                                      </p:cBhvr>
                                      <p:to>
                                        <p:strVal val="visible"/>
                                      </p:to>
                                    </p:set>
                                    <p:animEffect transition="in" filter="randombar(horizontal)">
                                      <p:cBhvr>
                                        <p:cTn id="38" dur="500"/>
                                        <p:tgtEl>
                                          <p:spTgt spid="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简约毕业答辩设计论文答辩PPT模板"/>
  <p:tag name="ISPRING_FIRST_PUBLISH" val="1"/>
</p:tagLst>
</file>

<file path=ppt/theme/theme1.xml><?xml version="1.0" encoding="utf-8"?>
<a:theme xmlns:a="http://schemas.openxmlformats.org/drawingml/2006/main" name="千图网拥有20W+精美PPT模板 更多PPT模板下载至：www.58pic.com/office/ppt">
  <a:themeElements>
    <a:clrScheme name="Office">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fontScheme name="3e6dcff5-e5d0-4354-af99-163496bca367">
      <a:majorFont>
        <a:latin typeface="Times New Roman"/>
        <a:ea typeface="字魂59号-创粗黑"/>
        <a:cs typeface=""/>
      </a:majorFont>
      <a:minorFont>
        <a:latin typeface="Times New Roman"/>
        <a:ea typeface="字魂59号-创粗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 123">
  <a:themeElements>
    <a:clrScheme name="答辩宝典">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fontScheme name="3e6dcff5-e5d0-4354-af99-163496bca367">
      <a:majorFont>
        <a:latin typeface="Times New Roman"/>
        <a:ea typeface="字魂59号-创粗黑"/>
        <a:cs typeface=""/>
      </a:majorFont>
      <a:minorFont>
        <a:latin typeface="Times New Roman"/>
        <a:ea typeface="字魂59号-创粗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38100">
          <a:noFill/>
        </a:ln>
      </a:spPr>
      <a:bodyPr rtlCol="0" anchor="ctr"/>
      <a:lstStyle>
        <a:defPPr algn="ctr">
          <a:defRPr dirty="0" smtClean="0">
            <a:solidFill>
              <a:schemeClr val="dk1"/>
            </a:solidFill>
          </a:defRPr>
        </a:defPPr>
      </a:lstStyle>
      <a:style>
        <a:lnRef idx="2">
          <a:schemeClr val="dk1"/>
        </a:lnRef>
        <a:fillRef idx="1">
          <a:schemeClr val="lt1"/>
        </a:fillRef>
        <a:effectRef idx="0">
          <a:schemeClr val="dk1"/>
        </a:effectRef>
        <a:fontRef idx="minor">
          <a:schemeClr val="dk1"/>
        </a:fontRef>
      </a:style>
    </a:spDef>
    <a:lnDef>
      <a:spPr>
        <a:ln w="3175" cap="rnd">
          <a:solidFill>
            <a:schemeClr val="bg1">
              <a:lumMod val="75000"/>
            </a:schemeClr>
          </a:solidFill>
          <a:round/>
          <a:headEnd type="none"/>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tIns="46800" rIns="90000" bIns="46800" rtlCol="0" anchor="ctr" anchorCtr="0">
        <a:normAutofit/>
      </a:bodyPr>
      <a:lstStyle>
        <a:defPPr algn="ctr">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themeOverride>
</file>

<file path=ppt/theme/themeOverride2.xml><?xml version="1.0" encoding="utf-8"?>
<a:themeOverride xmlns:a="http://schemas.openxmlformats.org/drawingml/2006/main">
  <a:clrScheme name="Office">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themeOverride>
</file>

<file path=ppt/theme/themeOverride3.xml><?xml version="1.0" encoding="utf-8"?>
<a:themeOverride xmlns:a="http://schemas.openxmlformats.org/drawingml/2006/main">
  <a:clrScheme name="Office">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themeOverride>
</file>

<file path=ppt/theme/themeOverride4.xml><?xml version="1.0" encoding="utf-8"?>
<a:themeOverride xmlns:a="http://schemas.openxmlformats.org/drawingml/2006/main">
  <a:clrScheme name="答辩宝典">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themeOverride>
</file>

<file path=ppt/theme/themeOverride5.xml><?xml version="1.0" encoding="utf-8"?>
<a:themeOverride xmlns:a="http://schemas.openxmlformats.org/drawingml/2006/main">
  <a:clrScheme name="答辩宝典">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themeOverride>
</file>

<file path=ppt/theme/themeOverride6.xml><?xml version="1.0" encoding="utf-8"?>
<a:themeOverride xmlns:a="http://schemas.openxmlformats.org/drawingml/2006/main">
  <a:clrScheme name="Office">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themeOverride>
</file>

<file path=ppt/theme/themeOverride7.xml><?xml version="1.0" encoding="utf-8"?>
<a:themeOverride xmlns:a="http://schemas.openxmlformats.org/drawingml/2006/main">
  <a:clrScheme name="答辩宝典">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themeOverride>
</file>

<file path=ppt/theme/themeOverride8.xml><?xml version="1.0" encoding="utf-8"?>
<a:themeOverride xmlns:a="http://schemas.openxmlformats.org/drawingml/2006/main">
  <a:clrScheme name="Office">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themeOverride>
</file>

<file path=ppt/theme/themeOverride9.xml><?xml version="1.0" encoding="utf-8"?>
<a:themeOverride xmlns:a="http://schemas.openxmlformats.org/drawingml/2006/main">
  <a:clrScheme name="答辩宝典">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themeOverride>
</file>

<file path=ppt/theme/themeOverride10.xml><?xml version="1.0" encoding="utf-8"?>
<a:themeOverride xmlns:a="http://schemas.openxmlformats.org/drawingml/2006/main">
  <a:clrScheme name="答辩宝典">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themeOverride>
</file>

<file path=ppt/theme/themeOverride11.xml><?xml version="1.0" encoding="utf-8"?>
<a:themeOverride xmlns:a="http://schemas.openxmlformats.org/drawingml/2006/main">
  <a:clrScheme name="答辩宝典">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themeOverride>
</file>

<file path=ppt/theme/themeOverride12.xml><?xml version="1.0" encoding="utf-8"?>
<a:themeOverride xmlns:a="http://schemas.openxmlformats.org/drawingml/2006/main">
  <a:clrScheme name="答辩宝典">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themeOverride>
</file>

<file path=ppt/theme/themeOverride13.xml><?xml version="1.0" encoding="utf-8"?>
<a:themeOverride xmlns:a="http://schemas.openxmlformats.org/drawingml/2006/main">
  <a:clrScheme name="Office">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themeOverride>
</file>

<file path=ppt/theme/themeOverride14.xml><?xml version="1.0" encoding="utf-8"?>
<a:themeOverride xmlns:a="http://schemas.openxmlformats.org/drawingml/2006/main">
  <a:clrScheme name="答辩宝典">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themeOverride>
</file>

<file path=ppt/theme/themeOverride15.xml><?xml version="1.0" encoding="utf-8"?>
<a:themeOverride xmlns:a="http://schemas.openxmlformats.org/drawingml/2006/main">
  <a:clrScheme name="答辩宝典">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themeOverride>
</file>

<file path=ppt/theme/themeOverride16.xml><?xml version="1.0" encoding="utf-8"?>
<a:themeOverride xmlns:a="http://schemas.openxmlformats.org/drawingml/2006/main">
  <a:clrScheme name="答辩宝典">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themeOverride>
</file>

<file path=ppt/theme/themeOverride17.xml><?xml version="1.0" encoding="utf-8"?>
<a:themeOverride xmlns:a="http://schemas.openxmlformats.org/drawingml/2006/main">
  <a:clrScheme name="答辩宝典">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themeOverride>
</file>

<file path=ppt/theme/themeOverride18.xml><?xml version="1.0" encoding="utf-8"?>
<a:themeOverride xmlns:a="http://schemas.openxmlformats.org/drawingml/2006/main">
  <a:clrScheme name="答辩宝典">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themeOverride>
</file>

<file path=ppt/theme/themeOverride19.xml><?xml version="1.0" encoding="utf-8"?>
<a:themeOverride xmlns:a="http://schemas.openxmlformats.org/drawingml/2006/main">
  <a:clrScheme name="答辩宝典">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280</TotalTime>
  <Words>2544</Words>
  <Application>Microsoft Office PowerPoint</Application>
  <PresentationFormat>宽屏</PresentationFormat>
  <Paragraphs>203</Paragraphs>
  <Slides>21</Slides>
  <Notes>21</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21</vt:i4>
      </vt:variant>
    </vt:vector>
  </HeadingPairs>
  <TitlesOfParts>
    <vt:vector size="27" baseType="lpstr">
      <vt:lpstr>等线</vt:lpstr>
      <vt:lpstr>Arial</vt:lpstr>
      <vt:lpstr>Calibri</vt:lpstr>
      <vt:lpstr>Times New Roman</vt:lpstr>
      <vt:lpstr>千图网拥有20W+精美PPT模板 更多PPT模板下载至：www.58pic.com/office/ppt</vt:lpstr>
      <vt:lpstr> 123</vt:lpstr>
      <vt:lpstr>PowerPoint 演示文稿</vt:lpstr>
      <vt:lpstr>PowerPoint 演示文稿</vt:lpstr>
      <vt:lpstr>PowerPoint 演示文稿</vt:lpstr>
      <vt:lpstr>研究现状</vt:lpstr>
      <vt:lpstr>发展态势</vt:lpstr>
      <vt:lpstr>PowerPoint 演示文稿</vt:lpstr>
      <vt:lpstr>选题依据及意义</vt:lpstr>
      <vt:lpstr>PowerPoint 演示文稿</vt:lpstr>
      <vt:lpstr>荧光太阳能聚光器（LSC）光学效率影响因素分析</vt:lpstr>
      <vt:lpstr>荧光材料与LSC性能数据库构建</vt:lpstr>
      <vt:lpstr>人工智能预测模型构建与优化</vt:lpstr>
      <vt:lpstr>LSC逆向设计与性能优化</vt:lpstr>
      <vt:lpstr>实验验证与模型评估</vt:lpstr>
      <vt:lpstr>PowerPoint 演示文稿</vt:lpstr>
      <vt:lpstr>拟解决的关键问题和最终目标</vt:lpstr>
      <vt:lpstr>主要理论</vt:lpstr>
      <vt:lpstr>技术路线</vt:lpstr>
      <vt:lpstr>实施方案</vt:lpstr>
      <vt:lpstr>创新点</vt:lpstr>
      <vt:lpstr>参考文献</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简约毕业答辩设计论文答辩PPT模板</dc:title>
  <dc:creator>.</dc:creator>
  <cp:lastModifiedBy>Coral</cp:lastModifiedBy>
  <cp:revision>127</cp:revision>
  <dcterms:created xsi:type="dcterms:W3CDTF">2018-04-25T14:27:00Z</dcterms:created>
  <dcterms:modified xsi:type="dcterms:W3CDTF">2026-01-05T13:47:15Z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RubyTemplateID">
    <vt:lpwstr>8</vt:lpwstr>
  </property>
  <property fmtid="{D5CDD505-2E9C-101B-9397-08002B2CF9AE}" pid="3" name="KSOProductBuildVer">
    <vt:lpwstr>2052-11.1.0.8214</vt:lpwstr>
  </property>
</Properties>
</file>