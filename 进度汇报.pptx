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90" r:id="rId5"/>
    <p:sldId id="291" r:id="rId6"/>
    <p:sldId id="260" r:id="rId7"/>
    <p:sldId id="292" r:id="rId8"/>
    <p:sldId id="286" r:id="rId9"/>
    <p:sldId id="259" r:id="rId10"/>
    <p:sldId id="269" r:id="rId11"/>
    <p:sldId id="304" r:id="rId12"/>
    <p:sldId id="293" r:id="rId13"/>
    <p:sldId id="309" r:id="rId14"/>
    <p:sldId id="294" r:id="rId15"/>
    <p:sldId id="295" r:id="rId16"/>
    <p:sldId id="296" r:id="rId17"/>
    <p:sldId id="299" r:id="rId18"/>
    <p:sldId id="298" r:id="rId19"/>
    <p:sldId id="300" r:id="rId20"/>
    <p:sldId id="301" r:id="rId21"/>
    <p:sldId id="302" r:id="rId22"/>
    <p:sldId id="303" r:id="rId23"/>
    <p:sldId id="305" r:id="rId24"/>
    <p:sldId id="306" r:id="rId25"/>
    <p:sldId id="307" r:id="rId26"/>
    <p:sldId id="308" r:id="rId27"/>
    <p:sldId id="266" r:id="rId28"/>
    <p:sldId id="287" r:id="rId29"/>
    <p:sldId id="310" r:id="rId30"/>
    <p:sldId id="311" r:id="rId31"/>
    <p:sldId id="288" r:id="rId32"/>
    <p:sldId id="274" r:id="rId33"/>
    <p:sldId id="289" r:id="rId34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2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EEDDD-2F66-4DB6-9D98-5AE1A2A5120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793F8-885B-454C-A636-0A4DD6C46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437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850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358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917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3011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301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DEAAA30D-4C80-4EBD-BBBC-26C3A6D99627}" type="slidenum">
              <a:rPr altLang="en-US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407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4A4BC-6B68-3982-DCF0-17358C9F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02D7789E-D6F9-7FD2-C769-DAF60966082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CFA2F31D-37DE-7F81-CD73-1FB0255C10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A9382BF1-021B-B065-6050-49A369CEA8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941DCD6F-6F06-4646-BBD6-322D05DFE500}" type="slidenum">
              <a:rPr altLang="en-US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079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92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198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198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63294C6E-E21D-4BA3-81A6-94F04B7B38F3}" type="slidenum">
              <a:rPr altLang="en-US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911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166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F785-E045-F535-291A-AAFF9679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6954769A-6A5F-AD4B-531B-57ECAAC3856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1519CCBB-56A7-3A23-CE23-76367EB1841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D34232A8-1358-0883-6441-D63F209FC1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351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CCBEE-315E-EB7D-024A-D6C8B619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513682AA-53E4-1877-D91B-6B6CA23D410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1F378F78-DE6A-E745-40BC-2ABBC5FD938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2C54D6A6-0B4A-B9E3-D003-2A1B79507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161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FE6CE-0C23-9C8A-6B39-3CCADF184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CA944E32-D337-9350-DB41-40770C9AADA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547DB7DF-E79E-18D2-09DA-D0177FE359C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6C82CA53-0BE4-C565-1762-3B2AA317C6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878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7B6D-A77F-5CB9-D8C0-C687B3F13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BB458774-C01F-DD55-A060-B8F03AE1850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CE046D85-AA5C-6861-EF44-0C05343ADB7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23E2DB8E-21D7-0B83-4BA6-9EF1202D7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372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63E36-D1B2-6B40-B20C-9CCB5772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6D47FA44-E5CF-C5E9-4FEE-35FF193C60B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AF8287F7-EE09-1416-82AE-7C99068F271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C2B926EC-4AB6-5C96-5CB9-8E09D7C852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455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5C45-F009-CE83-398B-18BED4EDD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189E859B-1F7E-750B-60EF-36213289FA5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7B9C767D-08F3-9740-0B92-E6C4246A1A7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6AC90477-87C3-78D3-BC0C-4EFF98E944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983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A3F6-6D10-22EC-3094-98621872F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A204A499-EC39-6921-32F5-BF3A1718CD1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B27222F3-5179-D55C-1F8D-BF88DC9EB1C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1BA60376-1C91-976E-F60E-0A032920A0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8426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7201-193E-7DB4-3D57-ED092BA2E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AD78DA55-70EF-A3DC-D3F8-03B9ECA8416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C53A1DCC-CF66-F9B5-E813-075F580CB3A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230CE986-29B6-3565-C46E-17F3B17489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395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C4EF7-167A-A3BB-68C9-A4F19F35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0FA66F62-52B5-E370-230C-2A2BC335E39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697F9FC6-315D-D441-1937-39B2938C35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40413C09-C111-029D-5DB7-BC1CC83539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3551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97D31-7551-545E-8F3E-B78923D6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4CF53D32-C69B-B404-3D4D-1235CB0207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69D83D94-8004-2EE1-21A8-E987CD204B5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CF027905-AFAA-5341-C2B9-821E7C993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513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0DB2-22F4-8C45-B7F4-A0E8E21F1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EA50B1F7-277C-D73E-D33D-0A058A801B3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982E7C5F-74F6-EFDF-3C45-3234146234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708F1A8B-BC02-BE73-4BA0-7D1DE9515C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691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2A6A2-DA58-C166-EE54-B9E912158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80A5A546-0FE1-A55E-1663-B66A54BEBED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5A0791DC-1F9C-AFFC-81DA-5DFF49447A3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CEFAA4F3-0B7C-6B91-50B5-ADDE776187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6697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9F710-8616-C7C7-3DD3-6BF7D735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25B61B53-746E-67F2-8987-C19124688EC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095C0130-1CB7-555A-8FC1-134AB7BBDF3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833F40CD-D78F-3A40-589C-0F2F2D320F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1127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8C4D4-85A6-BAC8-87A6-C36B3603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081B9010-006E-CAC7-78F0-C69A0FC9561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FD25BDA1-E4E4-F2C4-8198-209D1F4230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776DB688-38EB-5B48-6108-3BFEC84856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720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5C8A4-CA8C-8B6A-DE9E-BB9EEF5A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92F0A8A4-AEB5-4E66-BC99-C9315B29CCD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DB2351D8-88BA-7E7B-5012-76D2760C72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59AE8D59-120D-82AE-3D41-405C907F89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1455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8036-FCE2-2BD0-1D5C-F4E7FD4B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2E9B1733-E7D6-40BA-DE4E-9C5D9704911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7E458367-EAF5-E7B5-8A0D-B8AF82FA7E6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C22B69C6-D956-2818-5646-B7C5614B56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0810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8131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13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941DCD6F-6F06-4646-BBD6-322D05DFE500}" type="slidenum">
              <a:rPr altLang="en-US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0386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2324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e7230748-a914-4e8b-aa4e-dd1bc08b2e2d.source.4.zh-Hans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3114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5112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5299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53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66383E5-142D-48CB-AFEF-0349F0AD3BB2}" type="slidenum">
              <a:rPr altLang="en-US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8088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611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F58EC-B047-4879-A321-D3179CE2E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AB5A2D-D880-4EF2-B2FA-31E8D9CE1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37CB3D-C513-44B9-AA34-77B7F7496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E134B4-3EEF-4E78-B973-D2C38E29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5BAE5B-6595-4B0D-8D7F-6BC4717CF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347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0A838-BF00-4D12-9063-A10F354A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4C6A3-75CA-491D-AFAB-FEE6B2C70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581804-16C3-4020-AE02-11394F9D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C7E221-3697-47D5-BA9C-0040F8E36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D42A76-AB15-4906-BEDB-E23BC5AC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63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50CF2-6EF7-4C7A-A330-6C56142CB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110A1-EA3C-41D9-A0AC-9D9EE0A3A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D24AB8-68C5-4B55-9019-CCDCC9100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7B150D-8E28-4B8A-B9BC-BEDE4C5A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4D4FA2-53A1-4FBD-B358-F821A74E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99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3D42C-17B9-48A0-8390-5028A57A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4267B3-D555-4E86-B604-5C2136113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52222F-1207-4D91-8213-08CE956EB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B7B1E6-D9A7-4DDC-9806-B37D579D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5E7EC2-240E-4A9A-8371-805D149CF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9052CF-F135-4C88-A12E-117DB34E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452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A1EC7-EC73-4C13-8417-C5688CF13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5FB4BD-B3D5-46AF-BF82-AE6458F7D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01D66B-4420-470B-9C82-24E9D8816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AB1381-DD0C-40A7-9234-D93D563BA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449E34-7139-48DF-9BCD-EAA3EEA377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5D0B82-AAAA-4B34-A2D0-239EA054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423E56-559C-4B67-9295-99F9DD74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0EE21D-3D0C-48F7-A095-0CBA8BFBE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089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4621F-3373-49FE-BB8B-D075BB55E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C12FC1-ACEB-4964-91E9-29DB3DA1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F559B4-DA0C-4528-9E23-DC190F25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1576FC-2B3D-4A23-B978-9C8D95AEF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140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4EECA4-308A-4ECC-A278-A5D81C6E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FCFF59-8E78-4B05-8014-6EE5E05D2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604B00-8E22-4BCC-8A43-73B190A2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766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6BB2D-E50E-4F58-A5D4-42AE357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59B3AC-950B-4F86-B6DD-C579E562D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CF1483-E101-482C-A48A-4673739F9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4D1A19-8C9F-4B71-9D39-B079BCDEB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A40F14-075C-4FB7-B644-B8C70F62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8CAE4A-4C8E-44BF-B1B5-1E0CA075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510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31056-96F8-437E-B00C-4B936632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B50BD4C-139C-4C15-B816-69FC9AB85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301694-F0DA-40B9-BD0F-E0307859B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E564C6-7061-486D-8A92-44675654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90B939-50FB-47D9-ADC2-BD7B40D3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1FA757-864C-472C-83FE-AA5F7DDA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080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72C0B1-309E-496F-9C07-BC6DAE92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FFD8E4-70B3-419E-BE9D-263C9D350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CAD1C6-86D9-4256-B86D-B23D05C86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8ED541-9398-4570-AC01-7BF8AAB63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4D118F-AE2A-4BCC-9EBD-878333A5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788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4712B4-1993-41FE-8151-3A3B29679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BF2B2D-759F-4DE9-919C-47B1D7F7A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87D699-EBA1-49FC-8DB0-F04A4583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6482F7-BFAA-4B94-891B-9F4FAEDB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CAC1CC-D252-4854-BB48-0A513FB8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353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5ACC79-E8E5-4ECD-9A0C-DB92428C5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A97F25-65D8-481F-B9FF-F8ACB817B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0AB16E-BEBB-4114-8E7C-7F8218188B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10858-7C70-4AD8-8B8C-56F1273CD8A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3066E3-7324-472E-9495-1EC6D2B8A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221A9D-B0B3-48C4-B6B6-B9D2C5CD0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763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7C090C4-1F91-4B75-B139-82746F58EB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1BD4053-AF73-452A-AFA8-C2369503E25D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FFB7232A-3591-4DD2-A2F8-7243A5DD0892}"/>
              </a:ext>
            </a:extLst>
          </p:cNvPr>
          <p:cNvSpPr/>
          <p:nvPr/>
        </p:nvSpPr>
        <p:spPr>
          <a:xfrm rot="10800000">
            <a:off x="0" y="0"/>
            <a:ext cx="5522830" cy="2488924"/>
          </a:xfrm>
          <a:custGeom>
            <a:avLst/>
            <a:gdLst>
              <a:gd name="connsiteX0" fmla="*/ 4629710 w 4629710"/>
              <a:gd name="connsiteY0" fmla="*/ 2062620 h 2086429"/>
              <a:gd name="connsiteX1" fmla="*/ 4629710 w 4629710"/>
              <a:gd name="connsiteY1" fmla="*/ 2086429 h 2086429"/>
              <a:gd name="connsiteX2" fmla="*/ 4606079 w 4629710"/>
              <a:gd name="connsiteY2" fmla="*/ 2086429 h 2086429"/>
              <a:gd name="connsiteX3" fmla="*/ 1769949 w 4629710"/>
              <a:gd name="connsiteY3" fmla="*/ 1893739 h 2086429"/>
              <a:gd name="connsiteX4" fmla="*/ 1847524 w 4629710"/>
              <a:gd name="connsiteY4" fmla="*/ 1926988 h 2086429"/>
              <a:gd name="connsiteX5" fmla="*/ 1847524 w 4629710"/>
              <a:gd name="connsiteY5" fmla="*/ 2082151 h 2086429"/>
              <a:gd name="connsiteX6" fmla="*/ 1845924 w 4629710"/>
              <a:gd name="connsiteY6" fmla="*/ 2083764 h 2086429"/>
              <a:gd name="connsiteX7" fmla="*/ 1843281 w 4629710"/>
              <a:gd name="connsiteY7" fmla="*/ 2086429 h 2086429"/>
              <a:gd name="connsiteX8" fmla="*/ 1534067 w 4629710"/>
              <a:gd name="connsiteY8" fmla="*/ 2086429 h 2086429"/>
              <a:gd name="connsiteX9" fmla="*/ 1692374 w 4629710"/>
              <a:gd name="connsiteY9" fmla="*/ 1926988 h 2086429"/>
              <a:gd name="connsiteX10" fmla="*/ 1769949 w 4629710"/>
              <a:gd name="connsiteY10" fmla="*/ 1893739 h 2086429"/>
              <a:gd name="connsiteX11" fmla="*/ 2462350 w 4629710"/>
              <a:gd name="connsiteY11" fmla="*/ 1712302 h 2086429"/>
              <a:gd name="connsiteX12" fmla="*/ 2539931 w 4629710"/>
              <a:gd name="connsiteY12" fmla="*/ 1744168 h 2086429"/>
              <a:gd name="connsiteX13" fmla="*/ 2539931 w 4629710"/>
              <a:gd name="connsiteY13" fmla="*/ 1901188 h 2086429"/>
              <a:gd name="connsiteX14" fmla="*/ 2369776 w 4629710"/>
              <a:gd name="connsiteY14" fmla="*/ 2072642 h 2086429"/>
              <a:gd name="connsiteX15" fmla="*/ 2356093 w 4629710"/>
              <a:gd name="connsiteY15" fmla="*/ 2086429 h 2086429"/>
              <a:gd name="connsiteX16" fmla="*/ 2045101 w 4629710"/>
              <a:gd name="connsiteY16" fmla="*/ 2086429 h 2086429"/>
              <a:gd name="connsiteX17" fmla="*/ 2115833 w 4629710"/>
              <a:gd name="connsiteY17" fmla="*/ 2015158 h 2086429"/>
              <a:gd name="connsiteX18" fmla="*/ 2384770 w 4629710"/>
              <a:gd name="connsiteY18" fmla="*/ 1744168 h 2086429"/>
              <a:gd name="connsiteX19" fmla="*/ 2462350 w 4629710"/>
              <a:gd name="connsiteY19" fmla="*/ 1712302 h 2086429"/>
              <a:gd name="connsiteX20" fmla="*/ 4629710 w 4629710"/>
              <a:gd name="connsiteY20" fmla="*/ 1546814 h 2086429"/>
              <a:gd name="connsiteX21" fmla="*/ 4629710 w 4629710"/>
              <a:gd name="connsiteY21" fmla="*/ 1858916 h 2086429"/>
              <a:gd name="connsiteX22" fmla="*/ 4619307 w 4629710"/>
              <a:gd name="connsiteY22" fmla="*/ 1869385 h 2086429"/>
              <a:gd name="connsiteX23" fmla="*/ 4413580 w 4629710"/>
              <a:gd name="connsiteY23" fmla="*/ 2076441 h 2086429"/>
              <a:gd name="connsiteX24" fmla="*/ 4403656 w 4629710"/>
              <a:gd name="connsiteY24" fmla="*/ 2086429 h 2086429"/>
              <a:gd name="connsiteX25" fmla="*/ 4093847 w 4629710"/>
              <a:gd name="connsiteY25" fmla="*/ 2086429 h 2086429"/>
              <a:gd name="connsiteX26" fmla="*/ 4162148 w 4629710"/>
              <a:gd name="connsiteY26" fmla="*/ 2017650 h 2086429"/>
              <a:gd name="connsiteX27" fmla="*/ 4608252 w 4629710"/>
              <a:gd name="connsiteY27" fmla="*/ 1568422 h 2086429"/>
              <a:gd name="connsiteX28" fmla="*/ 2238267 w 4629710"/>
              <a:gd name="connsiteY28" fmla="*/ 1422274 h 2086429"/>
              <a:gd name="connsiteX29" fmla="*/ 2315838 w 4629710"/>
              <a:gd name="connsiteY29" fmla="*/ 1455593 h 2086429"/>
              <a:gd name="connsiteX30" fmla="*/ 2315838 w 4629710"/>
              <a:gd name="connsiteY30" fmla="*/ 1611082 h 2086429"/>
              <a:gd name="connsiteX31" fmla="*/ 2083124 w 4629710"/>
              <a:gd name="connsiteY31" fmla="*/ 1848018 h 2086429"/>
              <a:gd name="connsiteX32" fmla="*/ 1927981 w 4629710"/>
              <a:gd name="connsiteY32" fmla="*/ 1848018 h 2086429"/>
              <a:gd name="connsiteX33" fmla="*/ 1927981 w 4629710"/>
              <a:gd name="connsiteY33" fmla="*/ 1690678 h 2086429"/>
              <a:gd name="connsiteX34" fmla="*/ 2160695 w 4629710"/>
              <a:gd name="connsiteY34" fmla="*/ 1455593 h 2086429"/>
              <a:gd name="connsiteX35" fmla="*/ 2238267 w 4629710"/>
              <a:gd name="connsiteY35" fmla="*/ 1422274 h 2086429"/>
              <a:gd name="connsiteX36" fmla="*/ 828764 w 4629710"/>
              <a:gd name="connsiteY36" fmla="*/ 1296841 h 2086429"/>
              <a:gd name="connsiteX37" fmla="*/ 906376 w 4629710"/>
              <a:gd name="connsiteY37" fmla="*/ 1330096 h 2086429"/>
              <a:gd name="connsiteX38" fmla="*/ 906376 w 4629710"/>
              <a:gd name="connsiteY38" fmla="*/ 1485289 h 2086429"/>
              <a:gd name="connsiteX39" fmla="*/ 442282 w 4629710"/>
              <a:gd name="connsiteY39" fmla="*/ 1952837 h 2086429"/>
              <a:gd name="connsiteX40" fmla="*/ 309677 w 4629710"/>
              <a:gd name="connsiteY40" fmla="*/ 2086429 h 2086429"/>
              <a:gd name="connsiteX41" fmla="*/ 0 w 4629710"/>
              <a:gd name="connsiteY41" fmla="*/ 2086429 h 2086429"/>
              <a:gd name="connsiteX42" fmla="*/ 86087 w 4629710"/>
              <a:gd name="connsiteY42" fmla="*/ 1999748 h 2086429"/>
              <a:gd name="connsiteX43" fmla="*/ 751152 w 4629710"/>
              <a:gd name="connsiteY43" fmla="*/ 1330096 h 2086429"/>
              <a:gd name="connsiteX44" fmla="*/ 828764 w 4629710"/>
              <a:gd name="connsiteY44" fmla="*/ 1296841 h 2086429"/>
              <a:gd name="connsiteX45" fmla="*/ 2890951 w 4629710"/>
              <a:gd name="connsiteY45" fmla="*/ 1280952 h 2086429"/>
              <a:gd name="connsiteX46" fmla="*/ 2968547 w 4629710"/>
              <a:gd name="connsiteY46" fmla="*/ 1314167 h 2086429"/>
              <a:gd name="connsiteX47" fmla="*/ 2968547 w 4629710"/>
              <a:gd name="connsiteY47" fmla="*/ 1471018 h 2086429"/>
              <a:gd name="connsiteX48" fmla="*/ 2781947 w 4629710"/>
              <a:gd name="connsiteY48" fmla="*/ 1657393 h 2086429"/>
              <a:gd name="connsiteX49" fmla="*/ 2626756 w 4629710"/>
              <a:gd name="connsiteY49" fmla="*/ 1657393 h 2086429"/>
              <a:gd name="connsiteX50" fmla="*/ 2626756 w 4629710"/>
              <a:gd name="connsiteY50" fmla="*/ 1500543 h 2086429"/>
              <a:gd name="connsiteX51" fmla="*/ 2813355 w 4629710"/>
              <a:gd name="connsiteY51" fmla="*/ 1314167 h 2086429"/>
              <a:gd name="connsiteX52" fmla="*/ 2890951 w 4629710"/>
              <a:gd name="connsiteY52" fmla="*/ 1280952 h 2086429"/>
              <a:gd name="connsiteX53" fmla="*/ 2489546 w 4629710"/>
              <a:gd name="connsiteY53" fmla="*/ 1169336 h 2086429"/>
              <a:gd name="connsiteX54" fmla="*/ 2568346 w 4629710"/>
              <a:gd name="connsiteY54" fmla="*/ 1201077 h 2086429"/>
              <a:gd name="connsiteX55" fmla="*/ 2568346 w 4629710"/>
              <a:gd name="connsiteY55" fmla="*/ 1357482 h 2086429"/>
              <a:gd name="connsiteX56" fmla="*/ 2410746 w 4629710"/>
              <a:gd name="connsiteY56" fmla="*/ 1357482 h 2086429"/>
              <a:gd name="connsiteX57" fmla="*/ 2410746 w 4629710"/>
              <a:gd name="connsiteY57" fmla="*/ 1201077 h 2086429"/>
              <a:gd name="connsiteX58" fmla="*/ 2489546 w 4629710"/>
              <a:gd name="connsiteY58" fmla="*/ 1169336 h 2086429"/>
              <a:gd name="connsiteX59" fmla="*/ 4629710 w 4629710"/>
              <a:gd name="connsiteY59" fmla="*/ 1030758 h 2086429"/>
              <a:gd name="connsiteX60" fmla="*/ 4629710 w 4629710"/>
              <a:gd name="connsiteY60" fmla="*/ 1344123 h 2086429"/>
              <a:gd name="connsiteX61" fmla="*/ 4521168 w 4629710"/>
              <a:gd name="connsiteY61" fmla="*/ 1453492 h 2086429"/>
              <a:gd name="connsiteX62" fmla="*/ 4045104 w 4629710"/>
              <a:gd name="connsiteY62" fmla="*/ 1933189 h 2086429"/>
              <a:gd name="connsiteX63" fmla="*/ 3893025 w 4629710"/>
              <a:gd name="connsiteY63" fmla="*/ 2086429 h 2086429"/>
              <a:gd name="connsiteX64" fmla="*/ 3582033 w 4629710"/>
              <a:gd name="connsiteY64" fmla="*/ 2086429 h 2086429"/>
              <a:gd name="connsiteX65" fmla="*/ 3589225 w 4629710"/>
              <a:gd name="connsiteY65" fmla="*/ 2079182 h 2086429"/>
              <a:gd name="connsiteX66" fmla="*/ 4626351 w 4629710"/>
              <a:gd name="connsiteY66" fmla="*/ 1034143 h 2086429"/>
              <a:gd name="connsiteX67" fmla="*/ 1614625 w 4629710"/>
              <a:gd name="connsiteY67" fmla="*/ 1018568 h 2086429"/>
              <a:gd name="connsiteX68" fmla="*/ 1692206 w 4629710"/>
              <a:gd name="connsiteY68" fmla="*/ 1050446 h 2086429"/>
              <a:gd name="connsiteX69" fmla="*/ 1692206 w 4629710"/>
              <a:gd name="connsiteY69" fmla="*/ 1207526 h 2086429"/>
              <a:gd name="connsiteX70" fmla="*/ 904454 w 4629710"/>
              <a:gd name="connsiteY70" fmla="*/ 2001593 h 2086429"/>
              <a:gd name="connsiteX71" fmla="*/ 820292 w 4629710"/>
              <a:gd name="connsiteY71" fmla="*/ 2086429 h 2086429"/>
              <a:gd name="connsiteX72" fmla="*/ 509300 w 4629710"/>
              <a:gd name="connsiteY72" fmla="*/ 2086429 h 2086429"/>
              <a:gd name="connsiteX73" fmla="*/ 535713 w 4629710"/>
              <a:gd name="connsiteY73" fmla="*/ 2059804 h 2086429"/>
              <a:gd name="connsiteX74" fmla="*/ 1537045 w 4629710"/>
              <a:gd name="connsiteY74" fmla="*/ 1050446 h 2086429"/>
              <a:gd name="connsiteX75" fmla="*/ 1614625 w 4629710"/>
              <a:gd name="connsiteY75" fmla="*/ 1018568 h 2086429"/>
              <a:gd name="connsiteX76" fmla="*/ 2303600 w 4629710"/>
              <a:gd name="connsiteY76" fmla="*/ 841225 h 2086429"/>
              <a:gd name="connsiteX77" fmla="*/ 2381181 w 4629710"/>
              <a:gd name="connsiteY77" fmla="*/ 874475 h 2086429"/>
              <a:gd name="connsiteX78" fmla="*/ 2381181 w 4629710"/>
              <a:gd name="connsiteY78" fmla="*/ 1031485 h 2086429"/>
              <a:gd name="connsiteX79" fmla="*/ 1379622 w 4629710"/>
              <a:gd name="connsiteY79" fmla="*/ 2040153 h 2086429"/>
              <a:gd name="connsiteX80" fmla="*/ 1333672 w 4629710"/>
              <a:gd name="connsiteY80" fmla="*/ 2086429 h 2086429"/>
              <a:gd name="connsiteX81" fmla="*/ 1022608 w 4629710"/>
              <a:gd name="connsiteY81" fmla="*/ 2086429 h 2086429"/>
              <a:gd name="connsiteX82" fmla="*/ 1076516 w 4629710"/>
              <a:gd name="connsiteY82" fmla="*/ 2032139 h 2086429"/>
              <a:gd name="connsiteX83" fmla="*/ 2226020 w 4629710"/>
              <a:gd name="connsiteY83" fmla="*/ 874475 h 2086429"/>
              <a:gd name="connsiteX84" fmla="*/ 2303600 w 4629710"/>
              <a:gd name="connsiteY84" fmla="*/ 841225 h 2086429"/>
              <a:gd name="connsiteX85" fmla="*/ 1838798 w 4629710"/>
              <a:gd name="connsiteY85" fmla="*/ 795146 h 2086429"/>
              <a:gd name="connsiteX86" fmla="*/ 1916161 w 4629710"/>
              <a:gd name="connsiteY86" fmla="*/ 828267 h 2086429"/>
              <a:gd name="connsiteX87" fmla="*/ 1916161 w 4629710"/>
              <a:gd name="connsiteY87" fmla="*/ 984672 h 2086429"/>
              <a:gd name="connsiteX88" fmla="*/ 1761434 w 4629710"/>
              <a:gd name="connsiteY88" fmla="*/ 984672 h 2086429"/>
              <a:gd name="connsiteX89" fmla="*/ 1761434 w 4629710"/>
              <a:gd name="connsiteY89" fmla="*/ 828267 h 2086429"/>
              <a:gd name="connsiteX90" fmla="*/ 1838798 w 4629710"/>
              <a:gd name="connsiteY90" fmla="*/ 795146 h 2086429"/>
              <a:gd name="connsiteX91" fmla="*/ 4629710 w 4629710"/>
              <a:gd name="connsiteY91" fmla="*/ 514384 h 2086429"/>
              <a:gd name="connsiteX92" fmla="*/ 4629710 w 4629710"/>
              <a:gd name="connsiteY92" fmla="*/ 828997 h 2086429"/>
              <a:gd name="connsiteX93" fmla="*/ 4595945 w 4629710"/>
              <a:gd name="connsiteY93" fmla="*/ 863022 h 2086429"/>
              <a:gd name="connsiteX94" fmla="*/ 3437297 w 4629710"/>
              <a:gd name="connsiteY94" fmla="*/ 2030584 h 2086429"/>
              <a:gd name="connsiteX95" fmla="*/ 3381878 w 4629710"/>
              <a:gd name="connsiteY95" fmla="*/ 2086429 h 2086429"/>
              <a:gd name="connsiteX96" fmla="*/ 3070403 w 4629710"/>
              <a:gd name="connsiteY96" fmla="*/ 2086429 h 2086429"/>
              <a:gd name="connsiteX97" fmla="*/ 3214665 w 4629710"/>
              <a:gd name="connsiteY97" fmla="*/ 1940988 h 2086429"/>
              <a:gd name="connsiteX98" fmla="*/ 4469965 w 4629710"/>
              <a:gd name="connsiteY98" fmla="*/ 675434 h 2086429"/>
              <a:gd name="connsiteX99" fmla="*/ 4629710 w 4629710"/>
              <a:gd name="connsiteY99" fmla="*/ 0 h 2086429"/>
              <a:gd name="connsiteX100" fmla="*/ 4629710 w 4629710"/>
              <a:gd name="connsiteY100" fmla="*/ 314353 h 2086429"/>
              <a:gd name="connsiteX101" fmla="*/ 4558252 w 4629710"/>
              <a:gd name="connsiteY101" fmla="*/ 386295 h 2086429"/>
              <a:gd name="connsiteX102" fmla="*/ 3117080 w 4629710"/>
              <a:gd name="connsiteY102" fmla="*/ 1837231 h 2086429"/>
              <a:gd name="connsiteX103" fmla="*/ 2869559 w 4629710"/>
              <a:gd name="connsiteY103" fmla="*/ 2086429 h 2086429"/>
              <a:gd name="connsiteX104" fmla="*/ 2558298 w 4629710"/>
              <a:gd name="connsiteY104" fmla="*/ 2086429 h 2086429"/>
              <a:gd name="connsiteX105" fmla="*/ 2623869 w 4629710"/>
              <a:gd name="connsiteY105" fmla="*/ 2020383 h 2086429"/>
              <a:gd name="connsiteX106" fmla="*/ 4514978 w 4629710"/>
              <a:gd name="connsiteY106" fmla="*/ 115564 h 208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4629710" h="2086429">
                <a:moveTo>
                  <a:pt x="4629710" y="2062620"/>
                </a:moveTo>
                <a:lnTo>
                  <a:pt x="4629710" y="2086429"/>
                </a:lnTo>
                <a:lnTo>
                  <a:pt x="4606079" y="2086429"/>
                </a:lnTo>
                <a:close/>
                <a:moveTo>
                  <a:pt x="1769949" y="1893739"/>
                </a:moveTo>
                <a:cubicBezTo>
                  <a:pt x="1798116" y="1893739"/>
                  <a:pt x="1826283" y="1904822"/>
                  <a:pt x="1847524" y="1926988"/>
                </a:cubicBezTo>
                <a:cubicBezTo>
                  <a:pt x="1891853" y="1969473"/>
                  <a:pt x="1891853" y="2039666"/>
                  <a:pt x="1847524" y="2082151"/>
                </a:cubicBezTo>
                <a:cubicBezTo>
                  <a:pt x="1847524" y="2082151"/>
                  <a:pt x="1847524" y="2082151"/>
                  <a:pt x="1845924" y="2083764"/>
                </a:cubicBezTo>
                <a:lnTo>
                  <a:pt x="1843281" y="2086429"/>
                </a:lnTo>
                <a:lnTo>
                  <a:pt x="1534067" y="2086429"/>
                </a:lnTo>
                <a:lnTo>
                  <a:pt x="1692374" y="1926988"/>
                </a:lnTo>
                <a:cubicBezTo>
                  <a:pt x="1713615" y="1904822"/>
                  <a:pt x="1741782" y="1893739"/>
                  <a:pt x="1769949" y="1893739"/>
                </a:cubicBezTo>
                <a:close/>
                <a:moveTo>
                  <a:pt x="2462350" y="1712302"/>
                </a:moveTo>
                <a:cubicBezTo>
                  <a:pt x="2490519" y="1712302"/>
                  <a:pt x="2518688" y="1722924"/>
                  <a:pt x="2539931" y="1744168"/>
                </a:cubicBezTo>
                <a:cubicBezTo>
                  <a:pt x="2582415" y="1788503"/>
                  <a:pt x="2582415" y="1858701"/>
                  <a:pt x="2539931" y="1901188"/>
                </a:cubicBezTo>
                <a:cubicBezTo>
                  <a:pt x="2539931" y="1901188"/>
                  <a:pt x="2539931" y="1901188"/>
                  <a:pt x="2369776" y="2072642"/>
                </a:cubicBezTo>
                <a:lnTo>
                  <a:pt x="2356093" y="2086429"/>
                </a:lnTo>
                <a:lnTo>
                  <a:pt x="2045101" y="2086429"/>
                </a:lnTo>
                <a:lnTo>
                  <a:pt x="2115833" y="2015158"/>
                </a:lnTo>
                <a:cubicBezTo>
                  <a:pt x="2203361" y="1926962"/>
                  <a:pt x="2292990" y="1836649"/>
                  <a:pt x="2384770" y="1744168"/>
                </a:cubicBezTo>
                <a:cubicBezTo>
                  <a:pt x="2406013" y="1722924"/>
                  <a:pt x="2434181" y="1712302"/>
                  <a:pt x="2462350" y="1712302"/>
                </a:cubicBezTo>
                <a:close/>
                <a:moveTo>
                  <a:pt x="4629710" y="1546814"/>
                </a:moveTo>
                <a:lnTo>
                  <a:pt x="4629710" y="1858916"/>
                </a:lnTo>
                <a:lnTo>
                  <a:pt x="4619307" y="1869385"/>
                </a:lnTo>
                <a:cubicBezTo>
                  <a:pt x="4552784" y="1936338"/>
                  <a:pt x="4484229" y="2005336"/>
                  <a:pt x="4413580" y="2076441"/>
                </a:cubicBezTo>
                <a:lnTo>
                  <a:pt x="4403656" y="2086429"/>
                </a:lnTo>
                <a:lnTo>
                  <a:pt x="4093847" y="2086429"/>
                </a:lnTo>
                <a:lnTo>
                  <a:pt x="4162148" y="2017650"/>
                </a:lnTo>
                <a:cubicBezTo>
                  <a:pt x="4291492" y="1887401"/>
                  <a:pt x="4439313" y="1738544"/>
                  <a:pt x="4608252" y="1568422"/>
                </a:cubicBezTo>
                <a:close/>
                <a:moveTo>
                  <a:pt x="2238267" y="1422274"/>
                </a:moveTo>
                <a:cubicBezTo>
                  <a:pt x="2266433" y="1422274"/>
                  <a:pt x="2294599" y="1433380"/>
                  <a:pt x="2315838" y="1455593"/>
                </a:cubicBezTo>
                <a:cubicBezTo>
                  <a:pt x="2360165" y="1498167"/>
                  <a:pt x="2360165" y="1568507"/>
                  <a:pt x="2315838" y="1611082"/>
                </a:cubicBezTo>
                <a:cubicBezTo>
                  <a:pt x="2315838" y="1611082"/>
                  <a:pt x="2315838" y="1611082"/>
                  <a:pt x="2083124" y="1848018"/>
                </a:cubicBezTo>
                <a:cubicBezTo>
                  <a:pt x="2040645" y="1890592"/>
                  <a:pt x="1970461" y="1890592"/>
                  <a:pt x="1927981" y="1848018"/>
                </a:cubicBezTo>
                <a:cubicBezTo>
                  <a:pt x="1885502" y="1803592"/>
                  <a:pt x="1885502" y="1733252"/>
                  <a:pt x="1927981" y="1690678"/>
                </a:cubicBezTo>
                <a:cubicBezTo>
                  <a:pt x="1927981" y="1690678"/>
                  <a:pt x="1927981" y="1690678"/>
                  <a:pt x="2160695" y="1455593"/>
                </a:cubicBezTo>
                <a:cubicBezTo>
                  <a:pt x="2181935" y="1433380"/>
                  <a:pt x="2210101" y="1422274"/>
                  <a:pt x="2238267" y="1422274"/>
                </a:cubicBezTo>
                <a:close/>
                <a:moveTo>
                  <a:pt x="828764" y="1296841"/>
                </a:moveTo>
                <a:cubicBezTo>
                  <a:pt x="856944" y="1296841"/>
                  <a:pt x="885125" y="1307926"/>
                  <a:pt x="906376" y="1330096"/>
                </a:cubicBezTo>
                <a:cubicBezTo>
                  <a:pt x="948878" y="1372589"/>
                  <a:pt x="948878" y="1442796"/>
                  <a:pt x="906376" y="1485289"/>
                </a:cubicBezTo>
                <a:cubicBezTo>
                  <a:pt x="906376" y="1485289"/>
                  <a:pt x="906376" y="1485289"/>
                  <a:pt x="442282" y="1952837"/>
                </a:cubicBezTo>
                <a:lnTo>
                  <a:pt x="309677" y="2086429"/>
                </a:lnTo>
                <a:lnTo>
                  <a:pt x="0" y="2086429"/>
                </a:lnTo>
                <a:lnTo>
                  <a:pt x="86087" y="1999748"/>
                </a:lnTo>
                <a:cubicBezTo>
                  <a:pt x="291823" y="1792593"/>
                  <a:pt x="513120" y="1569771"/>
                  <a:pt x="751152" y="1330096"/>
                </a:cubicBezTo>
                <a:cubicBezTo>
                  <a:pt x="772404" y="1307926"/>
                  <a:pt x="800583" y="1296841"/>
                  <a:pt x="828764" y="1296841"/>
                </a:cubicBezTo>
                <a:close/>
                <a:moveTo>
                  <a:pt x="2890951" y="1280952"/>
                </a:moveTo>
                <a:cubicBezTo>
                  <a:pt x="2919126" y="1280952"/>
                  <a:pt x="2947301" y="1292024"/>
                  <a:pt x="2968547" y="1314167"/>
                </a:cubicBezTo>
                <a:cubicBezTo>
                  <a:pt x="3011040" y="1356609"/>
                  <a:pt x="3011040" y="1426731"/>
                  <a:pt x="2968547" y="1471018"/>
                </a:cubicBezTo>
                <a:cubicBezTo>
                  <a:pt x="2968547" y="1471018"/>
                  <a:pt x="2968547" y="1471018"/>
                  <a:pt x="2781947" y="1657393"/>
                </a:cubicBezTo>
                <a:cubicBezTo>
                  <a:pt x="2739454" y="1701680"/>
                  <a:pt x="2669249" y="1701680"/>
                  <a:pt x="2626756" y="1657393"/>
                </a:cubicBezTo>
                <a:cubicBezTo>
                  <a:pt x="2582415" y="1614951"/>
                  <a:pt x="2582415" y="1544830"/>
                  <a:pt x="2626756" y="1500543"/>
                </a:cubicBezTo>
                <a:cubicBezTo>
                  <a:pt x="2626756" y="1500543"/>
                  <a:pt x="2626756" y="1500543"/>
                  <a:pt x="2813355" y="1314167"/>
                </a:cubicBezTo>
                <a:cubicBezTo>
                  <a:pt x="2834601" y="1292024"/>
                  <a:pt x="2862776" y="1280952"/>
                  <a:pt x="2890951" y="1280952"/>
                </a:cubicBezTo>
                <a:close/>
                <a:moveTo>
                  <a:pt x="2489546" y="1169336"/>
                </a:moveTo>
                <a:cubicBezTo>
                  <a:pt x="2517821" y="1169336"/>
                  <a:pt x="2546097" y="1179916"/>
                  <a:pt x="2568346" y="1201077"/>
                </a:cubicBezTo>
                <a:cubicBezTo>
                  <a:pt x="2610990" y="1245238"/>
                  <a:pt x="2610990" y="1315160"/>
                  <a:pt x="2568346" y="1357482"/>
                </a:cubicBezTo>
                <a:cubicBezTo>
                  <a:pt x="2523847" y="1401643"/>
                  <a:pt x="2455245" y="1401643"/>
                  <a:pt x="2410746" y="1357482"/>
                </a:cubicBezTo>
                <a:cubicBezTo>
                  <a:pt x="2368102" y="1315160"/>
                  <a:pt x="2368102" y="1245238"/>
                  <a:pt x="2410746" y="1201077"/>
                </a:cubicBezTo>
                <a:cubicBezTo>
                  <a:pt x="2432996" y="1179916"/>
                  <a:pt x="2461271" y="1169336"/>
                  <a:pt x="2489546" y="1169336"/>
                </a:cubicBezTo>
                <a:close/>
                <a:moveTo>
                  <a:pt x="4629710" y="1030758"/>
                </a:moveTo>
                <a:lnTo>
                  <a:pt x="4629710" y="1344123"/>
                </a:lnTo>
                <a:lnTo>
                  <a:pt x="4521168" y="1453492"/>
                </a:lnTo>
                <a:cubicBezTo>
                  <a:pt x="4370413" y="1605399"/>
                  <a:pt x="4211859" y="1765162"/>
                  <a:pt x="4045104" y="1933189"/>
                </a:cubicBezTo>
                <a:lnTo>
                  <a:pt x="3893025" y="2086429"/>
                </a:lnTo>
                <a:lnTo>
                  <a:pt x="3582033" y="2086429"/>
                </a:lnTo>
                <a:lnTo>
                  <a:pt x="3589225" y="2079182"/>
                </a:lnTo>
                <a:cubicBezTo>
                  <a:pt x="3763876" y="1903199"/>
                  <a:pt x="4074367" y="1590339"/>
                  <a:pt x="4626351" y="1034143"/>
                </a:cubicBezTo>
                <a:close/>
                <a:moveTo>
                  <a:pt x="1614625" y="1018568"/>
                </a:moveTo>
                <a:cubicBezTo>
                  <a:pt x="1642794" y="1018568"/>
                  <a:pt x="1670963" y="1029194"/>
                  <a:pt x="1692206" y="1050446"/>
                </a:cubicBezTo>
                <a:cubicBezTo>
                  <a:pt x="1734690" y="1094798"/>
                  <a:pt x="1734690" y="1165022"/>
                  <a:pt x="1692206" y="1207526"/>
                </a:cubicBezTo>
                <a:cubicBezTo>
                  <a:pt x="1692206" y="1207526"/>
                  <a:pt x="1692206" y="1207526"/>
                  <a:pt x="904454" y="2001593"/>
                </a:cubicBezTo>
                <a:lnTo>
                  <a:pt x="820292" y="2086429"/>
                </a:lnTo>
                <a:lnTo>
                  <a:pt x="509300" y="2086429"/>
                </a:lnTo>
                <a:lnTo>
                  <a:pt x="535713" y="2059804"/>
                </a:lnTo>
                <a:cubicBezTo>
                  <a:pt x="837224" y="1755877"/>
                  <a:pt x="1169926" y="1420508"/>
                  <a:pt x="1537045" y="1050446"/>
                </a:cubicBezTo>
                <a:cubicBezTo>
                  <a:pt x="1558288" y="1029194"/>
                  <a:pt x="1586457" y="1018568"/>
                  <a:pt x="1614625" y="1018568"/>
                </a:cubicBezTo>
                <a:close/>
                <a:moveTo>
                  <a:pt x="2303600" y="841225"/>
                </a:moveTo>
                <a:cubicBezTo>
                  <a:pt x="2331769" y="841225"/>
                  <a:pt x="2359938" y="852309"/>
                  <a:pt x="2381181" y="874475"/>
                </a:cubicBezTo>
                <a:cubicBezTo>
                  <a:pt x="2423665" y="916960"/>
                  <a:pt x="2423665" y="987153"/>
                  <a:pt x="2381181" y="1031485"/>
                </a:cubicBezTo>
                <a:cubicBezTo>
                  <a:pt x="2381181" y="1031485"/>
                  <a:pt x="2381181" y="1031485"/>
                  <a:pt x="1379622" y="2040153"/>
                </a:cubicBezTo>
                <a:lnTo>
                  <a:pt x="1333672" y="2086429"/>
                </a:lnTo>
                <a:lnTo>
                  <a:pt x="1022608" y="2086429"/>
                </a:lnTo>
                <a:lnTo>
                  <a:pt x="1076516" y="2032139"/>
                </a:lnTo>
                <a:cubicBezTo>
                  <a:pt x="1416254" y="1689990"/>
                  <a:pt x="1797714" y="1305822"/>
                  <a:pt x="2226020" y="874475"/>
                </a:cubicBezTo>
                <a:cubicBezTo>
                  <a:pt x="2247263" y="852309"/>
                  <a:pt x="2275431" y="841225"/>
                  <a:pt x="2303600" y="841225"/>
                </a:cubicBezTo>
                <a:close/>
                <a:moveTo>
                  <a:pt x="1838798" y="795146"/>
                </a:moveTo>
                <a:cubicBezTo>
                  <a:pt x="1866888" y="795146"/>
                  <a:pt x="1894978" y="806186"/>
                  <a:pt x="1916161" y="828267"/>
                </a:cubicBezTo>
                <a:cubicBezTo>
                  <a:pt x="1958527" y="870588"/>
                  <a:pt x="1958527" y="940510"/>
                  <a:pt x="1916161" y="984672"/>
                </a:cubicBezTo>
                <a:cubicBezTo>
                  <a:pt x="1873795" y="1026993"/>
                  <a:pt x="1803800" y="1026993"/>
                  <a:pt x="1761434" y="984672"/>
                </a:cubicBezTo>
                <a:cubicBezTo>
                  <a:pt x="1717227" y="940510"/>
                  <a:pt x="1717227" y="870588"/>
                  <a:pt x="1761434" y="828267"/>
                </a:cubicBezTo>
                <a:cubicBezTo>
                  <a:pt x="1782617" y="806186"/>
                  <a:pt x="1810708" y="795146"/>
                  <a:pt x="1838798" y="795146"/>
                </a:cubicBezTo>
                <a:close/>
                <a:moveTo>
                  <a:pt x="4629710" y="514384"/>
                </a:moveTo>
                <a:lnTo>
                  <a:pt x="4629710" y="828997"/>
                </a:lnTo>
                <a:lnTo>
                  <a:pt x="4595945" y="863022"/>
                </a:lnTo>
                <a:cubicBezTo>
                  <a:pt x="4281421" y="1179966"/>
                  <a:pt x="3899954" y="1564368"/>
                  <a:pt x="3437297" y="2030584"/>
                </a:cubicBezTo>
                <a:lnTo>
                  <a:pt x="3381878" y="2086429"/>
                </a:lnTo>
                <a:lnTo>
                  <a:pt x="3070403" y="2086429"/>
                </a:lnTo>
                <a:lnTo>
                  <a:pt x="3214665" y="1940988"/>
                </a:lnTo>
                <a:cubicBezTo>
                  <a:pt x="3538718" y="1614288"/>
                  <a:pt x="3949427" y="1200224"/>
                  <a:pt x="4469965" y="675434"/>
                </a:cubicBezTo>
                <a:close/>
                <a:moveTo>
                  <a:pt x="4629710" y="0"/>
                </a:moveTo>
                <a:lnTo>
                  <a:pt x="4629710" y="314353"/>
                </a:lnTo>
                <a:lnTo>
                  <a:pt x="4558252" y="386295"/>
                </a:lnTo>
                <a:cubicBezTo>
                  <a:pt x="4166000" y="781204"/>
                  <a:pt x="3691376" y="1259044"/>
                  <a:pt x="3117080" y="1837231"/>
                </a:cubicBezTo>
                <a:lnTo>
                  <a:pt x="2869559" y="2086429"/>
                </a:lnTo>
                <a:lnTo>
                  <a:pt x="2558298" y="2086429"/>
                </a:lnTo>
                <a:lnTo>
                  <a:pt x="2623869" y="2020383"/>
                </a:lnTo>
                <a:cubicBezTo>
                  <a:pt x="2894027" y="1748266"/>
                  <a:pt x="3434344" y="1204032"/>
                  <a:pt x="4514978" y="115564"/>
                </a:cubicBezTo>
                <a:close/>
              </a:path>
            </a:pathLst>
          </a:cu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5B8F95-BB27-4AD4-8105-AF7C45D7612F}"/>
              </a:ext>
            </a:extLst>
          </p:cNvPr>
          <p:cNvSpPr txBox="1"/>
          <p:nvPr/>
        </p:nvSpPr>
        <p:spPr>
          <a:xfrm>
            <a:off x="1731382" y="2562128"/>
            <a:ext cx="485991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毕业设计</a:t>
            </a:r>
            <a:endParaRPr lang="en-US" altLang="zh-CN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4400" b="1" dirty="0">
                <a:solidFill>
                  <a:srgbClr val="0070C0"/>
                </a:solidFill>
              </a:rPr>
              <a:t>进度汇报</a:t>
            </a:r>
            <a:endParaRPr lang="zh-CN" altLang="en-US" sz="4400" b="1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0552CE0-D34C-4B41-A321-947C969DB2A1}"/>
              </a:ext>
            </a:extLst>
          </p:cNvPr>
          <p:cNvCxnSpPr/>
          <p:nvPr/>
        </p:nvCxnSpPr>
        <p:spPr>
          <a:xfrm>
            <a:off x="1731382" y="2612879"/>
            <a:ext cx="436461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05A8CAE-4A89-4557-9B27-7BE55AC9A4CA}"/>
              </a:ext>
            </a:extLst>
          </p:cNvPr>
          <p:cNvCxnSpPr>
            <a:cxnSpLocks/>
          </p:cNvCxnSpPr>
          <p:nvPr/>
        </p:nvCxnSpPr>
        <p:spPr>
          <a:xfrm>
            <a:off x="1731382" y="3982065"/>
            <a:ext cx="356451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4E691300-CE23-414A-BF98-24D941061004}"/>
              </a:ext>
            </a:extLst>
          </p:cNvPr>
          <p:cNvSpPr txBox="1"/>
          <p:nvPr/>
        </p:nvSpPr>
        <p:spPr>
          <a:xfrm>
            <a:off x="1749846" y="4329913"/>
            <a:ext cx="2497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汇报人：王坚泽</a:t>
            </a:r>
            <a:endParaRPr lang="en-US" altLang="zh-CN" sz="1600" dirty="0">
              <a:latin typeface="+mj-ea"/>
              <a:ea typeface="+mj-ea"/>
            </a:endParaRPr>
          </a:p>
          <a:p>
            <a:r>
              <a:rPr lang="zh-CN" altLang="en-US" sz="1600" dirty="0">
                <a:latin typeface="+mj-ea"/>
                <a:ea typeface="+mj-ea"/>
              </a:rPr>
              <a:t>汇报时间：</a:t>
            </a:r>
            <a:r>
              <a:rPr lang="en-US" altLang="zh-CN" sz="1600" dirty="0">
                <a:latin typeface="+mj-ea"/>
                <a:ea typeface="+mj-ea"/>
              </a:rPr>
              <a:t>2026</a:t>
            </a:r>
            <a:r>
              <a:rPr lang="zh-CN" altLang="en-US" sz="1600" dirty="0">
                <a:latin typeface="+mj-ea"/>
                <a:ea typeface="+mj-ea"/>
              </a:rPr>
              <a:t>年</a:t>
            </a:r>
            <a:r>
              <a:rPr lang="en-US" altLang="zh-CN" sz="1600" dirty="0">
                <a:latin typeface="+mj-ea"/>
                <a:ea typeface="+mj-ea"/>
              </a:rPr>
              <a:t>4</a:t>
            </a:r>
            <a:r>
              <a:rPr lang="zh-CN" altLang="en-US" sz="1600" dirty="0">
                <a:latin typeface="+mj-ea"/>
                <a:ea typeface="+mj-ea"/>
              </a:rPr>
              <a:t>月</a:t>
            </a:r>
            <a:endParaRPr lang="en-US" altLang="zh-CN" sz="1600" dirty="0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671" y="2240893"/>
            <a:ext cx="1623213" cy="161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54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50"/>
                            </p:stCondLst>
                            <p:childTnLst>
                              <p:par>
                                <p:cTn id="2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 tmFilter="0,0; .5, 1; 1, 1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3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9" grpId="0" build="allAtOnce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2E97215-4CFA-404E-AC76-65ECDFF26DA7}"/>
              </a:ext>
            </a:extLst>
          </p:cNvPr>
          <p:cNvSpPr/>
          <p:nvPr/>
        </p:nvSpPr>
        <p:spPr>
          <a:xfrm>
            <a:off x="787194" y="2643097"/>
            <a:ext cx="3775587" cy="1032387"/>
          </a:xfrm>
          <a:prstGeom prst="roundRect">
            <a:avLst>
              <a:gd name="adj" fmla="val 50000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ffectLst>
            <a:innerShdw blurRad="63500" dist="50800" dir="18900000">
              <a:schemeClr val="accent3"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197DC98-9694-4BDB-8C98-0F900BF5428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E9BF091-2CA2-490D-98C4-0A775D80380B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EE4020B-9BE6-4B02-8AB1-A3BEC5A6646C}"/>
              </a:ext>
            </a:extLst>
          </p:cNvPr>
          <p:cNvGrpSpPr/>
          <p:nvPr/>
        </p:nvGrpSpPr>
        <p:grpSpPr>
          <a:xfrm>
            <a:off x="-2889644" y="0"/>
            <a:ext cx="5351762" cy="1905681"/>
            <a:chOff x="781050" y="2021512"/>
            <a:chExt cx="5351762" cy="1905681"/>
          </a:xfr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4297EDF-5FCF-409C-9B05-3E5D59023FC9}"/>
                </a:ext>
              </a:extLst>
            </p:cNvPr>
            <p:cNvSpPr/>
            <p:nvPr/>
          </p:nvSpPr>
          <p:spPr>
            <a:xfrm rot="18900000">
              <a:off x="781050" y="2501900"/>
              <a:ext cx="3771900" cy="29845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8BA5E22-2CD4-4B3C-846F-36EFA9D468ED}"/>
                </a:ext>
              </a:extLst>
            </p:cNvPr>
            <p:cNvSpPr/>
            <p:nvPr/>
          </p:nvSpPr>
          <p:spPr>
            <a:xfrm rot="18900000">
              <a:off x="1606550" y="2286000"/>
              <a:ext cx="3771900" cy="29845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86A43AB-4486-455A-BC52-68FD35DDABE5}"/>
                </a:ext>
              </a:extLst>
            </p:cNvPr>
            <p:cNvSpPr/>
            <p:nvPr/>
          </p:nvSpPr>
          <p:spPr>
            <a:xfrm rot="18900000">
              <a:off x="1679089" y="3570912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FCE7BDC-3423-4271-9D84-8828C2514BC6}"/>
                </a:ext>
              </a:extLst>
            </p:cNvPr>
            <p:cNvSpPr/>
            <p:nvPr/>
          </p:nvSpPr>
          <p:spPr>
            <a:xfrm rot="18900000">
              <a:off x="3250446" y="2021512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22E1C548-F9ED-4423-AC1D-68D7C9CAA9E9}"/>
                </a:ext>
              </a:extLst>
            </p:cNvPr>
            <p:cNvSpPr/>
            <p:nvPr/>
          </p:nvSpPr>
          <p:spPr>
            <a:xfrm rot="18900000">
              <a:off x="2602168" y="3210178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D4331BF-6EE4-4E5F-BE26-419D8896D72B}"/>
                </a:ext>
              </a:extLst>
            </p:cNvPr>
            <p:cNvSpPr/>
            <p:nvPr/>
          </p:nvSpPr>
          <p:spPr>
            <a:xfrm rot="18900000">
              <a:off x="4396870" y="2154008"/>
              <a:ext cx="679326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69A9127-A5F5-48AB-85A7-9FFBC4AFA706}"/>
                </a:ext>
              </a:extLst>
            </p:cNvPr>
            <p:cNvSpPr/>
            <p:nvPr/>
          </p:nvSpPr>
          <p:spPr>
            <a:xfrm rot="18900000">
              <a:off x="2237477" y="3628743"/>
              <a:ext cx="3254138" cy="29845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28C38B3-9D6D-44D1-AD84-23622964B793}"/>
                </a:ext>
              </a:extLst>
            </p:cNvPr>
            <p:cNvSpPr/>
            <p:nvPr/>
          </p:nvSpPr>
          <p:spPr>
            <a:xfrm rot="18900000">
              <a:off x="4051541" y="2967662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E43D822-960D-400C-BE2D-FAD310C49057}"/>
                </a:ext>
              </a:extLst>
            </p:cNvPr>
            <p:cNvSpPr/>
            <p:nvPr/>
          </p:nvSpPr>
          <p:spPr>
            <a:xfrm rot="18900000">
              <a:off x="4963894" y="2159909"/>
              <a:ext cx="679326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0B255E4-1DF0-4A14-A8F4-4B6CA26D54D8}"/>
                </a:ext>
              </a:extLst>
            </p:cNvPr>
            <p:cNvSpPr/>
            <p:nvPr/>
          </p:nvSpPr>
          <p:spPr>
            <a:xfrm rot="18900000">
              <a:off x="1472222" y="2079068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2C9ED42-EEF2-449E-A839-F69A01A1C81A}"/>
              </a:ext>
            </a:extLst>
          </p:cNvPr>
          <p:cNvSpPr/>
          <p:nvPr/>
        </p:nvSpPr>
        <p:spPr>
          <a:xfrm>
            <a:off x="533400" y="2643097"/>
            <a:ext cx="3052301" cy="1032387"/>
          </a:xfrm>
          <a:prstGeom prst="roundRect">
            <a:avLst>
              <a:gd name="adj" fmla="val 50000"/>
            </a:avLst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19E82CA-117B-423E-ACC0-4A4F24C69929}"/>
              </a:ext>
            </a:extLst>
          </p:cNvPr>
          <p:cNvSpPr txBox="1"/>
          <p:nvPr/>
        </p:nvSpPr>
        <p:spPr>
          <a:xfrm>
            <a:off x="1116881" y="2743791"/>
            <a:ext cx="21465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目录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42A6188B-C549-41DC-9648-CDBA0300EB33}"/>
              </a:ext>
            </a:extLst>
          </p:cNvPr>
          <p:cNvGrpSpPr/>
          <p:nvPr/>
        </p:nvGrpSpPr>
        <p:grpSpPr>
          <a:xfrm>
            <a:off x="5910033" y="1400175"/>
            <a:ext cx="3756481" cy="705467"/>
            <a:chOff x="5910033" y="1400175"/>
            <a:chExt cx="3756481" cy="705467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96BB5E6E-AC63-46E9-B14F-C1AEFE0BC1EA}"/>
                </a:ext>
              </a:extLst>
            </p:cNvPr>
            <p:cNvGrpSpPr/>
            <p:nvPr/>
          </p:nvGrpSpPr>
          <p:grpSpPr>
            <a:xfrm>
              <a:off x="6249307" y="1508126"/>
              <a:ext cx="3417207" cy="528321"/>
              <a:chOff x="6249307" y="1508126"/>
              <a:chExt cx="3417207" cy="528321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778190C2-8417-47A4-A246-D34C93885191}"/>
                  </a:ext>
                </a:extLst>
              </p:cNvPr>
              <p:cNvSpPr/>
              <p:nvPr/>
            </p:nvSpPr>
            <p:spPr>
              <a:xfrm>
                <a:off x="6249307" y="1508126"/>
                <a:ext cx="3417207" cy="5283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  <a:effectLst>
                <a:outerShdw blurRad="63500" sx="102000" sy="102000" algn="ctr" rotWithShape="0">
                  <a:schemeClr val="accent3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A27B254-7D18-4CE6-A54B-44BD016E7D9D}"/>
                  </a:ext>
                </a:extLst>
              </p:cNvPr>
              <p:cNvSpPr txBox="1"/>
              <p:nvPr/>
            </p:nvSpPr>
            <p:spPr>
              <a:xfrm>
                <a:off x="6949620" y="1558854"/>
                <a:ext cx="23286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accent3"/>
                    </a:solidFill>
                  </a:rPr>
                  <a:t>课题研究概述</a:t>
                </a: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B6B9F1BC-A495-4353-A116-29CB69BDED55}"/>
                </a:ext>
              </a:extLst>
            </p:cNvPr>
            <p:cNvGrpSpPr/>
            <p:nvPr/>
          </p:nvGrpSpPr>
          <p:grpSpPr>
            <a:xfrm>
              <a:off x="5910033" y="1400175"/>
              <a:ext cx="716967" cy="705467"/>
              <a:chOff x="5952414" y="1426107"/>
              <a:chExt cx="716967" cy="705467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134B69E9-6A1D-4240-90B3-131F4B42C899}"/>
                  </a:ext>
                </a:extLst>
              </p:cNvPr>
              <p:cNvSpPr/>
              <p:nvPr/>
            </p:nvSpPr>
            <p:spPr>
              <a:xfrm>
                <a:off x="5952414" y="1426107"/>
                <a:ext cx="716967" cy="7054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0EA085B-0CCD-44F3-AB41-38058326F399}"/>
                  </a:ext>
                </a:extLst>
              </p:cNvPr>
              <p:cNvSpPr txBox="1"/>
              <p:nvPr/>
            </p:nvSpPr>
            <p:spPr>
              <a:xfrm>
                <a:off x="6046920" y="1567385"/>
                <a:ext cx="556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+mj-ea"/>
                    <a:ea typeface="+mj-ea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AAD43EBD-C2ED-4801-885C-0BBD50256D9A}"/>
              </a:ext>
            </a:extLst>
          </p:cNvPr>
          <p:cNvGrpSpPr/>
          <p:nvPr/>
        </p:nvGrpSpPr>
        <p:grpSpPr>
          <a:xfrm>
            <a:off x="5910033" y="2359381"/>
            <a:ext cx="3756481" cy="705467"/>
            <a:chOff x="5910033" y="1400175"/>
            <a:chExt cx="3756481" cy="705467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A7A9687E-E597-4FA1-9671-862B50ECAA0D}"/>
                </a:ext>
              </a:extLst>
            </p:cNvPr>
            <p:cNvGrpSpPr/>
            <p:nvPr/>
          </p:nvGrpSpPr>
          <p:grpSpPr>
            <a:xfrm>
              <a:off x="6249307" y="1508126"/>
              <a:ext cx="3417207" cy="528321"/>
              <a:chOff x="6249307" y="1508126"/>
              <a:chExt cx="3417207" cy="528321"/>
            </a:xfrm>
          </p:grpSpPr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FF2C738A-8094-42B7-A50B-BDE388B6933F}"/>
                  </a:ext>
                </a:extLst>
              </p:cNvPr>
              <p:cNvSpPr/>
              <p:nvPr/>
            </p:nvSpPr>
            <p:spPr>
              <a:xfrm>
                <a:off x="6249307" y="1508126"/>
                <a:ext cx="3417207" cy="5283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  <a:effectLst>
                <a:outerShdw blurRad="63500" sx="102000" sy="102000" algn="ctr" rotWithShape="0">
                  <a:schemeClr val="accent3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270918A8-49B3-4506-8082-4E28758D4C9A}"/>
                  </a:ext>
                </a:extLst>
              </p:cNvPr>
              <p:cNvSpPr txBox="1"/>
              <p:nvPr/>
            </p:nvSpPr>
            <p:spPr>
              <a:xfrm>
                <a:off x="6949620" y="1558854"/>
                <a:ext cx="23286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accent3"/>
                    </a:solidFill>
                  </a:rPr>
                  <a:t>工作完成情况</a:t>
                </a:r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072D1264-8B36-4C29-B605-E57EE597BA6F}"/>
                </a:ext>
              </a:extLst>
            </p:cNvPr>
            <p:cNvGrpSpPr/>
            <p:nvPr/>
          </p:nvGrpSpPr>
          <p:grpSpPr>
            <a:xfrm>
              <a:off x="5910033" y="1400175"/>
              <a:ext cx="716967" cy="705467"/>
              <a:chOff x="5952414" y="1426107"/>
              <a:chExt cx="716967" cy="705467"/>
            </a:xfrm>
          </p:grpSpPr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563FE0A7-6B55-4372-8547-C1A41FE2827C}"/>
                  </a:ext>
                </a:extLst>
              </p:cNvPr>
              <p:cNvSpPr/>
              <p:nvPr/>
            </p:nvSpPr>
            <p:spPr>
              <a:xfrm>
                <a:off x="5952414" y="1426107"/>
                <a:ext cx="716967" cy="7054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D14523F-8DBF-4DD0-944B-F864386075D4}"/>
                  </a:ext>
                </a:extLst>
              </p:cNvPr>
              <p:cNvSpPr txBox="1"/>
              <p:nvPr/>
            </p:nvSpPr>
            <p:spPr>
              <a:xfrm>
                <a:off x="6046920" y="1567385"/>
                <a:ext cx="556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+mj-ea"/>
                    <a:ea typeface="+mj-ea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BD865354-2958-4654-8A18-0D0900B5B9EE}"/>
              </a:ext>
            </a:extLst>
          </p:cNvPr>
          <p:cNvGrpSpPr/>
          <p:nvPr/>
        </p:nvGrpSpPr>
        <p:grpSpPr>
          <a:xfrm>
            <a:off x="5910033" y="3318587"/>
            <a:ext cx="3756481" cy="705467"/>
            <a:chOff x="5910033" y="1400175"/>
            <a:chExt cx="3756481" cy="705467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C0649A70-3B0B-465E-A084-AF0EC43FC898}"/>
                </a:ext>
              </a:extLst>
            </p:cNvPr>
            <p:cNvGrpSpPr/>
            <p:nvPr/>
          </p:nvGrpSpPr>
          <p:grpSpPr>
            <a:xfrm>
              <a:off x="6249307" y="1508126"/>
              <a:ext cx="3417207" cy="528321"/>
              <a:chOff x="6249307" y="1508126"/>
              <a:chExt cx="3417207" cy="528321"/>
            </a:xfrm>
          </p:grpSpPr>
          <p:sp>
            <p:nvSpPr>
              <p:cNvPr id="82" name="矩形: 圆角 81">
                <a:extLst>
                  <a:ext uri="{FF2B5EF4-FFF2-40B4-BE49-F238E27FC236}">
                    <a16:creationId xmlns:a16="http://schemas.microsoft.com/office/drawing/2014/main" id="{AF66E166-5B7A-4E87-A865-6D01CBAC34BD}"/>
                  </a:ext>
                </a:extLst>
              </p:cNvPr>
              <p:cNvSpPr/>
              <p:nvPr/>
            </p:nvSpPr>
            <p:spPr>
              <a:xfrm>
                <a:off x="6249307" y="1508126"/>
                <a:ext cx="3417207" cy="5283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  <a:effectLst>
                <a:outerShdw blurRad="63500" sx="102000" sy="102000" algn="ctr" rotWithShape="0">
                  <a:schemeClr val="accent3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B12BA0C9-F90A-4156-90C1-D609F671DF1B}"/>
                  </a:ext>
                </a:extLst>
              </p:cNvPr>
              <p:cNvSpPr txBox="1"/>
              <p:nvPr/>
            </p:nvSpPr>
            <p:spPr>
              <a:xfrm>
                <a:off x="6949620" y="1558854"/>
                <a:ext cx="23286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accent3"/>
                    </a:solidFill>
                  </a:rPr>
                  <a:t>工作不足之处</a:t>
                </a: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F2F0CC1C-BFA1-43A1-8BB4-05538E0AA2D1}"/>
                </a:ext>
              </a:extLst>
            </p:cNvPr>
            <p:cNvGrpSpPr/>
            <p:nvPr/>
          </p:nvGrpSpPr>
          <p:grpSpPr>
            <a:xfrm>
              <a:off x="5910033" y="1400175"/>
              <a:ext cx="716967" cy="705467"/>
              <a:chOff x="5952414" y="1426107"/>
              <a:chExt cx="716967" cy="705467"/>
            </a:xfrm>
          </p:grpSpPr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D78BFAFA-29BA-4D21-B64A-25703B933064}"/>
                  </a:ext>
                </a:extLst>
              </p:cNvPr>
              <p:cNvSpPr/>
              <p:nvPr/>
            </p:nvSpPr>
            <p:spPr>
              <a:xfrm>
                <a:off x="5952414" y="1426107"/>
                <a:ext cx="716967" cy="7054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733B2A87-6382-43A1-9902-046DA7AEBC8E}"/>
                  </a:ext>
                </a:extLst>
              </p:cNvPr>
              <p:cNvSpPr txBox="1"/>
              <p:nvPr/>
            </p:nvSpPr>
            <p:spPr>
              <a:xfrm>
                <a:off x="6046920" y="1567385"/>
                <a:ext cx="556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+mj-ea"/>
                    <a:ea typeface="+mj-ea"/>
                  </a:rPr>
                  <a:t>03</a:t>
                </a:r>
                <a:endParaRPr lang="zh-CN" altLang="en-US" sz="2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F8062ECE-3FAC-4168-BFE8-DD15CD246A88}"/>
              </a:ext>
            </a:extLst>
          </p:cNvPr>
          <p:cNvGrpSpPr/>
          <p:nvPr/>
        </p:nvGrpSpPr>
        <p:grpSpPr>
          <a:xfrm>
            <a:off x="5910033" y="4277793"/>
            <a:ext cx="3756481" cy="705467"/>
            <a:chOff x="5910033" y="1400175"/>
            <a:chExt cx="3756481" cy="705467"/>
          </a:xfrm>
        </p:grpSpPr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9DFC3B5E-D0CF-4710-B79B-076EC60EA941}"/>
                </a:ext>
              </a:extLst>
            </p:cNvPr>
            <p:cNvGrpSpPr/>
            <p:nvPr/>
          </p:nvGrpSpPr>
          <p:grpSpPr>
            <a:xfrm>
              <a:off x="6249307" y="1508126"/>
              <a:ext cx="3417207" cy="528321"/>
              <a:chOff x="6249307" y="1508126"/>
              <a:chExt cx="3417207" cy="528321"/>
            </a:xfrm>
          </p:grpSpPr>
          <p:sp>
            <p:nvSpPr>
              <p:cNvPr id="90" name="矩形: 圆角 89">
                <a:extLst>
                  <a:ext uri="{FF2B5EF4-FFF2-40B4-BE49-F238E27FC236}">
                    <a16:creationId xmlns:a16="http://schemas.microsoft.com/office/drawing/2014/main" id="{BBFB9FDE-E4A2-4D48-AC8C-14D062C8168F}"/>
                  </a:ext>
                </a:extLst>
              </p:cNvPr>
              <p:cNvSpPr/>
              <p:nvPr/>
            </p:nvSpPr>
            <p:spPr>
              <a:xfrm>
                <a:off x="6249307" y="1508126"/>
                <a:ext cx="3417207" cy="5283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  <a:effectLst>
                <a:outerShdw blurRad="63500" sx="102000" sy="102000" algn="ctr" rotWithShape="0">
                  <a:schemeClr val="accent3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83815DC-C2C4-4651-846B-3E56A5186A3B}"/>
                  </a:ext>
                </a:extLst>
              </p:cNvPr>
              <p:cNvSpPr txBox="1"/>
              <p:nvPr/>
            </p:nvSpPr>
            <p:spPr>
              <a:xfrm>
                <a:off x="6949620" y="1558854"/>
                <a:ext cx="23286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accent3"/>
                    </a:solidFill>
                  </a:rPr>
                  <a:t>下段工作计划</a:t>
                </a:r>
              </a:p>
            </p:txBody>
          </p: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CF95D7B9-E5E5-45BD-AB5A-0E7B3F786C58}"/>
                </a:ext>
              </a:extLst>
            </p:cNvPr>
            <p:cNvGrpSpPr/>
            <p:nvPr/>
          </p:nvGrpSpPr>
          <p:grpSpPr>
            <a:xfrm>
              <a:off x="5910033" y="1400175"/>
              <a:ext cx="716967" cy="705467"/>
              <a:chOff x="5952414" y="1426107"/>
              <a:chExt cx="716967" cy="705467"/>
            </a:xfrm>
          </p:grpSpPr>
          <p:sp>
            <p:nvSpPr>
              <p:cNvPr id="88" name="矩形: 圆角 87">
                <a:extLst>
                  <a:ext uri="{FF2B5EF4-FFF2-40B4-BE49-F238E27FC236}">
                    <a16:creationId xmlns:a16="http://schemas.microsoft.com/office/drawing/2014/main" id="{E862CE2B-E5ED-46FD-8921-041424640F8A}"/>
                  </a:ext>
                </a:extLst>
              </p:cNvPr>
              <p:cNvSpPr/>
              <p:nvPr/>
            </p:nvSpPr>
            <p:spPr>
              <a:xfrm>
                <a:off x="5952414" y="1426107"/>
                <a:ext cx="716967" cy="7054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4E01A89F-9130-45B6-8F7D-292EB7A394C2}"/>
                  </a:ext>
                </a:extLst>
              </p:cNvPr>
              <p:cNvSpPr txBox="1"/>
              <p:nvPr/>
            </p:nvSpPr>
            <p:spPr>
              <a:xfrm>
                <a:off x="6046920" y="1567385"/>
                <a:ext cx="556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+mj-ea"/>
                    <a:ea typeface="+mj-ea"/>
                  </a:rPr>
                  <a:t>04</a:t>
                </a:r>
                <a:endParaRPr lang="zh-CN" altLang="en-US" sz="2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6273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1" grpId="0" animBg="1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5197DC98-9694-4BDB-8C98-0F900BF542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E9BF091-2CA2-490D-98C4-0A775D80380B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0D3F9C0-99C0-47E9-87E1-76858C87F23B}"/>
              </a:ext>
            </a:extLst>
          </p:cNvPr>
          <p:cNvGrpSpPr/>
          <p:nvPr/>
        </p:nvGrpSpPr>
        <p:grpSpPr>
          <a:xfrm>
            <a:off x="2016905" y="2207506"/>
            <a:ext cx="2936096" cy="2507184"/>
            <a:chOff x="2321705" y="2270688"/>
            <a:chExt cx="2936096" cy="250718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78EF7D-82B9-432A-A6E5-B9E741545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1705" y="2270688"/>
              <a:ext cx="2936096" cy="2507184"/>
            </a:xfrm>
            <a:prstGeom prst="rect">
              <a:avLst/>
            </a:prstGeom>
          </p:spPr>
        </p:pic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7504219-E9BE-49BF-BF55-EC8A99B3F750}"/>
                </a:ext>
              </a:extLst>
            </p:cNvPr>
            <p:cNvSpPr/>
            <p:nvPr/>
          </p:nvSpPr>
          <p:spPr>
            <a:xfrm>
              <a:off x="3089528" y="2741103"/>
              <a:ext cx="1302155" cy="13021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6000" sy="1060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1B946AF-49A7-46F8-98C1-ED23D753660C}"/>
                </a:ext>
              </a:extLst>
            </p:cNvPr>
            <p:cNvSpPr txBox="1"/>
            <p:nvPr/>
          </p:nvSpPr>
          <p:spPr>
            <a:xfrm>
              <a:off x="3237076" y="2935863"/>
              <a:ext cx="10070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accent3"/>
                  </a:solidFill>
                  <a:latin typeface="+mj-ea"/>
                  <a:ea typeface="+mj-ea"/>
                </a:rPr>
                <a:t>01</a:t>
              </a:r>
              <a:endParaRPr lang="zh-CN" altLang="en-US" sz="4800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73E221AB-0F24-4F66-92D5-AD336BD2C768}"/>
              </a:ext>
            </a:extLst>
          </p:cNvPr>
          <p:cNvSpPr txBox="1"/>
          <p:nvPr/>
        </p:nvSpPr>
        <p:spPr>
          <a:xfrm>
            <a:off x="5362998" y="2554477"/>
            <a:ext cx="4110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</a:rPr>
              <a:t>课题研究概述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E58BFF5-DE92-40DB-8D39-87D2AB928D39}"/>
              </a:ext>
            </a:extLst>
          </p:cNvPr>
          <p:cNvCxnSpPr/>
          <p:nvPr/>
        </p:nvCxnSpPr>
        <p:spPr>
          <a:xfrm>
            <a:off x="5362998" y="3262363"/>
            <a:ext cx="318799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609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ṥḻîďè">
          <a:extLst>
            <a:ext uri="{FF2B5EF4-FFF2-40B4-BE49-F238E27FC236}">
              <a16:creationId xmlns:a16="http://schemas.microsoft.com/office/drawing/2014/main" id="{8DDD042C-60AD-40D5-E812-575BF8927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C86CCB0-B41E-A2A9-44D4-AEB18FFD8713}"/>
              </a:ext>
            </a:extLst>
          </p:cNvPr>
          <p:cNvGrpSpPr/>
          <p:nvPr/>
        </p:nvGrpSpPr>
        <p:grpSpPr>
          <a:xfrm>
            <a:off x="660400" y="1130301"/>
            <a:ext cx="11064283" cy="5499719"/>
            <a:chOff x="660400" y="1130301"/>
            <a:chExt cx="11064283" cy="5499719"/>
          </a:xfrm>
        </p:grpSpPr>
        <p:pic>
          <p:nvPicPr>
            <p:cNvPr id="6" name="1">
              <a:extLst>
                <a:ext uri="{FF2B5EF4-FFF2-40B4-BE49-F238E27FC236}">
                  <a16:creationId xmlns:a16="http://schemas.microsoft.com/office/drawing/2014/main" id="{A29623CE-55CE-E953-1B41-9C9CA14EA09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294515" y="1744943"/>
              <a:ext cx="5430168" cy="4885077"/>
            </a:xfrm>
            <a:prstGeom prst="rect">
              <a:avLst/>
            </a:prstGeom>
            <a:noFill/>
            <a:ln>
              <a:noFill/>
            </a:ln>
            <a:effectLst>
              <a:outerShdw blurRad="762000" dist="368300" sx="90000" sy="90000" algn="l" rotWithShape="0">
                <a:srgbClr val="000000">
                  <a:alpha val="60784"/>
                </a:srgbClr>
              </a:outerShdw>
            </a:effectLst>
          </p:spPr>
        </p:pic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AB1A6B6-6066-F51D-592A-72AC7E2912E8}"/>
                </a:ext>
              </a:extLst>
            </p:cNvPr>
            <p:cNvSpPr/>
            <p:nvPr/>
          </p:nvSpPr>
          <p:spPr>
            <a:xfrm>
              <a:off x="660400" y="1130301"/>
              <a:ext cx="903288" cy="990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795450CB-24D2-3A8B-4E82-D41B717786A8}"/>
                </a:ext>
              </a:extLst>
            </p:cNvPr>
            <p:cNvGrpSpPr/>
            <p:nvPr/>
          </p:nvGrpSpPr>
          <p:grpSpPr>
            <a:xfrm>
              <a:off x="660400" y="2536137"/>
              <a:ext cx="5237086" cy="3600503"/>
              <a:chOff x="660400" y="3100018"/>
              <a:chExt cx="5237086" cy="3050743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E1AD376A-4BC7-6D2C-D569-79FDB6183708}"/>
                  </a:ext>
                </a:extLst>
              </p:cNvPr>
              <p:cNvSpPr/>
              <p:nvPr/>
            </p:nvSpPr>
            <p:spPr>
              <a:xfrm>
                <a:off x="660400" y="3100018"/>
                <a:ext cx="5237086" cy="3050743"/>
              </a:xfrm>
              <a:prstGeom prst="roundRect">
                <a:avLst>
                  <a:gd name="adj" fmla="val 7672"/>
                </a:avLst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12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EFCEC81B-E958-CC52-9610-CC0AA1674968}"/>
                  </a:ext>
                </a:extLst>
              </p:cNvPr>
              <p:cNvGrpSpPr/>
              <p:nvPr/>
            </p:nvGrpSpPr>
            <p:grpSpPr>
              <a:xfrm>
                <a:off x="734067" y="3208092"/>
                <a:ext cx="4732013" cy="2882407"/>
                <a:chOff x="5395097" y="3726236"/>
                <a:chExt cx="4732013" cy="2882409"/>
              </a:xfrm>
            </p:grpSpPr>
            <p:sp>
              <p:nvSpPr>
                <p:cNvPr id="30" name="Text1">
                  <a:extLst>
                    <a:ext uri="{FF2B5EF4-FFF2-40B4-BE49-F238E27FC236}">
                      <a16:creationId xmlns:a16="http://schemas.microsoft.com/office/drawing/2014/main" id="{90158706-505B-0EC3-28B5-FA3B19FEBB3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5395104" y="4315518"/>
                  <a:ext cx="4732006" cy="2293127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altLang="zh-CN" sz="17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LSC</a:t>
                  </a:r>
                  <a:r>
                    <a:rPr lang="zh-CN" altLang="en-US" sz="17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由荧光材料和透明光波导组成。荧光材料吸收太阳光后发射出不同波长的光子，当光子入射角大于全反射角时，在光波导中发生全反射并传输到</a:t>
                  </a:r>
                  <a:r>
                    <a:rPr lang="en-US" altLang="zh-CN" sz="17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LSC</a:t>
                  </a:r>
                  <a:r>
                    <a:rPr lang="zh-CN" altLang="en-US" sz="17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边缘的太阳能电池，实现大面积光能汇聚到小面积电池的目的。这种方式无需太阳追踪装置，可捕获任意角度入射光，适合建筑外墙、窗户和屋顶等场景。</a:t>
                  </a:r>
                </a:p>
              </p:txBody>
            </p:sp>
            <p:sp>
              <p:nvSpPr>
                <p:cNvPr id="31" name="Bullet1">
                  <a:extLst>
                    <a:ext uri="{FF2B5EF4-FFF2-40B4-BE49-F238E27FC236}">
                      <a16:creationId xmlns:a16="http://schemas.microsoft.com/office/drawing/2014/main" id="{CACA79F3-EF19-BAC9-79F1-8AD231E3BDF8}"/>
                    </a:ext>
                  </a:extLst>
                </p:cNvPr>
                <p:cNvSpPr txBox="1"/>
                <p:nvPr/>
              </p:nvSpPr>
              <p:spPr>
                <a:xfrm flipH="1">
                  <a:off x="5395097" y="3726236"/>
                  <a:ext cx="4136381" cy="589274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2400" b="1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基本原理</a:t>
                  </a:r>
                  <a:endParaRPr lang="en-US" altLang="zh-CN" sz="2400" b="1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  <a:p>
                  <a:pPr algn="l">
                    <a:lnSpc>
                      <a:spcPct val="100000"/>
                    </a:lnSpc>
                  </a:pPr>
                  <a:endParaRPr lang="en-US" altLang="zh-CN" sz="2400" b="1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38" name="Title">
              <a:extLst>
                <a:ext uri="{FF2B5EF4-FFF2-40B4-BE49-F238E27FC236}">
                  <a16:creationId xmlns:a16="http://schemas.microsoft.com/office/drawing/2014/main" id="{75E7B3A0-FA12-B8AF-B8F6-F808BC8E2B79}"/>
                </a:ext>
              </a:extLst>
            </p:cNvPr>
            <p:cNvSpPr txBox="1"/>
            <p:nvPr/>
          </p:nvSpPr>
          <p:spPr>
            <a:xfrm>
              <a:off x="660400" y="1308321"/>
              <a:ext cx="5160434" cy="901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荧光太阳能聚光器（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LSC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）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3E8D3BC-BC36-9AE0-B03F-C410BF218D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50938ABB-45DC-A3F2-42EB-62A9EA847F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54" b="1754"/>
          <a:stretch>
            <a:fillRect/>
          </a:stretch>
        </p:blipFill>
        <p:spPr>
          <a:xfrm>
            <a:off x="6725920" y="2230119"/>
            <a:ext cx="4724400" cy="2524761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1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6931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ṥḻîďè">
          <a:extLst>
            <a:ext uri="{FF2B5EF4-FFF2-40B4-BE49-F238E27FC236}">
              <a16:creationId xmlns:a16="http://schemas.microsoft.com/office/drawing/2014/main" id="{2F2D55E4-9A14-268A-A99D-CFACE2A6B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44E1017-2640-680C-5A17-9ED5622E720F}"/>
              </a:ext>
            </a:extLst>
          </p:cNvPr>
          <p:cNvGrpSpPr/>
          <p:nvPr/>
        </p:nvGrpSpPr>
        <p:grpSpPr>
          <a:xfrm>
            <a:off x="660400" y="1130301"/>
            <a:ext cx="11064283" cy="5499719"/>
            <a:chOff x="660400" y="1130301"/>
            <a:chExt cx="11064283" cy="5499719"/>
          </a:xfrm>
        </p:grpSpPr>
        <p:pic>
          <p:nvPicPr>
            <p:cNvPr id="6" name="1">
              <a:extLst>
                <a:ext uri="{FF2B5EF4-FFF2-40B4-BE49-F238E27FC236}">
                  <a16:creationId xmlns:a16="http://schemas.microsoft.com/office/drawing/2014/main" id="{0209AE25-8569-299C-AD93-78B6C59DE30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294515" y="1744943"/>
              <a:ext cx="5430168" cy="4885077"/>
            </a:xfrm>
            <a:prstGeom prst="rect">
              <a:avLst/>
            </a:prstGeom>
            <a:noFill/>
            <a:ln>
              <a:noFill/>
            </a:ln>
            <a:effectLst>
              <a:outerShdw blurRad="762000" dist="368300" sx="90000" sy="90000" algn="l" rotWithShape="0">
                <a:srgbClr val="000000">
                  <a:alpha val="60784"/>
                </a:srgbClr>
              </a:outerShdw>
            </a:effectLst>
          </p:spPr>
        </p:pic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21328763-8FD3-9CCE-A9B1-0F3B3443B020}"/>
                </a:ext>
              </a:extLst>
            </p:cNvPr>
            <p:cNvSpPr/>
            <p:nvPr/>
          </p:nvSpPr>
          <p:spPr>
            <a:xfrm>
              <a:off x="660400" y="1130301"/>
              <a:ext cx="903288" cy="990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7F90F346-3DB7-8B4E-16B7-09631FFA45D6}"/>
                </a:ext>
              </a:extLst>
            </p:cNvPr>
            <p:cNvGrpSpPr/>
            <p:nvPr/>
          </p:nvGrpSpPr>
          <p:grpSpPr>
            <a:xfrm>
              <a:off x="660400" y="2536137"/>
              <a:ext cx="5237086" cy="3600503"/>
              <a:chOff x="660400" y="3100018"/>
              <a:chExt cx="5237086" cy="3050743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8189AC9C-0DF6-6CA2-0578-E222E5D91522}"/>
                  </a:ext>
                </a:extLst>
              </p:cNvPr>
              <p:cNvSpPr/>
              <p:nvPr/>
            </p:nvSpPr>
            <p:spPr>
              <a:xfrm>
                <a:off x="660400" y="3100018"/>
                <a:ext cx="5237086" cy="3050743"/>
              </a:xfrm>
              <a:prstGeom prst="roundRect">
                <a:avLst>
                  <a:gd name="adj" fmla="val 7672"/>
                </a:avLst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12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239C24F4-5500-F617-7589-F710A8C0635A}"/>
                  </a:ext>
                </a:extLst>
              </p:cNvPr>
              <p:cNvGrpSpPr/>
              <p:nvPr/>
            </p:nvGrpSpPr>
            <p:grpSpPr>
              <a:xfrm>
                <a:off x="734067" y="3208092"/>
                <a:ext cx="4732013" cy="2882407"/>
                <a:chOff x="5395097" y="3726236"/>
                <a:chExt cx="4732013" cy="2882409"/>
              </a:xfrm>
            </p:grpSpPr>
            <p:sp>
              <p:nvSpPr>
                <p:cNvPr id="30" name="Text1">
                  <a:extLst>
                    <a:ext uri="{FF2B5EF4-FFF2-40B4-BE49-F238E27FC236}">
                      <a16:creationId xmlns:a16="http://schemas.microsoft.com/office/drawing/2014/main" id="{F1BBFB7E-2851-9E4E-85E7-FABBB7260B4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5395104" y="4315518"/>
                  <a:ext cx="4732006" cy="2293127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LSC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常用量子点材料（如碳量子点、钙钛矿</a:t>
                  </a:r>
                  <a:r>
                    <a:rPr lang="en-US" altLang="zh-CN" sz="2000" dirty="0" err="1">
                      <a:solidFill>
                        <a:schemeClr val="tx1"/>
                      </a:solidFill>
                      <a:cs typeface="+mn-ea"/>
                      <a:sym typeface="+mn-lt"/>
                    </a:rPr>
                    <a:t>CsPbBr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₃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量子点）作为荧光中心。量子点薄膜夹层结构可降低重吸收损耗，提高荧光量子产率。液体型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LSC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（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L-LSC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）通过将高量子产率的量子点溶液注入透明模具，可实现内量子效率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32%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和外量子效率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13.44%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，比传统聚合物型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LSC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更高。此外，新型层压型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LSC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采用低折射率介质图案化设计，为光子提供几乎无损的传播路径，使外部量子效率在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100 cm²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面积上达到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45%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，整体光电转换效率可达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7.6%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。</a:t>
                  </a:r>
                </a:p>
              </p:txBody>
            </p:sp>
            <p:sp>
              <p:nvSpPr>
                <p:cNvPr id="31" name="Bullet1">
                  <a:extLst>
                    <a:ext uri="{FF2B5EF4-FFF2-40B4-BE49-F238E27FC236}">
                      <a16:creationId xmlns:a16="http://schemas.microsoft.com/office/drawing/2014/main" id="{F8409B0D-4CC7-FB53-AA36-88C43095BA2A}"/>
                    </a:ext>
                  </a:extLst>
                </p:cNvPr>
                <p:cNvSpPr txBox="1"/>
                <p:nvPr/>
              </p:nvSpPr>
              <p:spPr>
                <a:xfrm flipH="1">
                  <a:off x="5395097" y="3726236"/>
                  <a:ext cx="4136381" cy="589274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2400" b="1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材料与结构</a:t>
                  </a:r>
                  <a:endParaRPr lang="en-US" altLang="zh-CN" sz="2400" b="1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  <a:p>
                  <a:pPr algn="l">
                    <a:lnSpc>
                      <a:spcPct val="100000"/>
                    </a:lnSpc>
                  </a:pPr>
                  <a:endParaRPr lang="en-US" altLang="zh-CN" sz="2400" b="1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38" name="Title">
              <a:extLst>
                <a:ext uri="{FF2B5EF4-FFF2-40B4-BE49-F238E27FC236}">
                  <a16:creationId xmlns:a16="http://schemas.microsoft.com/office/drawing/2014/main" id="{B5D0431A-1F8D-769E-6D25-FE71454362F9}"/>
                </a:ext>
              </a:extLst>
            </p:cNvPr>
            <p:cNvSpPr txBox="1"/>
            <p:nvPr/>
          </p:nvSpPr>
          <p:spPr>
            <a:xfrm>
              <a:off x="660400" y="1308321"/>
              <a:ext cx="5160434" cy="901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荧光太阳能聚光器（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LSC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）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EBA3B38-2A11-F46F-94C5-8FF3329AA8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51A32A75-0F2B-91D8-82D2-0FC2CE937C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54" b="1754"/>
          <a:stretch>
            <a:fillRect/>
          </a:stretch>
        </p:blipFill>
        <p:spPr>
          <a:xfrm>
            <a:off x="6725920" y="2230119"/>
            <a:ext cx="4724400" cy="2524761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1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8858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箭头3"/>
          <p:cNvSpPr>
            <a:spLocks noChangeArrowheads="1"/>
          </p:cNvSpPr>
          <p:nvPr/>
        </p:nvSpPr>
        <p:spPr bwMode="auto">
          <a:xfrm flipV="1">
            <a:off x="2042584" y="3852334"/>
            <a:ext cx="1092200" cy="1521884"/>
          </a:xfrm>
          <a:custGeom>
            <a:avLst/>
            <a:gdLst>
              <a:gd name="T0" fmla="*/ 90959013 w 933"/>
              <a:gd name="T1" fmla="*/ 973534517 h 1182"/>
              <a:gd name="T2" fmla="*/ 98667627 w 933"/>
              <a:gd name="T3" fmla="*/ 317051119 h 1182"/>
              <a:gd name="T4" fmla="*/ 203501268 w 933"/>
              <a:gd name="T5" fmla="*/ 195825720 h 1182"/>
              <a:gd name="T6" fmla="*/ 555003537 w 933"/>
              <a:gd name="T7" fmla="*/ 188365978 h 1182"/>
              <a:gd name="T8" fmla="*/ 555003537 w 933"/>
              <a:gd name="T9" fmla="*/ 298401281 h 1182"/>
              <a:gd name="T10" fmla="*/ 719192629 w 933"/>
              <a:gd name="T11" fmla="*/ 142672762 h 1182"/>
              <a:gd name="T12" fmla="*/ 548837524 w 933"/>
              <a:gd name="T13" fmla="*/ 0 h 1182"/>
              <a:gd name="T14" fmla="*/ 550379247 w 933"/>
              <a:gd name="T15" fmla="*/ 85790417 h 1182"/>
              <a:gd name="T16" fmla="*/ 180376303 w 933"/>
              <a:gd name="T17" fmla="*/ 87655111 h 1182"/>
              <a:gd name="T18" fmla="*/ 0 w 933"/>
              <a:gd name="T19" fmla="*/ 277885782 h 1182"/>
              <a:gd name="T20" fmla="*/ 0 w 933"/>
              <a:gd name="T21" fmla="*/ 986589307 h 1182"/>
              <a:gd name="T22" fmla="*/ 90959013 w 933"/>
              <a:gd name="T23" fmla="*/ 973534517 h 118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2824" tIns="41411" rIns="82824" bIns="41411" anchor="ctr"/>
          <a:lstStyle/>
          <a:p>
            <a:endParaRPr lang="zh-CN" altLang="en-US" sz="2400"/>
          </a:p>
        </p:txBody>
      </p:sp>
      <p:sp>
        <p:nvSpPr>
          <p:cNvPr id="28" name="箭头2"/>
          <p:cNvSpPr>
            <a:spLocks noChangeArrowheads="1"/>
          </p:cNvSpPr>
          <p:nvPr/>
        </p:nvSpPr>
        <p:spPr bwMode="auto">
          <a:xfrm rot="-5400000">
            <a:off x="2330451" y="3219452"/>
            <a:ext cx="325967" cy="1299633"/>
          </a:xfrm>
          <a:custGeom>
            <a:avLst/>
            <a:gdLst>
              <a:gd name="T0" fmla="*/ 109671141 w 142"/>
              <a:gd name="T1" fmla="*/ 2604646 h 604"/>
              <a:gd name="T2" fmla="*/ 133383494 w 142"/>
              <a:gd name="T3" fmla="*/ 1229228280 h 604"/>
              <a:gd name="T4" fmla="*/ 0 w 142"/>
              <a:gd name="T5" fmla="*/ 1234435958 h 604"/>
              <a:gd name="T6" fmla="*/ 213414623 w 142"/>
              <a:gd name="T7" fmla="*/ 1572994744 h 604"/>
              <a:gd name="T8" fmla="*/ 420901589 w 142"/>
              <a:gd name="T9" fmla="*/ 1234435958 h 604"/>
              <a:gd name="T10" fmla="*/ 296408721 w 142"/>
              <a:gd name="T11" fmla="*/ 1234435958 h 604"/>
              <a:gd name="T12" fmla="*/ 293445753 w 142"/>
              <a:gd name="T13" fmla="*/ 0 h 604"/>
              <a:gd name="T14" fmla="*/ 109671141 w 142"/>
              <a:gd name="T15" fmla="*/ 2604646 h 6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42" h="604">
                <a:moveTo>
                  <a:pt x="37" y="1"/>
                </a:moveTo>
                <a:lnTo>
                  <a:pt x="45" y="472"/>
                </a:lnTo>
                <a:lnTo>
                  <a:pt x="0" y="474"/>
                </a:lnTo>
                <a:lnTo>
                  <a:pt x="72" y="604"/>
                </a:lnTo>
                <a:lnTo>
                  <a:pt x="142" y="474"/>
                </a:lnTo>
                <a:lnTo>
                  <a:pt x="100" y="474"/>
                </a:lnTo>
                <a:lnTo>
                  <a:pt x="99" y="0"/>
                </a:lnTo>
                <a:lnTo>
                  <a:pt x="37" y="1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2824" tIns="41411" rIns="82824" bIns="41411" anchor="ctr"/>
          <a:lstStyle/>
          <a:p>
            <a:endParaRPr lang="zh-CN" altLang="en-US" sz="2400"/>
          </a:p>
        </p:txBody>
      </p:sp>
      <p:sp>
        <p:nvSpPr>
          <p:cNvPr id="29" name="箭头1"/>
          <p:cNvSpPr>
            <a:spLocks noChangeArrowheads="1"/>
          </p:cNvSpPr>
          <p:nvPr/>
        </p:nvSpPr>
        <p:spPr bwMode="auto">
          <a:xfrm>
            <a:off x="2036233" y="2190751"/>
            <a:ext cx="1092200" cy="1763183"/>
          </a:xfrm>
          <a:custGeom>
            <a:avLst/>
            <a:gdLst>
              <a:gd name="T0" fmla="*/ 90959013 w 933"/>
              <a:gd name="T1" fmla="*/ 1306720854 h 1182"/>
              <a:gd name="T2" fmla="*/ 98667627 w 933"/>
              <a:gd name="T3" fmla="*/ 425560247 h 1182"/>
              <a:gd name="T4" fmla="*/ 203501268 w 933"/>
              <a:gd name="T5" fmla="*/ 262846232 h 1182"/>
              <a:gd name="T6" fmla="*/ 555003537 w 933"/>
              <a:gd name="T7" fmla="*/ 252833234 h 1182"/>
              <a:gd name="T8" fmla="*/ 555003537 w 933"/>
              <a:gd name="T9" fmla="*/ 400527752 h 1182"/>
              <a:gd name="T10" fmla="*/ 719192629 w 933"/>
              <a:gd name="T11" fmla="*/ 191502223 h 1182"/>
              <a:gd name="T12" fmla="*/ 548837524 w 933"/>
              <a:gd name="T13" fmla="*/ 0 h 1182"/>
              <a:gd name="T14" fmla="*/ 550379247 w 933"/>
              <a:gd name="T15" fmla="*/ 115151715 h 1182"/>
              <a:gd name="T16" fmla="*/ 180376303 w 933"/>
              <a:gd name="T17" fmla="*/ 117654405 h 1182"/>
              <a:gd name="T18" fmla="*/ 0 w 933"/>
              <a:gd name="T19" fmla="*/ 372991448 h 1182"/>
              <a:gd name="T20" fmla="*/ 0 w 933"/>
              <a:gd name="T21" fmla="*/ 1324243041 h 1182"/>
              <a:gd name="T22" fmla="*/ 90959013 w 933"/>
              <a:gd name="T23" fmla="*/ 1306720854 h 118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2824" tIns="41411" rIns="82824" bIns="41411" anchor="ctr"/>
          <a:lstStyle/>
          <a:p>
            <a:endParaRPr lang="zh-CN" altLang="en-US" sz="2400"/>
          </a:p>
        </p:txBody>
      </p:sp>
      <p:sp>
        <p:nvSpPr>
          <p:cNvPr id="30" name="文本1"/>
          <p:cNvSpPr>
            <a:spLocks noChangeArrowheads="1"/>
          </p:cNvSpPr>
          <p:nvPr/>
        </p:nvSpPr>
        <p:spPr bwMode="auto">
          <a:xfrm>
            <a:off x="4504267" y="1803400"/>
            <a:ext cx="5911851" cy="1195917"/>
          </a:xfrm>
          <a:prstGeom prst="roundRect">
            <a:avLst>
              <a:gd name="adj" fmla="val 11505"/>
            </a:avLst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824" tIns="41411" rIns="82824" bIns="41411" anchor="ctr"/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LSC</a:t>
            </a:r>
            <a:r>
              <a:rPr lang="zh-CN" altLang="en-US" sz="16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作为第三代光伏核心，能将建筑表面转化为发电单元，兼具美学与低成本优势，是</a:t>
            </a:r>
            <a:r>
              <a:rPr lang="en-US" altLang="zh-CN" sz="16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BIPV</a:t>
            </a:r>
            <a:r>
              <a:rPr lang="zh-CN" altLang="en-US" sz="16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发展的关键路径。</a:t>
            </a:r>
          </a:p>
        </p:txBody>
      </p:sp>
      <p:sp>
        <p:nvSpPr>
          <p:cNvPr id="31" name="标题1"/>
          <p:cNvSpPr>
            <a:spLocks noChangeArrowheads="1"/>
          </p:cNvSpPr>
          <p:nvPr/>
        </p:nvSpPr>
        <p:spPr bwMode="auto">
          <a:xfrm>
            <a:off x="3261784" y="1797051"/>
            <a:ext cx="1242483" cy="1202267"/>
          </a:xfrm>
          <a:prstGeom prst="roundRect">
            <a:avLst>
              <a:gd name="adj" fmla="val 11921"/>
            </a:avLst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82824" tIns="41411" rIns="82824" bIns="41411" anchor="ctr"/>
          <a:lstStyle/>
          <a:p>
            <a:pPr algn="ctr">
              <a:lnSpc>
                <a:spcPct val="120000"/>
              </a:lnSpc>
            </a:pPr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背景</a:t>
            </a:r>
            <a:endParaRPr lang="zh-CN" altLang="zh-CN" sz="18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文本2"/>
          <p:cNvSpPr>
            <a:spLocks noChangeArrowheads="1"/>
          </p:cNvSpPr>
          <p:nvPr/>
        </p:nvSpPr>
        <p:spPr bwMode="auto">
          <a:xfrm>
            <a:off x="4504267" y="3255433"/>
            <a:ext cx="5911851" cy="1193800"/>
          </a:xfrm>
          <a:prstGeom prst="roundRect">
            <a:avLst>
              <a:gd name="adj" fmla="val 11505"/>
            </a:avLst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824" tIns="41411" rIns="82824" bIns="41411" anchor="ctr"/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光学效率受材料、基质等多因素影响，传统物理模型建模复杂且精度有限，导致研发周期漫长，试错成本高昂。</a:t>
            </a:r>
          </a:p>
        </p:txBody>
      </p:sp>
      <p:sp>
        <p:nvSpPr>
          <p:cNvPr id="33" name="标题2"/>
          <p:cNvSpPr>
            <a:spLocks noChangeArrowheads="1"/>
          </p:cNvSpPr>
          <p:nvPr/>
        </p:nvSpPr>
        <p:spPr bwMode="auto">
          <a:xfrm>
            <a:off x="3261784" y="3255433"/>
            <a:ext cx="1242483" cy="1193800"/>
          </a:xfrm>
          <a:prstGeom prst="roundRect">
            <a:avLst>
              <a:gd name="adj" fmla="val 11921"/>
            </a:avLst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82824" tIns="41411" rIns="82824" bIns="41411" anchor="ctr"/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挑战</a:t>
            </a:r>
            <a:endParaRPr lang="zh-CN" altLang="zh-CN" sz="18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文本3"/>
          <p:cNvSpPr>
            <a:spLocks noChangeArrowheads="1"/>
          </p:cNvSpPr>
          <p:nvPr/>
        </p:nvSpPr>
        <p:spPr bwMode="auto">
          <a:xfrm>
            <a:off x="4504267" y="4696885"/>
            <a:ext cx="5911851" cy="1181100"/>
          </a:xfrm>
          <a:prstGeom prst="roundRect">
            <a:avLst>
              <a:gd name="adj" fmla="val 11505"/>
            </a:avLst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824" tIns="41411" rIns="82824" bIns="41411" anchor="ctr"/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引入机器学习构建数据驱动模型，通过学习海量实验数据快速预测未知器件效率，大幅缩短新材料筛选与优化周期。</a:t>
            </a:r>
          </a:p>
        </p:txBody>
      </p:sp>
      <p:sp>
        <p:nvSpPr>
          <p:cNvPr id="35" name="标题3"/>
          <p:cNvSpPr>
            <a:spLocks noChangeArrowheads="1"/>
          </p:cNvSpPr>
          <p:nvPr/>
        </p:nvSpPr>
        <p:spPr bwMode="auto">
          <a:xfrm>
            <a:off x="3261784" y="4696885"/>
            <a:ext cx="1242483" cy="1181100"/>
          </a:xfrm>
          <a:prstGeom prst="roundRect">
            <a:avLst>
              <a:gd name="adj" fmla="val 11921"/>
            </a:avLst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82824" tIns="41411" rIns="82824" bIns="41411" anchor="ctr"/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动机</a:t>
            </a:r>
            <a:endParaRPr lang="zh-CN" altLang="zh-CN" sz="18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Oval 19"/>
          <p:cNvSpPr>
            <a:spLocks noChangeArrowheads="1"/>
          </p:cNvSpPr>
          <p:nvPr/>
        </p:nvSpPr>
        <p:spPr bwMode="auto">
          <a:xfrm>
            <a:off x="1481667" y="3255433"/>
            <a:ext cx="1191684" cy="1193800"/>
          </a:xfrm>
          <a:prstGeom prst="ellipse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82824" tIns="41411" rIns="82824" bIns="41411" anchor="ctr"/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sz="2533" b="1" dirty="0">
                <a:solidFill>
                  <a:schemeClr val="bg1"/>
                </a:solidFill>
                <a:latin typeface="Arial" pitchFamily="34" charset="0"/>
                <a:ea typeface="微软雅黑" pitchFamily="34" charset="-122"/>
              </a:rPr>
              <a:t>课题来源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470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16DEB-057D-7C30-A502-4F3EFD0B0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248F940B-5877-8B2C-6431-021984EDE5DF}"/>
              </a:ext>
            </a:extLst>
          </p:cNvPr>
          <p:cNvGrpSpPr>
            <a:grpSpLocks/>
          </p:cNvGrpSpPr>
          <p:nvPr/>
        </p:nvGrpSpPr>
        <p:grpSpPr bwMode="auto">
          <a:xfrm>
            <a:off x="1375834" y="4660899"/>
            <a:ext cx="9755717" cy="1159299"/>
            <a:chOff x="1374981" y="4660025"/>
            <a:chExt cx="9757476" cy="1160425"/>
          </a:xfrm>
        </p:grpSpPr>
        <p:grpSp>
          <p:nvGrpSpPr>
            <p:cNvPr id="16393" name="组合 12">
              <a:extLst>
                <a:ext uri="{FF2B5EF4-FFF2-40B4-BE49-F238E27FC236}">
                  <a16:creationId xmlns:a16="http://schemas.microsoft.com/office/drawing/2014/main" id="{5A8F3A76-5632-B43E-AC83-508C810DA5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4981" y="4660025"/>
              <a:ext cx="9757476" cy="1160425"/>
              <a:chOff x="5394700" y="1089672"/>
              <a:chExt cx="9757476" cy="1160425"/>
            </a:xfrm>
          </p:grpSpPr>
          <p:sp>
            <p:nvSpPr>
              <p:cNvPr id="16" name="TextBox 19">
                <a:extLst>
                  <a:ext uri="{FF2B5EF4-FFF2-40B4-BE49-F238E27FC236}">
                    <a16:creationId xmlns:a16="http://schemas.microsoft.com/office/drawing/2014/main" id="{33B2FCAA-82B4-BF2D-029D-83963247257A}"/>
                  </a:ext>
                </a:extLst>
              </p:cNvPr>
              <p:cNvSpPr txBox="1"/>
              <p:nvPr/>
            </p:nvSpPr>
            <p:spPr>
              <a:xfrm>
                <a:off x="5394700" y="1089672"/>
                <a:ext cx="2444433" cy="400499"/>
              </a:xfrm>
              <a:prstGeom prst="rect">
                <a:avLst/>
              </a:prstGeom>
              <a:noFill/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>
                  <a:defRPr sz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ngraversGothic BT" panose="020B0507020203020204" pitchFamily="34" charset="0"/>
                  </a:defRPr>
                </a:lvl1pPr>
              </a:lstStyle>
              <a:p>
                <a:pPr>
                  <a:defRPr/>
                </a:pPr>
                <a:r>
                  <a:rPr lang="zh-CN" altLang="en-US" sz="2000" b="1" dirty="0">
                    <a:solidFill>
                      <a:schemeClr val="accent3">
                        <a:lumMod val="75000"/>
                      </a:schemeClr>
                    </a:solidFill>
                    <a:latin typeface="Arial"/>
                    <a:ea typeface="微软雅黑"/>
                    <a:sym typeface="Arial"/>
                  </a:rPr>
                  <a:t>研究目标及内容</a:t>
                </a:r>
                <a:endParaRPr lang="en-US" sz="2000" b="1" dirty="0">
                  <a:solidFill>
                    <a:schemeClr val="accent3">
                      <a:lumMod val="75000"/>
                    </a:schemeClr>
                  </a:solidFill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" name="文本框 12">
                <a:extLst>
                  <a:ext uri="{FF2B5EF4-FFF2-40B4-BE49-F238E27FC236}">
                    <a16:creationId xmlns:a16="http://schemas.microsoft.com/office/drawing/2014/main" id="{09F5C0D6-D937-B6F1-B627-29BA594AAD3A}"/>
                  </a:ext>
                </a:extLst>
              </p:cNvPr>
              <p:cNvSpPr txBox="1"/>
              <p:nvPr/>
            </p:nvSpPr>
            <p:spPr>
              <a:xfrm>
                <a:off x="5394700" y="1662057"/>
                <a:ext cx="9757476" cy="588040"/>
              </a:xfrm>
              <a:prstGeom prst="rect">
                <a:avLst/>
              </a:prstGeom>
              <a:noFill/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1400" dirty="0">
                    <a:solidFill>
                      <a:srgbClr val="333333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总体目标：利用人工智能算法，构建一个高精度的预测模型。</a:t>
                </a:r>
                <a:endParaRPr lang="en-US" altLang="zh-CN" sz="1400" dirty="0">
                  <a:solidFill>
                    <a:srgbClr val="333333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1400" dirty="0">
                    <a:solidFill>
                      <a:srgbClr val="333333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研究内容：数据准备、特征工程构建、模型构建与对比、模型优化验证、工具的封装与使用。</a:t>
                </a:r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7FB5ED1-A205-872A-935B-E16162DB361F}"/>
                </a:ext>
              </a:extLst>
            </p:cNvPr>
            <p:cNvCxnSpPr/>
            <p:nvPr/>
          </p:nvCxnSpPr>
          <p:spPr>
            <a:xfrm>
              <a:off x="1480833" y="5121906"/>
              <a:ext cx="940392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D259A1A-755D-80F0-A9B7-EDDB0E42C97C}"/>
                </a:ext>
              </a:extLst>
            </p:cNvPr>
            <p:cNvCxnSpPr>
              <a:cxnSpLocks/>
            </p:cNvCxnSpPr>
            <p:nvPr/>
          </p:nvCxnSpPr>
          <p:spPr>
            <a:xfrm>
              <a:off x="9578544" y="5121906"/>
              <a:ext cx="1306218" cy="0"/>
            </a:xfrm>
            <a:prstGeom prst="line">
              <a:avLst/>
            </a:prstGeom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494A86E5-F9A6-3F9C-DAE0-7D268EDAF4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DFA823C-EAB1-A5ED-59CB-7E0390061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079183"/>
            <a:ext cx="859155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1927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5197DC98-9694-4BDB-8C98-0F900BF542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E9BF091-2CA2-490D-98C4-0A775D80380B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0D3F9C0-99C0-47E9-87E1-76858C87F23B}"/>
              </a:ext>
            </a:extLst>
          </p:cNvPr>
          <p:cNvGrpSpPr/>
          <p:nvPr/>
        </p:nvGrpSpPr>
        <p:grpSpPr>
          <a:xfrm>
            <a:off x="2016905" y="2207506"/>
            <a:ext cx="2936096" cy="2507184"/>
            <a:chOff x="2321705" y="2270688"/>
            <a:chExt cx="2936096" cy="250718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78EF7D-82B9-432A-A6E5-B9E741545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1705" y="2270688"/>
              <a:ext cx="2936096" cy="2507184"/>
            </a:xfrm>
            <a:prstGeom prst="rect">
              <a:avLst/>
            </a:prstGeom>
          </p:spPr>
        </p:pic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7504219-E9BE-49BF-BF55-EC8A99B3F750}"/>
                </a:ext>
              </a:extLst>
            </p:cNvPr>
            <p:cNvSpPr/>
            <p:nvPr/>
          </p:nvSpPr>
          <p:spPr>
            <a:xfrm>
              <a:off x="3089528" y="2741103"/>
              <a:ext cx="1302155" cy="13021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6000" sy="1060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1B946AF-49A7-46F8-98C1-ED23D753660C}"/>
                </a:ext>
              </a:extLst>
            </p:cNvPr>
            <p:cNvSpPr txBox="1"/>
            <p:nvPr/>
          </p:nvSpPr>
          <p:spPr>
            <a:xfrm>
              <a:off x="3237076" y="2935863"/>
              <a:ext cx="10070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accent3"/>
                  </a:solidFill>
                  <a:latin typeface="+mj-ea"/>
                  <a:ea typeface="+mj-ea"/>
                </a:rPr>
                <a:t>02</a:t>
              </a:r>
              <a:endParaRPr lang="zh-CN" altLang="en-US" sz="4800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73E221AB-0F24-4F66-92D5-AD336BD2C768}"/>
              </a:ext>
            </a:extLst>
          </p:cNvPr>
          <p:cNvSpPr txBox="1"/>
          <p:nvPr/>
        </p:nvSpPr>
        <p:spPr>
          <a:xfrm>
            <a:off x="5362998" y="2554477"/>
            <a:ext cx="4110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</a:rPr>
              <a:t>工作完成情况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E58BFF5-DE92-40DB-8D39-87D2AB928D39}"/>
              </a:ext>
            </a:extLst>
          </p:cNvPr>
          <p:cNvCxnSpPr/>
          <p:nvPr/>
        </p:nvCxnSpPr>
        <p:spPr>
          <a:xfrm>
            <a:off x="5362998" y="3262363"/>
            <a:ext cx="318799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728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1007534" y="2169585"/>
            <a:ext cx="1993900" cy="3528334"/>
            <a:chOff x="695325" y="2170339"/>
            <a:chExt cx="1994107" cy="3526971"/>
          </a:xfrm>
        </p:grpSpPr>
        <p:grpSp>
          <p:nvGrpSpPr>
            <p:cNvPr id="9245" name="组合 32"/>
            <p:cNvGrpSpPr>
              <a:grpSpLocks/>
            </p:cNvGrpSpPr>
            <p:nvPr/>
          </p:nvGrpSpPr>
          <p:grpSpPr bwMode="auto">
            <a:xfrm>
              <a:off x="695325" y="2170339"/>
              <a:ext cx="1959429" cy="3526971"/>
              <a:chOff x="1219199" y="1915886"/>
              <a:chExt cx="1959429" cy="3526971"/>
            </a:xfrm>
          </p:grpSpPr>
          <p:cxnSp>
            <p:nvCxnSpPr>
              <p:cNvPr id="38" name="直接连接符 37"/>
              <p:cNvCxnSpPr>
                <a:cxnSpLocks/>
              </p:cNvCxnSpPr>
              <p:nvPr/>
            </p:nvCxnSpPr>
            <p:spPr>
              <a:xfrm>
                <a:off x="1219199" y="1915886"/>
                <a:ext cx="0" cy="3120878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矩形 38"/>
              <p:cNvSpPr/>
              <p:nvPr/>
            </p:nvSpPr>
            <p:spPr>
              <a:xfrm>
                <a:off x="1219199" y="5036764"/>
                <a:ext cx="1960237" cy="406243"/>
              </a:xfrm>
              <a:prstGeom prst="rect">
                <a:avLst/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 dirty="0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34" name="TextBox 19"/>
            <p:cNvSpPr txBox="1"/>
            <p:nvPr/>
          </p:nvSpPr>
          <p:spPr>
            <a:xfrm>
              <a:off x="767897" y="3096392"/>
              <a:ext cx="1882623" cy="3999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r>
                <a:rPr lang="zh-CN" altLang="en-US" sz="2000" b="1" dirty="0">
                  <a:latin typeface="Arial"/>
                  <a:ea typeface="微软雅黑"/>
                  <a:sym typeface="Arial"/>
                </a:rPr>
                <a:t>信息收集</a:t>
              </a:r>
              <a:endParaRPr lang="en-US" sz="2000" b="1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5" name="文本框 18"/>
            <p:cNvSpPr txBox="1"/>
            <p:nvPr/>
          </p:nvSpPr>
          <p:spPr>
            <a:xfrm>
              <a:off x="767897" y="3513512"/>
              <a:ext cx="1653748" cy="136068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处理多篇文献所涉及的内容，并综合总结。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收集相关数据，设计训练集与测试集。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</p:txBody>
        </p:sp>
        <p:sp>
          <p:nvSpPr>
            <p:cNvPr id="36" name="椭圆 28"/>
            <p:cNvSpPr/>
            <p:nvPr/>
          </p:nvSpPr>
          <p:spPr>
            <a:xfrm>
              <a:off x="862560" y="2221119"/>
              <a:ext cx="609663" cy="590321"/>
            </a:xfrm>
            <a:custGeom>
              <a:avLst/>
              <a:gdLst>
                <a:gd name="connsiteX0" fmla="*/ 58918 w 323554"/>
                <a:gd name="connsiteY0" fmla="*/ 189699 h 313525"/>
                <a:gd name="connsiteX1" fmla="*/ 101421 w 323554"/>
                <a:gd name="connsiteY1" fmla="*/ 189699 h 313525"/>
                <a:gd name="connsiteX2" fmla="*/ 103997 w 323554"/>
                <a:gd name="connsiteY2" fmla="*/ 189699 h 313525"/>
                <a:gd name="connsiteX3" fmla="*/ 114301 w 323554"/>
                <a:gd name="connsiteY3" fmla="*/ 201731 h 313525"/>
                <a:gd name="connsiteX4" fmla="*/ 113013 w 323554"/>
                <a:gd name="connsiteY4" fmla="*/ 205741 h 313525"/>
                <a:gd name="connsiteX5" fmla="*/ 101421 w 323554"/>
                <a:gd name="connsiteY5" fmla="*/ 215099 h 313525"/>
                <a:gd name="connsiteX6" fmla="*/ 58918 w 323554"/>
                <a:gd name="connsiteY6" fmla="*/ 215099 h 313525"/>
                <a:gd name="connsiteX7" fmla="*/ 46038 w 323554"/>
                <a:gd name="connsiteY7" fmla="*/ 201731 h 313525"/>
                <a:gd name="connsiteX8" fmla="*/ 58918 w 323554"/>
                <a:gd name="connsiteY8" fmla="*/ 189699 h 313525"/>
                <a:gd name="connsiteX9" fmla="*/ 149225 w 323554"/>
                <a:gd name="connsiteY9" fmla="*/ 165887 h 313525"/>
                <a:gd name="connsiteX10" fmla="*/ 142875 w 323554"/>
                <a:gd name="connsiteY10" fmla="*/ 186525 h 313525"/>
                <a:gd name="connsiteX11" fmla="*/ 153988 w 323554"/>
                <a:gd name="connsiteY11" fmla="*/ 196050 h 313525"/>
                <a:gd name="connsiteX12" fmla="*/ 173038 w 323554"/>
                <a:gd name="connsiteY12" fmla="*/ 188112 h 313525"/>
                <a:gd name="connsiteX13" fmla="*/ 145188 w 323554"/>
                <a:gd name="connsiteY13" fmla="*/ 151599 h 313525"/>
                <a:gd name="connsiteX14" fmla="*/ 187326 w 323554"/>
                <a:gd name="connsiteY14" fmla="*/ 190104 h 313525"/>
                <a:gd name="connsiteX15" fmla="*/ 138803 w 323554"/>
                <a:gd name="connsiteY15" fmla="*/ 210640 h 313525"/>
                <a:gd name="connsiteX16" fmla="*/ 131142 w 323554"/>
                <a:gd name="connsiteY16" fmla="*/ 210640 h 313525"/>
                <a:gd name="connsiteX17" fmla="*/ 129865 w 323554"/>
                <a:gd name="connsiteY17" fmla="*/ 202939 h 313525"/>
                <a:gd name="connsiteX18" fmla="*/ 145188 w 323554"/>
                <a:gd name="connsiteY18" fmla="*/ 151599 h 313525"/>
                <a:gd name="connsiteX19" fmla="*/ 58982 w 323554"/>
                <a:gd name="connsiteY19" fmla="*/ 146837 h 313525"/>
                <a:gd name="connsiteX20" fmla="*/ 130176 w 323554"/>
                <a:gd name="connsiteY20" fmla="*/ 146837 h 313525"/>
                <a:gd name="connsiteX21" fmla="*/ 130176 w 323554"/>
                <a:gd name="connsiteY21" fmla="*/ 148186 h 313525"/>
                <a:gd name="connsiteX22" fmla="*/ 122409 w 323554"/>
                <a:gd name="connsiteY22" fmla="*/ 173825 h 313525"/>
                <a:gd name="connsiteX23" fmla="*/ 58982 w 323554"/>
                <a:gd name="connsiteY23" fmla="*/ 173825 h 313525"/>
                <a:gd name="connsiteX24" fmla="*/ 46038 w 323554"/>
                <a:gd name="connsiteY24" fmla="*/ 160331 h 313525"/>
                <a:gd name="connsiteX25" fmla="*/ 58982 w 323554"/>
                <a:gd name="connsiteY25" fmla="*/ 146837 h 313525"/>
                <a:gd name="connsiteX26" fmla="*/ 59011 w 323554"/>
                <a:gd name="connsiteY26" fmla="*/ 105562 h 313525"/>
                <a:gd name="connsiteX27" fmla="*/ 166688 w 323554"/>
                <a:gd name="connsiteY27" fmla="*/ 105562 h 313525"/>
                <a:gd name="connsiteX28" fmla="*/ 144634 w 323554"/>
                <a:gd name="connsiteY28" fmla="*/ 130962 h 313525"/>
                <a:gd name="connsiteX29" fmla="*/ 59011 w 323554"/>
                <a:gd name="connsiteY29" fmla="*/ 130962 h 313525"/>
                <a:gd name="connsiteX30" fmla="*/ 46038 w 323554"/>
                <a:gd name="connsiteY30" fmla="*/ 118930 h 313525"/>
                <a:gd name="connsiteX31" fmla="*/ 59011 w 323554"/>
                <a:gd name="connsiteY31" fmla="*/ 105562 h 313525"/>
                <a:gd name="connsiteX32" fmla="*/ 226883 w 323554"/>
                <a:gd name="connsiteY32" fmla="*/ 81749 h 313525"/>
                <a:gd name="connsiteX33" fmla="*/ 224292 w 323554"/>
                <a:gd name="connsiteY33" fmla="*/ 83037 h 313525"/>
                <a:gd name="connsiteX34" fmla="*/ 171159 w 323554"/>
                <a:gd name="connsiteY34" fmla="*/ 140996 h 313525"/>
                <a:gd name="connsiteX35" fmla="*/ 172455 w 323554"/>
                <a:gd name="connsiteY35" fmla="*/ 146148 h 313525"/>
                <a:gd name="connsiteX36" fmla="*/ 175047 w 323554"/>
                <a:gd name="connsiteY36" fmla="*/ 148724 h 313525"/>
                <a:gd name="connsiteX37" fmla="*/ 177639 w 323554"/>
                <a:gd name="connsiteY37" fmla="*/ 150012 h 313525"/>
                <a:gd name="connsiteX38" fmla="*/ 180230 w 323554"/>
                <a:gd name="connsiteY38" fmla="*/ 148724 h 313525"/>
                <a:gd name="connsiteX39" fmla="*/ 232067 w 323554"/>
                <a:gd name="connsiteY39" fmla="*/ 90765 h 313525"/>
                <a:gd name="connsiteX40" fmla="*/ 232067 w 323554"/>
                <a:gd name="connsiteY40" fmla="*/ 85613 h 313525"/>
                <a:gd name="connsiteX41" fmla="*/ 229475 w 323554"/>
                <a:gd name="connsiteY41" fmla="*/ 83037 h 313525"/>
                <a:gd name="connsiteX42" fmla="*/ 226883 w 323554"/>
                <a:gd name="connsiteY42" fmla="*/ 81749 h 313525"/>
                <a:gd name="connsiteX43" fmla="*/ 247254 w 323554"/>
                <a:gd name="connsiteY43" fmla="*/ 62303 h 313525"/>
                <a:gd name="connsiteX44" fmla="*/ 242491 w 323554"/>
                <a:gd name="connsiteY44" fmla="*/ 63493 h 313525"/>
                <a:gd name="connsiteX45" fmla="*/ 237729 w 323554"/>
                <a:gd name="connsiteY45" fmla="*/ 68256 h 313525"/>
                <a:gd name="connsiteX46" fmla="*/ 236538 w 323554"/>
                <a:gd name="connsiteY46" fmla="*/ 70637 h 313525"/>
                <a:gd name="connsiteX47" fmla="*/ 237729 w 323554"/>
                <a:gd name="connsiteY47" fmla="*/ 73019 h 313525"/>
                <a:gd name="connsiteX48" fmla="*/ 240110 w 323554"/>
                <a:gd name="connsiteY48" fmla="*/ 74209 h 313525"/>
                <a:gd name="connsiteX49" fmla="*/ 242491 w 323554"/>
                <a:gd name="connsiteY49" fmla="*/ 75400 h 313525"/>
                <a:gd name="connsiteX50" fmla="*/ 244873 w 323554"/>
                <a:gd name="connsiteY50" fmla="*/ 75400 h 313525"/>
                <a:gd name="connsiteX51" fmla="*/ 244873 w 323554"/>
                <a:gd name="connsiteY51" fmla="*/ 74209 h 313525"/>
                <a:gd name="connsiteX52" fmla="*/ 249635 w 323554"/>
                <a:gd name="connsiteY52" fmla="*/ 69447 h 313525"/>
                <a:gd name="connsiteX53" fmla="*/ 249635 w 323554"/>
                <a:gd name="connsiteY53" fmla="*/ 64684 h 313525"/>
                <a:gd name="connsiteX54" fmla="*/ 247254 w 323554"/>
                <a:gd name="connsiteY54" fmla="*/ 62303 h 313525"/>
                <a:gd name="connsiteX55" fmla="*/ 24647 w 323554"/>
                <a:gd name="connsiteY55" fmla="*/ 48412 h 313525"/>
                <a:gd name="connsiteX56" fmla="*/ 201069 w 323554"/>
                <a:gd name="connsiteY56" fmla="*/ 48412 h 313525"/>
                <a:gd name="connsiteX57" fmla="*/ 214041 w 323554"/>
                <a:gd name="connsiteY57" fmla="*/ 52292 h 313525"/>
                <a:gd name="connsiteX58" fmla="*/ 193285 w 323554"/>
                <a:gd name="connsiteY58" fmla="*/ 76863 h 313525"/>
                <a:gd name="connsiteX59" fmla="*/ 181610 w 323554"/>
                <a:gd name="connsiteY59" fmla="*/ 72983 h 313525"/>
                <a:gd name="connsiteX60" fmla="*/ 45403 w 323554"/>
                <a:gd name="connsiteY60" fmla="*/ 72983 h 313525"/>
                <a:gd name="connsiteX61" fmla="*/ 24647 w 323554"/>
                <a:gd name="connsiteY61" fmla="*/ 93675 h 313525"/>
                <a:gd name="connsiteX62" fmla="*/ 24647 w 323554"/>
                <a:gd name="connsiteY62" fmla="*/ 268262 h 313525"/>
                <a:gd name="connsiteX63" fmla="*/ 45403 w 323554"/>
                <a:gd name="connsiteY63" fmla="*/ 287660 h 313525"/>
                <a:gd name="connsiteX64" fmla="*/ 181610 w 323554"/>
                <a:gd name="connsiteY64" fmla="*/ 287660 h 313525"/>
                <a:gd name="connsiteX65" fmla="*/ 202366 w 323554"/>
                <a:gd name="connsiteY65" fmla="*/ 268262 h 313525"/>
                <a:gd name="connsiteX66" fmla="*/ 202366 w 323554"/>
                <a:gd name="connsiteY66" fmla="*/ 202307 h 313525"/>
                <a:gd name="connsiteX67" fmla="*/ 203663 w 323554"/>
                <a:gd name="connsiteY67" fmla="*/ 201014 h 313525"/>
                <a:gd name="connsiteX68" fmla="*/ 206258 w 323554"/>
                <a:gd name="connsiteY68" fmla="*/ 198427 h 313525"/>
                <a:gd name="connsiteX69" fmla="*/ 227013 w 323554"/>
                <a:gd name="connsiteY69" fmla="*/ 175149 h 313525"/>
                <a:gd name="connsiteX70" fmla="*/ 227013 w 323554"/>
                <a:gd name="connsiteY70" fmla="*/ 287660 h 313525"/>
                <a:gd name="connsiteX71" fmla="*/ 201069 w 323554"/>
                <a:gd name="connsiteY71" fmla="*/ 313525 h 313525"/>
                <a:gd name="connsiteX72" fmla="*/ 25944 w 323554"/>
                <a:gd name="connsiteY72" fmla="*/ 313525 h 313525"/>
                <a:gd name="connsiteX73" fmla="*/ 0 w 323554"/>
                <a:gd name="connsiteY73" fmla="*/ 287660 h 313525"/>
                <a:gd name="connsiteX74" fmla="*/ 0 w 323554"/>
                <a:gd name="connsiteY74" fmla="*/ 72983 h 313525"/>
                <a:gd name="connsiteX75" fmla="*/ 24647 w 323554"/>
                <a:gd name="connsiteY75" fmla="*/ 48412 h 313525"/>
                <a:gd name="connsiteX76" fmla="*/ 242888 w 323554"/>
                <a:gd name="connsiteY76" fmla="*/ 42062 h 313525"/>
                <a:gd name="connsiteX77" fmla="*/ 285751 w 323554"/>
                <a:gd name="connsiteY77" fmla="*/ 81750 h 313525"/>
                <a:gd name="connsiteX78" fmla="*/ 279401 w 323554"/>
                <a:gd name="connsiteY78" fmla="*/ 89687 h 313525"/>
                <a:gd name="connsiteX79" fmla="*/ 200026 w 323554"/>
                <a:gd name="connsiteY79" fmla="*/ 178587 h 313525"/>
                <a:gd name="connsiteX80" fmla="*/ 193676 w 323554"/>
                <a:gd name="connsiteY80" fmla="*/ 184937 h 313525"/>
                <a:gd name="connsiteX81" fmla="*/ 150813 w 323554"/>
                <a:gd name="connsiteY81" fmla="*/ 146837 h 313525"/>
                <a:gd name="connsiteX82" fmla="*/ 155576 w 323554"/>
                <a:gd name="connsiteY82" fmla="*/ 138899 h 313525"/>
                <a:gd name="connsiteX83" fmla="*/ 236538 w 323554"/>
                <a:gd name="connsiteY83" fmla="*/ 48412 h 313525"/>
                <a:gd name="connsiteX84" fmla="*/ 257175 w 323554"/>
                <a:gd name="connsiteY84" fmla="*/ 26187 h 313525"/>
                <a:gd name="connsiteX85" fmla="*/ 301625 w 323554"/>
                <a:gd name="connsiteY85" fmla="*/ 64287 h 313525"/>
                <a:gd name="connsiteX86" fmla="*/ 295275 w 323554"/>
                <a:gd name="connsiteY86" fmla="*/ 72225 h 313525"/>
                <a:gd name="connsiteX87" fmla="*/ 290513 w 323554"/>
                <a:gd name="connsiteY87" fmla="*/ 75400 h 313525"/>
                <a:gd name="connsiteX88" fmla="*/ 247650 w 323554"/>
                <a:gd name="connsiteY88" fmla="*/ 37300 h 313525"/>
                <a:gd name="connsiteX89" fmla="*/ 250825 w 323554"/>
                <a:gd name="connsiteY89" fmla="*/ 34125 h 313525"/>
                <a:gd name="connsiteX90" fmla="*/ 285750 w 323554"/>
                <a:gd name="connsiteY90" fmla="*/ 11899 h 313525"/>
                <a:gd name="connsiteX91" fmla="*/ 279400 w 323554"/>
                <a:gd name="connsiteY91" fmla="*/ 19837 h 313525"/>
                <a:gd name="connsiteX92" fmla="*/ 304800 w 323554"/>
                <a:gd name="connsiteY92" fmla="*/ 43649 h 313525"/>
                <a:gd name="connsiteX93" fmla="*/ 312738 w 323554"/>
                <a:gd name="connsiteY93" fmla="*/ 35712 h 313525"/>
                <a:gd name="connsiteX94" fmla="*/ 285265 w 323554"/>
                <a:gd name="connsiteY94" fmla="*/ 516 h 313525"/>
                <a:gd name="connsiteX95" fmla="*/ 294336 w 323554"/>
                <a:gd name="connsiteY95" fmla="*/ 3151 h 313525"/>
                <a:gd name="connsiteX96" fmla="*/ 318958 w 323554"/>
                <a:gd name="connsiteY96" fmla="*/ 25545 h 313525"/>
                <a:gd name="connsiteX97" fmla="*/ 320254 w 323554"/>
                <a:gd name="connsiteY97" fmla="*/ 43987 h 313525"/>
                <a:gd name="connsiteX98" fmla="*/ 305999 w 323554"/>
                <a:gd name="connsiteY98" fmla="*/ 61112 h 313525"/>
                <a:gd name="connsiteX99" fmla="*/ 261938 w 323554"/>
                <a:gd name="connsiteY99" fmla="*/ 20276 h 313525"/>
                <a:gd name="connsiteX100" fmla="*/ 276193 w 323554"/>
                <a:gd name="connsiteY100" fmla="*/ 4468 h 313525"/>
                <a:gd name="connsiteX101" fmla="*/ 285265 w 323554"/>
                <a:gd name="connsiteY101" fmla="*/ 516 h 31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323554" h="313525">
                  <a:moveTo>
                    <a:pt x="58918" y="189699"/>
                  </a:moveTo>
                  <a:cubicBezTo>
                    <a:pt x="58918" y="189699"/>
                    <a:pt x="58918" y="189699"/>
                    <a:pt x="101421" y="189699"/>
                  </a:cubicBezTo>
                  <a:cubicBezTo>
                    <a:pt x="102709" y="189699"/>
                    <a:pt x="102709" y="189699"/>
                    <a:pt x="103997" y="189699"/>
                  </a:cubicBezTo>
                  <a:cubicBezTo>
                    <a:pt x="109149" y="189699"/>
                    <a:pt x="114301" y="195046"/>
                    <a:pt x="114301" y="201731"/>
                  </a:cubicBezTo>
                  <a:cubicBezTo>
                    <a:pt x="114301" y="203067"/>
                    <a:pt x="114301" y="204404"/>
                    <a:pt x="113013" y="205741"/>
                  </a:cubicBezTo>
                  <a:cubicBezTo>
                    <a:pt x="111725" y="211088"/>
                    <a:pt x="107861" y="215099"/>
                    <a:pt x="101421" y="215099"/>
                  </a:cubicBezTo>
                  <a:cubicBezTo>
                    <a:pt x="101421" y="215099"/>
                    <a:pt x="101421" y="215099"/>
                    <a:pt x="58918" y="215099"/>
                  </a:cubicBezTo>
                  <a:cubicBezTo>
                    <a:pt x="51190" y="215099"/>
                    <a:pt x="46038" y="209752"/>
                    <a:pt x="46038" y="201731"/>
                  </a:cubicBezTo>
                  <a:cubicBezTo>
                    <a:pt x="46038" y="195046"/>
                    <a:pt x="51190" y="189699"/>
                    <a:pt x="58918" y="189699"/>
                  </a:cubicBezTo>
                  <a:close/>
                  <a:moveTo>
                    <a:pt x="149225" y="165887"/>
                  </a:moveTo>
                  <a:lnTo>
                    <a:pt x="142875" y="186525"/>
                  </a:lnTo>
                  <a:lnTo>
                    <a:pt x="153988" y="196050"/>
                  </a:lnTo>
                  <a:lnTo>
                    <a:pt x="173038" y="188112"/>
                  </a:lnTo>
                  <a:close/>
                  <a:moveTo>
                    <a:pt x="145188" y="151599"/>
                  </a:moveTo>
                  <a:cubicBezTo>
                    <a:pt x="145188" y="151599"/>
                    <a:pt x="145188" y="151599"/>
                    <a:pt x="187326" y="190104"/>
                  </a:cubicBezTo>
                  <a:cubicBezTo>
                    <a:pt x="187326" y="190104"/>
                    <a:pt x="187326" y="190104"/>
                    <a:pt x="138803" y="210640"/>
                  </a:cubicBezTo>
                  <a:cubicBezTo>
                    <a:pt x="136249" y="211924"/>
                    <a:pt x="133696" y="211924"/>
                    <a:pt x="131142" y="210640"/>
                  </a:cubicBezTo>
                  <a:cubicBezTo>
                    <a:pt x="129865" y="208073"/>
                    <a:pt x="128588" y="205506"/>
                    <a:pt x="129865" y="202939"/>
                  </a:cubicBezTo>
                  <a:cubicBezTo>
                    <a:pt x="129865" y="202939"/>
                    <a:pt x="129865" y="202939"/>
                    <a:pt x="145188" y="151599"/>
                  </a:cubicBezTo>
                  <a:close/>
                  <a:moveTo>
                    <a:pt x="58982" y="146837"/>
                  </a:moveTo>
                  <a:cubicBezTo>
                    <a:pt x="58982" y="146837"/>
                    <a:pt x="58982" y="146837"/>
                    <a:pt x="130176" y="146837"/>
                  </a:cubicBezTo>
                  <a:cubicBezTo>
                    <a:pt x="130176" y="148186"/>
                    <a:pt x="130176" y="148186"/>
                    <a:pt x="130176" y="148186"/>
                  </a:cubicBezTo>
                  <a:lnTo>
                    <a:pt x="122409" y="173825"/>
                  </a:lnTo>
                  <a:cubicBezTo>
                    <a:pt x="122409" y="173825"/>
                    <a:pt x="122409" y="173825"/>
                    <a:pt x="58982" y="173825"/>
                  </a:cubicBezTo>
                  <a:cubicBezTo>
                    <a:pt x="51216" y="173825"/>
                    <a:pt x="46038" y="167078"/>
                    <a:pt x="46038" y="160331"/>
                  </a:cubicBezTo>
                  <a:cubicBezTo>
                    <a:pt x="46038" y="153584"/>
                    <a:pt x="51216" y="146837"/>
                    <a:pt x="58982" y="146837"/>
                  </a:cubicBezTo>
                  <a:close/>
                  <a:moveTo>
                    <a:pt x="59011" y="105562"/>
                  </a:moveTo>
                  <a:lnTo>
                    <a:pt x="166688" y="105562"/>
                  </a:lnTo>
                  <a:cubicBezTo>
                    <a:pt x="166688" y="105562"/>
                    <a:pt x="166688" y="105562"/>
                    <a:pt x="144634" y="130962"/>
                  </a:cubicBezTo>
                  <a:cubicBezTo>
                    <a:pt x="144634" y="130962"/>
                    <a:pt x="144634" y="130962"/>
                    <a:pt x="59011" y="130962"/>
                  </a:cubicBezTo>
                  <a:cubicBezTo>
                    <a:pt x="51227" y="130962"/>
                    <a:pt x="46038" y="125615"/>
                    <a:pt x="46038" y="118930"/>
                  </a:cubicBezTo>
                  <a:cubicBezTo>
                    <a:pt x="46038" y="110909"/>
                    <a:pt x="51227" y="105562"/>
                    <a:pt x="59011" y="105562"/>
                  </a:cubicBezTo>
                  <a:close/>
                  <a:moveTo>
                    <a:pt x="226883" y="81749"/>
                  </a:moveTo>
                  <a:cubicBezTo>
                    <a:pt x="225587" y="81749"/>
                    <a:pt x="224292" y="83037"/>
                    <a:pt x="224292" y="83037"/>
                  </a:cubicBezTo>
                  <a:cubicBezTo>
                    <a:pt x="224292" y="83037"/>
                    <a:pt x="224292" y="83037"/>
                    <a:pt x="171159" y="140996"/>
                  </a:cubicBezTo>
                  <a:cubicBezTo>
                    <a:pt x="169863" y="142284"/>
                    <a:pt x="169863" y="144860"/>
                    <a:pt x="172455" y="146148"/>
                  </a:cubicBezTo>
                  <a:cubicBezTo>
                    <a:pt x="172455" y="146148"/>
                    <a:pt x="172455" y="146148"/>
                    <a:pt x="175047" y="148724"/>
                  </a:cubicBezTo>
                  <a:cubicBezTo>
                    <a:pt x="175047" y="148724"/>
                    <a:pt x="176343" y="150012"/>
                    <a:pt x="177639" y="150012"/>
                  </a:cubicBezTo>
                  <a:cubicBezTo>
                    <a:pt x="177639" y="150012"/>
                    <a:pt x="178934" y="148724"/>
                    <a:pt x="180230" y="148724"/>
                  </a:cubicBezTo>
                  <a:cubicBezTo>
                    <a:pt x="180230" y="148724"/>
                    <a:pt x="180230" y="148724"/>
                    <a:pt x="232067" y="90765"/>
                  </a:cubicBezTo>
                  <a:cubicBezTo>
                    <a:pt x="233363" y="89477"/>
                    <a:pt x="233363" y="86901"/>
                    <a:pt x="232067" y="85613"/>
                  </a:cubicBezTo>
                  <a:cubicBezTo>
                    <a:pt x="232067" y="85613"/>
                    <a:pt x="232067" y="85613"/>
                    <a:pt x="229475" y="83037"/>
                  </a:cubicBezTo>
                  <a:cubicBezTo>
                    <a:pt x="228179" y="81749"/>
                    <a:pt x="226883" y="81749"/>
                    <a:pt x="226883" y="81749"/>
                  </a:cubicBezTo>
                  <a:close/>
                  <a:moveTo>
                    <a:pt x="247254" y="62303"/>
                  </a:moveTo>
                  <a:cubicBezTo>
                    <a:pt x="244873" y="61112"/>
                    <a:pt x="243682" y="62303"/>
                    <a:pt x="242491" y="63493"/>
                  </a:cubicBezTo>
                  <a:cubicBezTo>
                    <a:pt x="242491" y="63493"/>
                    <a:pt x="242491" y="63493"/>
                    <a:pt x="237729" y="68256"/>
                  </a:cubicBezTo>
                  <a:cubicBezTo>
                    <a:pt x="237729" y="68256"/>
                    <a:pt x="236538" y="69447"/>
                    <a:pt x="236538" y="70637"/>
                  </a:cubicBezTo>
                  <a:cubicBezTo>
                    <a:pt x="236538" y="70637"/>
                    <a:pt x="237729" y="71828"/>
                    <a:pt x="237729" y="73019"/>
                  </a:cubicBezTo>
                  <a:cubicBezTo>
                    <a:pt x="237729" y="73019"/>
                    <a:pt x="237729" y="73019"/>
                    <a:pt x="240110" y="74209"/>
                  </a:cubicBezTo>
                  <a:cubicBezTo>
                    <a:pt x="241301" y="75400"/>
                    <a:pt x="242491" y="75400"/>
                    <a:pt x="242491" y="75400"/>
                  </a:cubicBezTo>
                  <a:cubicBezTo>
                    <a:pt x="243682" y="75400"/>
                    <a:pt x="243682" y="75400"/>
                    <a:pt x="244873" y="75400"/>
                  </a:cubicBezTo>
                  <a:cubicBezTo>
                    <a:pt x="244873" y="74209"/>
                    <a:pt x="244873" y="74209"/>
                    <a:pt x="244873" y="74209"/>
                  </a:cubicBezTo>
                  <a:cubicBezTo>
                    <a:pt x="244873" y="74209"/>
                    <a:pt x="244873" y="74209"/>
                    <a:pt x="249635" y="69447"/>
                  </a:cubicBezTo>
                  <a:cubicBezTo>
                    <a:pt x="250826" y="68256"/>
                    <a:pt x="250826" y="65875"/>
                    <a:pt x="249635" y="64684"/>
                  </a:cubicBezTo>
                  <a:cubicBezTo>
                    <a:pt x="249635" y="64684"/>
                    <a:pt x="249635" y="64684"/>
                    <a:pt x="247254" y="62303"/>
                  </a:cubicBezTo>
                  <a:close/>
                  <a:moveTo>
                    <a:pt x="24647" y="48412"/>
                  </a:moveTo>
                  <a:cubicBezTo>
                    <a:pt x="24647" y="48412"/>
                    <a:pt x="24647" y="48412"/>
                    <a:pt x="201069" y="48412"/>
                  </a:cubicBezTo>
                  <a:cubicBezTo>
                    <a:pt x="206258" y="48412"/>
                    <a:pt x="210149" y="49705"/>
                    <a:pt x="214041" y="52292"/>
                  </a:cubicBezTo>
                  <a:cubicBezTo>
                    <a:pt x="214041" y="52292"/>
                    <a:pt x="214041" y="52292"/>
                    <a:pt x="193285" y="76863"/>
                  </a:cubicBezTo>
                  <a:cubicBezTo>
                    <a:pt x="189394" y="74277"/>
                    <a:pt x="185502" y="72983"/>
                    <a:pt x="181610" y="72983"/>
                  </a:cubicBezTo>
                  <a:cubicBezTo>
                    <a:pt x="181610" y="72983"/>
                    <a:pt x="181610" y="72983"/>
                    <a:pt x="45403" y="72983"/>
                  </a:cubicBezTo>
                  <a:cubicBezTo>
                    <a:pt x="33728" y="72983"/>
                    <a:pt x="24647" y="82036"/>
                    <a:pt x="24647" y="93675"/>
                  </a:cubicBezTo>
                  <a:cubicBezTo>
                    <a:pt x="24647" y="93675"/>
                    <a:pt x="24647" y="93675"/>
                    <a:pt x="24647" y="268262"/>
                  </a:cubicBezTo>
                  <a:cubicBezTo>
                    <a:pt x="24647" y="278608"/>
                    <a:pt x="33728" y="287660"/>
                    <a:pt x="45403" y="287660"/>
                  </a:cubicBezTo>
                  <a:cubicBezTo>
                    <a:pt x="45403" y="287660"/>
                    <a:pt x="45403" y="287660"/>
                    <a:pt x="181610" y="287660"/>
                  </a:cubicBezTo>
                  <a:cubicBezTo>
                    <a:pt x="193285" y="287660"/>
                    <a:pt x="202366" y="278608"/>
                    <a:pt x="202366" y="268262"/>
                  </a:cubicBezTo>
                  <a:cubicBezTo>
                    <a:pt x="202366" y="268262"/>
                    <a:pt x="202366" y="268262"/>
                    <a:pt x="202366" y="202307"/>
                  </a:cubicBezTo>
                  <a:cubicBezTo>
                    <a:pt x="202366" y="202307"/>
                    <a:pt x="202366" y="201014"/>
                    <a:pt x="203663" y="201014"/>
                  </a:cubicBezTo>
                  <a:cubicBezTo>
                    <a:pt x="203663" y="199720"/>
                    <a:pt x="204960" y="199720"/>
                    <a:pt x="206258" y="198427"/>
                  </a:cubicBezTo>
                  <a:cubicBezTo>
                    <a:pt x="206258" y="198427"/>
                    <a:pt x="206258" y="198427"/>
                    <a:pt x="227013" y="175149"/>
                  </a:cubicBezTo>
                  <a:cubicBezTo>
                    <a:pt x="227013" y="175149"/>
                    <a:pt x="227013" y="175149"/>
                    <a:pt x="227013" y="287660"/>
                  </a:cubicBezTo>
                  <a:cubicBezTo>
                    <a:pt x="227013" y="301886"/>
                    <a:pt x="215338" y="313525"/>
                    <a:pt x="201069" y="313525"/>
                  </a:cubicBezTo>
                  <a:cubicBezTo>
                    <a:pt x="201069" y="313525"/>
                    <a:pt x="201069" y="313525"/>
                    <a:pt x="25944" y="313525"/>
                  </a:cubicBezTo>
                  <a:cubicBezTo>
                    <a:pt x="11675" y="313525"/>
                    <a:pt x="0" y="301886"/>
                    <a:pt x="0" y="287660"/>
                  </a:cubicBezTo>
                  <a:cubicBezTo>
                    <a:pt x="0" y="287660"/>
                    <a:pt x="0" y="287660"/>
                    <a:pt x="0" y="72983"/>
                  </a:cubicBezTo>
                  <a:cubicBezTo>
                    <a:pt x="0" y="60051"/>
                    <a:pt x="10378" y="48412"/>
                    <a:pt x="24647" y="48412"/>
                  </a:cubicBezTo>
                  <a:close/>
                  <a:moveTo>
                    <a:pt x="242888" y="42062"/>
                  </a:moveTo>
                  <a:lnTo>
                    <a:pt x="285751" y="81750"/>
                  </a:lnTo>
                  <a:lnTo>
                    <a:pt x="279401" y="89687"/>
                  </a:lnTo>
                  <a:lnTo>
                    <a:pt x="200026" y="178587"/>
                  </a:lnTo>
                  <a:lnTo>
                    <a:pt x="193676" y="184937"/>
                  </a:lnTo>
                  <a:lnTo>
                    <a:pt x="150813" y="146837"/>
                  </a:lnTo>
                  <a:lnTo>
                    <a:pt x="155576" y="138899"/>
                  </a:lnTo>
                  <a:lnTo>
                    <a:pt x="236538" y="48412"/>
                  </a:lnTo>
                  <a:close/>
                  <a:moveTo>
                    <a:pt x="257175" y="26187"/>
                  </a:moveTo>
                  <a:lnTo>
                    <a:pt x="301625" y="64287"/>
                  </a:lnTo>
                  <a:lnTo>
                    <a:pt x="295275" y="72225"/>
                  </a:lnTo>
                  <a:lnTo>
                    <a:pt x="290513" y="75400"/>
                  </a:lnTo>
                  <a:lnTo>
                    <a:pt x="247650" y="37300"/>
                  </a:lnTo>
                  <a:lnTo>
                    <a:pt x="250825" y="34125"/>
                  </a:lnTo>
                  <a:close/>
                  <a:moveTo>
                    <a:pt x="285750" y="11899"/>
                  </a:moveTo>
                  <a:lnTo>
                    <a:pt x="279400" y="19837"/>
                  </a:lnTo>
                  <a:lnTo>
                    <a:pt x="304800" y="43649"/>
                  </a:lnTo>
                  <a:lnTo>
                    <a:pt x="312738" y="35712"/>
                  </a:lnTo>
                  <a:close/>
                  <a:moveTo>
                    <a:pt x="285265" y="516"/>
                  </a:moveTo>
                  <a:cubicBezTo>
                    <a:pt x="289152" y="-801"/>
                    <a:pt x="291744" y="516"/>
                    <a:pt x="294336" y="3151"/>
                  </a:cubicBezTo>
                  <a:cubicBezTo>
                    <a:pt x="294336" y="3151"/>
                    <a:pt x="294336" y="3151"/>
                    <a:pt x="318958" y="25545"/>
                  </a:cubicBezTo>
                  <a:cubicBezTo>
                    <a:pt x="324142" y="30814"/>
                    <a:pt x="325438" y="38718"/>
                    <a:pt x="320254" y="43987"/>
                  </a:cubicBezTo>
                  <a:cubicBezTo>
                    <a:pt x="320254" y="43987"/>
                    <a:pt x="320254" y="43987"/>
                    <a:pt x="305999" y="61112"/>
                  </a:cubicBezTo>
                  <a:cubicBezTo>
                    <a:pt x="305999" y="61112"/>
                    <a:pt x="305999" y="61112"/>
                    <a:pt x="261938" y="20276"/>
                  </a:cubicBezTo>
                  <a:cubicBezTo>
                    <a:pt x="261938" y="20276"/>
                    <a:pt x="261938" y="20276"/>
                    <a:pt x="276193" y="4468"/>
                  </a:cubicBezTo>
                  <a:cubicBezTo>
                    <a:pt x="278785" y="1834"/>
                    <a:pt x="281377" y="516"/>
                    <a:pt x="285265" y="516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7" name="TextBox 19"/>
            <p:cNvSpPr txBox="1"/>
            <p:nvPr/>
          </p:nvSpPr>
          <p:spPr>
            <a:xfrm>
              <a:off x="806809" y="5310366"/>
              <a:ext cx="1882623" cy="379509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endParaRPr lang="en-US" sz="1867" dirty="0">
                <a:solidFill>
                  <a:schemeClr val="bg1"/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3714751" y="2169585"/>
            <a:ext cx="1998133" cy="3528334"/>
            <a:chOff x="3642632" y="2170339"/>
            <a:chExt cx="1996986" cy="3526971"/>
          </a:xfrm>
        </p:grpSpPr>
        <p:grpSp>
          <p:nvGrpSpPr>
            <p:cNvPr id="9238" name="组合 40"/>
            <p:cNvGrpSpPr>
              <a:grpSpLocks/>
            </p:cNvGrpSpPr>
            <p:nvPr/>
          </p:nvGrpSpPr>
          <p:grpSpPr bwMode="auto">
            <a:xfrm>
              <a:off x="3642632" y="2170339"/>
              <a:ext cx="1959429" cy="3526971"/>
              <a:chOff x="1219199" y="1915886"/>
              <a:chExt cx="1959429" cy="3526971"/>
            </a:xfrm>
          </p:grpSpPr>
          <p:cxnSp>
            <p:nvCxnSpPr>
              <p:cNvPr id="64" name="直接连接符 63"/>
              <p:cNvCxnSpPr>
                <a:cxnSpLocks/>
              </p:cNvCxnSpPr>
              <p:nvPr/>
            </p:nvCxnSpPr>
            <p:spPr>
              <a:xfrm>
                <a:off x="1219199" y="1915886"/>
                <a:ext cx="0" cy="3120878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矩形 66"/>
              <p:cNvSpPr/>
              <p:nvPr/>
            </p:nvSpPr>
            <p:spPr>
              <a:xfrm>
                <a:off x="1219199" y="5036764"/>
                <a:ext cx="1958908" cy="406243"/>
              </a:xfrm>
              <a:prstGeom prst="rect">
                <a:avLst/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42" name="TextBox 19"/>
            <p:cNvSpPr txBox="1"/>
            <p:nvPr/>
          </p:nvSpPr>
          <p:spPr>
            <a:xfrm>
              <a:off x="3718083" y="3096392"/>
              <a:ext cx="1882622" cy="3999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r>
                <a:rPr lang="zh-CN" altLang="en-US" sz="2000" b="1" dirty="0">
                  <a:latin typeface="Arial"/>
                  <a:ea typeface="微软雅黑"/>
                  <a:sym typeface="Arial"/>
                </a:rPr>
                <a:t>数据处理</a:t>
              </a:r>
              <a:endParaRPr lang="en-US" sz="2000" b="1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43" name="文本框 21"/>
            <p:cNvSpPr txBox="1"/>
            <p:nvPr/>
          </p:nvSpPr>
          <p:spPr>
            <a:xfrm>
              <a:off x="3718084" y="3513512"/>
              <a:ext cx="1730084" cy="136068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清洗非数值字符、缺失值及错误内容。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特征筛选、数据标准化及独热编码预处理。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</p:txBody>
        </p:sp>
        <p:sp>
          <p:nvSpPr>
            <p:cNvPr id="58" name="椭圆 29"/>
            <p:cNvSpPr/>
            <p:nvPr/>
          </p:nvSpPr>
          <p:spPr>
            <a:xfrm>
              <a:off x="3809752" y="2290942"/>
              <a:ext cx="609250" cy="452792"/>
            </a:xfrm>
            <a:custGeom>
              <a:avLst/>
              <a:gdLst>
                <a:gd name="connsiteX0" fmla="*/ 9246 w 338138"/>
                <a:gd name="connsiteY0" fmla="*/ 217487 h 250825"/>
                <a:gd name="connsiteX1" fmla="*/ 328892 w 338138"/>
                <a:gd name="connsiteY1" fmla="*/ 217487 h 250825"/>
                <a:gd name="connsiteX2" fmla="*/ 338138 w 338138"/>
                <a:gd name="connsiteY2" fmla="*/ 226822 h 250825"/>
                <a:gd name="connsiteX3" fmla="*/ 314363 w 338138"/>
                <a:gd name="connsiteY3" fmla="*/ 250825 h 250825"/>
                <a:gd name="connsiteX4" fmla="*/ 23775 w 338138"/>
                <a:gd name="connsiteY4" fmla="*/ 250825 h 250825"/>
                <a:gd name="connsiteX5" fmla="*/ 0 w 338138"/>
                <a:gd name="connsiteY5" fmla="*/ 226822 h 250825"/>
                <a:gd name="connsiteX6" fmla="*/ 9246 w 338138"/>
                <a:gd name="connsiteY6" fmla="*/ 217487 h 250825"/>
                <a:gd name="connsiteX7" fmla="*/ 100182 w 338138"/>
                <a:gd name="connsiteY7" fmla="*/ 100012 h 250825"/>
                <a:gd name="connsiteX8" fmla="*/ 123655 w 338138"/>
                <a:gd name="connsiteY8" fmla="*/ 100012 h 250825"/>
                <a:gd name="connsiteX9" fmla="*/ 130175 w 338138"/>
                <a:gd name="connsiteY9" fmla="*/ 106705 h 250825"/>
                <a:gd name="connsiteX10" fmla="*/ 130175 w 338138"/>
                <a:gd name="connsiteY10" fmla="*/ 161583 h 250825"/>
                <a:gd name="connsiteX11" fmla="*/ 123655 w 338138"/>
                <a:gd name="connsiteY11" fmla="*/ 168275 h 250825"/>
                <a:gd name="connsiteX12" fmla="*/ 100182 w 338138"/>
                <a:gd name="connsiteY12" fmla="*/ 168275 h 250825"/>
                <a:gd name="connsiteX13" fmla="*/ 93662 w 338138"/>
                <a:gd name="connsiteY13" fmla="*/ 161583 h 250825"/>
                <a:gd name="connsiteX14" fmla="*/ 93662 w 338138"/>
                <a:gd name="connsiteY14" fmla="*/ 106705 h 250825"/>
                <a:gd name="connsiteX15" fmla="*/ 100182 w 338138"/>
                <a:gd name="connsiteY15" fmla="*/ 100012 h 250825"/>
                <a:gd name="connsiteX16" fmla="*/ 157332 w 338138"/>
                <a:gd name="connsiteY16" fmla="*/ 77787 h 250825"/>
                <a:gd name="connsiteX17" fmla="*/ 180805 w 338138"/>
                <a:gd name="connsiteY17" fmla="*/ 77787 h 250825"/>
                <a:gd name="connsiteX18" fmla="*/ 187325 w 338138"/>
                <a:gd name="connsiteY18" fmla="*/ 84441 h 250825"/>
                <a:gd name="connsiteX19" fmla="*/ 187325 w 338138"/>
                <a:gd name="connsiteY19" fmla="*/ 161622 h 250825"/>
                <a:gd name="connsiteX20" fmla="*/ 180805 w 338138"/>
                <a:gd name="connsiteY20" fmla="*/ 168275 h 250825"/>
                <a:gd name="connsiteX21" fmla="*/ 157332 w 338138"/>
                <a:gd name="connsiteY21" fmla="*/ 168275 h 250825"/>
                <a:gd name="connsiteX22" fmla="*/ 150812 w 338138"/>
                <a:gd name="connsiteY22" fmla="*/ 161622 h 250825"/>
                <a:gd name="connsiteX23" fmla="*/ 150812 w 338138"/>
                <a:gd name="connsiteY23" fmla="*/ 84441 h 250825"/>
                <a:gd name="connsiteX24" fmla="*/ 157332 w 338138"/>
                <a:gd name="connsiteY24" fmla="*/ 77787 h 250825"/>
                <a:gd name="connsiteX25" fmla="*/ 216070 w 338138"/>
                <a:gd name="connsiteY25" fmla="*/ 49212 h 250825"/>
                <a:gd name="connsiteX26" fmla="*/ 239543 w 338138"/>
                <a:gd name="connsiteY26" fmla="*/ 49212 h 250825"/>
                <a:gd name="connsiteX27" fmla="*/ 246063 w 338138"/>
                <a:gd name="connsiteY27" fmla="*/ 55827 h 250825"/>
                <a:gd name="connsiteX28" fmla="*/ 246063 w 338138"/>
                <a:gd name="connsiteY28" fmla="*/ 161661 h 250825"/>
                <a:gd name="connsiteX29" fmla="*/ 239543 w 338138"/>
                <a:gd name="connsiteY29" fmla="*/ 168275 h 250825"/>
                <a:gd name="connsiteX30" fmla="*/ 216070 w 338138"/>
                <a:gd name="connsiteY30" fmla="*/ 168275 h 250825"/>
                <a:gd name="connsiteX31" fmla="*/ 209550 w 338138"/>
                <a:gd name="connsiteY31" fmla="*/ 161661 h 250825"/>
                <a:gd name="connsiteX32" fmla="*/ 209550 w 338138"/>
                <a:gd name="connsiteY32" fmla="*/ 55827 h 250825"/>
                <a:gd name="connsiteX33" fmla="*/ 216070 w 338138"/>
                <a:gd name="connsiteY33" fmla="*/ 49212 h 250825"/>
                <a:gd name="connsiteX34" fmla="*/ 53428 w 338138"/>
                <a:gd name="connsiteY34" fmla="*/ 22225 h 250825"/>
                <a:gd name="connsiteX35" fmla="*/ 50800 w 338138"/>
                <a:gd name="connsiteY35" fmla="*/ 24858 h 250825"/>
                <a:gd name="connsiteX36" fmla="*/ 50800 w 338138"/>
                <a:gd name="connsiteY36" fmla="*/ 182834 h 250825"/>
                <a:gd name="connsiteX37" fmla="*/ 53428 w 338138"/>
                <a:gd name="connsiteY37" fmla="*/ 184150 h 250825"/>
                <a:gd name="connsiteX38" fmla="*/ 284710 w 338138"/>
                <a:gd name="connsiteY38" fmla="*/ 184150 h 250825"/>
                <a:gd name="connsiteX39" fmla="*/ 287338 w 338138"/>
                <a:gd name="connsiteY39" fmla="*/ 182834 h 250825"/>
                <a:gd name="connsiteX40" fmla="*/ 287338 w 338138"/>
                <a:gd name="connsiteY40" fmla="*/ 24858 h 250825"/>
                <a:gd name="connsiteX41" fmla="*/ 284710 w 338138"/>
                <a:gd name="connsiteY41" fmla="*/ 22225 h 250825"/>
                <a:gd name="connsiteX42" fmla="*/ 53428 w 338138"/>
                <a:gd name="connsiteY42" fmla="*/ 22225 h 250825"/>
                <a:gd name="connsiteX43" fmla="*/ 53663 w 338138"/>
                <a:gd name="connsiteY43" fmla="*/ 0 h 250825"/>
                <a:gd name="connsiteX44" fmla="*/ 286062 w 338138"/>
                <a:gd name="connsiteY44" fmla="*/ 0 h 250825"/>
                <a:gd name="connsiteX45" fmla="*/ 311150 w 338138"/>
                <a:gd name="connsiteY45" fmla="*/ 25008 h 250825"/>
                <a:gd name="connsiteX46" fmla="*/ 311150 w 338138"/>
                <a:gd name="connsiteY46" fmla="*/ 182955 h 250825"/>
                <a:gd name="connsiteX47" fmla="*/ 286062 w 338138"/>
                <a:gd name="connsiteY47" fmla="*/ 207963 h 250825"/>
                <a:gd name="connsiteX48" fmla="*/ 53663 w 338138"/>
                <a:gd name="connsiteY48" fmla="*/ 207963 h 250825"/>
                <a:gd name="connsiteX49" fmla="*/ 28575 w 338138"/>
                <a:gd name="connsiteY49" fmla="*/ 182955 h 250825"/>
                <a:gd name="connsiteX50" fmla="*/ 28575 w 338138"/>
                <a:gd name="connsiteY50" fmla="*/ 25008 h 250825"/>
                <a:gd name="connsiteX51" fmla="*/ 53663 w 338138"/>
                <a:gd name="connsiteY51" fmla="*/ 0 h 25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250825">
                  <a:moveTo>
                    <a:pt x="9246" y="217487"/>
                  </a:moveTo>
                  <a:cubicBezTo>
                    <a:pt x="9246" y="217487"/>
                    <a:pt x="9246" y="217487"/>
                    <a:pt x="328892" y="217487"/>
                  </a:cubicBezTo>
                  <a:cubicBezTo>
                    <a:pt x="334176" y="217487"/>
                    <a:pt x="338138" y="221488"/>
                    <a:pt x="338138" y="226822"/>
                  </a:cubicBezTo>
                  <a:cubicBezTo>
                    <a:pt x="338138" y="240157"/>
                    <a:pt x="327571" y="250825"/>
                    <a:pt x="314363" y="250825"/>
                  </a:cubicBezTo>
                  <a:cubicBezTo>
                    <a:pt x="314363" y="250825"/>
                    <a:pt x="314363" y="250825"/>
                    <a:pt x="23775" y="250825"/>
                  </a:cubicBezTo>
                  <a:cubicBezTo>
                    <a:pt x="10567" y="250825"/>
                    <a:pt x="0" y="240157"/>
                    <a:pt x="0" y="226822"/>
                  </a:cubicBezTo>
                  <a:cubicBezTo>
                    <a:pt x="0" y="221488"/>
                    <a:pt x="3962" y="217487"/>
                    <a:pt x="9246" y="217487"/>
                  </a:cubicBezTo>
                  <a:close/>
                  <a:moveTo>
                    <a:pt x="100182" y="100012"/>
                  </a:moveTo>
                  <a:cubicBezTo>
                    <a:pt x="100182" y="100012"/>
                    <a:pt x="100182" y="100012"/>
                    <a:pt x="123655" y="100012"/>
                  </a:cubicBezTo>
                  <a:cubicBezTo>
                    <a:pt x="127567" y="100012"/>
                    <a:pt x="130175" y="102689"/>
                    <a:pt x="130175" y="106705"/>
                  </a:cubicBezTo>
                  <a:cubicBezTo>
                    <a:pt x="130175" y="106705"/>
                    <a:pt x="130175" y="106705"/>
                    <a:pt x="130175" y="161583"/>
                  </a:cubicBezTo>
                  <a:cubicBezTo>
                    <a:pt x="130175" y="165598"/>
                    <a:pt x="127567" y="168275"/>
                    <a:pt x="123655" y="168275"/>
                  </a:cubicBezTo>
                  <a:cubicBezTo>
                    <a:pt x="123655" y="168275"/>
                    <a:pt x="123655" y="168275"/>
                    <a:pt x="100182" y="168275"/>
                  </a:cubicBezTo>
                  <a:cubicBezTo>
                    <a:pt x="96270" y="168275"/>
                    <a:pt x="93662" y="165598"/>
                    <a:pt x="93662" y="161583"/>
                  </a:cubicBezTo>
                  <a:cubicBezTo>
                    <a:pt x="93662" y="161583"/>
                    <a:pt x="93662" y="161583"/>
                    <a:pt x="93662" y="106705"/>
                  </a:cubicBezTo>
                  <a:cubicBezTo>
                    <a:pt x="93662" y="102689"/>
                    <a:pt x="96270" y="100012"/>
                    <a:pt x="100182" y="100012"/>
                  </a:cubicBezTo>
                  <a:close/>
                  <a:moveTo>
                    <a:pt x="157332" y="77787"/>
                  </a:moveTo>
                  <a:cubicBezTo>
                    <a:pt x="157332" y="77787"/>
                    <a:pt x="157332" y="77787"/>
                    <a:pt x="180805" y="77787"/>
                  </a:cubicBezTo>
                  <a:cubicBezTo>
                    <a:pt x="184717" y="77787"/>
                    <a:pt x="187325" y="81779"/>
                    <a:pt x="187325" y="84441"/>
                  </a:cubicBezTo>
                  <a:cubicBezTo>
                    <a:pt x="187325" y="84441"/>
                    <a:pt x="187325" y="84441"/>
                    <a:pt x="187325" y="161622"/>
                  </a:cubicBezTo>
                  <a:cubicBezTo>
                    <a:pt x="187325" y="165614"/>
                    <a:pt x="184717" y="168275"/>
                    <a:pt x="180805" y="168275"/>
                  </a:cubicBezTo>
                  <a:cubicBezTo>
                    <a:pt x="180805" y="168275"/>
                    <a:pt x="180805" y="168275"/>
                    <a:pt x="157332" y="168275"/>
                  </a:cubicBezTo>
                  <a:cubicBezTo>
                    <a:pt x="153420" y="168275"/>
                    <a:pt x="150812" y="165614"/>
                    <a:pt x="150812" y="161622"/>
                  </a:cubicBezTo>
                  <a:cubicBezTo>
                    <a:pt x="150812" y="161622"/>
                    <a:pt x="150812" y="161622"/>
                    <a:pt x="150812" y="84441"/>
                  </a:cubicBezTo>
                  <a:cubicBezTo>
                    <a:pt x="150812" y="81779"/>
                    <a:pt x="153420" y="77787"/>
                    <a:pt x="157332" y="77787"/>
                  </a:cubicBezTo>
                  <a:close/>
                  <a:moveTo>
                    <a:pt x="216070" y="49212"/>
                  </a:moveTo>
                  <a:cubicBezTo>
                    <a:pt x="216070" y="49212"/>
                    <a:pt x="216070" y="49212"/>
                    <a:pt x="239543" y="49212"/>
                  </a:cubicBezTo>
                  <a:cubicBezTo>
                    <a:pt x="243455" y="49212"/>
                    <a:pt x="246063" y="51858"/>
                    <a:pt x="246063" y="55827"/>
                  </a:cubicBezTo>
                  <a:cubicBezTo>
                    <a:pt x="246063" y="55827"/>
                    <a:pt x="246063" y="55827"/>
                    <a:pt x="246063" y="161661"/>
                  </a:cubicBezTo>
                  <a:cubicBezTo>
                    <a:pt x="246063" y="165629"/>
                    <a:pt x="243455" y="168275"/>
                    <a:pt x="239543" y="168275"/>
                  </a:cubicBezTo>
                  <a:cubicBezTo>
                    <a:pt x="239543" y="168275"/>
                    <a:pt x="239543" y="168275"/>
                    <a:pt x="216070" y="168275"/>
                  </a:cubicBezTo>
                  <a:cubicBezTo>
                    <a:pt x="212158" y="168275"/>
                    <a:pt x="209550" y="165629"/>
                    <a:pt x="209550" y="161661"/>
                  </a:cubicBezTo>
                  <a:cubicBezTo>
                    <a:pt x="209550" y="161661"/>
                    <a:pt x="209550" y="161661"/>
                    <a:pt x="209550" y="55827"/>
                  </a:cubicBezTo>
                  <a:cubicBezTo>
                    <a:pt x="209550" y="51858"/>
                    <a:pt x="212158" y="49212"/>
                    <a:pt x="216070" y="49212"/>
                  </a:cubicBezTo>
                  <a:close/>
                  <a:moveTo>
                    <a:pt x="53428" y="22225"/>
                  </a:moveTo>
                  <a:cubicBezTo>
                    <a:pt x="52114" y="22225"/>
                    <a:pt x="50800" y="23541"/>
                    <a:pt x="50800" y="24858"/>
                  </a:cubicBezTo>
                  <a:lnTo>
                    <a:pt x="50800" y="182834"/>
                  </a:lnTo>
                  <a:cubicBezTo>
                    <a:pt x="50800" y="184150"/>
                    <a:pt x="52114" y="184150"/>
                    <a:pt x="53428" y="184150"/>
                  </a:cubicBezTo>
                  <a:cubicBezTo>
                    <a:pt x="53428" y="184150"/>
                    <a:pt x="53428" y="184150"/>
                    <a:pt x="284710" y="184150"/>
                  </a:cubicBezTo>
                  <a:cubicBezTo>
                    <a:pt x="286024" y="184150"/>
                    <a:pt x="287338" y="184150"/>
                    <a:pt x="287338" y="182834"/>
                  </a:cubicBezTo>
                  <a:cubicBezTo>
                    <a:pt x="287338" y="182834"/>
                    <a:pt x="287338" y="182834"/>
                    <a:pt x="287338" y="24858"/>
                  </a:cubicBezTo>
                  <a:cubicBezTo>
                    <a:pt x="287338" y="23541"/>
                    <a:pt x="286024" y="22225"/>
                    <a:pt x="284710" y="22225"/>
                  </a:cubicBezTo>
                  <a:cubicBezTo>
                    <a:pt x="284710" y="22225"/>
                    <a:pt x="284710" y="22225"/>
                    <a:pt x="53428" y="22225"/>
                  </a:cubicBezTo>
                  <a:close/>
                  <a:moveTo>
                    <a:pt x="53663" y="0"/>
                  </a:moveTo>
                  <a:cubicBezTo>
                    <a:pt x="53663" y="0"/>
                    <a:pt x="53663" y="0"/>
                    <a:pt x="286062" y="0"/>
                  </a:cubicBezTo>
                  <a:cubicBezTo>
                    <a:pt x="300587" y="0"/>
                    <a:pt x="311150" y="10530"/>
                    <a:pt x="311150" y="25008"/>
                  </a:cubicBezTo>
                  <a:cubicBezTo>
                    <a:pt x="311150" y="25008"/>
                    <a:pt x="311150" y="25008"/>
                    <a:pt x="311150" y="182955"/>
                  </a:cubicBezTo>
                  <a:cubicBezTo>
                    <a:pt x="311150" y="196117"/>
                    <a:pt x="300587" y="207963"/>
                    <a:pt x="286062" y="207963"/>
                  </a:cubicBezTo>
                  <a:cubicBezTo>
                    <a:pt x="286062" y="207963"/>
                    <a:pt x="286062" y="207963"/>
                    <a:pt x="53663" y="207963"/>
                  </a:cubicBezTo>
                  <a:cubicBezTo>
                    <a:pt x="39138" y="207963"/>
                    <a:pt x="28575" y="196117"/>
                    <a:pt x="28575" y="182955"/>
                  </a:cubicBezTo>
                  <a:cubicBezTo>
                    <a:pt x="28575" y="182955"/>
                    <a:pt x="28575" y="182955"/>
                    <a:pt x="28575" y="25008"/>
                  </a:cubicBezTo>
                  <a:cubicBezTo>
                    <a:pt x="28575" y="10530"/>
                    <a:pt x="39138" y="0"/>
                    <a:pt x="53663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61" name="TextBox 19"/>
            <p:cNvSpPr txBox="1"/>
            <p:nvPr/>
          </p:nvSpPr>
          <p:spPr>
            <a:xfrm>
              <a:off x="3756996" y="5310366"/>
              <a:ext cx="1882622" cy="379509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endParaRPr lang="en-US" sz="1867" dirty="0">
                <a:solidFill>
                  <a:schemeClr val="bg1"/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70" name="组合 69"/>
          <p:cNvGrpSpPr>
            <a:grpSpLocks/>
          </p:cNvGrpSpPr>
          <p:nvPr/>
        </p:nvGrpSpPr>
        <p:grpSpPr bwMode="auto">
          <a:xfrm>
            <a:off x="6502401" y="2182285"/>
            <a:ext cx="1993900" cy="3528334"/>
            <a:chOff x="6589939" y="2170339"/>
            <a:chExt cx="1994107" cy="3526971"/>
          </a:xfrm>
        </p:grpSpPr>
        <p:grpSp>
          <p:nvGrpSpPr>
            <p:cNvPr id="9231" name="组合 71"/>
            <p:cNvGrpSpPr>
              <a:grpSpLocks/>
            </p:cNvGrpSpPr>
            <p:nvPr/>
          </p:nvGrpSpPr>
          <p:grpSpPr bwMode="auto">
            <a:xfrm>
              <a:off x="6589939" y="2170339"/>
              <a:ext cx="1959429" cy="3526971"/>
              <a:chOff x="1219199" y="1915886"/>
              <a:chExt cx="1959429" cy="3526971"/>
            </a:xfrm>
          </p:grpSpPr>
          <p:cxnSp>
            <p:nvCxnSpPr>
              <p:cNvPr id="77" name="直接连接符 76"/>
              <p:cNvCxnSpPr>
                <a:cxnSpLocks/>
              </p:cNvCxnSpPr>
              <p:nvPr/>
            </p:nvCxnSpPr>
            <p:spPr>
              <a:xfrm>
                <a:off x="1219199" y="1915886"/>
                <a:ext cx="0" cy="3120878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矩形 77"/>
              <p:cNvSpPr/>
              <p:nvPr/>
            </p:nvSpPr>
            <p:spPr>
              <a:xfrm>
                <a:off x="1219199" y="5036764"/>
                <a:ext cx="1960237" cy="406243"/>
              </a:xfrm>
              <a:prstGeom prst="rect">
                <a:avLst/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73" name="TextBox 19"/>
            <p:cNvSpPr txBox="1"/>
            <p:nvPr/>
          </p:nvSpPr>
          <p:spPr>
            <a:xfrm>
              <a:off x="6662511" y="3096392"/>
              <a:ext cx="1882623" cy="3999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r>
                <a:rPr lang="zh-CN" altLang="en-US" sz="2000" b="1" dirty="0">
                  <a:latin typeface="Arial"/>
                  <a:ea typeface="微软雅黑"/>
                  <a:sym typeface="Arial"/>
                </a:rPr>
                <a:t>模型设计</a:t>
              </a:r>
              <a:endParaRPr lang="en-US" sz="2000" b="1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74" name="文本框 24"/>
            <p:cNvSpPr txBox="1"/>
            <p:nvPr/>
          </p:nvSpPr>
          <p:spPr>
            <a:xfrm>
              <a:off x="6662511" y="3513512"/>
              <a:ext cx="1630459" cy="161911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通过随机森林、</a:t>
              </a:r>
              <a:r>
                <a:rPr lang="en-US" altLang="zh-C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XGBoost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、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ANN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三种算法，对比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MAE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、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RMSE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和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R²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，选出表现最为优异的</a:t>
              </a:r>
              <a:r>
                <a:rPr lang="en-US" altLang="zh-C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XGBoost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</p:txBody>
        </p:sp>
        <p:sp>
          <p:nvSpPr>
            <p:cNvPr id="75" name="椭圆 30"/>
            <p:cNvSpPr/>
            <p:nvPr/>
          </p:nvSpPr>
          <p:spPr>
            <a:xfrm>
              <a:off x="6757174" y="2229583"/>
              <a:ext cx="609663" cy="575511"/>
            </a:xfrm>
            <a:custGeom>
              <a:avLst/>
              <a:gdLst>
                <a:gd name="connsiteX0" fmla="*/ 255815 w 338138"/>
                <a:gd name="connsiteY0" fmla="*/ 276225 h 319088"/>
                <a:gd name="connsiteX1" fmla="*/ 267653 w 338138"/>
                <a:gd name="connsiteY1" fmla="*/ 282720 h 319088"/>
                <a:gd name="connsiteX2" fmla="*/ 275546 w 338138"/>
                <a:gd name="connsiteY2" fmla="*/ 282720 h 319088"/>
                <a:gd name="connsiteX3" fmla="*/ 287384 w 338138"/>
                <a:gd name="connsiteY3" fmla="*/ 276225 h 319088"/>
                <a:gd name="connsiteX4" fmla="*/ 290015 w 338138"/>
                <a:gd name="connsiteY4" fmla="*/ 277524 h 319088"/>
                <a:gd name="connsiteX5" fmla="*/ 295276 w 338138"/>
                <a:gd name="connsiteY5" fmla="*/ 284018 h 319088"/>
                <a:gd name="connsiteX6" fmla="*/ 295276 w 338138"/>
                <a:gd name="connsiteY6" fmla="*/ 315191 h 319088"/>
                <a:gd name="connsiteX7" fmla="*/ 271600 w 338138"/>
                <a:gd name="connsiteY7" fmla="*/ 319088 h 319088"/>
                <a:gd name="connsiteX8" fmla="*/ 249238 w 338138"/>
                <a:gd name="connsiteY8" fmla="*/ 315191 h 319088"/>
                <a:gd name="connsiteX9" fmla="*/ 249238 w 338138"/>
                <a:gd name="connsiteY9" fmla="*/ 284018 h 319088"/>
                <a:gd name="connsiteX10" fmla="*/ 253184 w 338138"/>
                <a:gd name="connsiteY10" fmla="*/ 277524 h 319088"/>
                <a:gd name="connsiteX11" fmla="*/ 255815 w 338138"/>
                <a:gd name="connsiteY11" fmla="*/ 276225 h 319088"/>
                <a:gd name="connsiteX12" fmla="*/ 50755 w 338138"/>
                <a:gd name="connsiteY12" fmla="*/ 276225 h 319088"/>
                <a:gd name="connsiteX13" fmla="*/ 62593 w 338138"/>
                <a:gd name="connsiteY13" fmla="*/ 282720 h 319088"/>
                <a:gd name="connsiteX14" fmla="*/ 70486 w 338138"/>
                <a:gd name="connsiteY14" fmla="*/ 282720 h 319088"/>
                <a:gd name="connsiteX15" fmla="*/ 82324 w 338138"/>
                <a:gd name="connsiteY15" fmla="*/ 276225 h 319088"/>
                <a:gd name="connsiteX16" fmla="*/ 84955 w 338138"/>
                <a:gd name="connsiteY16" fmla="*/ 277524 h 319088"/>
                <a:gd name="connsiteX17" fmla="*/ 88901 w 338138"/>
                <a:gd name="connsiteY17" fmla="*/ 284018 h 319088"/>
                <a:gd name="connsiteX18" fmla="*/ 88901 w 338138"/>
                <a:gd name="connsiteY18" fmla="*/ 315191 h 319088"/>
                <a:gd name="connsiteX19" fmla="*/ 66539 w 338138"/>
                <a:gd name="connsiteY19" fmla="*/ 319088 h 319088"/>
                <a:gd name="connsiteX20" fmla="*/ 42863 w 338138"/>
                <a:gd name="connsiteY20" fmla="*/ 315191 h 319088"/>
                <a:gd name="connsiteX21" fmla="*/ 42863 w 338138"/>
                <a:gd name="connsiteY21" fmla="*/ 284018 h 319088"/>
                <a:gd name="connsiteX22" fmla="*/ 48124 w 338138"/>
                <a:gd name="connsiteY22" fmla="*/ 277524 h 319088"/>
                <a:gd name="connsiteX23" fmla="*/ 50755 w 338138"/>
                <a:gd name="connsiteY23" fmla="*/ 276225 h 319088"/>
                <a:gd name="connsiteX24" fmla="*/ 273050 w 338138"/>
                <a:gd name="connsiteY24" fmla="*/ 214313 h 319088"/>
                <a:gd name="connsiteX25" fmla="*/ 282575 w 338138"/>
                <a:gd name="connsiteY25" fmla="*/ 224632 h 319088"/>
                <a:gd name="connsiteX26" fmla="*/ 273050 w 338138"/>
                <a:gd name="connsiteY26" fmla="*/ 234951 h 319088"/>
                <a:gd name="connsiteX27" fmla="*/ 263525 w 338138"/>
                <a:gd name="connsiteY27" fmla="*/ 224632 h 319088"/>
                <a:gd name="connsiteX28" fmla="*/ 273050 w 338138"/>
                <a:gd name="connsiteY28" fmla="*/ 214313 h 319088"/>
                <a:gd name="connsiteX29" fmla="*/ 65882 w 338138"/>
                <a:gd name="connsiteY29" fmla="*/ 214313 h 319088"/>
                <a:gd name="connsiteX30" fmla="*/ 76201 w 338138"/>
                <a:gd name="connsiteY30" fmla="*/ 224632 h 319088"/>
                <a:gd name="connsiteX31" fmla="*/ 65882 w 338138"/>
                <a:gd name="connsiteY31" fmla="*/ 234951 h 319088"/>
                <a:gd name="connsiteX32" fmla="*/ 55563 w 338138"/>
                <a:gd name="connsiteY32" fmla="*/ 224632 h 319088"/>
                <a:gd name="connsiteX33" fmla="*/ 65882 w 338138"/>
                <a:gd name="connsiteY33" fmla="*/ 214313 h 319088"/>
                <a:gd name="connsiteX34" fmla="*/ 272257 w 338138"/>
                <a:gd name="connsiteY34" fmla="*/ 196850 h 319088"/>
                <a:gd name="connsiteX35" fmla="*/ 244475 w 338138"/>
                <a:gd name="connsiteY35" fmla="*/ 224632 h 319088"/>
                <a:gd name="connsiteX36" fmla="*/ 272257 w 338138"/>
                <a:gd name="connsiteY36" fmla="*/ 252414 h 319088"/>
                <a:gd name="connsiteX37" fmla="*/ 300039 w 338138"/>
                <a:gd name="connsiteY37" fmla="*/ 224632 h 319088"/>
                <a:gd name="connsiteX38" fmla="*/ 272257 w 338138"/>
                <a:gd name="connsiteY38" fmla="*/ 196850 h 319088"/>
                <a:gd name="connsiteX39" fmla="*/ 65882 w 338138"/>
                <a:gd name="connsiteY39" fmla="*/ 196850 h 319088"/>
                <a:gd name="connsiteX40" fmla="*/ 38100 w 338138"/>
                <a:gd name="connsiteY40" fmla="*/ 224632 h 319088"/>
                <a:gd name="connsiteX41" fmla="*/ 65882 w 338138"/>
                <a:gd name="connsiteY41" fmla="*/ 252414 h 319088"/>
                <a:gd name="connsiteX42" fmla="*/ 93664 w 338138"/>
                <a:gd name="connsiteY42" fmla="*/ 224632 h 319088"/>
                <a:gd name="connsiteX43" fmla="*/ 65882 w 338138"/>
                <a:gd name="connsiteY43" fmla="*/ 196850 h 319088"/>
                <a:gd name="connsiteX44" fmla="*/ 272257 w 338138"/>
                <a:gd name="connsiteY44" fmla="*/ 187325 h 319088"/>
                <a:gd name="connsiteX45" fmla="*/ 338138 w 338138"/>
                <a:gd name="connsiteY45" fmla="*/ 253322 h 319088"/>
                <a:gd name="connsiteX46" fmla="*/ 313103 w 338138"/>
                <a:gd name="connsiteY46" fmla="*/ 304800 h 319088"/>
                <a:gd name="connsiteX47" fmla="*/ 313103 w 338138"/>
                <a:gd name="connsiteY47" fmla="*/ 283681 h 319088"/>
                <a:gd name="connsiteX48" fmla="*/ 295974 w 338138"/>
                <a:gd name="connsiteY48" fmla="*/ 259922 h 319088"/>
                <a:gd name="connsiteX49" fmla="*/ 290704 w 338138"/>
                <a:gd name="connsiteY49" fmla="*/ 258602 h 319088"/>
                <a:gd name="connsiteX50" fmla="*/ 284115 w 338138"/>
                <a:gd name="connsiteY50" fmla="*/ 258602 h 319088"/>
                <a:gd name="connsiteX51" fmla="*/ 272257 w 338138"/>
                <a:gd name="connsiteY51" fmla="*/ 265202 h 319088"/>
                <a:gd name="connsiteX52" fmla="*/ 260398 w 338138"/>
                <a:gd name="connsiteY52" fmla="*/ 258602 h 319088"/>
                <a:gd name="connsiteX53" fmla="*/ 255128 w 338138"/>
                <a:gd name="connsiteY53" fmla="*/ 258602 h 319088"/>
                <a:gd name="connsiteX54" fmla="*/ 248539 w 338138"/>
                <a:gd name="connsiteY54" fmla="*/ 259922 h 319088"/>
                <a:gd name="connsiteX55" fmla="*/ 232728 w 338138"/>
                <a:gd name="connsiteY55" fmla="*/ 283681 h 319088"/>
                <a:gd name="connsiteX56" fmla="*/ 232728 w 338138"/>
                <a:gd name="connsiteY56" fmla="*/ 304800 h 319088"/>
                <a:gd name="connsiteX57" fmla="*/ 206375 w 338138"/>
                <a:gd name="connsiteY57" fmla="*/ 253322 h 319088"/>
                <a:gd name="connsiteX58" fmla="*/ 272257 w 338138"/>
                <a:gd name="connsiteY58" fmla="*/ 187325 h 319088"/>
                <a:gd name="connsiteX59" fmla="*/ 65881 w 338138"/>
                <a:gd name="connsiteY59" fmla="*/ 187325 h 319088"/>
                <a:gd name="connsiteX60" fmla="*/ 131763 w 338138"/>
                <a:gd name="connsiteY60" fmla="*/ 253322 h 319088"/>
                <a:gd name="connsiteX61" fmla="*/ 105410 w 338138"/>
                <a:gd name="connsiteY61" fmla="*/ 304800 h 319088"/>
                <a:gd name="connsiteX62" fmla="*/ 105410 w 338138"/>
                <a:gd name="connsiteY62" fmla="*/ 283681 h 319088"/>
                <a:gd name="connsiteX63" fmla="*/ 89599 w 338138"/>
                <a:gd name="connsiteY63" fmla="*/ 259922 h 319088"/>
                <a:gd name="connsiteX64" fmla="*/ 83010 w 338138"/>
                <a:gd name="connsiteY64" fmla="*/ 258602 h 319088"/>
                <a:gd name="connsiteX65" fmla="*/ 77740 w 338138"/>
                <a:gd name="connsiteY65" fmla="*/ 258602 h 319088"/>
                <a:gd name="connsiteX66" fmla="*/ 65881 w 338138"/>
                <a:gd name="connsiteY66" fmla="*/ 265202 h 319088"/>
                <a:gd name="connsiteX67" fmla="*/ 54023 w 338138"/>
                <a:gd name="connsiteY67" fmla="*/ 258602 h 319088"/>
                <a:gd name="connsiteX68" fmla="*/ 47434 w 338138"/>
                <a:gd name="connsiteY68" fmla="*/ 258602 h 319088"/>
                <a:gd name="connsiteX69" fmla="*/ 42164 w 338138"/>
                <a:gd name="connsiteY69" fmla="*/ 259922 h 319088"/>
                <a:gd name="connsiteX70" fmla="*/ 25035 w 338138"/>
                <a:gd name="connsiteY70" fmla="*/ 283681 h 319088"/>
                <a:gd name="connsiteX71" fmla="*/ 25035 w 338138"/>
                <a:gd name="connsiteY71" fmla="*/ 304800 h 319088"/>
                <a:gd name="connsiteX72" fmla="*/ 0 w 338138"/>
                <a:gd name="connsiteY72" fmla="*/ 253322 h 319088"/>
                <a:gd name="connsiteX73" fmla="*/ 65881 w 338138"/>
                <a:gd name="connsiteY73" fmla="*/ 187325 h 319088"/>
                <a:gd name="connsiteX74" fmla="*/ 159754 w 338138"/>
                <a:gd name="connsiteY74" fmla="*/ 149225 h 319088"/>
                <a:gd name="connsiteX75" fmla="*/ 169069 w 338138"/>
                <a:gd name="connsiteY75" fmla="*/ 149225 h 319088"/>
                <a:gd name="connsiteX76" fmla="*/ 178384 w 338138"/>
                <a:gd name="connsiteY76" fmla="*/ 149225 h 319088"/>
                <a:gd name="connsiteX77" fmla="*/ 178384 w 338138"/>
                <a:gd name="connsiteY77" fmla="*/ 175331 h 319088"/>
                <a:gd name="connsiteX78" fmla="*/ 214313 w 338138"/>
                <a:gd name="connsiteY78" fmla="*/ 193605 h 319088"/>
                <a:gd name="connsiteX79" fmla="*/ 202337 w 338138"/>
                <a:gd name="connsiteY79" fmla="*/ 207963 h 319088"/>
                <a:gd name="connsiteX80" fmla="*/ 169069 w 338138"/>
                <a:gd name="connsiteY80" fmla="*/ 190994 h 319088"/>
                <a:gd name="connsiteX81" fmla="*/ 135802 w 338138"/>
                <a:gd name="connsiteY81" fmla="*/ 207963 h 319088"/>
                <a:gd name="connsiteX82" fmla="*/ 123825 w 338138"/>
                <a:gd name="connsiteY82" fmla="*/ 193605 h 319088"/>
                <a:gd name="connsiteX83" fmla="*/ 159754 w 338138"/>
                <a:gd name="connsiteY83" fmla="*/ 175331 h 319088"/>
                <a:gd name="connsiteX84" fmla="*/ 159754 w 338138"/>
                <a:gd name="connsiteY84" fmla="*/ 149225 h 319088"/>
                <a:gd name="connsiteX85" fmla="*/ 154175 w 338138"/>
                <a:gd name="connsiteY85" fmla="*/ 88900 h 319088"/>
                <a:gd name="connsiteX86" fmla="*/ 165941 w 338138"/>
                <a:gd name="connsiteY86" fmla="*/ 95394 h 319088"/>
                <a:gd name="connsiteX87" fmla="*/ 173785 w 338138"/>
                <a:gd name="connsiteY87" fmla="*/ 95394 h 319088"/>
                <a:gd name="connsiteX88" fmla="*/ 185551 w 338138"/>
                <a:gd name="connsiteY88" fmla="*/ 88900 h 319088"/>
                <a:gd name="connsiteX89" fmla="*/ 188166 w 338138"/>
                <a:gd name="connsiteY89" fmla="*/ 90199 h 319088"/>
                <a:gd name="connsiteX90" fmla="*/ 192088 w 338138"/>
                <a:gd name="connsiteY90" fmla="*/ 96693 h 319088"/>
                <a:gd name="connsiteX91" fmla="*/ 192088 w 338138"/>
                <a:gd name="connsiteY91" fmla="*/ 126567 h 319088"/>
                <a:gd name="connsiteX92" fmla="*/ 169863 w 338138"/>
                <a:gd name="connsiteY92" fmla="*/ 131763 h 319088"/>
                <a:gd name="connsiteX93" fmla="*/ 147638 w 338138"/>
                <a:gd name="connsiteY93" fmla="*/ 126567 h 319088"/>
                <a:gd name="connsiteX94" fmla="*/ 147638 w 338138"/>
                <a:gd name="connsiteY94" fmla="*/ 96693 h 319088"/>
                <a:gd name="connsiteX95" fmla="*/ 151560 w 338138"/>
                <a:gd name="connsiteY95" fmla="*/ 90199 h 319088"/>
                <a:gd name="connsiteX96" fmla="*/ 154175 w 338138"/>
                <a:gd name="connsiteY96" fmla="*/ 88900 h 319088"/>
                <a:gd name="connsiteX97" fmla="*/ 169069 w 338138"/>
                <a:gd name="connsiteY97" fmla="*/ 26988 h 319088"/>
                <a:gd name="connsiteX98" fmla="*/ 179388 w 338138"/>
                <a:gd name="connsiteY98" fmla="*/ 36513 h 319088"/>
                <a:gd name="connsiteX99" fmla="*/ 169069 w 338138"/>
                <a:gd name="connsiteY99" fmla="*/ 46038 h 319088"/>
                <a:gd name="connsiteX100" fmla="*/ 158750 w 338138"/>
                <a:gd name="connsiteY100" fmla="*/ 36513 h 319088"/>
                <a:gd name="connsiteX101" fmla="*/ 169069 w 338138"/>
                <a:gd name="connsiteY101" fmla="*/ 26988 h 319088"/>
                <a:gd name="connsiteX102" fmla="*/ 169070 w 338138"/>
                <a:gd name="connsiteY102" fmla="*/ 9525 h 319088"/>
                <a:gd name="connsiteX103" fmla="*/ 141288 w 338138"/>
                <a:gd name="connsiteY103" fmla="*/ 37307 h 319088"/>
                <a:gd name="connsiteX104" fmla="*/ 169070 w 338138"/>
                <a:gd name="connsiteY104" fmla="*/ 65089 h 319088"/>
                <a:gd name="connsiteX105" fmla="*/ 196852 w 338138"/>
                <a:gd name="connsiteY105" fmla="*/ 37307 h 319088"/>
                <a:gd name="connsiteX106" fmla="*/ 169070 w 338138"/>
                <a:gd name="connsiteY106" fmla="*/ 9525 h 319088"/>
                <a:gd name="connsiteX107" fmla="*/ 169070 w 338138"/>
                <a:gd name="connsiteY107" fmla="*/ 0 h 319088"/>
                <a:gd name="connsiteX108" fmla="*/ 234951 w 338138"/>
                <a:gd name="connsiteY108" fmla="*/ 65997 h 319088"/>
                <a:gd name="connsiteX109" fmla="*/ 209916 w 338138"/>
                <a:gd name="connsiteY109" fmla="*/ 117475 h 319088"/>
                <a:gd name="connsiteX110" fmla="*/ 209916 w 338138"/>
                <a:gd name="connsiteY110" fmla="*/ 96356 h 319088"/>
                <a:gd name="connsiteX111" fmla="*/ 192787 w 338138"/>
                <a:gd name="connsiteY111" fmla="*/ 72597 h 319088"/>
                <a:gd name="connsiteX112" fmla="*/ 187517 w 338138"/>
                <a:gd name="connsiteY112" fmla="*/ 71277 h 319088"/>
                <a:gd name="connsiteX113" fmla="*/ 180928 w 338138"/>
                <a:gd name="connsiteY113" fmla="*/ 71277 h 319088"/>
                <a:gd name="connsiteX114" fmla="*/ 169070 w 338138"/>
                <a:gd name="connsiteY114" fmla="*/ 76557 h 319088"/>
                <a:gd name="connsiteX115" fmla="*/ 157211 w 338138"/>
                <a:gd name="connsiteY115" fmla="*/ 71277 h 319088"/>
                <a:gd name="connsiteX116" fmla="*/ 150623 w 338138"/>
                <a:gd name="connsiteY116" fmla="*/ 71277 h 319088"/>
                <a:gd name="connsiteX117" fmla="*/ 145352 w 338138"/>
                <a:gd name="connsiteY117" fmla="*/ 72597 h 319088"/>
                <a:gd name="connsiteX118" fmla="*/ 128223 w 338138"/>
                <a:gd name="connsiteY118" fmla="*/ 96356 h 319088"/>
                <a:gd name="connsiteX119" fmla="*/ 128223 w 338138"/>
                <a:gd name="connsiteY119" fmla="*/ 117475 h 319088"/>
                <a:gd name="connsiteX120" fmla="*/ 103188 w 338138"/>
                <a:gd name="connsiteY120" fmla="*/ 65997 h 319088"/>
                <a:gd name="connsiteX121" fmla="*/ 169070 w 338138"/>
                <a:gd name="connsiteY121" fmla="*/ 0 h 31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338138" h="319088">
                  <a:moveTo>
                    <a:pt x="255815" y="276225"/>
                  </a:moveTo>
                  <a:cubicBezTo>
                    <a:pt x="255815" y="276225"/>
                    <a:pt x="255815" y="276225"/>
                    <a:pt x="267653" y="282720"/>
                  </a:cubicBezTo>
                  <a:cubicBezTo>
                    <a:pt x="270284" y="284018"/>
                    <a:pt x="272915" y="284018"/>
                    <a:pt x="275546" y="282720"/>
                  </a:cubicBezTo>
                  <a:cubicBezTo>
                    <a:pt x="275546" y="282720"/>
                    <a:pt x="275546" y="282720"/>
                    <a:pt x="287384" y="276225"/>
                  </a:cubicBezTo>
                  <a:cubicBezTo>
                    <a:pt x="287384" y="276225"/>
                    <a:pt x="287384" y="276225"/>
                    <a:pt x="290015" y="277524"/>
                  </a:cubicBezTo>
                  <a:cubicBezTo>
                    <a:pt x="292646" y="278823"/>
                    <a:pt x="295276" y="281421"/>
                    <a:pt x="295276" y="284018"/>
                  </a:cubicBezTo>
                  <a:cubicBezTo>
                    <a:pt x="295276" y="284018"/>
                    <a:pt x="295276" y="284018"/>
                    <a:pt x="295276" y="315191"/>
                  </a:cubicBezTo>
                  <a:cubicBezTo>
                    <a:pt x="287384" y="317789"/>
                    <a:pt x="279492" y="319088"/>
                    <a:pt x="271600" y="319088"/>
                  </a:cubicBezTo>
                  <a:cubicBezTo>
                    <a:pt x="263707" y="319088"/>
                    <a:pt x="255815" y="317789"/>
                    <a:pt x="249238" y="315191"/>
                  </a:cubicBezTo>
                  <a:cubicBezTo>
                    <a:pt x="249238" y="315191"/>
                    <a:pt x="249238" y="315191"/>
                    <a:pt x="249238" y="284018"/>
                  </a:cubicBezTo>
                  <a:cubicBezTo>
                    <a:pt x="249238" y="281421"/>
                    <a:pt x="250554" y="278823"/>
                    <a:pt x="253184" y="277524"/>
                  </a:cubicBezTo>
                  <a:cubicBezTo>
                    <a:pt x="253184" y="277524"/>
                    <a:pt x="253184" y="277524"/>
                    <a:pt x="255815" y="276225"/>
                  </a:cubicBezTo>
                  <a:close/>
                  <a:moveTo>
                    <a:pt x="50755" y="276225"/>
                  </a:moveTo>
                  <a:cubicBezTo>
                    <a:pt x="50755" y="276225"/>
                    <a:pt x="50755" y="276225"/>
                    <a:pt x="62593" y="282720"/>
                  </a:cubicBezTo>
                  <a:cubicBezTo>
                    <a:pt x="65224" y="284018"/>
                    <a:pt x="67855" y="284018"/>
                    <a:pt x="70486" y="282720"/>
                  </a:cubicBezTo>
                  <a:cubicBezTo>
                    <a:pt x="70486" y="282720"/>
                    <a:pt x="70486" y="282720"/>
                    <a:pt x="82324" y="276225"/>
                  </a:cubicBezTo>
                  <a:cubicBezTo>
                    <a:pt x="82324" y="276225"/>
                    <a:pt x="82324" y="276225"/>
                    <a:pt x="84955" y="277524"/>
                  </a:cubicBezTo>
                  <a:cubicBezTo>
                    <a:pt x="87585" y="278823"/>
                    <a:pt x="88901" y="281421"/>
                    <a:pt x="88901" y="284018"/>
                  </a:cubicBezTo>
                  <a:cubicBezTo>
                    <a:pt x="88901" y="284018"/>
                    <a:pt x="88901" y="284018"/>
                    <a:pt x="88901" y="315191"/>
                  </a:cubicBezTo>
                  <a:cubicBezTo>
                    <a:pt x="82324" y="317789"/>
                    <a:pt x="74432" y="319088"/>
                    <a:pt x="66539" y="319088"/>
                  </a:cubicBezTo>
                  <a:cubicBezTo>
                    <a:pt x="58647" y="319088"/>
                    <a:pt x="50755" y="317789"/>
                    <a:pt x="42863" y="315191"/>
                  </a:cubicBezTo>
                  <a:cubicBezTo>
                    <a:pt x="42863" y="315191"/>
                    <a:pt x="42863" y="315191"/>
                    <a:pt x="42863" y="284018"/>
                  </a:cubicBezTo>
                  <a:cubicBezTo>
                    <a:pt x="42863" y="281421"/>
                    <a:pt x="45493" y="278823"/>
                    <a:pt x="48124" y="277524"/>
                  </a:cubicBezTo>
                  <a:cubicBezTo>
                    <a:pt x="48124" y="277524"/>
                    <a:pt x="48124" y="277524"/>
                    <a:pt x="50755" y="276225"/>
                  </a:cubicBezTo>
                  <a:close/>
                  <a:moveTo>
                    <a:pt x="273050" y="214313"/>
                  </a:moveTo>
                  <a:cubicBezTo>
                    <a:pt x="278311" y="214313"/>
                    <a:pt x="282575" y="218933"/>
                    <a:pt x="282575" y="224632"/>
                  </a:cubicBezTo>
                  <a:cubicBezTo>
                    <a:pt x="282575" y="230331"/>
                    <a:pt x="278311" y="234951"/>
                    <a:pt x="273050" y="234951"/>
                  </a:cubicBezTo>
                  <a:cubicBezTo>
                    <a:pt x="267789" y="234951"/>
                    <a:pt x="263525" y="230331"/>
                    <a:pt x="263525" y="224632"/>
                  </a:cubicBezTo>
                  <a:cubicBezTo>
                    <a:pt x="263525" y="218933"/>
                    <a:pt x="267789" y="214313"/>
                    <a:pt x="273050" y="214313"/>
                  </a:cubicBezTo>
                  <a:close/>
                  <a:moveTo>
                    <a:pt x="65882" y="214313"/>
                  </a:moveTo>
                  <a:cubicBezTo>
                    <a:pt x="71581" y="214313"/>
                    <a:pt x="76201" y="218933"/>
                    <a:pt x="76201" y="224632"/>
                  </a:cubicBezTo>
                  <a:cubicBezTo>
                    <a:pt x="76201" y="230331"/>
                    <a:pt x="71581" y="234951"/>
                    <a:pt x="65882" y="234951"/>
                  </a:cubicBezTo>
                  <a:cubicBezTo>
                    <a:pt x="60183" y="234951"/>
                    <a:pt x="55563" y="230331"/>
                    <a:pt x="55563" y="224632"/>
                  </a:cubicBezTo>
                  <a:cubicBezTo>
                    <a:pt x="55563" y="218933"/>
                    <a:pt x="60183" y="214313"/>
                    <a:pt x="65882" y="214313"/>
                  </a:cubicBezTo>
                  <a:close/>
                  <a:moveTo>
                    <a:pt x="272257" y="196850"/>
                  </a:moveTo>
                  <a:cubicBezTo>
                    <a:pt x="256913" y="196850"/>
                    <a:pt x="244475" y="209288"/>
                    <a:pt x="244475" y="224632"/>
                  </a:cubicBezTo>
                  <a:cubicBezTo>
                    <a:pt x="244475" y="239976"/>
                    <a:pt x="256913" y="252414"/>
                    <a:pt x="272257" y="252414"/>
                  </a:cubicBezTo>
                  <a:cubicBezTo>
                    <a:pt x="287601" y="252414"/>
                    <a:pt x="300039" y="239976"/>
                    <a:pt x="300039" y="224632"/>
                  </a:cubicBezTo>
                  <a:cubicBezTo>
                    <a:pt x="300039" y="209288"/>
                    <a:pt x="287601" y="196850"/>
                    <a:pt x="272257" y="196850"/>
                  </a:cubicBezTo>
                  <a:close/>
                  <a:moveTo>
                    <a:pt x="65882" y="196850"/>
                  </a:moveTo>
                  <a:cubicBezTo>
                    <a:pt x="50538" y="196850"/>
                    <a:pt x="38100" y="209288"/>
                    <a:pt x="38100" y="224632"/>
                  </a:cubicBezTo>
                  <a:cubicBezTo>
                    <a:pt x="38100" y="239976"/>
                    <a:pt x="50538" y="252414"/>
                    <a:pt x="65882" y="252414"/>
                  </a:cubicBezTo>
                  <a:cubicBezTo>
                    <a:pt x="81226" y="252414"/>
                    <a:pt x="93664" y="239976"/>
                    <a:pt x="93664" y="224632"/>
                  </a:cubicBezTo>
                  <a:cubicBezTo>
                    <a:pt x="93664" y="209288"/>
                    <a:pt x="81226" y="196850"/>
                    <a:pt x="65882" y="196850"/>
                  </a:cubicBezTo>
                  <a:close/>
                  <a:moveTo>
                    <a:pt x="272257" y="187325"/>
                  </a:moveTo>
                  <a:cubicBezTo>
                    <a:pt x="309150" y="187325"/>
                    <a:pt x="338138" y="217684"/>
                    <a:pt x="338138" y="253322"/>
                  </a:cubicBezTo>
                  <a:cubicBezTo>
                    <a:pt x="338138" y="274441"/>
                    <a:pt x="328915" y="292921"/>
                    <a:pt x="313103" y="304800"/>
                  </a:cubicBezTo>
                  <a:cubicBezTo>
                    <a:pt x="313103" y="304800"/>
                    <a:pt x="313103" y="304800"/>
                    <a:pt x="313103" y="283681"/>
                  </a:cubicBezTo>
                  <a:cubicBezTo>
                    <a:pt x="313103" y="273121"/>
                    <a:pt x="306515" y="263882"/>
                    <a:pt x="295974" y="259922"/>
                  </a:cubicBezTo>
                  <a:cubicBezTo>
                    <a:pt x="295974" y="259922"/>
                    <a:pt x="290704" y="258602"/>
                    <a:pt x="290704" y="258602"/>
                  </a:cubicBezTo>
                  <a:cubicBezTo>
                    <a:pt x="288068" y="257282"/>
                    <a:pt x="286751" y="258602"/>
                    <a:pt x="284115" y="258602"/>
                  </a:cubicBezTo>
                  <a:cubicBezTo>
                    <a:pt x="284115" y="258602"/>
                    <a:pt x="284115" y="258602"/>
                    <a:pt x="272257" y="265202"/>
                  </a:cubicBezTo>
                  <a:cubicBezTo>
                    <a:pt x="272257" y="265202"/>
                    <a:pt x="272257" y="265202"/>
                    <a:pt x="260398" y="258602"/>
                  </a:cubicBezTo>
                  <a:cubicBezTo>
                    <a:pt x="259080" y="258602"/>
                    <a:pt x="256445" y="257282"/>
                    <a:pt x="255128" y="258602"/>
                  </a:cubicBezTo>
                  <a:cubicBezTo>
                    <a:pt x="255128" y="258602"/>
                    <a:pt x="248539" y="259922"/>
                    <a:pt x="248539" y="259922"/>
                  </a:cubicBezTo>
                  <a:cubicBezTo>
                    <a:pt x="239316" y="263882"/>
                    <a:pt x="232728" y="273121"/>
                    <a:pt x="232728" y="283681"/>
                  </a:cubicBezTo>
                  <a:cubicBezTo>
                    <a:pt x="232728" y="283681"/>
                    <a:pt x="232728" y="283681"/>
                    <a:pt x="232728" y="304800"/>
                  </a:cubicBezTo>
                  <a:cubicBezTo>
                    <a:pt x="216916" y="292921"/>
                    <a:pt x="206375" y="274441"/>
                    <a:pt x="206375" y="253322"/>
                  </a:cubicBezTo>
                  <a:cubicBezTo>
                    <a:pt x="206375" y="217684"/>
                    <a:pt x="236681" y="187325"/>
                    <a:pt x="272257" y="187325"/>
                  </a:cubicBezTo>
                  <a:close/>
                  <a:moveTo>
                    <a:pt x="65881" y="187325"/>
                  </a:moveTo>
                  <a:cubicBezTo>
                    <a:pt x="101457" y="187325"/>
                    <a:pt x="131763" y="217684"/>
                    <a:pt x="131763" y="253322"/>
                  </a:cubicBezTo>
                  <a:cubicBezTo>
                    <a:pt x="131763" y="274441"/>
                    <a:pt x="121222" y="292921"/>
                    <a:pt x="105410" y="304800"/>
                  </a:cubicBezTo>
                  <a:cubicBezTo>
                    <a:pt x="105410" y="304800"/>
                    <a:pt x="105410" y="304800"/>
                    <a:pt x="105410" y="283681"/>
                  </a:cubicBezTo>
                  <a:cubicBezTo>
                    <a:pt x="105410" y="273121"/>
                    <a:pt x="98822" y="263882"/>
                    <a:pt x="89599" y="259922"/>
                  </a:cubicBezTo>
                  <a:cubicBezTo>
                    <a:pt x="89599" y="259922"/>
                    <a:pt x="83010" y="258602"/>
                    <a:pt x="83010" y="258602"/>
                  </a:cubicBezTo>
                  <a:cubicBezTo>
                    <a:pt x="81693" y="257282"/>
                    <a:pt x="79058" y="258602"/>
                    <a:pt x="77740" y="258602"/>
                  </a:cubicBezTo>
                  <a:cubicBezTo>
                    <a:pt x="77740" y="258602"/>
                    <a:pt x="77740" y="258602"/>
                    <a:pt x="65881" y="265202"/>
                  </a:cubicBezTo>
                  <a:cubicBezTo>
                    <a:pt x="65881" y="265202"/>
                    <a:pt x="65881" y="265202"/>
                    <a:pt x="54023" y="258602"/>
                  </a:cubicBezTo>
                  <a:cubicBezTo>
                    <a:pt x="51387" y="258602"/>
                    <a:pt x="50070" y="257282"/>
                    <a:pt x="47434" y="258602"/>
                  </a:cubicBezTo>
                  <a:cubicBezTo>
                    <a:pt x="47434" y="258602"/>
                    <a:pt x="42164" y="259922"/>
                    <a:pt x="42164" y="259922"/>
                  </a:cubicBezTo>
                  <a:cubicBezTo>
                    <a:pt x="31623" y="263882"/>
                    <a:pt x="25035" y="273121"/>
                    <a:pt x="25035" y="283681"/>
                  </a:cubicBezTo>
                  <a:cubicBezTo>
                    <a:pt x="25035" y="283681"/>
                    <a:pt x="25035" y="283681"/>
                    <a:pt x="25035" y="304800"/>
                  </a:cubicBezTo>
                  <a:cubicBezTo>
                    <a:pt x="9223" y="292921"/>
                    <a:pt x="0" y="274441"/>
                    <a:pt x="0" y="253322"/>
                  </a:cubicBezTo>
                  <a:cubicBezTo>
                    <a:pt x="0" y="217684"/>
                    <a:pt x="28988" y="187325"/>
                    <a:pt x="65881" y="187325"/>
                  </a:cubicBezTo>
                  <a:close/>
                  <a:moveTo>
                    <a:pt x="159754" y="149225"/>
                  </a:moveTo>
                  <a:cubicBezTo>
                    <a:pt x="163746" y="149225"/>
                    <a:pt x="166408" y="149225"/>
                    <a:pt x="169069" y="149225"/>
                  </a:cubicBezTo>
                  <a:cubicBezTo>
                    <a:pt x="171731" y="149225"/>
                    <a:pt x="174392" y="149225"/>
                    <a:pt x="178384" y="149225"/>
                  </a:cubicBezTo>
                  <a:cubicBezTo>
                    <a:pt x="178384" y="149225"/>
                    <a:pt x="178384" y="149225"/>
                    <a:pt x="178384" y="175331"/>
                  </a:cubicBezTo>
                  <a:lnTo>
                    <a:pt x="214313" y="193605"/>
                  </a:lnTo>
                  <a:cubicBezTo>
                    <a:pt x="210321" y="197521"/>
                    <a:pt x="206329" y="202742"/>
                    <a:pt x="202337" y="207963"/>
                  </a:cubicBezTo>
                  <a:cubicBezTo>
                    <a:pt x="202337" y="207963"/>
                    <a:pt x="202337" y="207963"/>
                    <a:pt x="169069" y="190994"/>
                  </a:cubicBezTo>
                  <a:cubicBezTo>
                    <a:pt x="169069" y="190994"/>
                    <a:pt x="169069" y="190994"/>
                    <a:pt x="135802" y="207963"/>
                  </a:cubicBezTo>
                  <a:cubicBezTo>
                    <a:pt x="131809" y="202742"/>
                    <a:pt x="127817" y="197521"/>
                    <a:pt x="123825" y="193605"/>
                  </a:cubicBezTo>
                  <a:cubicBezTo>
                    <a:pt x="123825" y="193605"/>
                    <a:pt x="123825" y="193605"/>
                    <a:pt x="159754" y="175331"/>
                  </a:cubicBezTo>
                  <a:cubicBezTo>
                    <a:pt x="159754" y="175331"/>
                    <a:pt x="159754" y="175331"/>
                    <a:pt x="159754" y="149225"/>
                  </a:cubicBezTo>
                  <a:close/>
                  <a:moveTo>
                    <a:pt x="154175" y="88900"/>
                  </a:moveTo>
                  <a:cubicBezTo>
                    <a:pt x="154175" y="88900"/>
                    <a:pt x="154175" y="88900"/>
                    <a:pt x="165941" y="95394"/>
                  </a:cubicBezTo>
                  <a:cubicBezTo>
                    <a:pt x="168556" y="95394"/>
                    <a:pt x="171171" y="95394"/>
                    <a:pt x="173785" y="95394"/>
                  </a:cubicBezTo>
                  <a:cubicBezTo>
                    <a:pt x="173785" y="95394"/>
                    <a:pt x="173785" y="95394"/>
                    <a:pt x="185551" y="88900"/>
                  </a:cubicBezTo>
                  <a:lnTo>
                    <a:pt x="188166" y="90199"/>
                  </a:lnTo>
                  <a:cubicBezTo>
                    <a:pt x="190781" y="90199"/>
                    <a:pt x="192088" y="92797"/>
                    <a:pt x="192088" y="96693"/>
                  </a:cubicBezTo>
                  <a:cubicBezTo>
                    <a:pt x="192088" y="96693"/>
                    <a:pt x="192088" y="96693"/>
                    <a:pt x="192088" y="126567"/>
                  </a:cubicBezTo>
                  <a:cubicBezTo>
                    <a:pt x="185551" y="129165"/>
                    <a:pt x="177707" y="131763"/>
                    <a:pt x="169863" y="131763"/>
                  </a:cubicBezTo>
                  <a:cubicBezTo>
                    <a:pt x="162019" y="131763"/>
                    <a:pt x="154175" y="129165"/>
                    <a:pt x="147638" y="126567"/>
                  </a:cubicBezTo>
                  <a:cubicBezTo>
                    <a:pt x="147638" y="126567"/>
                    <a:pt x="147638" y="126567"/>
                    <a:pt x="147638" y="96693"/>
                  </a:cubicBezTo>
                  <a:cubicBezTo>
                    <a:pt x="147638" y="92797"/>
                    <a:pt x="148946" y="90199"/>
                    <a:pt x="151560" y="90199"/>
                  </a:cubicBezTo>
                  <a:cubicBezTo>
                    <a:pt x="151560" y="90199"/>
                    <a:pt x="151560" y="90199"/>
                    <a:pt x="154175" y="88900"/>
                  </a:cubicBezTo>
                  <a:close/>
                  <a:moveTo>
                    <a:pt x="169069" y="26988"/>
                  </a:moveTo>
                  <a:cubicBezTo>
                    <a:pt x="174768" y="26988"/>
                    <a:pt x="179388" y="31252"/>
                    <a:pt x="179388" y="36513"/>
                  </a:cubicBezTo>
                  <a:cubicBezTo>
                    <a:pt x="179388" y="41774"/>
                    <a:pt x="174768" y="46038"/>
                    <a:pt x="169069" y="46038"/>
                  </a:cubicBezTo>
                  <a:cubicBezTo>
                    <a:pt x="163370" y="46038"/>
                    <a:pt x="158750" y="41774"/>
                    <a:pt x="158750" y="36513"/>
                  </a:cubicBezTo>
                  <a:cubicBezTo>
                    <a:pt x="158750" y="31252"/>
                    <a:pt x="163370" y="26988"/>
                    <a:pt x="169069" y="26988"/>
                  </a:cubicBezTo>
                  <a:close/>
                  <a:moveTo>
                    <a:pt x="169070" y="9525"/>
                  </a:moveTo>
                  <a:cubicBezTo>
                    <a:pt x="153726" y="9525"/>
                    <a:pt x="141288" y="21963"/>
                    <a:pt x="141288" y="37307"/>
                  </a:cubicBezTo>
                  <a:cubicBezTo>
                    <a:pt x="141288" y="52651"/>
                    <a:pt x="153726" y="65089"/>
                    <a:pt x="169070" y="65089"/>
                  </a:cubicBezTo>
                  <a:cubicBezTo>
                    <a:pt x="184414" y="65089"/>
                    <a:pt x="196852" y="52651"/>
                    <a:pt x="196852" y="37307"/>
                  </a:cubicBezTo>
                  <a:cubicBezTo>
                    <a:pt x="196852" y="21963"/>
                    <a:pt x="184414" y="9525"/>
                    <a:pt x="169070" y="9525"/>
                  </a:cubicBezTo>
                  <a:close/>
                  <a:moveTo>
                    <a:pt x="169070" y="0"/>
                  </a:moveTo>
                  <a:cubicBezTo>
                    <a:pt x="204646" y="0"/>
                    <a:pt x="234951" y="29039"/>
                    <a:pt x="234951" y="65997"/>
                  </a:cubicBezTo>
                  <a:cubicBezTo>
                    <a:pt x="234951" y="87116"/>
                    <a:pt x="224410" y="105595"/>
                    <a:pt x="209916" y="117475"/>
                  </a:cubicBezTo>
                  <a:cubicBezTo>
                    <a:pt x="209916" y="117475"/>
                    <a:pt x="209916" y="117475"/>
                    <a:pt x="209916" y="96356"/>
                  </a:cubicBezTo>
                  <a:cubicBezTo>
                    <a:pt x="209916" y="85796"/>
                    <a:pt x="203328" y="75237"/>
                    <a:pt x="192787" y="72597"/>
                  </a:cubicBezTo>
                  <a:cubicBezTo>
                    <a:pt x="192787" y="72597"/>
                    <a:pt x="187517" y="71277"/>
                    <a:pt x="187517" y="71277"/>
                  </a:cubicBezTo>
                  <a:cubicBezTo>
                    <a:pt x="184881" y="69957"/>
                    <a:pt x="182246" y="69957"/>
                    <a:pt x="180928" y="71277"/>
                  </a:cubicBezTo>
                  <a:cubicBezTo>
                    <a:pt x="180928" y="71277"/>
                    <a:pt x="180928" y="71277"/>
                    <a:pt x="169070" y="76557"/>
                  </a:cubicBezTo>
                  <a:cubicBezTo>
                    <a:pt x="169070" y="76557"/>
                    <a:pt x="169070" y="76557"/>
                    <a:pt x="157211" y="71277"/>
                  </a:cubicBezTo>
                  <a:cubicBezTo>
                    <a:pt x="155893" y="69957"/>
                    <a:pt x="153258" y="69957"/>
                    <a:pt x="150623" y="71277"/>
                  </a:cubicBezTo>
                  <a:cubicBezTo>
                    <a:pt x="150623" y="71277"/>
                    <a:pt x="145352" y="72597"/>
                    <a:pt x="145352" y="72597"/>
                  </a:cubicBezTo>
                  <a:cubicBezTo>
                    <a:pt x="134811" y="75237"/>
                    <a:pt x="128223" y="85796"/>
                    <a:pt x="128223" y="96356"/>
                  </a:cubicBezTo>
                  <a:cubicBezTo>
                    <a:pt x="128223" y="96356"/>
                    <a:pt x="128223" y="96356"/>
                    <a:pt x="128223" y="117475"/>
                  </a:cubicBezTo>
                  <a:cubicBezTo>
                    <a:pt x="113729" y="105595"/>
                    <a:pt x="103188" y="87116"/>
                    <a:pt x="103188" y="65997"/>
                  </a:cubicBezTo>
                  <a:cubicBezTo>
                    <a:pt x="103188" y="29039"/>
                    <a:pt x="133494" y="0"/>
                    <a:pt x="169070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76" name="TextBox 19"/>
            <p:cNvSpPr txBox="1"/>
            <p:nvPr/>
          </p:nvSpPr>
          <p:spPr>
            <a:xfrm>
              <a:off x="6701423" y="5310366"/>
              <a:ext cx="1882623" cy="379509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endParaRPr lang="en-US" sz="1867" dirty="0">
                <a:solidFill>
                  <a:schemeClr val="bg1"/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79" name="组合 78"/>
          <p:cNvGrpSpPr>
            <a:grpSpLocks/>
          </p:cNvGrpSpPr>
          <p:nvPr/>
        </p:nvGrpSpPr>
        <p:grpSpPr bwMode="auto">
          <a:xfrm>
            <a:off x="9186334" y="2182285"/>
            <a:ext cx="1998133" cy="3528334"/>
            <a:chOff x="9537246" y="2170339"/>
            <a:chExt cx="1998342" cy="3526971"/>
          </a:xfrm>
        </p:grpSpPr>
        <p:grpSp>
          <p:nvGrpSpPr>
            <p:cNvPr id="9224" name="组合 79"/>
            <p:cNvGrpSpPr>
              <a:grpSpLocks/>
            </p:cNvGrpSpPr>
            <p:nvPr/>
          </p:nvGrpSpPr>
          <p:grpSpPr bwMode="auto">
            <a:xfrm>
              <a:off x="9537246" y="2170339"/>
              <a:ext cx="1959429" cy="3526971"/>
              <a:chOff x="1219199" y="1915886"/>
              <a:chExt cx="1959429" cy="3526971"/>
            </a:xfrm>
          </p:grpSpPr>
          <p:cxnSp>
            <p:nvCxnSpPr>
              <p:cNvPr id="85" name="直接连接符 84"/>
              <p:cNvCxnSpPr>
                <a:cxnSpLocks/>
              </p:cNvCxnSpPr>
              <p:nvPr/>
            </p:nvCxnSpPr>
            <p:spPr>
              <a:xfrm>
                <a:off x="1219199" y="1915886"/>
                <a:ext cx="0" cy="3120878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矩形 85"/>
              <p:cNvSpPr/>
              <p:nvPr/>
            </p:nvSpPr>
            <p:spPr>
              <a:xfrm>
                <a:off x="1219199" y="5036764"/>
                <a:ext cx="1960238" cy="406243"/>
              </a:xfrm>
              <a:prstGeom prst="rect">
                <a:avLst/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 dirty="0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81" name="TextBox 19"/>
            <p:cNvSpPr txBox="1"/>
            <p:nvPr/>
          </p:nvSpPr>
          <p:spPr>
            <a:xfrm>
              <a:off x="9614053" y="3096392"/>
              <a:ext cx="1882623" cy="3999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r>
                <a:rPr lang="zh-CN" altLang="en-US" sz="2000" b="1" dirty="0">
                  <a:latin typeface="Arial"/>
                  <a:ea typeface="微软雅黑"/>
                  <a:sym typeface="Arial"/>
                </a:rPr>
                <a:t>应用封装</a:t>
              </a:r>
              <a:endParaRPr lang="en-US" sz="2000" b="1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2" name="文本框 27"/>
            <p:cNvSpPr txBox="1"/>
            <p:nvPr/>
          </p:nvSpPr>
          <p:spPr>
            <a:xfrm>
              <a:off x="9614053" y="3513512"/>
              <a:ext cx="1626220" cy="136068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优化</a:t>
              </a:r>
              <a:r>
                <a:rPr lang="en-US" altLang="zh-C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XGBoost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参数，交叉验证等，封装整体程序，便于后续添加新测试集时进行验证。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</p:txBody>
        </p:sp>
        <p:sp>
          <p:nvSpPr>
            <p:cNvPr id="83" name="椭圆 31"/>
            <p:cNvSpPr/>
            <p:nvPr/>
          </p:nvSpPr>
          <p:spPr>
            <a:xfrm>
              <a:off x="9704481" y="2269783"/>
              <a:ext cx="609664" cy="492994"/>
            </a:xfrm>
            <a:custGeom>
              <a:avLst/>
              <a:gdLst>
                <a:gd name="connsiteX0" fmla="*/ 0 w 331788"/>
                <a:gd name="connsiteY0" fmla="*/ 255587 h 268287"/>
                <a:gd name="connsiteX1" fmla="*/ 331788 w 331788"/>
                <a:gd name="connsiteY1" fmla="*/ 255587 h 268287"/>
                <a:gd name="connsiteX2" fmla="*/ 331788 w 331788"/>
                <a:gd name="connsiteY2" fmla="*/ 268287 h 268287"/>
                <a:gd name="connsiteX3" fmla="*/ 0 w 331788"/>
                <a:gd name="connsiteY3" fmla="*/ 268287 h 268287"/>
                <a:gd name="connsiteX4" fmla="*/ 76201 w 331788"/>
                <a:gd name="connsiteY4" fmla="*/ 207962 h 268287"/>
                <a:gd name="connsiteX5" fmla="*/ 82551 w 331788"/>
                <a:gd name="connsiteY5" fmla="*/ 207962 h 268287"/>
                <a:gd name="connsiteX6" fmla="*/ 82551 w 331788"/>
                <a:gd name="connsiteY6" fmla="*/ 247650 h 268287"/>
                <a:gd name="connsiteX7" fmla="*/ 55563 w 331788"/>
                <a:gd name="connsiteY7" fmla="*/ 247650 h 268287"/>
                <a:gd name="connsiteX8" fmla="*/ 55563 w 331788"/>
                <a:gd name="connsiteY8" fmla="*/ 227012 h 268287"/>
                <a:gd name="connsiteX9" fmla="*/ 115888 w 331788"/>
                <a:gd name="connsiteY9" fmla="*/ 168275 h 268287"/>
                <a:gd name="connsiteX10" fmla="*/ 127168 w 331788"/>
                <a:gd name="connsiteY10" fmla="*/ 168275 h 268287"/>
                <a:gd name="connsiteX11" fmla="*/ 139701 w 331788"/>
                <a:gd name="connsiteY11" fmla="*/ 170835 h 268287"/>
                <a:gd name="connsiteX12" fmla="*/ 139701 w 331788"/>
                <a:gd name="connsiteY12" fmla="*/ 247650 h 268287"/>
                <a:gd name="connsiteX13" fmla="*/ 115888 w 331788"/>
                <a:gd name="connsiteY13" fmla="*/ 247650 h 268287"/>
                <a:gd name="connsiteX14" fmla="*/ 198438 w 331788"/>
                <a:gd name="connsiteY14" fmla="*/ 155575 h 268287"/>
                <a:gd name="connsiteX15" fmla="*/ 198438 w 331788"/>
                <a:gd name="connsiteY15" fmla="*/ 247650 h 268287"/>
                <a:gd name="connsiteX16" fmla="*/ 173038 w 331788"/>
                <a:gd name="connsiteY16" fmla="*/ 247650 h 268287"/>
                <a:gd name="connsiteX17" fmla="*/ 173038 w 331788"/>
                <a:gd name="connsiteY17" fmla="*/ 168363 h 268287"/>
                <a:gd name="connsiteX18" fmla="*/ 198438 w 331788"/>
                <a:gd name="connsiteY18" fmla="*/ 155575 h 268287"/>
                <a:gd name="connsiteX19" fmla="*/ 149226 w 331788"/>
                <a:gd name="connsiteY19" fmla="*/ 41376 h 268287"/>
                <a:gd name="connsiteX20" fmla="*/ 114947 w 331788"/>
                <a:gd name="connsiteY20" fmla="*/ 55968 h 268287"/>
                <a:gd name="connsiteX21" fmla="*/ 114947 w 331788"/>
                <a:gd name="connsiteY21" fmla="*/ 123418 h 268287"/>
                <a:gd name="connsiteX22" fmla="*/ 183504 w 331788"/>
                <a:gd name="connsiteY22" fmla="*/ 123418 h 268287"/>
                <a:gd name="connsiteX23" fmla="*/ 183504 w 331788"/>
                <a:gd name="connsiteY23" fmla="*/ 55968 h 268287"/>
                <a:gd name="connsiteX24" fmla="*/ 149226 w 331788"/>
                <a:gd name="connsiteY24" fmla="*/ 41376 h 268287"/>
                <a:gd name="connsiteX25" fmla="*/ 228600 w 331788"/>
                <a:gd name="connsiteY25" fmla="*/ 39687 h 268287"/>
                <a:gd name="connsiteX26" fmla="*/ 254000 w 331788"/>
                <a:gd name="connsiteY26" fmla="*/ 39687 h 268287"/>
                <a:gd name="connsiteX27" fmla="*/ 254000 w 331788"/>
                <a:gd name="connsiteY27" fmla="*/ 247650 h 268287"/>
                <a:gd name="connsiteX28" fmla="*/ 228600 w 331788"/>
                <a:gd name="connsiteY28" fmla="*/ 247650 h 268287"/>
                <a:gd name="connsiteX29" fmla="*/ 228600 w 331788"/>
                <a:gd name="connsiteY29" fmla="*/ 110730 h 268287"/>
                <a:gd name="connsiteX30" fmla="*/ 231140 w 331788"/>
                <a:gd name="connsiteY30" fmla="*/ 90063 h 268287"/>
                <a:gd name="connsiteX31" fmla="*/ 228600 w 331788"/>
                <a:gd name="connsiteY31" fmla="*/ 69396 h 268287"/>
                <a:gd name="connsiteX32" fmla="*/ 228600 w 331788"/>
                <a:gd name="connsiteY32" fmla="*/ 39687 h 268287"/>
                <a:gd name="connsiteX33" fmla="*/ 149707 w 331788"/>
                <a:gd name="connsiteY33" fmla="*/ 22312 h 268287"/>
                <a:gd name="connsiteX34" fmla="*/ 196764 w 331788"/>
                <a:gd name="connsiteY34" fmla="*/ 41623 h 268287"/>
                <a:gd name="connsiteX35" fmla="*/ 196764 w 331788"/>
                <a:gd name="connsiteY35" fmla="*/ 136893 h 268287"/>
                <a:gd name="connsiteX36" fmla="*/ 109096 w 331788"/>
                <a:gd name="connsiteY36" fmla="*/ 143330 h 268287"/>
                <a:gd name="connsiteX37" fmla="*/ 97492 w 331788"/>
                <a:gd name="connsiteY37" fmla="*/ 154917 h 268287"/>
                <a:gd name="connsiteX38" fmla="*/ 93625 w 331788"/>
                <a:gd name="connsiteY38" fmla="*/ 170366 h 268287"/>
                <a:gd name="connsiteX39" fmla="*/ 43344 w 331788"/>
                <a:gd name="connsiteY39" fmla="*/ 220576 h 268287"/>
                <a:gd name="connsiteX40" fmla="*/ 18848 w 331788"/>
                <a:gd name="connsiteY40" fmla="*/ 220576 h 268287"/>
                <a:gd name="connsiteX41" fmla="*/ 18848 w 331788"/>
                <a:gd name="connsiteY41" fmla="*/ 196115 h 268287"/>
                <a:gd name="connsiteX42" fmla="*/ 67840 w 331788"/>
                <a:gd name="connsiteY42" fmla="*/ 145905 h 268287"/>
                <a:gd name="connsiteX43" fmla="*/ 84600 w 331788"/>
                <a:gd name="connsiteY43" fmla="*/ 140755 h 268287"/>
                <a:gd name="connsiteX44" fmla="*/ 96203 w 331788"/>
                <a:gd name="connsiteY44" fmla="*/ 129168 h 268287"/>
                <a:gd name="connsiteX45" fmla="*/ 102649 w 331788"/>
                <a:gd name="connsiteY45" fmla="*/ 41623 h 268287"/>
                <a:gd name="connsiteX46" fmla="*/ 149707 w 331788"/>
                <a:gd name="connsiteY46" fmla="*/ 22312 h 268287"/>
                <a:gd name="connsiteX47" fmla="*/ 280988 w 331788"/>
                <a:gd name="connsiteY47" fmla="*/ 0 h 268287"/>
                <a:gd name="connsiteX48" fmla="*/ 306388 w 331788"/>
                <a:gd name="connsiteY48" fmla="*/ 0 h 268287"/>
                <a:gd name="connsiteX49" fmla="*/ 306388 w 331788"/>
                <a:gd name="connsiteY49" fmla="*/ 247650 h 268287"/>
                <a:gd name="connsiteX50" fmla="*/ 280988 w 331788"/>
                <a:gd name="connsiteY50" fmla="*/ 247650 h 268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31788" h="268287">
                  <a:moveTo>
                    <a:pt x="0" y="255587"/>
                  </a:moveTo>
                  <a:lnTo>
                    <a:pt x="331788" y="255587"/>
                  </a:lnTo>
                  <a:lnTo>
                    <a:pt x="331788" y="268287"/>
                  </a:lnTo>
                  <a:lnTo>
                    <a:pt x="0" y="268287"/>
                  </a:lnTo>
                  <a:close/>
                  <a:moveTo>
                    <a:pt x="76201" y="207962"/>
                  </a:moveTo>
                  <a:lnTo>
                    <a:pt x="82551" y="207962"/>
                  </a:lnTo>
                  <a:lnTo>
                    <a:pt x="82551" y="247650"/>
                  </a:lnTo>
                  <a:lnTo>
                    <a:pt x="55563" y="247650"/>
                  </a:lnTo>
                  <a:lnTo>
                    <a:pt x="55563" y="227012"/>
                  </a:lnTo>
                  <a:close/>
                  <a:moveTo>
                    <a:pt x="115888" y="168275"/>
                  </a:moveTo>
                  <a:cubicBezTo>
                    <a:pt x="115888" y="168275"/>
                    <a:pt x="115888" y="168275"/>
                    <a:pt x="127168" y="168275"/>
                  </a:cubicBezTo>
                  <a:cubicBezTo>
                    <a:pt x="130928" y="169555"/>
                    <a:pt x="135941" y="170835"/>
                    <a:pt x="139701" y="170835"/>
                  </a:cubicBezTo>
                  <a:cubicBezTo>
                    <a:pt x="139701" y="170835"/>
                    <a:pt x="139701" y="170835"/>
                    <a:pt x="139701" y="247650"/>
                  </a:cubicBezTo>
                  <a:cubicBezTo>
                    <a:pt x="139701" y="247650"/>
                    <a:pt x="139701" y="247650"/>
                    <a:pt x="115888" y="247650"/>
                  </a:cubicBezTo>
                  <a:close/>
                  <a:moveTo>
                    <a:pt x="198438" y="155575"/>
                  </a:moveTo>
                  <a:cubicBezTo>
                    <a:pt x="198438" y="155575"/>
                    <a:pt x="198438" y="155575"/>
                    <a:pt x="198438" y="247650"/>
                  </a:cubicBezTo>
                  <a:cubicBezTo>
                    <a:pt x="198438" y="247650"/>
                    <a:pt x="198438" y="247650"/>
                    <a:pt x="173038" y="247650"/>
                  </a:cubicBezTo>
                  <a:lnTo>
                    <a:pt x="173038" y="168363"/>
                  </a:lnTo>
                  <a:cubicBezTo>
                    <a:pt x="181928" y="165805"/>
                    <a:pt x="190818" y="161969"/>
                    <a:pt x="198438" y="155575"/>
                  </a:cubicBezTo>
                  <a:close/>
                  <a:moveTo>
                    <a:pt x="149226" y="41376"/>
                  </a:moveTo>
                  <a:cubicBezTo>
                    <a:pt x="136937" y="41376"/>
                    <a:pt x="124649" y="46240"/>
                    <a:pt x="114947" y="55968"/>
                  </a:cubicBezTo>
                  <a:cubicBezTo>
                    <a:pt x="96838" y="74128"/>
                    <a:pt x="96838" y="105259"/>
                    <a:pt x="114947" y="123418"/>
                  </a:cubicBezTo>
                  <a:cubicBezTo>
                    <a:pt x="134350" y="142875"/>
                    <a:pt x="164101" y="142875"/>
                    <a:pt x="183504" y="123418"/>
                  </a:cubicBezTo>
                  <a:cubicBezTo>
                    <a:pt x="201613" y="105259"/>
                    <a:pt x="201613" y="74128"/>
                    <a:pt x="183504" y="55968"/>
                  </a:cubicBezTo>
                  <a:cubicBezTo>
                    <a:pt x="173803" y="46240"/>
                    <a:pt x="161514" y="41376"/>
                    <a:pt x="149226" y="41376"/>
                  </a:cubicBezTo>
                  <a:close/>
                  <a:moveTo>
                    <a:pt x="228600" y="39687"/>
                  </a:moveTo>
                  <a:cubicBezTo>
                    <a:pt x="228600" y="39687"/>
                    <a:pt x="228600" y="39687"/>
                    <a:pt x="254000" y="39687"/>
                  </a:cubicBezTo>
                  <a:lnTo>
                    <a:pt x="254000" y="247650"/>
                  </a:lnTo>
                  <a:cubicBezTo>
                    <a:pt x="254000" y="247650"/>
                    <a:pt x="254000" y="247650"/>
                    <a:pt x="228600" y="247650"/>
                  </a:cubicBezTo>
                  <a:cubicBezTo>
                    <a:pt x="228600" y="247650"/>
                    <a:pt x="228600" y="247650"/>
                    <a:pt x="228600" y="110730"/>
                  </a:cubicBezTo>
                  <a:cubicBezTo>
                    <a:pt x="231140" y="104272"/>
                    <a:pt x="231140" y="96521"/>
                    <a:pt x="231140" y="90063"/>
                  </a:cubicBezTo>
                  <a:cubicBezTo>
                    <a:pt x="231140" y="83604"/>
                    <a:pt x="231140" y="75854"/>
                    <a:pt x="228600" y="69396"/>
                  </a:cubicBezTo>
                  <a:cubicBezTo>
                    <a:pt x="228600" y="69396"/>
                    <a:pt x="228600" y="69396"/>
                    <a:pt x="228600" y="39687"/>
                  </a:cubicBezTo>
                  <a:close/>
                  <a:moveTo>
                    <a:pt x="149707" y="22312"/>
                  </a:moveTo>
                  <a:cubicBezTo>
                    <a:pt x="166789" y="22312"/>
                    <a:pt x="183872" y="28749"/>
                    <a:pt x="196764" y="41623"/>
                  </a:cubicBezTo>
                  <a:cubicBezTo>
                    <a:pt x="223838" y="68659"/>
                    <a:pt x="223838" y="111144"/>
                    <a:pt x="196764" y="136893"/>
                  </a:cubicBezTo>
                  <a:cubicBezTo>
                    <a:pt x="173558" y="161354"/>
                    <a:pt x="136170" y="162641"/>
                    <a:pt x="109096" y="143330"/>
                  </a:cubicBezTo>
                  <a:cubicBezTo>
                    <a:pt x="109096" y="143330"/>
                    <a:pt x="109096" y="143330"/>
                    <a:pt x="97492" y="154917"/>
                  </a:cubicBezTo>
                  <a:cubicBezTo>
                    <a:pt x="98782" y="160067"/>
                    <a:pt x="97492" y="166504"/>
                    <a:pt x="93625" y="170366"/>
                  </a:cubicBezTo>
                  <a:cubicBezTo>
                    <a:pt x="93625" y="170366"/>
                    <a:pt x="93625" y="170366"/>
                    <a:pt x="43344" y="220576"/>
                  </a:cubicBezTo>
                  <a:cubicBezTo>
                    <a:pt x="35608" y="227013"/>
                    <a:pt x="25295" y="227013"/>
                    <a:pt x="18848" y="220576"/>
                  </a:cubicBezTo>
                  <a:cubicBezTo>
                    <a:pt x="11113" y="214139"/>
                    <a:pt x="11113" y="202552"/>
                    <a:pt x="18848" y="196115"/>
                  </a:cubicBezTo>
                  <a:cubicBezTo>
                    <a:pt x="18848" y="196115"/>
                    <a:pt x="18848" y="196115"/>
                    <a:pt x="67840" y="145905"/>
                  </a:cubicBezTo>
                  <a:cubicBezTo>
                    <a:pt x="72997" y="142043"/>
                    <a:pt x="78154" y="140755"/>
                    <a:pt x="84600" y="140755"/>
                  </a:cubicBezTo>
                  <a:cubicBezTo>
                    <a:pt x="84600" y="140755"/>
                    <a:pt x="84600" y="140755"/>
                    <a:pt x="96203" y="129168"/>
                  </a:cubicBezTo>
                  <a:cubicBezTo>
                    <a:pt x="75575" y="103420"/>
                    <a:pt x="78154" y="66084"/>
                    <a:pt x="102649" y="41623"/>
                  </a:cubicBezTo>
                  <a:cubicBezTo>
                    <a:pt x="115542" y="28749"/>
                    <a:pt x="132624" y="22312"/>
                    <a:pt x="149707" y="22312"/>
                  </a:cubicBezTo>
                  <a:close/>
                  <a:moveTo>
                    <a:pt x="280988" y="0"/>
                  </a:moveTo>
                  <a:lnTo>
                    <a:pt x="306388" y="0"/>
                  </a:lnTo>
                  <a:lnTo>
                    <a:pt x="306388" y="247650"/>
                  </a:lnTo>
                  <a:lnTo>
                    <a:pt x="280988" y="24765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4" name="TextBox 19"/>
            <p:cNvSpPr txBox="1"/>
            <p:nvPr/>
          </p:nvSpPr>
          <p:spPr>
            <a:xfrm>
              <a:off x="9652965" y="5310366"/>
              <a:ext cx="1882623" cy="379509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endParaRPr lang="en-US" sz="1867" dirty="0">
                <a:solidFill>
                  <a:schemeClr val="bg1"/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41" name="TextBox 25">
            <a:extLst>
              <a:ext uri="{FF2B5EF4-FFF2-40B4-BE49-F238E27FC236}">
                <a16:creationId xmlns:a16="http://schemas.microsoft.com/office/drawing/2014/main" id="{F346E42D-E713-4CAE-BFE7-6EB744331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20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726864" y="2320715"/>
            <a:ext cx="2444749" cy="1766505"/>
            <a:chOff x="503238" y="2548492"/>
            <a:chExt cx="2191599" cy="1324783"/>
          </a:xfrm>
        </p:grpSpPr>
        <p:sp>
          <p:nvSpPr>
            <p:cNvPr id="19510" name="矩形 21"/>
            <p:cNvSpPr>
              <a:spLocks noChangeArrowheads="1"/>
            </p:cNvSpPr>
            <p:nvPr/>
          </p:nvSpPr>
          <p:spPr bwMode="auto">
            <a:xfrm>
              <a:off x="503238" y="2548492"/>
              <a:ext cx="1269171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信息收集</a:t>
              </a:r>
            </a:p>
          </p:txBody>
        </p:sp>
        <p:sp>
          <p:nvSpPr>
            <p:cNvPr id="19511" name="矩形 22"/>
            <p:cNvSpPr>
              <a:spLocks noChangeArrowheads="1"/>
            </p:cNvSpPr>
            <p:nvPr/>
          </p:nvSpPr>
          <p:spPr bwMode="auto">
            <a:xfrm>
              <a:off x="503238" y="2905916"/>
              <a:ext cx="2191599" cy="967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/>
                <a:t>系统梳理影响光学效率的关键特征，以</a:t>
              </a:r>
              <a:r>
                <a:rPr lang="en-US" altLang="zh-CN" dirty="0"/>
                <a:t>csv</a:t>
              </a:r>
              <a:r>
                <a:rPr lang="zh-CN" altLang="en-US" dirty="0"/>
                <a:t>表格的形式展现出来。</a:t>
              </a:r>
              <a:endParaRPr lang="en-US" altLang="zh-CN" sz="1867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FDD34299-EB74-48BC-9C5C-08424D4FD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F9B8A55-AD40-FF55-945F-93F7BAF6D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560" y="1526846"/>
            <a:ext cx="8484552" cy="455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79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99252-E35E-6B08-1EAC-E6E320D2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625B5C72-D375-9098-F74C-292D5596B4EC}"/>
              </a:ext>
            </a:extLst>
          </p:cNvPr>
          <p:cNvGrpSpPr>
            <a:grpSpLocks/>
          </p:cNvGrpSpPr>
          <p:nvPr/>
        </p:nvGrpSpPr>
        <p:grpSpPr bwMode="auto">
          <a:xfrm>
            <a:off x="726864" y="2320715"/>
            <a:ext cx="2444749" cy="1766505"/>
            <a:chOff x="503238" y="2548492"/>
            <a:chExt cx="2191599" cy="1324783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7A3012D2-0490-8764-2E33-5C7147DA0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269171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信息收集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2182170C-118E-9800-16F9-F671A7449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6"/>
              <a:ext cx="2191599" cy="967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/>
                <a:t>系统梳理影响光学效率的关键特征，以</a:t>
              </a:r>
              <a:r>
                <a:rPr lang="en-US" altLang="zh-CN" dirty="0"/>
                <a:t>csv</a:t>
              </a:r>
              <a:r>
                <a:rPr lang="zh-CN" altLang="en-US" dirty="0"/>
                <a:t>表格的形式展现出来。</a:t>
              </a:r>
              <a:endParaRPr lang="en-US" altLang="zh-CN" sz="1867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D4DA12CA-AD32-1D80-0FE0-B41F21783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4AFAAC3D-82F3-D2A1-34D9-13ECB550AB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05D2145-3472-742F-10E9-9BAEE03B8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034006"/>
              </p:ext>
            </p:extLst>
          </p:nvPr>
        </p:nvGraphicFramePr>
        <p:xfrm>
          <a:off x="4386580" y="2115344"/>
          <a:ext cx="5593080" cy="35687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864360">
                  <a:extLst>
                    <a:ext uri="{9D8B030D-6E8A-4147-A177-3AD203B41FA5}">
                      <a16:colId xmlns:a16="http://schemas.microsoft.com/office/drawing/2014/main" val="2676393730"/>
                    </a:ext>
                  </a:extLst>
                </a:gridCol>
                <a:gridCol w="1864360">
                  <a:extLst>
                    <a:ext uri="{9D8B030D-6E8A-4147-A177-3AD203B41FA5}">
                      <a16:colId xmlns:a16="http://schemas.microsoft.com/office/drawing/2014/main" val="3034545782"/>
                    </a:ext>
                  </a:extLst>
                </a:gridCol>
                <a:gridCol w="1864360">
                  <a:extLst>
                    <a:ext uri="{9D8B030D-6E8A-4147-A177-3AD203B41FA5}">
                      <a16:colId xmlns:a16="http://schemas.microsoft.com/office/drawing/2014/main" val="973842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类别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特征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说明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0954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光学特性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Ap, Ep, QY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吸收</a:t>
                      </a:r>
                      <a:r>
                        <a:rPr lang="en-US" altLang="zh-CN" b="0">
                          <a:effectLst/>
                        </a:rPr>
                        <a:t>/</a:t>
                      </a:r>
                      <a:r>
                        <a:rPr lang="zh-CN" altLang="en-US" b="0">
                          <a:effectLst/>
                        </a:rPr>
                        <a:t>发射峰值、量子产率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29568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光学特性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Amin, Amax, Emin, Emax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吸收</a:t>
                      </a:r>
                      <a:r>
                        <a:rPr lang="en-US" altLang="zh-CN" b="0">
                          <a:effectLst/>
                        </a:rPr>
                        <a:t>/</a:t>
                      </a:r>
                      <a:r>
                        <a:rPr lang="zh-CN" altLang="en-US" b="0">
                          <a:effectLst/>
                        </a:rPr>
                        <a:t>发射带宽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47550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材料类型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Type_OC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染料、量子点、镧系、碳点等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97529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基质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Host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聚合物、杂化、溶剂、玻璃等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90332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加工方法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Processing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本体、薄膜、溶液、光纤等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421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485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B495-6B48-6044-647C-011A099AB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42845D2E-5650-C113-4BAD-CFAFA34DC4B0}"/>
              </a:ext>
            </a:extLst>
          </p:cNvPr>
          <p:cNvGrpSpPr>
            <a:grpSpLocks/>
          </p:cNvGrpSpPr>
          <p:nvPr/>
        </p:nvGrpSpPr>
        <p:grpSpPr bwMode="auto">
          <a:xfrm>
            <a:off x="716704" y="2280075"/>
            <a:ext cx="2444749" cy="1953928"/>
            <a:chOff x="503238" y="2548492"/>
            <a:chExt cx="2191599" cy="1465340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F02514E5-240C-65A0-4B9C-D2EA1E796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269171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信息收集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3ABFCC6F-4CF9-4AE3-A7C6-23A50422C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6"/>
              <a:ext cx="2191599" cy="1107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dirty="0"/>
                <a:t>通过</a:t>
              </a:r>
              <a:r>
                <a:rPr lang="en-US" altLang="zh-CN" dirty="0" err="1"/>
                <a:t>figshare</a:t>
              </a:r>
              <a:r>
                <a:rPr lang="zh-CN" altLang="en-US" dirty="0"/>
                <a:t>仓库手机划分数据集：训练集（</a:t>
              </a:r>
              <a:r>
                <a:rPr lang="en-US" altLang="zh-CN" dirty="0"/>
                <a:t>Table S1, 193</a:t>
              </a:r>
              <a:r>
                <a:rPr lang="zh-CN" altLang="en-US" dirty="0"/>
                <a:t>样本）和测试集（</a:t>
              </a:r>
              <a:r>
                <a:rPr lang="en-US" altLang="zh-CN" dirty="0"/>
                <a:t>Table S2, 43</a:t>
              </a:r>
              <a:r>
                <a:rPr lang="zh-CN" altLang="en-US" dirty="0"/>
                <a:t>样本）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28B6A95A-6344-2FF1-0315-DB4C89534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C9CDA052-BB2A-132D-E56B-E836BBBA8F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9B20648-9263-69A4-A336-DBB18250C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304" y="1554479"/>
            <a:ext cx="839593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33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9F715-D6B5-D741-9078-7BEC04A1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51057372-595D-BE4B-D1CF-F187675C4BB2}"/>
              </a:ext>
            </a:extLst>
          </p:cNvPr>
          <p:cNvGrpSpPr>
            <a:grpSpLocks/>
          </p:cNvGrpSpPr>
          <p:nvPr/>
        </p:nvGrpSpPr>
        <p:grpSpPr bwMode="auto">
          <a:xfrm>
            <a:off x="716704" y="2280075"/>
            <a:ext cx="2444749" cy="1953928"/>
            <a:chOff x="503238" y="2548492"/>
            <a:chExt cx="2191599" cy="1465340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58784268-ED97-36F6-27AF-4875AB864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269171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信息收集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66752F80-14FF-19F2-8296-2F1EFBE34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6"/>
              <a:ext cx="2191599" cy="1107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dirty="0"/>
                <a:t>通过</a:t>
              </a:r>
              <a:r>
                <a:rPr lang="en-US" altLang="zh-CN" dirty="0" err="1"/>
                <a:t>figshare</a:t>
              </a:r>
              <a:r>
                <a:rPr lang="zh-CN" altLang="en-US" dirty="0"/>
                <a:t>仓库手机划分数据集：训练集（</a:t>
              </a:r>
              <a:r>
                <a:rPr lang="en-US" altLang="zh-CN" dirty="0"/>
                <a:t>Table S1, 193</a:t>
              </a:r>
              <a:r>
                <a:rPr lang="zh-CN" altLang="en-US" dirty="0"/>
                <a:t>样本）和测试集（</a:t>
              </a:r>
              <a:r>
                <a:rPr lang="en-US" altLang="zh-CN" dirty="0"/>
                <a:t>Table S2, 43</a:t>
              </a:r>
              <a:r>
                <a:rPr lang="zh-CN" altLang="en-US" dirty="0"/>
                <a:t>样本）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00BB4C06-A030-E309-A127-2CA716F51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E5CFE371-C107-D56B-FDDB-1FD3464FA5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96D0C19-B434-5F1B-F8FC-FDA903EB4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8013" y="2107450"/>
            <a:ext cx="8395935" cy="343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3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EC160-AD95-D132-8351-115BE732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CCC829CC-FAC9-9B55-484C-97879266EDC9}"/>
              </a:ext>
            </a:extLst>
          </p:cNvPr>
          <p:cNvGrpSpPr>
            <a:grpSpLocks/>
          </p:cNvGrpSpPr>
          <p:nvPr/>
        </p:nvGrpSpPr>
        <p:grpSpPr bwMode="auto">
          <a:xfrm>
            <a:off x="716704" y="2280074"/>
            <a:ext cx="2444749" cy="3338923"/>
            <a:chOff x="503238" y="2548492"/>
            <a:chExt cx="2191599" cy="2504011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85051EBD-5AA7-7761-46E5-762B07BBA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269171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数据处理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E7B49592-4690-2080-15BC-2B5CD288B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2146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正则提取数字（</a:t>
              </a:r>
              <a:r>
                <a:rPr lang="en-US" altLang="zh-CN" dirty="0"/>
                <a:t>(\d+\.?\d*)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分类缺失填充“</a:t>
              </a:r>
              <a:r>
                <a:rPr lang="en-US" altLang="zh-CN" dirty="0"/>
                <a:t>unknown”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字段加双引号解决逗号问题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清洗后样本量：训练集</a:t>
              </a:r>
              <a:r>
                <a:rPr lang="en-US" altLang="zh-CN" dirty="0"/>
                <a:t>191</a:t>
              </a:r>
              <a:r>
                <a:rPr lang="zh-CN" altLang="en-US" dirty="0"/>
                <a:t>，测试集</a:t>
              </a:r>
              <a:r>
                <a:rPr lang="en-US" altLang="zh-CN" dirty="0"/>
                <a:t>42</a:t>
              </a:r>
            </a:p>
            <a:p>
              <a:endParaRPr lang="zh-CN" altLang="en-US" dirty="0"/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FDDDD1FE-55E9-C592-B6D3-0CA4C9405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CC2F4B5F-6C27-70CF-521C-2868225D33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6B72D1C-03AE-78AF-AA88-50BD4E845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582" y="1614170"/>
            <a:ext cx="7839075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55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CC43C-2B60-A584-9803-70432DAD5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24829EF9-5D8A-F410-A833-A14FB6684AC0}"/>
              </a:ext>
            </a:extLst>
          </p:cNvPr>
          <p:cNvGrpSpPr>
            <a:grpSpLocks/>
          </p:cNvGrpSpPr>
          <p:nvPr/>
        </p:nvGrpSpPr>
        <p:grpSpPr bwMode="auto">
          <a:xfrm>
            <a:off x="396240" y="1314874"/>
            <a:ext cx="3059853" cy="6108913"/>
            <a:chOff x="503238" y="2548492"/>
            <a:chExt cx="2191599" cy="4581352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A177BBB1-85BB-8506-2BCF-EDCD0BBE7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269171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特征工程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4C2089A8-62F7-FF63-909D-E941BD2AF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4223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最终特征选择（</a:t>
              </a:r>
              <a:r>
                <a:rPr lang="en-US" altLang="zh-CN" dirty="0"/>
                <a:t>7</a:t>
              </a:r>
              <a:r>
                <a:rPr lang="zh-CN" altLang="en-US" dirty="0"/>
                <a:t>个数值 </a:t>
              </a:r>
              <a:r>
                <a:rPr lang="en-US" altLang="zh-CN" dirty="0"/>
                <a:t>+ 3</a:t>
              </a:r>
              <a:r>
                <a:rPr lang="zh-CN" altLang="en-US" dirty="0"/>
                <a:t>个分类）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数值：</a:t>
              </a:r>
              <a:r>
                <a:rPr lang="en-US" altLang="zh-CN" dirty="0"/>
                <a:t>Ap, Amin, Amax, Ep, Emin, Emax, QY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分类：</a:t>
              </a:r>
              <a:r>
                <a:rPr lang="en-US" altLang="zh-CN" dirty="0" err="1"/>
                <a:t>Type_OC</a:t>
              </a:r>
              <a:r>
                <a:rPr lang="en-US" altLang="zh-CN" dirty="0"/>
                <a:t>, Host, Processing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预处理流程（图）：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数值：中位数填充 → 标准化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分类：填充“</a:t>
              </a:r>
              <a:r>
                <a:rPr lang="en-US" altLang="zh-CN" dirty="0"/>
                <a:t>missing” → </a:t>
              </a:r>
              <a:r>
                <a:rPr lang="zh-CN" altLang="en-US" dirty="0"/>
                <a:t>独热编码（</a:t>
              </a:r>
              <a:r>
                <a:rPr lang="en-US" altLang="zh-CN" dirty="0" err="1"/>
                <a:t>handle_unknown</a:t>
              </a:r>
              <a:r>
                <a:rPr lang="en-US" altLang="zh-CN" dirty="0"/>
                <a:t>='ignore'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最终特征维度：</a:t>
              </a:r>
              <a:r>
                <a:rPr lang="en-US" altLang="zh-CN" dirty="0"/>
                <a:t>45</a:t>
              </a:r>
              <a:r>
                <a:rPr lang="zh-CN" altLang="en-US" dirty="0"/>
                <a:t>维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6114E29B-C432-95D0-FD05-2F3CBA9DA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85182C0A-7BA6-EEA2-397E-4DB611F1C3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7AFD2ED-8070-CED4-ADE6-DEA06394F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610" y="2542222"/>
            <a:ext cx="83439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9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3DAD-8673-BDFF-8A5D-F8ECF628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8250A92C-B626-2E66-DBEF-62971EE6CC09}"/>
              </a:ext>
            </a:extLst>
          </p:cNvPr>
          <p:cNvGrpSpPr>
            <a:grpSpLocks/>
          </p:cNvGrpSpPr>
          <p:nvPr/>
        </p:nvGrpSpPr>
        <p:grpSpPr bwMode="auto">
          <a:xfrm>
            <a:off x="396240" y="1314873"/>
            <a:ext cx="3059853" cy="2230927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554FBC3D-6331-93CC-D035-3EDD255B8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模型构建与对比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E345795F-BE4C-35BF-AE00-10FAD9FDF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对比模型：随机森林、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、人工神经网络（</a:t>
              </a:r>
              <a:r>
                <a:rPr lang="en-US" altLang="zh-CN" dirty="0"/>
                <a:t>ANN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超参数设置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评估指标：</a:t>
              </a:r>
              <a:r>
                <a:rPr lang="en-US" altLang="zh-CN" dirty="0"/>
                <a:t>R²</a:t>
              </a:r>
              <a:r>
                <a:rPr lang="zh-CN" altLang="en-US" dirty="0"/>
                <a:t>、</a:t>
              </a:r>
              <a:r>
                <a:rPr lang="en-US" altLang="zh-CN" dirty="0"/>
                <a:t>RMSE</a:t>
              </a:r>
              <a:r>
                <a:rPr lang="zh-CN" altLang="en-US" dirty="0"/>
                <a:t>、</a:t>
              </a:r>
              <a:r>
                <a:rPr lang="en-US" altLang="zh-CN" dirty="0"/>
                <a:t>MAE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5B6233C7-5F68-6FD2-2C01-A3A6705CB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8D5CE775-A4B6-29E7-6B69-6613B7A3E1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8E346BD-698E-8548-EC68-A1D09C335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450" y="1744027"/>
            <a:ext cx="727710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50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7971B-8899-4530-EA47-A1EFDD35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152C7607-B3BE-4955-CB69-62C5F4271E6E}"/>
              </a:ext>
            </a:extLst>
          </p:cNvPr>
          <p:cNvGrpSpPr>
            <a:grpSpLocks/>
          </p:cNvGrpSpPr>
          <p:nvPr/>
        </p:nvGrpSpPr>
        <p:grpSpPr bwMode="auto">
          <a:xfrm>
            <a:off x="396240" y="1314873"/>
            <a:ext cx="3059853" cy="2230927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7AFD1FB9-CC4D-F69F-514C-311233931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模型构建与对比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646C8B55-48D8-D694-DFDE-1171D0181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对比模型：随机森林、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、人工神经网络（</a:t>
              </a:r>
              <a:r>
                <a:rPr lang="en-US" altLang="zh-CN" dirty="0"/>
                <a:t>ANN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超参数设置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评估指标：</a:t>
              </a:r>
              <a:r>
                <a:rPr lang="en-US" altLang="zh-CN" dirty="0"/>
                <a:t>R²</a:t>
              </a:r>
              <a:r>
                <a:rPr lang="zh-CN" altLang="en-US" dirty="0"/>
                <a:t>、</a:t>
              </a:r>
              <a:r>
                <a:rPr lang="en-US" altLang="zh-CN" dirty="0"/>
                <a:t>RMSE</a:t>
              </a:r>
              <a:r>
                <a:rPr lang="zh-CN" altLang="en-US" dirty="0"/>
                <a:t>、</a:t>
              </a:r>
              <a:r>
                <a:rPr lang="en-US" altLang="zh-CN" dirty="0"/>
                <a:t>MAE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992E0108-3056-7BFE-2955-268F2C1B4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9EC39A39-0A05-6906-A03A-516BDCC5D5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83FF120-A2E5-481F-ADBC-38331B253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370" y="1766887"/>
            <a:ext cx="8742710" cy="386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79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25B9-49C2-E533-9DE1-E09F00A70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4B498A2F-AD28-FB77-05CD-1030098BA858}"/>
              </a:ext>
            </a:extLst>
          </p:cNvPr>
          <p:cNvGrpSpPr>
            <a:grpSpLocks/>
          </p:cNvGrpSpPr>
          <p:nvPr/>
        </p:nvGrpSpPr>
        <p:grpSpPr bwMode="auto">
          <a:xfrm>
            <a:off x="396240" y="1314873"/>
            <a:ext cx="3059853" cy="2230927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2F856A22-ABE1-226C-831C-FD92E11BD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模型构建与对比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1381A800-795D-33B8-4C60-674270E83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对比模型：随机森林、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、人工神经网络（</a:t>
              </a:r>
              <a:r>
                <a:rPr lang="en-US" altLang="zh-CN" dirty="0"/>
                <a:t>ANN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超参数设置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评估指标：</a:t>
              </a:r>
              <a:r>
                <a:rPr lang="en-US" altLang="zh-CN" dirty="0"/>
                <a:t>R²</a:t>
              </a:r>
              <a:r>
                <a:rPr lang="zh-CN" altLang="en-US" dirty="0"/>
                <a:t>、</a:t>
              </a:r>
              <a:r>
                <a:rPr lang="en-US" altLang="zh-CN" dirty="0"/>
                <a:t>RMSE</a:t>
              </a:r>
              <a:r>
                <a:rPr lang="zh-CN" altLang="en-US" dirty="0"/>
                <a:t>、</a:t>
              </a:r>
              <a:r>
                <a:rPr lang="en-US" altLang="zh-CN" dirty="0"/>
                <a:t>MAE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3AB981C1-BFD3-40B8-A516-EC409FE38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8F9AAA93-E20F-4643-1222-89CCFE5705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521233-9C5E-9CDE-FFD5-6DCCA2310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741" y="1554480"/>
            <a:ext cx="7700161" cy="458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734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2FC8F-D242-E0D1-86DB-4054940F8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2B4D4F3D-B07F-C97A-968A-9F1BF1E4F3E3}"/>
              </a:ext>
            </a:extLst>
          </p:cNvPr>
          <p:cNvGrpSpPr>
            <a:grpSpLocks/>
          </p:cNvGrpSpPr>
          <p:nvPr/>
        </p:nvGrpSpPr>
        <p:grpSpPr bwMode="auto">
          <a:xfrm>
            <a:off x="396240" y="1314873"/>
            <a:ext cx="3059853" cy="2230927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215037FB-1220-98DF-482D-FB4F7E9BB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模型构建与对比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EB9AE682-F9D5-8469-694D-399160F0A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对比模型：随机森林、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、人工神经网络（</a:t>
              </a:r>
              <a:r>
                <a:rPr lang="en-US" altLang="zh-CN" dirty="0"/>
                <a:t>ANN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超参数设置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评估指标：</a:t>
              </a:r>
              <a:r>
                <a:rPr lang="en-US" altLang="zh-CN" dirty="0"/>
                <a:t>R²</a:t>
              </a:r>
              <a:r>
                <a:rPr lang="zh-CN" altLang="en-US" dirty="0"/>
                <a:t>、</a:t>
              </a:r>
              <a:r>
                <a:rPr lang="en-US" altLang="zh-CN" dirty="0"/>
                <a:t>RMSE</a:t>
              </a:r>
              <a:r>
                <a:rPr lang="zh-CN" altLang="en-US" dirty="0"/>
                <a:t>、</a:t>
              </a:r>
              <a:r>
                <a:rPr lang="en-US" altLang="zh-CN" dirty="0"/>
                <a:t>MAE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E0D1CBD1-8DA9-B31B-5A99-181CE6C22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04A7342A-0D45-6D19-2AB9-53F2A68168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4DB9BBF-8395-9090-20D9-8A6B4A929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555" y="1520507"/>
            <a:ext cx="779145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29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6312-FFEC-214D-C3C8-24878070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979776FF-5AF4-AD63-12E4-EC8B3E531438}"/>
              </a:ext>
            </a:extLst>
          </p:cNvPr>
          <p:cNvGrpSpPr>
            <a:grpSpLocks/>
          </p:cNvGrpSpPr>
          <p:nvPr/>
        </p:nvGrpSpPr>
        <p:grpSpPr bwMode="auto">
          <a:xfrm>
            <a:off x="396240" y="1314873"/>
            <a:ext cx="3059853" cy="2230927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A5C92D9B-CF85-EE71-16E7-966B3378B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模型构建与对比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1CA30A52-27CA-0B16-0AD8-130724DCC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对比模型：随机森林、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、人工神经网络（</a:t>
              </a:r>
              <a:r>
                <a:rPr lang="en-US" altLang="zh-CN" dirty="0"/>
                <a:t>ANN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超参数设置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评估指标：</a:t>
              </a:r>
              <a:r>
                <a:rPr lang="en-US" altLang="zh-CN" dirty="0"/>
                <a:t>R²</a:t>
              </a:r>
              <a:r>
                <a:rPr lang="zh-CN" altLang="en-US" dirty="0"/>
                <a:t>、</a:t>
              </a:r>
              <a:r>
                <a:rPr lang="en-US" altLang="zh-CN" dirty="0"/>
                <a:t>RMSE</a:t>
              </a:r>
              <a:r>
                <a:rPr lang="zh-CN" altLang="en-US" dirty="0"/>
                <a:t>、</a:t>
              </a:r>
              <a:r>
                <a:rPr lang="en-US" altLang="zh-CN" dirty="0"/>
                <a:t>MAE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7ACDDDAE-6A94-C315-E8D3-62DC0704D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186DFAF3-6206-F012-3147-91A8A1CA6B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C1CAC8B-D211-CFAC-1744-181D41DF01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232" y="8381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16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0543-6807-77DF-F37A-F4F5E3C1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31C5D090-4A20-9842-2374-5280C7EA60F0}"/>
              </a:ext>
            </a:extLst>
          </p:cNvPr>
          <p:cNvGrpSpPr>
            <a:grpSpLocks/>
          </p:cNvGrpSpPr>
          <p:nvPr/>
        </p:nvGrpSpPr>
        <p:grpSpPr bwMode="auto">
          <a:xfrm>
            <a:off x="568960" y="1944793"/>
            <a:ext cx="3059853" cy="2230927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2B9FC0A2-3842-9984-3832-4AD151672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模型构建与对比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BD61745C-ED16-190C-1CA8-118F86586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对比模型：随机森林、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、人工神经网络（</a:t>
              </a:r>
              <a:r>
                <a:rPr lang="en-US" altLang="zh-CN" dirty="0"/>
                <a:t>ANN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超参数设置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评估指标：</a:t>
              </a:r>
              <a:r>
                <a:rPr lang="en-US" altLang="zh-CN" dirty="0"/>
                <a:t>R²</a:t>
              </a:r>
              <a:r>
                <a:rPr lang="zh-CN" altLang="en-US" dirty="0"/>
                <a:t>、</a:t>
              </a:r>
              <a:r>
                <a:rPr lang="en-US" altLang="zh-CN" dirty="0"/>
                <a:t>RMSE</a:t>
              </a:r>
              <a:r>
                <a:rPr lang="zh-CN" altLang="en-US" dirty="0"/>
                <a:t>、</a:t>
              </a:r>
              <a:r>
                <a:rPr lang="en-US" altLang="zh-CN" dirty="0"/>
                <a:t>MAE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59F1C6CA-8E5A-777D-9F67-421AD976F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5D4F0D1B-C483-D1E6-4589-FA18DFF2CF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A628FFA-33BC-EFED-4271-114F8809D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809288"/>
              </p:ext>
            </p:extLst>
          </p:nvPr>
        </p:nvGraphicFramePr>
        <p:xfrm>
          <a:off x="4023360" y="2299494"/>
          <a:ext cx="7614921" cy="157480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737384">
                  <a:extLst>
                    <a:ext uri="{9D8B030D-6E8A-4147-A177-3AD203B41FA5}">
                      <a16:colId xmlns:a16="http://schemas.microsoft.com/office/drawing/2014/main" val="2315942479"/>
                    </a:ext>
                  </a:extLst>
                </a:gridCol>
                <a:gridCol w="1959179">
                  <a:extLst>
                    <a:ext uri="{9D8B030D-6E8A-4147-A177-3AD203B41FA5}">
                      <a16:colId xmlns:a16="http://schemas.microsoft.com/office/drawing/2014/main" val="3825262186"/>
                    </a:ext>
                  </a:extLst>
                </a:gridCol>
                <a:gridCol w="1959179">
                  <a:extLst>
                    <a:ext uri="{9D8B030D-6E8A-4147-A177-3AD203B41FA5}">
                      <a16:colId xmlns:a16="http://schemas.microsoft.com/office/drawing/2014/main" val="512904825"/>
                    </a:ext>
                  </a:extLst>
                </a:gridCol>
                <a:gridCol w="1959179">
                  <a:extLst>
                    <a:ext uri="{9D8B030D-6E8A-4147-A177-3AD203B41FA5}">
                      <a16:colId xmlns:a16="http://schemas.microsoft.com/office/drawing/2014/main" val="2113818387"/>
                    </a:ext>
                  </a:extLst>
                </a:gridCol>
              </a:tblGrid>
              <a:tr h="35643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模型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R²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RMSE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MAE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395216966"/>
                  </a:ext>
                </a:extLst>
              </a:tr>
              <a:tr h="3564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随机森林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0.827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7.12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4.21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33234332"/>
                  </a:ext>
                </a:extLst>
              </a:tr>
              <a:tr h="3564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XGBoost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1" dirty="0">
                          <a:effectLst/>
                        </a:rPr>
                        <a:t>0.859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6.12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3.85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84804777"/>
                  </a:ext>
                </a:extLst>
              </a:tr>
              <a:tr h="3564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ANN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-0.140</a:t>
                      </a:r>
                      <a:endParaRPr lang="en-US" altLang="zh-CN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23.77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1.01</a:t>
                      </a:r>
                      <a:endParaRPr lang="en-US" altLang="zh-CN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82498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037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68203-8923-4EFE-7570-9BFC1806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E676738A-E94F-05DF-F06E-2359020093DA}"/>
              </a:ext>
            </a:extLst>
          </p:cNvPr>
          <p:cNvGrpSpPr>
            <a:grpSpLocks/>
          </p:cNvGrpSpPr>
          <p:nvPr/>
        </p:nvGrpSpPr>
        <p:grpSpPr bwMode="auto">
          <a:xfrm>
            <a:off x="568960" y="1944794"/>
            <a:ext cx="3059852" cy="2230928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33EE0E37-332F-53AC-F06A-8A463749D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模型优化及封装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0D6CC768-EAD5-DFD8-7032-EE4514CE3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选用效果最好的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模型，并进行相关超参数设置及各类处理。封装为完整</a:t>
              </a:r>
              <a:r>
                <a:rPr lang="en-US" altLang="zh-CN" dirty="0"/>
                <a:t>pipeline</a:t>
              </a:r>
              <a:r>
                <a:rPr lang="zh-CN" altLang="en-US" dirty="0"/>
                <a:t>，可直接用于新数据的预测，基本达到预期目标。</a:t>
              </a:r>
              <a:endParaRPr lang="en-US" altLang="zh-CN" dirty="0"/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2C309926-92FD-6BA6-B4BF-8BC3DF73E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E48A6CA2-5472-9A3B-5265-07A1C4565B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9C1CAF-26C4-E806-4D3D-986D209C7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248" y="1310640"/>
            <a:ext cx="7068479" cy="459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62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4B97C-AC52-14AF-3894-024D58CF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6F3AE8D7-8B21-56CC-2CC8-F14336386F79}"/>
              </a:ext>
            </a:extLst>
          </p:cNvPr>
          <p:cNvGrpSpPr>
            <a:grpSpLocks/>
          </p:cNvGrpSpPr>
          <p:nvPr/>
        </p:nvGrpSpPr>
        <p:grpSpPr bwMode="auto">
          <a:xfrm>
            <a:off x="568960" y="1944794"/>
            <a:ext cx="3059852" cy="2230928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F2FE4160-2D26-AAA4-2CDD-F3F426E2C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模型优化及封装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47917FB2-1936-84D1-A949-31C722EB5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选用效果最好的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模型，并进行相关超参数设置及各类处理。封装为完整</a:t>
              </a:r>
              <a:r>
                <a:rPr lang="en-US" altLang="zh-CN" dirty="0"/>
                <a:t>pipeline</a:t>
              </a:r>
              <a:r>
                <a:rPr lang="zh-CN" altLang="en-US" dirty="0"/>
                <a:t>，可直接用于新数据的预测，基本达到预期目标。</a:t>
              </a:r>
              <a:endParaRPr lang="en-US" altLang="zh-CN" dirty="0"/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56E1B658-3295-4EA4-2BEE-3C6F1BE62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97775535-62C1-0CB8-1AFD-F98CDC7169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C2646DE-9750-F893-EE9A-A4858FB35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120" y="1030474"/>
            <a:ext cx="7020242" cy="520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41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8C8C-F331-3893-27B3-246D66C2D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971FA0E7-766F-56BA-5191-30956E32F493}"/>
              </a:ext>
            </a:extLst>
          </p:cNvPr>
          <p:cNvGrpSpPr>
            <a:grpSpLocks/>
          </p:cNvGrpSpPr>
          <p:nvPr/>
        </p:nvGrpSpPr>
        <p:grpSpPr bwMode="auto">
          <a:xfrm>
            <a:off x="568960" y="1944794"/>
            <a:ext cx="3059852" cy="2230928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4AF2AD84-6647-2D61-07B2-6AEFA1220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模型优化及封装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2A9DA947-4A3A-2555-E5B0-A95D9BBB7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选用效果最好的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模型，并进行相关超参数设置及各类处理。封装为完整</a:t>
              </a:r>
              <a:r>
                <a:rPr lang="en-US" altLang="zh-CN" dirty="0"/>
                <a:t>pipeline</a:t>
              </a:r>
              <a:r>
                <a:rPr lang="zh-CN" altLang="en-US" dirty="0"/>
                <a:t>，可直接用于新数据的预测，基本达到预期目标。</a:t>
              </a:r>
              <a:endParaRPr lang="en-US" altLang="zh-CN" dirty="0"/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ABF9F49B-3065-E4DB-1265-5A509AC06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8A975061-2C0C-A1A2-242A-64493C82DB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6751A1-705B-C468-94F3-415F81CCD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960" y="691916"/>
            <a:ext cx="6909995" cy="599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380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C3444-60A6-DF31-88B3-9877499E5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026BD5DB-6795-E7FA-500F-391D828C11CD}"/>
              </a:ext>
            </a:extLst>
          </p:cNvPr>
          <p:cNvGrpSpPr>
            <a:grpSpLocks/>
          </p:cNvGrpSpPr>
          <p:nvPr/>
        </p:nvGrpSpPr>
        <p:grpSpPr bwMode="auto">
          <a:xfrm>
            <a:off x="568960" y="1944794"/>
            <a:ext cx="3059852" cy="2230928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4245FFF9-20F3-569C-2D0C-44B620EA7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模型优化及封装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EA2AB68F-D8E4-1549-FAD2-D28E4BFEC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选用效果最好的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模型，并进行相关超参数设置及各类处理。封装为完整</a:t>
              </a:r>
              <a:r>
                <a:rPr lang="en-US" altLang="zh-CN" dirty="0"/>
                <a:t>pipeline</a:t>
              </a:r>
              <a:r>
                <a:rPr lang="zh-CN" altLang="en-US" dirty="0"/>
                <a:t>，可直接用于新数据的预测，基本达到预期目标。</a:t>
              </a:r>
              <a:endParaRPr lang="en-US" altLang="zh-CN" dirty="0"/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27221B6F-816C-21E5-B50C-E5D3E6104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2A978ED7-F370-DC10-7FC9-7B4E64450C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B54E33-F7D5-D9C8-157F-AE72E5A3CD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914" y="817874"/>
            <a:ext cx="5486411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47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198D-D992-E48F-EA8B-8FF277602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D9146BF4-F60A-DDF7-CA51-8ABE4A20A7C0}"/>
              </a:ext>
            </a:extLst>
          </p:cNvPr>
          <p:cNvGrpSpPr>
            <a:grpSpLocks/>
          </p:cNvGrpSpPr>
          <p:nvPr/>
        </p:nvGrpSpPr>
        <p:grpSpPr bwMode="auto">
          <a:xfrm>
            <a:off x="568960" y="1944794"/>
            <a:ext cx="3059852" cy="2230928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E5CEBCA5-1DE1-ED8A-9F65-3EEC1CF23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模型优化及封装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81A54D33-297A-B614-42B4-96DA03D81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选用效果最好的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模型，并进行相关超参数设置及各类处理。封装为完整</a:t>
              </a:r>
              <a:r>
                <a:rPr lang="en-US" altLang="zh-CN" dirty="0"/>
                <a:t>pipeline</a:t>
              </a:r>
              <a:r>
                <a:rPr lang="zh-CN" altLang="en-US" dirty="0"/>
                <a:t>，可直接用于新数据的预测，基本达到预期目标。</a:t>
              </a:r>
              <a:endParaRPr lang="en-US" altLang="zh-CN" dirty="0"/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D102669D-1EF9-9A24-9863-AF4D8DAE1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BDFFA08B-685E-0238-563F-F31485CC63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2CD5CAC-EE08-602E-0721-123638CE0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121" y="1402080"/>
            <a:ext cx="7747008" cy="464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2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1375834" y="4660899"/>
            <a:ext cx="9755717" cy="1417831"/>
            <a:chOff x="1374981" y="4660025"/>
            <a:chExt cx="9757476" cy="1419208"/>
          </a:xfrm>
        </p:grpSpPr>
        <p:grpSp>
          <p:nvGrpSpPr>
            <p:cNvPr id="16393" name="组合 12"/>
            <p:cNvGrpSpPr>
              <a:grpSpLocks/>
            </p:cNvGrpSpPr>
            <p:nvPr/>
          </p:nvGrpSpPr>
          <p:grpSpPr bwMode="auto">
            <a:xfrm>
              <a:off x="1374981" y="4660025"/>
              <a:ext cx="9757476" cy="1419208"/>
              <a:chOff x="5394700" y="1089672"/>
              <a:chExt cx="9757476" cy="1419208"/>
            </a:xfrm>
          </p:grpSpPr>
          <p:sp>
            <p:nvSpPr>
              <p:cNvPr id="16" name="TextBox 19"/>
              <p:cNvSpPr txBox="1"/>
              <p:nvPr/>
            </p:nvSpPr>
            <p:spPr>
              <a:xfrm>
                <a:off x="5394700" y="1089672"/>
                <a:ext cx="2444433" cy="400499"/>
              </a:xfrm>
              <a:prstGeom prst="rect">
                <a:avLst/>
              </a:prstGeom>
              <a:noFill/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>
                  <a:defRPr sz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ngraversGothic BT" panose="020B0507020203020204" pitchFamily="34" charset="0"/>
                  </a:defRPr>
                </a:lvl1pPr>
              </a:lstStyle>
              <a:p>
                <a:pPr>
                  <a:defRPr/>
                </a:pPr>
                <a:r>
                  <a:rPr lang="zh-CN" altLang="en-US" sz="2000" b="1" dirty="0">
                    <a:solidFill>
                      <a:schemeClr val="accent3">
                        <a:lumMod val="75000"/>
                      </a:schemeClr>
                    </a:solidFill>
                    <a:latin typeface="Arial"/>
                    <a:ea typeface="微软雅黑"/>
                    <a:sym typeface="Arial"/>
                  </a:rPr>
                  <a:t>目前产出结果</a:t>
                </a:r>
                <a:endParaRPr lang="en-US" sz="2000" b="1" dirty="0">
                  <a:solidFill>
                    <a:schemeClr val="accent3">
                      <a:lumMod val="75000"/>
                    </a:schemeClr>
                  </a:solidFill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" name="文本框 12"/>
              <p:cNvSpPr txBox="1"/>
              <p:nvPr/>
            </p:nvSpPr>
            <p:spPr>
              <a:xfrm>
                <a:off x="5394700" y="1662057"/>
                <a:ext cx="9757476" cy="846823"/>
              </a:xfrm>
              <a:prstGeom prst="rect">
                <a:avLst/>
              </a:prstGeom>
              <a:noFill/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1400" dirty="0">
                    <a:solidFill>
                      <a:srgbClr val="333333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目前已将多篇文献的数据集进行总结，产出六份单独表格及一份汇总对比表格；将大数据库进行分割，得到训练集和测试集并进行效率对比。建立三模型对比，选择</a:t>
                </a:r>
                <a:r>
                  <a:rPr lang="en-US" altLang="zh-CN" sz="1400" dirty="0" err="1">
                    <a:solidFill>
                      <a:srgbClr val="333333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XGBoost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进行深度优化，已迭代八个版本并确立三个版本进行封装，可通过预测代码进行光学效率预测，基本符合初期所预期目标。</a:t>
                </a:r>
              </a:p>
            </p:txBody>
          </p:sp>
        </p:grpSp>
        <p:cxnSp>
          <p:nvCxnSpPr>
            <p:cNvPr id="14" name="直接连接符 13"/>
            <p:cNvCxnSpPr/>
            <p:nvPr/>
          </p:nvCxnSpPr>
          <p:spPr>
            <a:xfrm>
              <a:off x="1480833" y="5121906"/>
              <a:ext cx="940392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cxnSpLocks/>
            </p:cNvCxnSpPr>
            <p:nvPr/>
          </p:nvCxnSpPr>
          <p:spPr>
            <a:xfrm>
              <a:off x="9578544" y="5121906"/>
              <a:ext cx="1306218" cy="0"/>
            </a:xfrm>
            <a:prstGeom prst="line">
              <a:avLst/>
            </a:prstGeom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CA830BC-67D0-4569-B382-70B162B8D986}"/>
              </a:ext>
            </a:extLst>
          </p:cNvPr>
          <p:cNvGrpSpPr/>
          <p:nvPr/>
        </p:nvGrpSpPr>
        <p:grpSpPr>
          <a:xfrm>
            <a:off x="1375834" y="1104903"/>
            <a:ext cx="9902107" cy="3756051"/>
            <a:chOff x="1154113" y="1127125"/>
            <a:chExt cx="6846887" cy="259715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731C7AE-F8A8-415E-AB06-6B02006899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4113" y="1127125"/>
              <a:ext cx="6846887" cy="2597150"/>
              <a:chOff x="1171994" y="1286865"/>
              <a:chExt cx="9862526" cy="3739984"/>
            </a:xfrm>
          </p:grpSpPr>
          <p:pic>
            <p:nvPicPr>
              <p:cNvPr id="23" name="图片 8">
                <a:extLst>
                  <a:ext uri="{FF2B5EF4-FFF2-40B4-BE49-F238E27FC236}">
                    <a16:creationId xmlns:a16="http://schemas.microsoft.com/office/drawing/2014/main" id="{25AE3858-AAF2-4E0C-8BF7-235B2B452F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137" b="5185"/>
              <a:stretch>
                <a:fillRect/>
              </a:stretch>
            </p:blipFill>
            <p:spPr bwMode="auto">
              <a:xfrm>
                <a:off x="1171994" y="1959429"/>
                <a:ext cx="2881158" cy="23948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" name="图片 9">
                <a:extLst>
                  <a:ext uri="{FF2B5EF4-FFF2-40B4-BE49-F238E27FC236}">
                    <a16:creationId xmlns:a16="http://schemas.microsoft.com/office/drawing/2014/main" id="{FA11F122-A256-4EB4-B362-9BEABB41E5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137" b="5185"/>
              <a:stretch>
                <a:fillRect/>
              </a:stretch>
            </p:blipFill>
            <p:spPr bwMode="auto">
              <a:xfrm>
                <a:off x="8153362" y="1959429"/>
                <a:ext cx="2881158" cy="23948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" name="图片 10">
                <a:extLst>
                  <a:ext uri="{FF2B5EF4-FFF2-40B4-BE49-F238E27FC236}">
                    <a16:creationId xmlns:a16="http://schemas.microsoft.com/office/drawing/2014/main" id="{85C70E97-098A-4901-AB97-4F957D294F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137" b="5185"/>
              <a:stretch>
                <a:fillRect/>
              </a:stretch>
            </p:blipFill>
            <p:spPr bwMode="auto">
              <a:xfrm>
                <a:off x="3846285" y="1286865"/>
                <a:ext cx="4499430" cy="3739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FE6FED4F-D578-4C0A-AF45-98F3E3011D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958"/>
            <a:stretch/>
          </p:blipFill>
          <p:spPr>
            <a:xfrm>
              <a:off x="3346003" y="1275606"/>
              <a:ext cx="2515692" cy="1458218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BE1EDF67-B1FA-425A-9EAB-7E4D8E6FB3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958" b="782"/>
            <a:stretch/>
          </p:blipFill>
          <p:spPr>
            <a:xfrm>
              <a:off x="1375965" y="1716087"/>
              <a:ext cx="1610668" cy="926325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D5B27DC5-C6B9-4079-B4AD-40C6884EDD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958" b="782"/>
            <a:stretch/>
          </p:blipFill>
          <p:spPr>
            <a:xfrm>
              <a:off x="6228184" y="1716086"/>
              <a:ext cx="1601215" cy="926325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FC1E5DC-25FC-4396-A6E9-D21300165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68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5197DC98-9694-4BDB-8C98-0F900BF542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E9BF091-2CA2-490D-98C4-0A775D80380B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0D3F9C0-99C0-47E9-87E1-76858C87F23B}"/>
              </a:ext>
            </a:extLst>
          </p:cNvPr>
          <p:cNvGrpSpPr/>
          <p:nvPr/>
        </p:nvGrpSpPr>
        <p:grpSpPr>
          <a:xfrm>
            <a:off x="2016905" y="2207506"/>
            <a:ext cx="2936096" cy="2507184"/>
            <a:chOff x="2321705" y="2270688"/>
            <a:chExt cx="2936096" cy="250718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78EF7D-82B9-432A-A6E5-B9E741545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1705" y="2270688"/>
              <a:ext cx="2936096" cy="2507184"/>
            </a:xfrm>
            <a:prstGeom prst="rect">
              <a:avLst/>
            </a:prstGeom>
          </p:spPr>
        </p:pic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7504219-E9BE-49BF-BF55-EC8A99B3F750}"/>
                </a:ext>
              </a:extLst>
            </p:cNvPr>
            <p:cNvSpPr/>
            <p:nvPr/>
          </p:nvSpPr>
          <p:spPr>
            <a:xfrm>
              <a:off x="3089528" y="2741103"/>
              <a:ext cx="1302155" cy="13021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6000" sy="1060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1B946AF-49A7-46F8-98C1-ED23D753660C}"/>
                </a:ext>
              </a:extLst>
            </p:cNvPr>
            <p:cNvSpPr txBox="1"/>
            <p:nvPr/>
          </p:nvSpPr>
          <p:spPr>
            <a:xfrm>
              <a:off x="3237076" y="2935863"/>
              <a:ext cx="10070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accent3"/>
                  </a:solidFill>
                  <a:latin typeface="+mj-ea"/>
                  <a:ea typeface="+mj-ea"/>
                </a:rPr>
                <a:t>03</a:t>
              </a:r>
              <a:endParaRPr lang="zh-CN" altLang="en-US" sz="4800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73E221AB-0F24-4F66-92D5-AD336BD2C768}"/>
              </a:ext>
            </a:extLst>
          </p:cNvPr>
          <p:cNvSpPr txBox="1"/>
          <p:nvPr/>
        </p:nvSpPr>
        <p:spPr>
          <a:xfrm>
            <a:off x="5362998" y="2554477"/>
            <a:ext cx="4110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</a:rPr>
              <a:t>工作不足之处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E58BFF5-DE92-40DB-8D39-87D2AB928D39}"/>
              </a:ext>
            </a:extLst>
          </p:cNvPr>
          <p:cNvCxnSpPr/>
          <p:nvPr/>
        </p:nvCxnSpPr>
        <p:spPr>
          <a:xfrm>
            <a:off x="5362998" y="3262363"/>
            <a:ext cx="318799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309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BF0B-56F2-B9D2-8E46-C4171A65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C4449593-1F2A-B43C-45FB-12EFDF49D623}"/>
              </a:ext>
            </a:extLst>
          </p:cNvPr>
          <p:cNvGrpSpPr/>
          <p:nvPr/>
        </p:nvGrpSpPr>
        <p:grpSpPr>
          <a:xfrm>
            <a:off x="660400" y="1548376"/>
            <a:ext cx="10858500" cy="3929940"/>
            <a:chOff x="660400" y="2204159"/>
            <a:chExt cx="10858500" cy="392994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51445DC8-8219-8354-37DC-56CF6911C154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4137379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73BFA3C-0F89-76F3-2255-24E67D7FD9E8}"/>
                </a:ext>
              </a:extLst>
            </p:cNvPr>
            <p:cNvGrpSpPr/>
            <p:nvPr/>
          </p:nvGrpSpPr>
          <p:grpSpPr>
            <a:xfrm>
              <a:off x="660400" y="4285544"/>
              <a:ext cx="5322353" cy="1848555"/>
              <a:chOff x="1186023" y="2000101"/>
              <a:chExt cx="3811568" cy="2052613"/>
            </a:xfrm>
          </p:grpSpPr>
          <p:sp>
            <p:nvSpPr>
              <p:cNvPr id="22" name="Text1">
                <a:extLst>
                  <a:ext uri="{FF2B5EF4-FFF2-40B4-BE49-F238E27FC236}">
                    <a16:creationId xmlns:a16="http://schemas.microsoft.com/office/drawing/2014/main" id="{83CA778D-3A7F-D3F9-934B-93BF2C6E56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400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目前测试集仅</a:t>
                </a:r>
                <a:r>
                  <a:rPr lang="en-US" altLang="zh-CN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43</a:t>
                </a:r>
                <a:r>
                  <a:rPr lang="zh-CN" altLang="en-US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个样本，评估结果可能存在偶然性。</a:t>
                </a:r>
                <a:endParaRPr lang="pt-BR" altLang="zh-CN" sz="15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Bullet1">
                <a:extLst>
                  <a:ext uri="{FF2B5EF4-FFF2-40B4-BE49-F238E27FC236}">
                    <a16:creationId xmlns:a16="http://schemas.microsoft.com/office/drawing/2014/main" id="{DAEA3367-D196-F7C9-65F1-1D73AABB90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400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模型泛化能力的进一步验证</a:t>
                </a: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Number1">
                <a:extLst>
                  <a:ext uri="{FF2B5EF4-FFF2-40B4-BE49-F238E27FC236}">
                    <a16:creationId xmlns:a16="http://schemas.microsoft.com/office/drawing/2014/main" id="{A96EBD3F-256A-6A44-E6B3-38DBC4E146C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6023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>
                        <a:lumMod val="100000"/>
                      </a:schemeClr>
                    </a:solidFill>
                  </a:rPr>
                  <a:t>3</a:t>
                </a:r>
                <a:endParaRPr lang="zh-CN" altLang="en-US" sz="4400" dirty="0">
                  <a:solidFill>
                    <a:schemeClr val="accent1">
                      <a:lumMod val="100000"/>
                    </a:schemeClr>
                  </a:solidFill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2EBB624-D0CB-DCFD-152A-D3ABB8E424ED}"/>
                </a:ext>
              </a:extLst>
            </p:cNvPr>
            <p:cNvGrpSpPr/>
            <p:nvPr/>
          </p:nvGrpSpPr>
          <p:grpSpPr>
            <a:xfrm>
              <a:off x="660400" y="2204159"/>
              <a:ext cx="5322353" cy="1848555"/>
              <a:chOff x="1186023" y="2000101"/>
              <a:chExt cx="3811568" cy="2052613"/>
            </a:xfrm>
          </p:grpSpPr>
          <p:sp>
            <p:nvSpPr>
              <p:cNvPr id="3" name="Text2">
                <a:extLst>
                  <a:ext uri="{FF2B5EF4-FFF2-40B4-BE49-F238E27FC236}">
                    <a16:creationId xmlns:a16="http://schemas.microsoft.com/office/drawing/2014/main" id="{4C0E428D-9195-05F5-D4FA-A5A30D8AE5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400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dirty="0"/>
                  <a:t>测试集</a:t>
                </a:r>
                <a:r>
                  <a:rPr lang="en-US" altLang="zh-CN" dirty="0" err="1"/>
                  <a:t>nopt</a:t>
                </a:r>
                <a:r>
                  <a:rPr lang="zh-CN" altLang="zh-CN" dirty="0"/>
                  <a:t>均值（</a:t>
                </a:r>
                <a:r>
                  <a:rPr lang="en-US" altLang="zh-CN" dirty="0"/>
                  <a:t>16.04%</a:t>
                </a:r>
                <a:r>
                  <a:rPr lang="zh-CN" altLang="zh-CN" dirty="0"/>
                  <a:t>）显著高于训练集（</a:t>
                </a:r>
                <a:r>
                  <a:rPr lang="en-US" altLang="zh-CN" dirty="0"/>
                  <a:t>6.60%</a:t>
                </a:r>
                <a:r>
                  <a:rPr lang="zh-CN" altLang="zh-CN" dirty="0"/>
                  <a:t>），且测试集中高效率样本（</a:t>
                </a:r>
                <a:r>
                  <a:rPr lang="en-US" altLang="zh-CN" dirty="0"/>
                  <a:t>&gt;10%</a:t>
                </a:r>
                <a:r>
                  <a:rPr lang="zh-CN" altLang="zh-CN" dirty="0"/>
                  <a:t>）占比更高。模型在训练时较少见到高值样本，导致对高值预测偏低，限制了</a:t>
                </a:r>
                <a:r>
                  <a:rPr lang="en-US" altLang="zh-CN" dirty="0"/>
                  <a:t>R²</a:t>
                </a:r>
                <a:r>
                  <a:rPr lang="zh-CN" altLang="zh-CN" dirty="0"/>
                  <a:t>进一步提升（目前</a:t>
                </a:r>
                <a:r>
                  <a:rPr lang="en-US" altLang="zh-CN" dirty="0"/>
                  <a:t>0.841</a:t>
                </a:r>
                <a:r>
                  <a:rPr lang="zh-CN" altLang="zh-CN" dirty="0"/>
                  <a:t>）。</a:t>
                </a:r>
                <a:endParaRPr lang="pt-BR" altLang="zh-CN" sz="12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" name="Bullet2">
                <a:extLst>
                  <a:ext uri="{FF2B5EF4-FFF2-40B4-BE49-F238E27FC236}">
                    <a16:creationId xmlns:a16="http://schemas.microsoft.com/office/drawing/2014/main" id="{21F72FB2-1A38-54B8-F240-B4F15BFD2C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400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r>
                  <a:rPr lang="zh-CN" altLang="en-US" b="1" dirty="0"/>
                  <a:t>训练</a:t>
                </a:r>
                <a:r>
                  <a:rPr lang="en-US" altLang="zh-CN" b="1" dirty="0"/>
                  <a:t>/</a:t>
                </a:r>
                <a:r>
                  <a:rPr lang="zh-CN" altLang="en-US" b="1" dirty="0"/>
                  <a:t>测试集分布不一致</a:t>
                </a:r>
              </a:p>
            </p:txBody>
          </p:sp>
          <p:sp>
            <p:nvSpPr>
              <p:cNvPr id="10" name="Number2">
                <a:extLst>
                  <a:ext uri="{FF2B5EF4-FFF2-40B4-BE49-F238E27FC236}">
                    <a16:creationId xmlns:a16="http://schemas.microsoft.com/office/drawing/2014/main" id="{0294F631-A521-386F-369F-0A55D61267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6023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/>
                    </a:solidFill>
                  </a:rPr>
                  <a:t>1</a:t>
                </a:r>
                <a:endParaRPr lang="zh-CN" altLang="en-US" sz="44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B3E12C43-D7B4-5135-3E6B-A5A4762075DE}"/>
                </a:ext>
              </a:extLst>
            </p:cNvPr>
            <p:cNvGrpSpPr/>
            <p:nvPr/>
          </p:nvGrpSpPr>
          <p:grpSpPr>
            <a:xfrm>
              <a:off x="6196547" y="2204159"/>
              <a:ext cx="5322353" cy="1848555"/>
              <a:chOff x="357937" y="2000101"/>
              <a:chExt cx="3811568" cy="2052613"/>
            </a:xfrm>
          </p:grpSpPr>
          <p:sp>
            <p:nvSpPr>
              <p:cNvPr id="27" name="Text3">
                <a:extLst>
                  <a:ext uri="{FF2B5EF4-FFF2-40B4-BE49-F238E27FC236}">
                    <a16:creationId xmlns:a16="http://schemas.microsoft.com/office/drawing/2014/main" id="{E48CD3B5-FD99-ED35-BB48-58326D172D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8314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500" dirty="0" err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Chemical_OC</a:t>
                </a:r>
                <a:r>
                  <a:rPr lang="zh-CN" altLang="en-US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和</a:t>
                </a:r>
                <a:r>
                  <a:rPr lang="en-US" altLang="zh-CN" sz="1500" dirty="0" err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Chemical_h</a:t>
                </a:r>
                <a:r>
                  <a:rPr lang="zh-CN" altLang="en-US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包含上百种取值，若加入独热编码会导致特征维度爆炸（</a:t>
                </a:r>
                <a:r>
                  <a:rPr lang="en-US" altLang="zh-CN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&gt;200</a:t>
                </a:r>
                <a:r>
                  <a:rPr lang="zh-CN" altLang="en-US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维），且许多类别仅出现一次，容易过拟合。</a:t>
                </a:r>
                <a:endParaRPr lang="pt-BR" altLang="zh-CN" sz="15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Bullet3">
                <a:extLst>
                  <a:ext uri="{FF2B5EF4-FFF2-40B4-BE49-F238E27FC236}">
                    <a16:creationId xmlns:a16="http://schemas.microsoft.com/office/drawing/2014/main" id="{48D7FE2E-C00B-BE40-1D86-7CDA63119E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8314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部分分类特征类别过多</a:t>
                </a: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Number3">
                <a:extLst>
                  <a:ext uri="{FF2B5EF4-FFF2-40B4-BE49-F238E27FC236}">
                    <a16:creationId xmlns:a16="http://schemas.microsoft.com/office/drawing/2014/main" id="{0FA84F78-DEA6-7D48-6F1A-9F745051A46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57937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>
                        <a:lumMod val="100000"/>
                      </a:schemeClr>
                    </a:solidFill>
                  </a:rPr>
                  <a:t>2</a:t>
                </a:r>
                <a:endParaRPr lang="zh-CN" altLang="en-US" sz="4400" dirty="0">
                  <a:solidFill>
                    <a:schemeClr val="accent1">
                      <a:lumMod val="100000"/>
                    </a:schemeClr>
                  </a:solidFill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E1467122-3B64-4C6F-E04A-60044E6839C3}"/>
                </a:ext>
              </a:extLst>
            </p:cNvPr>
            <p:cNvGrpSpPr/>
            <p:nvPr/>
          </p:nvGrpSpPr>
          <p:grpSpPr>
            <a:xfrm>
              <a:off x="6196547" y="4285544"/>
              <a:ext cx="5322353" cy="1848555"/>
              <a:chOff x="357937" y="2000101"/>
              <a:chExt cx="3811568" cy="2052613"/>
            </a:xfrm>
          </p:grpSpPr>
          <p:sp>
            <p:nvSpPr>
              <p:cNvPr id="8" name="Text4">
                <a:extLst>
                  <a:ext uri="{FF2B5EF4-FFF2-40B4-BE49-F238E27FC236}">
                    <a16:creationId xmlns:a16="http://schemas.microsoft.com/office/drawing/2014/main" id="{2C6F9F7D-E021-62BB-EB6A-9EF0C0103A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8314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sz="1500" dirty="0"/>
                  <a:t>数值特征缺失值</a:t>
                </a:r>
                <a:r>
                  <a:rPr lang="zh-CN" altLang="en-US" sz="1500" dirty="0"/>
                  <a:t>（如</a:t>
                </a:r>
                <a:r>
                  <a:rPr lang="en-US" altLang="zh-CN" sz="1500" dirty="0"/>
                  <a:t>QY%</a:t>
                </a:r>
                <a:r>
                  <a:rPr lang="zh-CN" altLang="en-US" sz="1500" dirty="0"/>
                  <a:t>缺失率</a:t>
                </a:r>
                <a:r>
                  <a:rPr lang="en-US" altLang="zh-CN" sz="1500" dirty="0"/>
                  <a:t>12.5%</a:t>
                </a:r>
                <a:r>
                  <a:rPr lang="zh-CN" altLang="en-US" sz="1500" dirty="0"/>
                  <a:t>）</a:t>
                </a:r>
                <a:r>
                  <a:rPr lang="zh-CN" altLang="zh-CN" sz="1500" dirty="0"/>
                  <a:t>直接使用中位数填充，可能引入偏差。</a:t>
                </a:r>
                <a:endParaRPr lang="pt-BR" altLang="zh-CN" sz="15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Bullet4">
                <a:extLst>
                  <a:ext uri="{FF2B5EF4-FFF2-40B4-BE49-F238E27FC236}">
                    <a16:creationId xmlns:a16="http://schemas.microsoft.com/office/drawing/2014/main" id="{BE380395-0274-3469-0924-905FBD9533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8314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缺失值处理策略较简单</a:t>
                </a: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Number4">
                <a:extLst>
                  <a:ext uri="{FF2B5EF4-FFF2-40B4-BE49-F238E27FC236}">
                    <a16:creationId xmlns:a16="http://schemas.microsoft.com/office/drawing/2014/main" id="{2B157A04-28B6-ABCF-8621-B38E48E97A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57937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>
                        <a:lumMod val="100000"/>
                      </a:schemeClr>
                    </a:solidFill>
                  </a:rPr>
                  <a:t>4</a:t>
                </a:r>
                <a:endParaRPr lang="zh-CN" altLang="en-US" sz="4400" dirty="0">
                  <a:solidFill>
                    <a:schemeClr val="accent1">
                      <a:lumMod val="100000"/>
                    </a:schemeClr>
                  </a:solidFill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015EC00C-3D56-2A67-641C-53267E684D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sp>
        <p:nvSpPr>
          <p:cNvPr id="14" name="TextBox 25">
            <a:extLst>
              <a:ext uri="{FF2B5EF4-FFF2-40B4-BE49-F238E27FC236}">
                <a16:creationId xmlns:a16="http://schemas.microsoft.com/office/drawing/2014/main" id="{ED765EAA-7BD8-776E-3211-0E40E66C3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工作不足之处</a:t>
            </a:r>
          </a:p>
        </p:txBody>
      </p:sp>
    </p:spTree>
    <p:extLst>
      <p:ext uri="{BB962C8B-B14F-4D97-AF65-F5344CB8AC3E}">
        <p14:creationId xmlns:p14="http://schemas.microsoft.com/office/powerpoint/2010/main" val="213631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6070" y="1576369"/>
            <a:ext cx="11610933" cy="4445740"/>
            <a:chOff x="1164543" y="1798042"/>
            <a:chExt cx="9580537" cy="3668317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5AFE9CB7-E95C-486A-B58E-0C5E15196BE7}"/>
                </a:ext>
              </a:extLst>
            </p:cNvPr>
            <p:cNvGrpSpPr/>
            <p:nvPr/>
          </p:nvGrpSpPr>
          <p:grpSpPr>
            <a:xfrm>
              <a:off x="1190614" y="1846169"/>
              <a:ext cx="2029723" cy="1285189"/>
              <a:chOff x="1763416" y="1732749"/>
              <a:chExt cx="2029723" cy="1285189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BF6AB78D-14A8-4CB7-A24B-239D81129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442" y="2205516"/>
                <a:ext cx="60807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072F879-FAEB-429E-BE88-64A6722D3DA4}"/>
                  </a:ext>
                </a:extLst>
              </p:cNvPr>
              <p:cNvSpPr txBox="1"/>
              <p:nvPr/>
            </p:nvSpPr>
            <p:spPr>
              <a:xfrm>
                <a:off x="2301751" y="2248497"/>
                <a:ext cx="81304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4400" b="1" dirty="0"/>
                  <a:t>01</a:t>
                </a:r>
                <a:endParaRPr lang="zh-CN" altLang="en-US" sz="5400" b="1" dirty="0"/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326D67A-1FC6-4557-9F2D-D8C2F1DFE3E8}"/>
                  </a:ext>
                </a:extLst>
              </p:cNvPr>
              <p:cNvSpPr txBox="1"/>
              <p:nvPr/>
            </p:nvSpPr>
            <p:spPr>
              <a:xfrm>
                <a:off x="1763416" y="1732749"/>
                <a:ext cx="20297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b="1" dirty="0"/>
                  <a:t>训练</a:t>
                </a:r>
                <a:r>
                  <a:rPr lang="en-US" altLang="zh-CN" sz="1400" b="1" dirty="0"/>
                  <a:t>/</a:t>
                </a:r>
                <a:r>
                  <a:rPr lang="zh-CN" altLang="en-US" sz="1400" b="1" dirty="0"/>
                  <a:t>测试集分布不一致</a:t>
                </a:r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41A1456-D94F-42DA-811A-8D921F5383F1}"/>
                </a:ext>
              </a:extLst>
            </p:cNvPr>
            <p:cNvSpPr txBox="1"/>
            <p:nvPr/>
          </p:nvSpPr>
          <p:spPr>
            <a:xfrm>
              <a:off x="3105566" y="1798042"/>
              <a:ext cx="3466345" cy="21776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en-US" altLang="zh-CN" sz="1400" dirty="0"/>
                <a:t>•</a:t>
              </a:r>
              <a:r>
                <a:rPr lang="zh-CN" altLang="en-US" sz="1400" dirty="0"/>
                <a:t>采用对数变换（</a:t>
              </a:r>
              <a:r>
                <a:rPr lang="en-US" altLang="zh-CN" sz="1400" dirty="0"/>
                <a:t>log1p</a:t>
              </a:r>
              <a:r>
                <a:rPr lang="zh-CN" altLang="en-US" sz="1400" dirty="0"/>
                <a:t>）对目标变量进行压缩，使分布更接近正态，但初步实验效果不升反降，故暂不采用。</a:t>
              </a: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en-US" altLang="zh-CN" sz="1400" dirty="0"/>
                <a:t>•</a:t>
              </a:r>
              <a:r>
                <a:rPr lang="zh-CN" altLang="en-US" sz="1400" dirty="0"/>
                <a:t>后续可尝试加权损失函数，在</a:t>
              </a:r>
              <a:r>
                <a:rPr lang="en-US" altLang="zh-CN" sz="1400" dirty="0" err="1"/>
                <a:t>XGBoost</a:t>
              </a:r>
              <a:r>
                <a:rPr lang="zh-CN" altLang="en-US" sz="1400" dirty="0"/>
                <a:t>中设置</a:t>
              </a:r>
              <a:r>
                <a:rPr lang="en-US" altLang="zh-CN" sz="1400" dirty="0" err="1"/>
                <a:t>scale_pos_weight</a:t>
              </a:r>
              <a:r>
                <a:rPr lang="zh-CN" altLang="en-US" sz="1400" dirty="0"/>
                <a:t>或自定义样本权重，增大高值样本的损失贡献。</a:t>
              </a: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en-US" altLang="zh-CN" sz="1400" dirty="0"/>
                <a:t>•</a:t>
              </a:r>
              <a:r>
                <a:rPr lang="zh-CN" altLang="en-US" sz="1400" dirty="0"/>
                <a:t>或者收集更多高效率样本补充训练集，使分布均衡。这是根本解决途径，但受限于现有公开数据。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202BF8A-5016-483E-B447-6B73A32054F8}"/>
                </a:ext>
              </a:extLst>
            </p:cNvPr>
            <p:cNvSpPr txBox="1"/>
            <p:nvPr/>
          </p:nvSpPr>
          <p:spPr>
            <a:xfrm>
              <a:off x="3105566" y="4133042"/>
              <a:ext cx="3504451" cy="11098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sz="1400" dirty="0"/>
                <a:t>使用</a:t>
              </a:r>
              <a:r>
                <a:rPr lang="en-US" altLang="zh-CN" sz="1400" dirty="0"/>
                <a:t>Bootstrap</a:t>
              </a:r>
              <a:r>
                <a:rPr lang="zh-CN" altLang="en-US" sz="1400" dirty="0"/>
                <a:t>重采样（</a:t>
              </a:r>
              <a:r>
                <a:rPr lang="en-US" altLang="zh-CN" sz="1400" dirty="0"/>
                <a:t>1000</a:t>
              </a:r>
              <a:r>
                <a:rPr lang="zh-CN" altLang="en-US" sz="1400" dirty="0"/>
                <a:t>次）计算</a:t>
              </a:r>
              <a:r>
                <a:rPr lang="en-US" altLang="zh-CN" sz="1400" dirty="0"/>
                <a:t>R²</a:t>
              </a:r>
              <a:r>
                <a:rPr lang="zh-CN" altLang="en-US" sz="1400" dirty="0"/>
                <a:t>的</a:t>
              </a:r>
              <a:r>
                <a:rPr lang="en-US" altLang="zh-CN" sz="1400" dirty="0"/>
                <a:t>95%</a:t>
              </a:r>
              <a:r>
                <a:rPr lang="zh-CN" altLang="en-US" sz="1400" dirty="0"/>
                <a:t>置信区间，结果为</a:t>
              </a:r>
              <a:r>
                <a:rPr lang="en-US" altLang="zh-CN" sz="1400" dirty="0"/>
                <a:t>[0.78, 0.89]</a:t>
              </a:r>
              <a:r>
                <a:rPr lang="zh-CN" altLang="en-US" sz="1400" dirty="0"/>
                <a:t>，证明</a:t>
              </a:r>
              <a:r>
                <a:rPr lang="en-US" altLang="zh-CN" sz="1400" dirty="0"/>
                <a:t>0.841</a:t>
              </a:r>
              <a:r>
                <a:rPr lang="zh-CN" altLang="en-US" sz="1400" dirty="0"/>
                <a:t>是稳定的。</a:t>
              </a: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sz="1400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sz="1400" dirty="0"/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E28F914-CD28-4989-B490-4175631DF50C}"/>
                </a:ext>
              </a:extLst>
            </p:cNvPr>
            <p:cNvGrpSpPr/>
            <p:nvPr/>
          </p:nvGrpSpPr>
          <p:grpSpPr>
            <a:xfrm>
              <a:off x="1164543" y="4181170"/>
              <a:ext cx="1930066" cy="1150638"/>
              <a:chOff x="1737345" y="1732749"/>
              <a:chExt cx="1930066" cy="1150638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07F99829-F92A-4D8B-A457-82CC9CA5F0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442" y="2205516"/>
                <a:ext cx="60807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71432E9-B4C1-4BC0-AF31-5BD36C92BEF7}"/>
                  </a:ext>
                </a:extLst>
              </p:cNvPr>
              <p:cNvSpPr txBox="1"/>
              <p:nvPr/>
            </p:nvSpPr>
            <p:spPr>
              <a:xfrm>
                <a:off x="2443927" y="2248497"/>
                <a:ext cx="670868" cy="6348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4400" b="1" dirty="0"/>
                  <a:t>03</a:t>
                </a:r>
                <a:endParaRPr lang="zh-CN" altLang="en-US" sz="5400" b="1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4D1EB1F-7762-494C-AFAF-0C93CAA72910}"/>
                  </a:ext>
                </a:extLst>
              </p:cNvPr>
              <p:cNvSpPr txBox="1"/>
              <p:nvPr/>
            </p:nvSpPr>
            <p:spPr>
              <a:xfrm>
                <a:off x="1737345" y="1732749"/>
                <a:ext cx="1930066" cy="2539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>
                  <a:buSzPct val="25000"/>
                </a:pPr>
                <a:r>
                  <a:rPr lang="zh-CN" altLang="en-US" sz="1400" b="1" dirty="0">
                    <a:solidFill>
                      <a:schemeClr val="tx1"/>
                    </a:solidFill>
                    <a:effectLst/>
                  </a:rPr>
                  <a:t>模型泛化能力的进一步验证</a:t>
                </a: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E4E5703-728C-4CE3-9C3E-1ECEEF1B0964}"/>
                </a:ext>
              </a:extLst>
            </p:cNvPr>
            <p:cNvGrpSpPr/>
            <p:nvPr/>
          </p:nvGrpSpPr>
          <p:grpSpPr>
            <a:xfrm>
              <a:off x="6437597" y="1846169"/>
              <a:ext cx="1633782" cy="1150637"/>
              <a:chOff x="1994322" y="1732749"/>
              <a:chExt cx="1633782" cy="1150637"/>
            </a:xfrm>
          </p:grpSpPr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B1E9963C-2AA0-4293-A52B-64D969A241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442" y="2205516"/>
                <a:ext cx="60807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DB1EC4F-89B9-48A6-A644-850E0586D635}"/>
                  </a:ext>
                </a:extLst>
              </p:cNvPr>
              <p:cNvSpPr txBox="1"/>
              <p:nvPr/>
            </p:nvSpPr>
            <p:spPr>
              <a:xfrm>
                <a:off x="2443926" y="2248497"/>
                <a:ext cx="670868" cy="634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4400" b="1" dirty="0"/>
                  <a:t>02</a:t>
                </a:r>
                <a:endParaRPr lang="zh-CN" altLang="en-US" sz="4400" b="1" dirty="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4B0B9BC-C689-4CBE-B44C-3C7C4E539A32}"/>
                  </a:ext>
                </a:extLst>
              </p:cNvPr>
              <p:cNvSpPr txBox="1"/>
              <p:nvPr/>
            </p:nvSpPr>
            <p:spPr>
              <a:xfrm>
                <a:off x="1994322" y="1732749"/>
                <a:ext cx="1633782" cy="2710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部分分类特征类别过多</a:t>
                </a:r>
                <a:endPara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F3B72FB-CCB2-449D-B0AD-05BA10A2A8A7}"/>
                </a:ext>
              </a:extLst>
            </p:cNvPr>
            <p:cNvSpPr txBox="1"/>
            <p:nvPr/>
          </p:nvSpPr>
          <p:spPr>
            <a:xfrm>
              <a:off x="8121643" y="1798042"/>
              <a:ext cx="2623437" cy="19110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sp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当前未使用这两个高基数特征。后续可尝试目标编码（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Target Encoding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） 或频率编码，将类别替换为其对应的目标均值或出现频率，从而保留信息而不增加维度。同时，等待实验室自行制备的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LSC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器件测试数据，作为外部验证集。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68BEBF1-11B8-4EC1-B0B7-168D903892CC}"/>
                </a:ext>
              </a:extLst>
            </p:cNvPr>
            <p:cNvSpPr txBox="1"/>
            <p:nvPr/>
          </p:nvSpPr>
          <p:spPr>
            <a:xfrm>
              <a:off x="8121643" y="4133042"/>
              <a:ext cx="2623437" cy="1111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sz="1400" dirty="0"/>
                <a:t>可尝试</a:t>
              </a:r>
              <a:r>
                <a:rPr lang="en-US" altLang="zh-CN" sz="1400" dirty="0"/>
                <a:t>KNN</a:t>
              </a:r>
              <a:r>
                <a:rPr lang="zh-CN" altLang="en-US" sz="1400" dirty="0"/>
                <a:t>插补（已尝试，</a:t>
              </a:r>
              <a:r>
                <a:rPr lang="en-US" altLang="zh-CN" sz="1400" dirty="0"/>
                <a:t>R²</a:t>
              </a:r>
              <a:r>
                <a:rPr lang="zh-CN" altLang="en-US" sz="1400" dirty="0"/>
                <a:t>略降至</a:t>
              </a:r>
              <a:r>
                <a:rPr lang="en-US" altLang="zh-CN" sz="1400" dirty="0"/>
                <a:t>0.834</a:t>
              </a:r>
              <a:r>
                <a:rPr lang="zh-CN" altLang="en-US" sz="1400" dirty="0"/>
                <a:t>）或多重插补，但考虑到缺失率较低（</a:t>
              </a:r>
              <a:r>
                <a:rPr lang="en-US" altLang="zh-CN" sz="1400" dirty="0"/>
                <a:t>QY</a:t>
              </a:r>
              <a:r>
                <a:rPr lang="zh-CN" altLang="en-US" sz="1400" dirty="0"/>
                <a:t>缺失</a:t>
              </a:r>
              <a:r>
                <a:rPr lang="en-US" altLang="zh-CN" sz="1400" dirty="0"/>
                <a:t>12.5%</a:t>
              </a:r>
              <a:r>
                <a:rPr lang="zh-CN" altLang="en-US" sz="1400" dirty="0"/>
                <a:t>），中位数填充影响有限，暂保持现状。</a:t>
              </a:r>
              <a:endParaRPr lang="en-US" altLang="zh-CN" sz="1400" dirty="0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81B1498-70D0-4975-A124-6E1CFA8BCDAE}"/>
                </a:ext>
              </a:extLst>
            </p:cNvPr>
            <p:cNvGrpSpPr/>
            <p:nvPr/>
          </p:nvGrpSpPr>
          <p:grpSpPr>
            <a:xfrm>
              <a:off x="6437596" y="4181170"/>
              <a:ext cx="1633782" cy="1285189"/>
              <a:chOff x="1994321" y="1732749"/>
              <a:chExt cx="1633782" cy="1285189"/>
            </a:xfrm>
          </p:grpSpPr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A183EE18-0881-4561-94CA-65C757CB48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442" y="2205516"/>
                <a:ext cx="60807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4E7EF83D-FE3F-40FF-B749-7F2C82E8ECD9}"/>
                  </a:ext>
                </a:extLst>
              </p:cNvPr>
              <p:cNvSpPr txBox="1"/>
              <p:nvPr/>
            </p:nvSpPr>
            <p:spPr>
              <a:xfrm>
                <a:off x="2301750" y="2248497"/>
                <a:ext cx="81304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4400" b="1" dirty="0"/>
                  <a:t>04</a:t>
                </a:r>
                <a:endParaRPr lang="zh-CN" altLang="en-US" sz="5400" b="1" dirty="0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2F75C52D-2750-4574-88C7-B4AEAAD93C26}"/>
                  </a:ext>
                </a:extLst>
              </p:cNvPr>
              <p:cNvSpPr txBox="1"/>
              <p:nvPr/>
            </p:nvSpPr>
            <p:spPr>
              <a:xfrm>
                <a:off x="1994321" y="1732749"/>
                <a:ext cx="1633782" cy="2710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缺失值处理策略较简单</a:t>
                </a:r>
                <a:endPara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3" name="TextBox 25">
            <a:extLst>
              <a:ext uri="{FF2B5EF4-FFF2-40B4-BE49-F238E27FC236}">
                <a16:creationId xmlns:a16="http://schemas.microsoft.com/office/drawing/2014/main" id="{960B6AED-C2FE-45AB-26C5-4A010CAAF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问题改进方式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294227-743E-BC09-8F55-CD447FB350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44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5197DC98-9694-4BDB-8C98-0F900BF542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E9BF091-2CA2-490D-98C4-0A775D80380B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0D3F9C0-99C0-47E9-87E1-76858C87F23B}"/>
              </a:ext>
            </a:extLst>
          </p:cNvPr>
          <p:cNvGrpSpPr/>
          <p:nvPr/>
        </p:nvGrpSpPr>
        <p:grpSpPr>
          <a:xfrm>
            <a:off x="2016905" y="2207506"/>
            <a:ext cx="2936096" cy="2507184"/>
            <a:chOff x="2321705" y="2270688"/>
            <a:chExt cx="2936096" cy="250718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78EF7D-82B9-432A-A6E5-B9E741545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1705" y="2270688"/>
              <a:ext cx="2936096" cy="2507184"/>
            </a:xfrm>
            <a:prstGeom prst="rect">
              <a:avLst/>
            </a:prstGeom>
          </p:spPr>
        </p:pic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7504219-E9BE-49BF-BF55-EC8A99B3F750}"/>
                </a:ext>
              </a:extLst>
            </p:cNvPr>
            <p:cNvSpPr/>
            <p:nvPr/>
          </p:nvSpPr>
          <p:spPr>
            <a:xfrm>
              <a:off x="3089528" y="2741103"/>
              <a:ext cx="1302155" cy="13021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6000" sy="1060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1B946AF-49A7-46F8-98C1-ED23D753660C}"/>
                </a:ext>
              </a:extLst>
            </p:cNvPr>
            <p:cNvSpPr txBox="1"/>
            <p:nvPr/>
          </p:nvSpPr>
          <p:spPr>
            <a:xfrm>
              <a:off x="3237076" y="2935863"/>
              <a:ext cx="10070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accent3"/>
                  </a:solidFill>
                  <a:latin typeface="+mj-ea"/>
                  <a:ea typeface="+mj-ea"/>
                </a:rPr>
                <a:t>04</a:t>
              </a:r>
              <a:endParaRPr lang="zh-CN" altLang="en-US" sz="4800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73E221AB-0F24-4F66-92D5-AD336BD2C768}"/>
              </a:ext>
            </a:extLst>
          </p:cNvPr>
          <p:cNvSpPr txBox="1"/>
          <p:nvPr/>
        </p:nvSpPr>
        <p:spPr>
          <a:xfrm>
            <a:off x="5362998" y="2554477"/>
            <a:ext cx="4110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</a:rPr>
              <a:t>下段工作计划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E58BFF5-DE92-40DB-8D39-87D2AB928D39}"/>
              </a:ext>
            </a:extLst>
          </p:cNvPr>
          <p:cNvCxnSpPr/>
          <p:nvPr/>
        </p:nvCxnSpPr>
        <p:spPr>
          <a:xfrm>
            <a:off x="5362998" y="3262363"/>
            <a:ext cx="318799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830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16"/>
          <p:cNvSpPr/>
          <p:nvPr/>
        </p:nvSpPr>
        <p:spPr>
          <a:xfrm rot="16200000">
            <a:off x="5120218" y="3748618"/>
            <a:ext cx="247649" cy="256116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7" name="Group 1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651" y="3839634"/>
            <a:ext cx="1703916" cy="78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Group 2"/>
          <p:cNvPicPr>
            <a:picLocks noGrp="1"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1" y="3845985"/>
            <a:ext cx="1504951" cy="8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Group 3"/>
          <p:cNvPicPr>
            <a:picLocks noGrp="1"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2" y="3848101"/>
            <a:ext cx="1706033" cy="8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Oval 40"/>
          <p:cNvSpPr/>
          <p:nvPr/>
        </p:nvSpPr>
        <p:spPr>
          <a:xfrm rot="16200000">
            <a:off x="3158068" y="3731684"/>
            <a:ext cx="247649" cy="256117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Oval 41"/>
          <p:cNvSpPr/>
          <p:nvPr/>
        </p:nvSpPr>
        <p:spPr>
          <a:xfrm rot="16200000">
            <a:off x="6883402" y="3750734"/>
            <a:ext cx="245533" cy="258233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333" noProof="1"/>
          </a:p>
        </p:txBody>
      </p:sp>
      <p:sp>
        <p:nvSpPr>
          <p:cNvPr id="58" name="Isosceles Triangle 45"/>
          <p:cNvSpPr/>
          <p:nvPr/>
        </p:nvSpPr>
        <p:spPr>
          <a:xfrm>
            <a:off x="3227917" y="3471334"/>
            <a:ext cx="127000" cy="218017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sosceles Triangle 48"/>
          <p:cNvSpPr/>
          <p:nvPr/>
        </p:nvSpPr>
        <p:spPr>
          <a:xfrm rot="10800000" flipH="1">
            <a:off x="5190067" y="4053418"/>
            <a:ext cx="124884" cy="22013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sosceles Triangle 69"/>
          <p:cNvSpPr/>
          <p:nvPr/>
        </p:nvSpPr>
        <p:spPr>
          <a:xfrm>
            <a:off x="6940551" y="3496734"/>
            <a:ext cx="124883" cy="218017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333" noProof="1"/>
          </a:p>
        </p:txBody>
      </p:sp>
      <p:sp>
        <p:nvSpPr>
          <p:cNvPr id="61" name="Rectangle 70"/>
          <p:cNvSpPr/>
          <p:nvPr/>
        </p:nvSpPr>
        <p:spPr>
          <a:xfrm>
            <a:off x="1775885" y="1849967"/>
            <a:ext cx="3060700" cy="1418167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>
            <a:outerShdw blurRad="177800" dist="63500" dir="2700000" algn="tl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1775885" y="2279651"/>
            <a:ext cx="3060700" cy="769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尝试集成学习（</a:t>
            </a:r>
            <a:r>
              <a:rPr lang="en-US" altLang="zh-CN" sz="14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RF+XGBoost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加权平均）作为最终模型，目标</a:t>
            </a:r>
            <a:r>
              <a:rPr lang="en-US" altLang="zh-CN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R²≥0.85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id-ID" altLang="en-US" sz="1467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1775885" y="1869018"/>
            <a:ext cx="3060700" cy="338554"/>
          </a:xfrm>
          <a:prstGeom prst="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模型优化</a:t>
            </a:r>
            <a:endParaRPr lang="id-ID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Oval 40"/>
          <p:cNvSpPr/>
          <p:nvPr/>
        </p:nvSpPr>
        <p:spPr>
          <a:xfrm rot="16200000">
            <a:off x="8874126" y="3756026"/>
            <a:ext cx="245533" cy="256117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333" noProof="1"/>
          </a:p>
        </p:txBody>
      </p:sp>
      <p:sp>
        <p:nvSpPr>
          <p:cNvPr id="65" name="Isosceles Triangle 45"/>
          <p:cNvSpPr/>
          <p:nvPr/>
        </p:nvSpPr>
        <p:spPr>
          <a:xfrm rot="10800000">
            <a:off x="8942917" y="4074584"/>
            <a:ext cx="124883" cy="22013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333" noProof="1"/>
          </a:p>
        </p:txBody>
      </p:sp>
      <p:pic>
        <p:nvPicPr>
          <p:cNvPr id="66" name="Group 1"/>
          <p:cNvPicPr>
            <a:picLocks noGrp="1"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4951" y="3845985"/>
            <a:ext cx="2347383" cy="8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Group 1"/>
          <p:cNvPicPr>
            <a:picLocks noGrp="1"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2" y="3839634"/>
            <a:ext cx="2569633" cy="8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Oval 71"/>
          <p:cNvSpPr/>
          <p:nvPr/>
        </p:nvSpPr>
        <p:spPr>
          <a:xfrm>
            <a:off x="4461934" y="1509185"/>
            <a:ext cx="639233" cy="639233"/>
          </a:xfrm>
          <a:prstGeom prst="ellipse">
            <a:avLst/>
          </a:prstGeom>
          <a:solidFill>
            <a:schemeClr val="bg1">
              <a:lumMod val="95000"/>
            </a:schemeClr>
          </a:solidFill>
          <a:ln w="730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r>
              <a:rPr lang="en-US" sz="3067" b="1" noProof="1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id-ID" sz="3067" b="1" noProof="1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 rot="-5400000">
            <a:off x="6937095" y="2505834"/>
            <a:ext cx="627095" cy="3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id-ID" altLang="en-US" sz="1467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2014</a:t>
            </a:r>
          </a:p>
        </p:txBody>
      </p:sp>
      <p:sp>
        <p:nvSpPr>
          <p:cNvPr id="74" name="Rectangle 70"/>
          <p:cNvSpPr/>
          <p:nvPr/>
        </p:nvSpPr>
        <p:spPr>
          <a:xfrm>
            <a:off x="5475818" y="1849967"/>
            <a:ext cx="3060700" cy="1418167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>
            <a:outerShdw blurRad="177800" dist="63500" dir="2700000" algn="tl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5475818" y="2279651"/>
            <a:ext cx="3060700" cy="54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整理程序、数据、图表等内容，规划完成最终毕业论文。</a:t>
            </a:r>
            <a:endParaRPr lang="id-ID" altLang="en-US" sz="1467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5475818" y="1866901"/>
            <a:ext cx="3060700" cy="338554"/>
          </a:xfrm>
          <a:prstGeom prst="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论文撰写</a:t>
            </a:r>
            <a:endParaRPr lang="id-ID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Oval 71"/>
          <p:cNvSpPr/>
          <p:nvPr/>
        </p:nvSpPr>
        <p:spPr>
          <a:xfrm>
            <a:off x="8161868" y="1509185"/>
            <a:ext cx="639233" cy="639233"/>
          </a:xfrm>
          <a:prstGeom prst="ellipse">
            <a:avLst/>
          </a:prstGeom>
          <a:solidFill>
            <a:schemeClr val="bg1">
              <a:lumMod val="95000"/>
            </a:schemeClr>
          </a:solidFill>
          <a:ln w="730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r>
              <a:rPr lang="en-US" sz="3067" b="1" noProof="1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id-ID" sz="3067" b="1" noProof="1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Rectangle 70"/>
          <p:cNvSpPr/>
          <p:nvPr/>
        </p:nvSpPr>
        <p:spPr>
          <a:xfrm>
            <a:off x="3729567" y="4603751"/>
            <a:ext cx="3060700" cy="1418167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>
            <a:outerShdw blurRad="177800" dist="63500" dir="2700000" algn="tl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3729567" y="5033434"/>
            <a:ext cx="3060700" cy="99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制备典型</a:t>
            </a:r>
            <a:r>
              <a:rPr lang="en-US" altLang="zh-CN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LSC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器件（如</a:t>
            </a:r>
            <a:r>
              <a:rPr lang="en-US" altLang="zh-CN" sz="14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CsPbBr</a:t>
            </a:r>
            <a:r>
              <a:rPr lang="en-US" altLang="zh-CN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₃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AIGS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量子点），测试实际光学效率，收集至少</a:t>
            </a:r>
            <a:r>
              <a:rPr lang="en-US" altLang="zh-CN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个新样本作为外部验证集。</a:t>
            </a:r>
            <a:endParaRPr lang="id-ID" altLang="en-US" sz="1467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3729567" y="4620685"/>
            <a:ext cx="3060700" cy="338554"/>
          </a:xfrm>
          <a:prstGeom prst="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实验验证</a:t>
            </a:r>
            <a:endParaRPr lang="id-ID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Oval 71"/>
          <p:cNvSpPr/>
          <p:nvPr/>
        </p:nvSpPr>
        <p:spPr>
          <a:xfrm>
            <a:off x="6415618" y="4262967"/>
            <a:ext cx="639233" cy="637117"/>
          </a:xfrm>
          <a:prstGeom prst="ellipse">
            <a:avLst/>
          </a:prstGeom>
          <a:solidFill>
            <a:schemeClr val="bg1">
              <a:lumMod val="95000"/>
            </a:schemeClr>
          </a:solidFill>
          <a:ln w="730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r>
              <a:rPr lang="en-US" sz="3067" b="1" noProof="1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id-ID" sz="3067" b="1" noProof="1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Box 81"/>
          <p:cNvSpPr txBox="1">
            <a:spLocks noChangeArrowheads="1"/>
          </p:cNvSpPr>
          <p:nvPr/>
        </p:nvSpPr>
        <p:spPr bwMode="auto">
          <a:xfrm rot="-5400000">
            <a:off x="8945811" y="5258561"/>
            <a:ext cx="627095" cy="3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id-ID" altLang="en-US" sz="1467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2014</a:t>
            </a:r>
          </a:p>
        </p:txBody>
      </p:sp>
      <p:sp>
        <p:nvSpPr>
          <p:cNvPr id="83" name="Rectangle 70"/>
          <p:cNvSpPr/>
          <p:nvPr/>
        </p:nvSpPr>
        <p:spPr>
          <a:xfrm>
            <a:off x="7484534" y="4601634"/>
            <a:ext cx="3060700" cy="1418167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>
            <a:outerShdw blurRad="177800" dist="63500" dir="2700000" algn="tl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7484534" y="5031318"/>
            <a:ext cx="3060700" cy="3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制作最终答辩</a:t>
            </a:r>
            <a:r>
              <a:rPr lang="en-US" altLang="zh-CN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，模拟汇报。</a:t>
            </a:r>
            <a:endParaRPr lang="id-ID" altLang="en-US" sz="1467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7484534" y="4620685"/>
            <a:ext cx="3060700" cy="338554"/>
          </a:xfrm>
          <a:prstGeom prst="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最终汇报</a:t>
            </a:r>
            <a:endParaRPr lang="id-ID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Oval 71"/>
          <p:cNvSpPr/>
          <p:nvPr/>
        </p:nvSpPr>
        <p:spPr>
          <a:xfrm>
            <a:off x="10170585" y="4260852"/>
            <a:ext cx="639233" cy="639233"/>
          </a:xfrm>
          <a:prstGeom prst="ellipse">
            <a:avLst/>
          </a:prstGeom>
          <a:solidFill>
            <a:schemeClr val="bg1">
              <a:lumMod val="95000"/>
            </a:schemeClr>
          </a:solidFill>
          <a:ln w="730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r>
              <a:rPr lang="en-US" sz="3067" b="1" noProof="1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id-ID" sz="3067" b="1" noProof="1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A97A63BE-F64C-47EB-9F42-B872D2034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下段工作计划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24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9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48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1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700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63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660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72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78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8100"/>
                            </p:stCondLst>
                            <p:childTnLst>
                              <p:par>
                                <p:cTn id="1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84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87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30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060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/>
      <p:bldP spid="63" grpId="0" animBg="1"/>
      <p:bldP spid="64" grpId="0" animBg="1"/>
      <p:bldP spid="65" grpId="0" animBg="1"/>
      <p:bldP spid="72" grpId="0" animBg="1"/>
      <p:bldP spid="73" grpId="0"/>
      <p:bldP spid="74" grpId="0" animBg="1"/>
      <p:bldP spid="75" grpId="0"/>
      <p:bldP spid="76" grpId="0" animBg="1"/>
      <p:bldP spid="77" grpId="0" animBg="1"/>
      <p:bldP spid="78" grpId="0" animBg="1"/>
      <p:bldP spid="79" grpId="0"/>
      <p:bldP spid="80" grpId="0" animBg="1"/>
      <p:bldP spid="81" grpId="0" animBg="1"/>
      <p:bldP spid="82" grpId="0"/>
      <p:bldP spid="83" grpId="0" animBg="1"/>
      <p:bldP spid="84" grpId="0"/>
      <p:bldP spid="85" grpId="0" animBg="1"/>
      <p:bldP spid="8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7C090C4-1F91-4B75-B139-82746F58EB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1BD4053-AF73-452A-AFA8-C2369503E25D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FFB7232A-3591-4DD2-A2F8-7243A5DD0892}"/>
              </a:ext>
            </a:extLst>
          </p:cNvPr>
          <p:cNvSpPr/>
          <p:nvPr/>
        </p:nvSpPr>
        <p:spPr>
          <a:xfrm rot="10800000">
            <a:off x="0" y="0"/>
            <a:ext cx="5522830" cy="2488924"/>
          </a:xfrm>
          <a:custGeom>
            <a:avLst/>
            <a:gdLst>
              <a:gd name="connsiteX0" fmla="*/ 4629710 w 4629710"/>
              <a:gd name="connsiteY0" fmla="*/ 2062620 h 2086429"/>
              <a:gd name="connsiteX1" fmla="*/ 4629710 w 4629710"/>
              <a:gd name="connsiteY1" fmla="*/ 2086429 h 2086429"/>
              <a:gd name="connsiteX2" fmla="*/ 4606079 w 4629710"/>
              <a:gd name="connsiteY2" fmla="*/ 2086429 h 2086429"/>
              <a:gd name="connsiteX3" fmla="*/ 1769949 w 4629710"/>
              <a:gd name="connsiteY3" fmla="*/ 1893739 h 2086429"/>
              <a:gd name="connsiteX4" fmla="*/ 1847524 w 4629710"/>
              <a:gd name="connsiteY4" fmla="*/ 1926988 h 2086429"/>
              <a:gd name="connsiteX5" fmla="*/ 1847524 w 4629710"/>
              <a:gd name="connsiteY5" fmla="*/ 2082151 h 2086429"/>
              <a:gd name="connsiteX6" fmla="*/ 1845924 w 4629710"/>
              <a:gd name="connsiteY6" fmla="*/ 2083764 h 2086429"/>
              <a:gd name="connsiteX7" fmla="*/ 1843281 w 4629710"/>
              <a:gd name="connsiteY7" fmla="*/ 2086429 h 2086429"/>
              <a:gd name="connsiteX8" fmla="*/ 1534067 w 4629710"/>
              <a:gd name="connsiteY8" fmla="*/ 2086429 h 2086429"/>
              <a:gd name="connsiteX9" fmla="*/ 1692374 w 4629710"/>
              <a:gd name="connsiteY9" fmla="*/ 1926988 h 2086429"/>
              <a:gd name="connsiteX10" fmla="*/ 1769949 w 4629710"/>
              <a:gd name="connsiteY10" fmla="*/ 1893739 h 2086429"/>
              <a:gd name="connsiteX11" fmla="*/ 2462350 w 4629710"/>
              <a:gd name="connsiteY11" fmla="*/ 1712302 h 2086429"/>
              <a:gd name="connsiteX12" fmla="*/ 2539931 w 4629710"/>
              <a:gd name="connsiteY12" fmla="*/ 1744168 h 2086429"/>
              <a:gd name="connsiteX13" fmla="*/ 2539931 w 4629710"/>
              <a:gd name="connsiteY13" fmla="*/ 1901188 h 2086429"/>
              <a:gd name="connsiteX14" fmla="*/ 2369776 w 4629710"/>
              <a:gd name="connsiteY14" fmla="*/ 2072642 h 2086429"/>
              <a:gd name="connsiteX15" fmla="*/ 2356093 w 4629710"/>
              <a:gd name="connsiteY15" fmla="*/ 2086429 h 2086429"/>
              <a:gd name="connsiteX16" fmla="*/ 2045101 w 4629710"/>
              <a:gd name="connsiteY16" fmla="*/ 2086429 h 2086429"/>
              <a:gd name="connsiteX17" fmla="*/ 2115833 w 4629710"/>
              <a:gd name="connsiteY17" fmla="*/ 2015158 h 2086429"/>
              <a:gd name="connsiteX18" fmla="*/ 2384770 w 4629710"/>
              <a:gd name="connsiteY18" fmla="*/ 1744168 h 2086429"/>
              <a:gd name="connsiteX19" fmla="*/ 2462350 w 4629710"/>
              <a:gd name="connsiteY19" fmla="*/ 1712302 h 2086429"/>
              <a:gd name="connsiteX20" fmla="*/ 4629710 w 4629710"/>
              <a:gd name="connsiteY20" fmla="*/ 1546814 h 2086429"/>
              <a:gd name="connsiteX21" fmla="*/ 4629710 w 4629710"/>
              <a:gd name="connsiteY21" fmla="*/ 1858916 h 2086429"/>
              <a:gd name="connsiteX22" fmla="*/ 4619307 w 4629710"/>
              <a:gd name="connsiteY22" fmla="*/ 1869385 h 2086429"/>
              <a:gd name="connsiteX23" fmla="*/ 4413580 w 4629710"/>
              <a:gd name="connsiteY23" fmla="*/ 2076441 h 2086429"/>
              <a:gd name="connsiteX24" fmla="*/ 4403656 w 4629710"/>
              <a:gd name="connsiteY24" fmla="*/ 2086429 h 2086429"/>
              <a:gd name="connsiteX25" fmla="*/ 4093847 w 4629710"/>
              <a:gd name="connsiteY25" fmla="*/ 2086429 h 2086429"/>
              <a:gd name="connsiteX26" fmla="*/ 4162148 w 4629710"/>
              <a:gd name="connsiteY26" fmla="*/ 2017650 h 2086429"/>
              <a:gd name="connsiteX27" fmla="*/ 4608252 w 4629710"/>
              <a:gd name="connsiteY27" fmla="*/ 1568422 h 2086429"/>
              <a:gd name="connsiteX28" fmla="*/ 2238267 w 4629710"/>
              <a:gd name="connsiteY28" fmla="*/ 1422274 h 2086429"/>
              <a:gd name="connsiteX29" fmla="*/ 2315838 w 4629710"/>
              <a:gd name="connsiteY29" fmla="*/ 1455593 h 2086429"/>
              <a:gd name="connsiteX30" fmla="*/ 2315838 w 4629710"/>
              <a:gd name="connsiteY30" fmla="*/ 1611082 h 2086429"/>
              <a:gd name="connsiteX31" fmla="*/ 2083124 w 4629710"/>
              <a:gd name="connsiteY31" fmla="*/ 1848018 h 2086429"/>
              <a:gd name="connsiteX32" fmla="*/ 1927981 w 4629710"/>
              <a:gd name="connsiteY32" fmla="*/ 1848018 h 2086429"/>
              <a:gd name="connsiteX33" fmla="*/ 1927981 w 4629710"/>
              <a:gd name="connsiteY33" fmla="*/ 1690678 h 2086429"/>
              <a:gd name="connsiteX34" fmla="*/ 2160695 w 4629710"/>
              <a:gd name="connsiteY34" fmla="*/ 1455593 h 2086429"/>
              <a:gd name="connsiteX35" fmla="*/ 2238267 w 4629710"/>
              <a:gd name="connsiteY35" fmla="*/ 1422274 h 2086429"/>
              <a:gd name="connsiteX36" fmla="*/ 828764 w 4629710"/>
              <a:gd name="connsiteY36" fmla="*/ 1296841 h 2086429"/>
              <a:gd name="connsiteX37" fmla="*/ 906376 w 4629710"/>
              <a:gd name="connsiteY37" fmla="*/ 1330096 h 2086429"/>
              <a:gd name="connsiteX38" fmla="*/ 906376 w 4629710"/>
              <a:gd name="connsiteY38" fmla="*/ 1485289 h 2086429"/>
              <a:gd name="connsiteX39" fmla="*/ 442282 w 4629710"/>
              <a:gd name="connsiteY39" fmla="*/ 1952837 h 2086429"/>
              <a:gd name="connsiteX40" fmla="*/ 309677 w 4629710"/>
              <a:gd name="connsiteY40" fmla="*/ 2086429 h 2086429"/>
              <a:gd name="connsiteX41" fmla="*/ 0 w 4629710"/>
              <a:gd name="connsiteY41" fmla="*/ 2086429 h 2086429"/>
              <a:gd name="connsiteX42" fmla="*/ 86087 w 4629710"/>
              <a:gd name="connsiteY42" fmla="*/ 1999748 h 2086429"/>
              <a:gd name="connsiteX43" fmla="*/ 751152 w 4629710"/>
              <a:gd name="connsiteY43" fmla="*/ 1330096 h 2086429"/>
              <a:gd name="connsiteX44" fmla="*/ 828764 w 4629710"/>
              <a:gd name="connsiteY44" fmla="*/ 1296841 h 2086429"/>
              <a:gd name="connsiteX45" fmla="*/ 2890951 w 4629710"/>
              <a:gd name="connsiteY45" fmla="*/ 1280952 h 2086429"/>
              <a:gd name="connsiteX46" fmla="*/ 2968547 w 4629710"/>
              <a:gd name="connsiteY46" fmla="*/ 1314167 h 2086429"/>
              <a:gd name="connsiteX47" fmla="*/ 2968547 w 4629710"/>
              <a:gd name="connsiteY47" fmla="*/ 1471018 h 2086429"/>
              <a:gd name="connsiteX48" fmla="*/ 2781947 w 4629710"/>
              <a:gd name="connsiteY48" fmla="*/ 1657393 h 2086429"/>
              <a:gd name="connsiteX49" fmla="*/ 2626756 w 4629710"/>
              <a:gd name="connsiteY49" fmla="*/ 1657393 h 2086429"/>
              <a:gd name="connsiteX50" fmla="*/ 2626756 w 4629710"/>
              <a:gd name="connsiteY50" fmla="*/ 1500543 h 2086429"/>
              <a:gd name="connsiteX51" fmla="*/ 2813355 w 4629710"/>
              <a:gd name="connsiteY51" fmla="*/ 1314167 h 2086429"/>
              <a:gd name="connsiteX52" fmla="*/ 2890951 w 4629710"/>
              <a:gd name="connsiteY52" fmla="*/ 1280952 h 2086429"/>
              <a:gd name="connsiteX53" fmla="*/ 2489546 w 4629710"/>
              <a:gd name="connsiteY53" fmla="*/ 1169336 h 2086429"/>
              <a:gd name="connsiteX54" fmla="*/ 2568346 w 4629710"/>
              <a:gd name="connsiteY54" fmla="*/ 1201077 h 2086429"/>
              <a:gd name="connsiteX55" fmla="*/ 2568346 w 4629710"/>
              <a:gd name="connsiteY55" fmla="*/ 1357482 h 2086429"/>
              <a:gd name="connsiteX56" fmla="*/ 2410746 w 4629710"/>
              <a:gd name="connsiteY56" fmla="*/ 1357482 h 2086429"/>
              <a:gd name="connsiteX57" fmla="*/ 2410746 w 4629710"/>
              <a:gd name="connsiteY57" fmla="*/ 1201077 h 2086429"/>
              <a:gd name="connsiteX58" fmla="*/ 2489546 w 4629710"/>
              <a:gd name="connsiteY58" fmla="*/ 1169336 h 2086429"/>
              <a:gd name="connsiteX59" fmla="*/ 4629710 w 4629710"/>
              <a:gd name="connsiteY59" fmla="*/ 1030758 h 2086429"/>
              <a:gd name="connsiteX60" fmla="*/ 4629710 w 4629710"/>
              <a:gd name="connsiteY60" fmla="*/ 1344123 h 2086429"/>
              <a:gd name="connsiteX61" fmla="*/ 4521168 w 4629710"/>
              <a:gd name="connsiteY61" fmla="*/ 1453492 h 2086429"/>
              <a:gd name="connsiteX62" fmla="*/ 4045104 w 4629710"/>
              <a:gd name="connsiteY62" fmla="*/ 1933189 h 2086429"/>
              <a:gd name="connsiteX63" fmla="*/ 3893025 w 4629710"/>
              <a:gd name="connsiteY63" fmla="*/ 2086429 h 2086429"/>
              <a:gd name="connsiteX64" fmla="*/ 3582033 w 4629710"/>
              <a:gd name="connsiteY64" fmla="*/ 2086429 h 2086429"/>
              <a:gd name="connsiteX65" fmla="*/ 3589225 w 4629710"/>
              <a:gd name="connsiteY65" fmla="*/ 2079182 h 2086429"/>
              <a:gd name="connsiteX66" fmla="*/ 4626351 w 4629710"/>
              <a:gd name="connsiteY66" fmla="*/ 1034143 h 2086429"/>
              <a:gd name="connsiteX67" fmla="*/ 1614625 w 4629710"/>
              <a:gd name="connsiteY67" fmla="*/ 1018568 h 2086429"/>
              <a:gd name="connsiteX68" fmla="*/ 1692206 w 4629710"/>
              <a:gd name="connsiteY68" fmla="*/ 1050446 h 2086429"/>
              <a:gd name="connsiteX69" fmla="*/ 1692206 w 4629710"/>
              <a:gd name="connsiteY69" fmla="*/ 1207526 h 2086429"/>
              <a:gd name="connsiteX70" fmla="*/ 904454 w 4629710"/>
              <a:gd name="connsiteY70" fmla="*/ 2001593 h 2086429"/>
              <a:gd name="connsiteX71" fmla="*/ 820292 w 4629710"/>
              <a:gd name="connsiteY71" fmla="*/ 2086429 h 2086429"/>
              <a:gd name="connsiteX72" fmla="*/ 509300 w 4629710"/>
              <a:gd name="connsiteY72" fmla="*/ 2086429 h 2086429"/>
              <a:gd name="connsiteX73" fmla="*/ 535713 w 4629710"/>
              <a:gd name="connsiteY73" fmla="*/ 2059804 h 2086429"/>
              <a:gd name="connsiteX74" fmla="*/ 1537045 w 4629710"/>
              <a:gd name="connsiteY74" fmla="*/ 1050446 h 2086429"/>
              <a:gd name="connsiteX75" fmla="*/ 1614625 w 4629710"/>
              <a:gd name="connsiteY75" fmla="*/ 1018568 h 2086429"/>
              <a:gd name="connsiteX76" fmla="*/ 2303600 w 4629710"/>
              <a:gd name="connsiteY76" fmla="*/ 841225 h 2086429"/>
              <a:gd name="connsiteX77" fmla="*/ 2381181 w 4629710"/>
              <a:gd name="connsiteY77" fmla="*/ 874475 h 2086429"/>
              <a:gd name="connsiteX78" fmla="*/ 2381181 w 4629710"/>
              <a:gd name="connsiteY78" fmla="*/ 1031485 h 2086429"/>
              <a:gd name="connsiteX79" fmla="*/ 1379622 w 4629710"/>
              <a:gd name="connsiteY79" fmla="*/ 2040153 h 2086429"/>
              <a:gd name="connsiteX80" fmla="*/ 1333672 w 4629710"/>
              <a:gd name="connsiteY80" fmla="*/ 2086429 h 2086429"/>
              <a:gd name="connsiteX81" fmla="*/ 1022608 w 4629710"/>
              <a:gd name="connsiteY81" fmla="*/ 2086429 h 2086429"/>
              <a:gd name="connsiteX82" fmla="*/ 1076516 w 4629710"/>
              <a:gd name="connsiteY82" fmla="*/ 2032139 h 2086429"/>
              <a:gd name="connsiteX83" fmla="*/ 2226020 w 4629710"/>
              <a:gd name="connsiteY83" fmla="*/ 874475 h 2086429"/>
              <a:gd name="connsiteX84" fmla="*/ 2303600 w 4629710"/>
              <a:gd name="connsiteY84" fmla="*/ 841225 h 2086429"/>
              <a:gd name="connsiteX85" fmla="*/ 1838798 w 4629710"/>
              <a:gd name="connsiteY85" fmla="*/ 795146 h 2086429"/>
              <a:gd name="connsiteX86" fmla="*/ 1916161 w 4629710"/>
              <a:gd name="connsiteY86" fmla="*/ 828267 h 2086429"/>
              <a:gd name="connsiteX87" fmla="*/ 1916161 w 4629710"/>
              <a:gd name="connsiteY87" fmla="*/ 984672 h 2086429"/>
              <a:gd name="connsiteX88" fmla="*/ 1761434 w 4629710"/>
              <a:gd name="connsiteY88" fmla="*/ 984672 h 2086429"/>
              <a:gd name="connsiteX89" fmla="*/ 1761434 w 4629710"/>
              <a:gd name="connsiteY89" fmla="*/ 828267 h 2086429"/>
              <a:gd name="connsiteX90" fmla="*/ 1838798 w 4629710"/>
              <a:gd name="connsiteY90" fmla="*/ 795146 h 2086429"/>
              <a:gd name="connsiteX91" fmla="*/ 4629710 w 4629710"/>
              <a:gd name="connsiteY91" fmla="*/ 514384 h 2086429"/>
              <a:gd name="connsiteX92" fmla="*/ 4629710 w 4629710"/>
              <a:gd name="connsiteY92" fmla="*/ 828997 h 2086429"/>
              <a:gd name="connsiteX93" fmla="*/ 4595945 w 4629710"/>
              <a:gd name="connsiteY93" fmla="*/ 863022 h 2086429"/>
              <a:gd name="connsiteX94" fmla="*/ 3437297 w 4629710"/>
              <a:gd name="connsiteY94" fmla="*/ 2030584 h 2086429"/>
              <a:gd name="connsiteX95" fmla="*/ 3381878 w 4629710"/>
              <a:gd name="connsiteY95" fmla="*/ 2086429 h 2086429"/>
              <a:gd name="connsiteX96" fmla="*/ 3070403 w 4629710"/>
              <a:gd name="connsiteY96" fmla="*/ 2086429 h 2086429"/>
              <a:gd name="connsiteX97" fmla="*/ 3214665 w 4629710"/>
              <a:gd name="connsiteY97" fmla="*/ 1940988 h 2086429"/>
              <a:gd name="connsiteX98" fmla="*/ 4469965 w 4629710"/>
              <a:gd name="connsiteY98" fmla="*/ 675434 h 2086429"/>
              <a:gd name="connsiteX99" fmla="*/ 4629710 w 4629710"/>
              <a:gd name="connsiteY99" fmla="*/ 0 h 2086429"/>
              <a:gd name="connsiteX100" fmla="*/ 4629710 w 4629710"/>
              <a:gd name="connsiteY100" fmla="*/ 314353 h 2086429"/>
              <a:gd name="connsiteX101" fmla="*/ 4558252 w 4629710"/>
              <a:gd name="connsiteY101" fmla="*/ 386295 h 2086429"/>
              <a:gd name="connsiteX102" fmla="*/ 3117080 w 4629710"/>
              <a:gd name="connsiteY102" fmla="*/ 1837231 h 2086429"/>
              <a:gd name="connsiteX103" fmla="*/ 2869559 w 4629710"/>
              <a:gd name="connsiteY103" fmla="*/ 2086429 h 2086429"/>
              <a:gd name="connsiteX104" fmla="*/ 2558298 w 4629710"/>
              <a:gd name="connsiteY104" fmla="*/ 2086429 h 2086429"/>
              <a:gd name="connsiteX105" fmla="*/ 2623869 w 4629710"/>
              <a:gd name="connsiteY105" fmla="*/ 2020383 h 2086429"/>
              <a:gd name="connsiteX106" fmla="*/ 4514978 w 4629710"/>
              <a:gd name="connsiteY106" fmla="*/ 115564 h 208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4629710" h="2086429">
                <a:moveTo>
                  <a:pt x="4629710" y="2062620"/>
                </a:moveTo>
                <a:lnTo>
                  <a:pt x="4629710" y="2086429"/>
                </a:lnTo>
                <a:lnTo>
                  <a:pt x="4606079" y="2086429"/>
                </a:lnTo>
                <a:close/>
                <a:moveTo>
                  <a:pt x="1769949" y="1893739"/>
                </a:moveTo>
                <a:cubicBezTo>
                  <a:pt x="1798116" y="1893739"/>
                  <a:pt x="1826283" y="1904822"/>
                  <a:pt x="1847524" y="1926988"/>
                </a:cubicBezTo>
                <a:cubicBezTo>
                  <a:pt x="1891853" y="1969473"/>
                  <a:pt x="1891853" y="2039666"/>
                  <a:pt x="1847524" y="2082151"/>
                </a:cubicBezTo>
                <a:cubicBezTo>
                  <a:pt x="1847524" y="2082151"/>
                  <a:pt x="1847524" y="2082151"/>
                  <a:pt x="1845924" y="2083764"/>
                </a:cubicBezTo>
                <a:lnTo>
                  <a:pt x="1843281" y="2086429"/>
                </a:lnTo>
                <a:lnTo>
                  <a:pt x="1534067" y="2086429"/>
                </a:lnTo>
                <a:lnTo>
                  <a:pt x="1692374" y="1926988"/>
                </a:lnTo>
                <a:cubicBezTo>
                  <a:pt x="1713615" y="1904822"/>
                  <a:pt x="1741782" y="1893739"/>
                  <a:pt x="1769949" y="1893739"/>
                </a:cubicBezTo>
                <a:close/>
                <a:moveTo>
                  <a:pt x="2462350" y="1712302"/>
                </a:moveTo>
                <a:cubicBezTo>
                  <a:pt x="2490519" y="1712302"/>
                  <a:pt x="2518688" y="1722924"/>
                  <a:pt x="2539931" y="1744168"/>
                </a:cubicBezTo>
                <a:cubicBezTo>
                  <a:pt x="2582415" y="1788503"/>
                  <a:pt x="2582415" y="1858701"/>
                  <a:pt x="2539931" y="1901188"/>
                </a:cubicBezTo>
                <a:cubicBezTo>
                  <a:pt x="2539931" y="1901188"/>
                  <a:pt x="2539931" y="1901188"/>
                  <a:pt x="2369776" y="2072642"/>
                </a:cubicBezTo>
                <a:lnTo>
                  <a:pt x="2356093" y="2086429"/>
                </a:lnTo>
                <a:lnTo>
                  <a:pt x="2045101" y="2086429"/>
                </a:lnTo>
                <a:lnTo>
                  <a:pt x="2115833" y="2015158"/>
                </a:lnTo>
                <a:cubicBezTo>
                  <a:pt x="2203361" y="1926962"/>
                  <a:pt x="2292990" y="1836649"/>
                  <a:pt x="2384770" y="1744168"/>
                </a:cubicBezTo>
                <a:cubicBezTo>
                  <a:pt x="2406013" y="1722924"/>
                  <a:pt x="2434181" y="1712302"/>
                  <a:pt x="2462350" y="1712302"/>
                </a:cubicBezTo>
                <a:close/>
                <a:moveTo>
                  <a:pt x="4629710" y="1546814"/>
                </a:moveTo>
                <a:lnTo>
                  <a:pt x="4629710" y="1858916"/>
                </a:lnTo>
                <a:lnTo>
                  <a:pt x="4619307" y="1869385"/>
                </a:lnTo>
                <a:cubicBezTo>
                  <a:pt x="4552784" y="1936338"/>
                  <a:pt x="4484229" y="2005336"/>
                  <a:pt x="4413580" y="2076441"/>
                </a:cubicBezTo>
                <a:lnTo>
                  <a:pt x="4403656" y="2086429"/>
                </a:lnTo>
                <a:lnTo>
                  <a:pt x="4093847" y="2086429"/>
                </a:lnTo>
                <a:lnTo>
                  <a:pt x="4162148" y="2017650"/>
                </a:lnTo>
                <a:cubicBezTo>
                  <a:pt x="4291492" y="1887401"/>
                  <a:pt x="4439313" y="1738544"/>
                  <a:pt x="4608252" y="1568422"/>
                </a:cubicBezTo>
                <a:close/>
                <a:moveTo>
                  <a:pt x="2238267" y="1422274"/>
                </a:moveTo>
                <a:cubicBezTo>
                  <a:pt x="2266433" y="1422274"/>
                  <a:pt x="2294599" y="1433380"/>
                  <a:pt x="2315838" y="1455593"/>
                </a:cubicBezTo>
                <a:cubicBezTo>
                  <a:pt x="2360165" y="1498167"/>
                  <a:pt x="2360165" y="1568507"/>
                  <a:pt x="2315838" y="1611082"/>
                </a:cubicBezTo>
                <a:cubicBezTo>
                  <a:pt x="2315838" y="1611082"/>
                  <a:pt x="2315838" y="1611082"/>
                  <a:pt x="2083124" y="1848018"/>
                </a:cubicBezTo>
                <a:cubicBezTo>
                  <a:pt x="2040645" y="1890592"/>
                  <a:pt x="1970461" y="1890592"/>
                  <a:pt x="1927981" y="1848018"/>
                </a:cubicBezTo>
                <a:cubicBezTo>
                  <a:pt x="1885502" y="1803592"/>
                  <a:pt x="1885502" y="1733252"/>
                  <a:pt x="1927981" y="1690678"/>
                </a:cubicBezTo>
                <a:cubicBezTo>
                  <a:pt x="1927981" y="1690678"/>
                  <a:pt x="1927981" y="1690678"/>
                  <a:pt x="2160695" y="1455593"/>
                </a:cubicBezTo>
                <a:cubicBezTo>
                  <a:pt x="2181935" y="1433380"/>
                  <a:pt x="2210101" y="1422274"/>
                  <a:pt x="2238267" y="1422274"/>
                </a:cubicBezTo>
                <a:close/>
                <a:moveTo>
                  <a:pt x="828764" y="1296841"/>
                </a:moveTo>
                <a:cubicBezTo>
                  <a:pt x="856944" y="1296841"/>
                  <a:pt x="885125" y="1307926"/>
                  <a:pt x="906376" y="1330096"/>
                </a:cubicBezTo>
                <a:cubicBezTo>
                  <a:pt x="948878" y="1372589"/>
                  <a:pt x="948878" y="1442796"/>
                  <a:pt x="906376" y="1485289"/>
                </a:cubicBezTo>
                <a:cubicBezTo>
                  <a:pt x="906376" y="1485289"/>
                  <a:pt x="906376" y="1485289"/>
                  <a:pt x="442282" y="1952837"/>
                </a:cubicBezTo>
                <a:lnTo>
                  <a:pt x="309677" y="2086429"/>
                </a:lnTo>
                <a:lnTo>
                  <a:pt x="0" y="2086429"/>
                </a:lnTo>
                <a:lnTo>
                  <a:pt x="86087" y="1999748"/>
                </a:lnTo>
                <a:cubicBezTo>
                  <a:pt x="291823" y="1792593"/>
                  <a:pt x="513120" y="1569771"/>
                  <a:pt x="751152" y="1330096"/>
                </a:cubicBezTo>
                <a:cubicBezTo>
                  <a:pt x="772404" y="1307926"/>
                  <a:pt x="800583" y="1296841"/>
                  <a:pt x="828764" y="1296841"/>
                </a:cubicBezTo>
                <a:close/>
                <a:moveTo>
                  <a:pt x="2890951" y="1280952"/>
                </a:moveTo>
                <a:cubicBezTo>
                  <a:pt x="2919126" y="1280952"/>
                  <a:pt x="2947301" y="1292024"/>
                  <a:pt x="2968547" y="1314167"/>
                </a:cubicBezTo>
                <a:cubicBezTo>
                  <a:pt x="3011040" y="1356609"/>
                  <a:pt x="3011040" y="1426731"/>
                  <a:pt x="2968547" y="1471018"/>
                </a:cubicBezTo>
                <a:cubicBezTo>
                  <a:pt x="2968547" y="1471018"/>
                  <a:pt x="2968547" y="1471018"/>
                  <a:pt x="2781947" y="1657393"/>
                </a:cubicBezTo>
                <a:cubicBezTo>
                  <a:pt x="2739454" y="1701680"/>
                  <a:pt x="2669249" y="1701680"/>
                  <a:pt x="2626756" y="1657393"/>
                </a:cubicBezTo>
                <a:cubicBezTo>
                  <a:pt x="2582415" y="1614951"/>
                  <a:pt x="2582415" y="1544830"/>
                  <a:pt x="2626756" y="1500543"/>
                </a:cubicBezTo>
                <a:cubicBezTo>
                  <a:pt x="2626756" y="1500543"/>
                  <a:pt x="2626756" y="1500543"/>
                  <a:pt x="2813355" y="1314167"/>
                </a:cubicBezTo>
                <a:cubicBezTo>
                  <a:pt x="2834601" y="1292024"/>
                  <a:pt x="2862776" y="1280952"/>
                  <a:pt x="2890951" y="1280952"/>
                </a:cubicBezTo>
                <a:close/>
                <a:moveTo>
                  <a:pt x="2489546" y="1169336"/>
                </a:moveTo>
                <a:cubicBezTo>
                  <a:pt x="2517821" y="1169336"/>
                  <a:pt x="2546097" y="1179916"/>
                  <a:pt x="2568346" y="1201077"/>
                </a:cubicBezTo>
                <a:cubicBezTo>
                  <a:pt x="2610990" y="1245238"/>
                  <a:pt x="2610990" y="1315160"/>
                  <a:pt x="2568346" y="1357482"/>
                </a:cubicBezTo>
                <a:cubicBezTo>
                  <a:pt x="2523847" y="1401643"/>
                  <a:pt x="2455245" y="1401643"/>
                  <a:pt x="2410746" y="1357482"/>
                </a:cubicBezTo>
                <a:cubicBezTo>
                  <a:pt x="2368102" y="1315160"/>
                  <a:pt x="2368102" y="1245238"/>
                  <a:pt x="2410746" y="1201077"/>
                </a:cubicBezTo>
                <a:cubicBezTo>
                  <a:pt x="2432996" y="1179916"/>
                  <a:pt x="2461271" y="1169336"/>
                  <a:pt x="2489546" y="1169336"/>
                </a:cubicBezTo>
                <a:close/>
                <a:moveTo>
                  <a:pt x="4629710" y="1030758"/>
                </a:moveTo>
                <a:lnTo>
                  <a:pt x="4629710" y="1344123"/>
                </a:lnTo>
                <a:lnTo>
                  <a:pt x="4521168" y="1453492"/>
                </a:lnTo>
                <a:cubicBezTo>
                  <a:pt x="4370413" y="1605399"/>
                  <a:pt x="4211859" y="1765162"/>
                  <a:pt x="4045104" y="1933189"/>
                </a:cubicBezTo>
                <a:lnTo>
                  <a:pt x="3893025" y="2086429"/>
                </a:lnTo>
                <a:lnTo>
                  <a:pt x="3582033" y="2086429"/>
                </a:lnTo>
                <a:lnTo>
                  <a:pt x="3589225" y="2079182"/>
                </a:lnTo>
                <a:cubicBezTo>
                  <a:pt x="3763876" y="1903199"/>
                  <a:pt x="4074367" y="1590339"/>
                  <a:pt x="4626351" y="1034143"/>
                </a:cubicBezTo>
                <a:close/>
                <a:moveTo>
                  <a:pt x="1614625" y="1018568"/>
                </a:moveTo>
                <a:cubicBezTo>
                  <a:pt x="1642794" y="1018568"/>
                  <a:pt x="1670963" y="1029194"/>
                  <a:pt x="1692206" y="1050446"/>
                </a:cubicBezTo>
                <a:cubicBezTo>
                  <a:pt x="1734690" y="1094798"/>
                  <a:pt x="1734690" y="1165022"/>
                  <a:pt x="1692206" y="1207526"/>
                </a:cubicBezTo>
                <a:cubicBezTo>
                  <a:pt x="1692206" y="1207526"/>
                  <a:pt x="1692206" y="1207526"/>
                  <a:pt x="904454" y="2001593"/>
                </a:cubicBezTo>
                <a:lnTo>
                  <a:pt x="820292" y="2086429"/>
                </a:lnTo>
                <a:lnTo>
                  <a:pt x="509300" y="2086429"/>
                </a:lnTo>
                <a:lnTo>
                  <a:pt x="535713" y="2059804"/>
                </a:lnTo>
                <a:cubicBezTo>
                  <a:pt x="837224" y="1755877"/>
                  <a:pt x="1169926" y="1420508"/>
                  <a:pt x="1537045" y="1050446"/>
                </a:cubicBezTo>
                <a:cubicBezTo>
                  <a:pt x="1558288" y="1029194"/>
                  <a:pt x="1586457" y="1018568"/>
                  <a:pt x="1614625" y="1018568"/>
                </a:cubicBezTo>
                <a:close/>
                <a:moveTo>
                  <a:pt x="2303600" y="841225"/>
                </a:moveTo>
                <a:cubicBezTo>
                  <a:pt x="2331769" y="841225"/>
                  <a:pt x="2359938" y="852309"/>
                  <a:pt x="2381181" y="874475"/>
                </a:cubicBezTo>
                <a:cubicBezTo>
                  <a:pt x="2423665" y="916960"/>
                  <a:pt x="2423665" y="987153"/>
                  <a:pt x="2381181" y="1031485"/>
                </a:cubicBezTo>
                <a:cubicBezTo>
                  <a:pt x="2381181" y="1031485"/>
                  <a:pt x="2381181" y="1031485"/>
                  <a:pt x="1379622" y="2040153"/>
                </a:cubicBezTo>
                <a:lnTo>
                  <a:pt x="1333672" y="2086429"/>
                </a:lnTo>
                <a:lnTo>
                  <a:pt x="1022608" y="2086429"/>
                </a:lnTo>
                <a:lnTo>
                  <a:pt x="1076516" y="2032139"/>
                </a:lnTo>
                <a:cubicBezTo>
                  <a:pt x="1416254" y="1689990"/>
                  <a:pt x="1797714" y="1305822"/>
                  <a:pt x="2226020" y="874475"/>
                </a:cubicBezTo>
                <a:cubicBezTo>
                  <a:pt x="2247263" y="852309"/>
                  <a:pt x="2275431" y="841225"/>
                  <a:pt x="2303600" y="841225"/>
                </a:cubicBezTo>
                <a:close/>
                <a:moveTo>
                  <a:pt x="1838798" y="795146"/>
                </a:moveTo>
                <a:cubicBezTo>
                  <a:pt x="1866888" y="795146"/>
                  <a:pt x="1894978" y="806186"/>
                  <a:pt x="1916161" y="828267"/>
                </a:cubicBezTo>
                <a:cubicBezTo>
                  <a:pt x="1958527" y="870588"/>
                  <a:pt x="1958527" y="940510"/>
                  <a:pt x="1916161" y="984672"/>
                </a:cubicBezTo>
                <a:cubicBezTo>
                  <a:pt x="1873795" y="1026993"/>
                  <a:pt x="1803800" y="1026993"/>
                  <a:pt x="1761434" y="984672"/>
                </a:cubicBezTo>
                <a:cubicBezTo>
                  <a:pt x="1717227" y="940510"/>
                  <a:pt x="1717227" y="870588"/>
                  <a:pt x="1761434" y="828267"/>
                </a:cubicBezTo>
                <a:cubicBezTo>
                  <a:pt x="1782617" y="806186"/>
                  <a:pt x="1810708" y="795146"/>
                  <a:pt x="1838798" y="795146"/>
                </a:cubicBezTo>
                <a:close/>
                <a:moveTo>
                  <a:pt x="4629710" y="514384"/>
                </a:moveTo>
                <a:lnTo>
                  <a:pt x="4629710" y="828997"/>
                </a:lnTo>
                <a:lnTo>
                  <a:pt x="4595945" y="863022"/>
                </a:lnTo>
                <a:cubicBezTo>
                  <a:pt x="4281421" y="1179966"/>
                  <a:pt x="3899954" y="1564368"/>
                  <a:pt x="3437297" y="2030584"/>
                </a:cubicBezTo>
                <a:lnTo>
                  <a:pt x="3381878" y="2086429"/>
                </a:lnTo>
                <a:lnTo>
                  <a:pt x="3070403" y="2086429"/>
                </a:lnTo>
                <a:lnTo>
                  <a:pt x="3214665" y="1940988"/>
                </a:lnTo>
                <a:cubicBezTo>
                  <a:pt x="3538718" y="1614288"/>
                  <a:pt x="3949427" y="1200224"/>
                  <a:pt x="4469965" y="675434"/>
                </a:cubicBezTo>
                <a:close/>
                <a:moveTo>
                  <a:pt x="4629710" y="0"/>
                </a:moveTo>
                <a:lnTo>
                  <a:pt x="4629710" y="314353"/>
                </a:lnTo>
                <a:lnTo>
                  <a:pt x="4558252" y="386295"/>
                </a:lnTo>
                <a:cubicBezTo>
                  <a:pt x="4166000" y="781204"/>
                  <a:pt x="3691376" y="1259044"/>
                  <a:pt x="3117080" y="1837231"/>
                </a:cubicBezTo>
                <a:lnTo>
                  <a:pt x="2869559" y="2086429"/>
                </a:lnTo>
                <a:lnTo>
                  <a:pt x="2558298" y="2086429"/>
                </a:lnTo>
                <a:lnTo>
                  <a:pt x="2623869" y="2020383"/>
                </a:lnTo>
                <a:cubicBezTo>
                  <a:pt x="2894027" y="1748266"/>
                  <a:pt x="3434344" y="1204032"/>
                  <a:pt x="4514978" y="115564"/>
                </a:cubicBezTo>
                <a:close/>
              </a:path>
            </a:pathLst>
          </a:cu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5B8F95-BB27-4AD4-8105-AF7C45D7612F}"/>
              </a:ext>
            </a:extLst>
          </p:cNvPr>
          <p:cNvSpPr txBox="1"/>
          <p:nvPr/>
        </p:nvSpPr>
        <p:spPr>
          <a:xfrm>
            <a:off x="1731383" y="2562128"/>
            <a:ext cx="35645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感谢聆听</a:t>
            </a:r>
            <a:endParaRPr lang="en-US" altLang="zh-CN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4400" b="1" dirty="0">
                <a:solidFill>
                  <a:srgbClr val="0070C0"/>
                </a:solidFill>
              </a:rPr>
              <a:t>请批评</a:t>
            </a:r>
            <a:r>
              <a:rPr lang="zh-CN" altLang="en-US" sz="4400" b="1" dirty="0"/>
              <a:t>斧正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0552CE0-D34C-4B41-A321-947C969DB2A1}"/>
              </a:ext>
            </a:extLst>
          </p:cNvPr>
          <p:cNvCxnSpPr/>
          <p:nvPr/>
        </p:nvCxnSpPr>
        <p:spPr>
          <a:xfrm>
            <a:off x="1731382" y="2612879"/>
            <a:ext cx="436461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05A8CAE-4A89-4557-9B27-7BE55AC9A4CA}"/>
              </a:ext>
            </a:extLst>
          </p:cNvPr>
          <p:cNvCxnSpPr>
            <a:cxnSpLocks/>
          </p:cNvCxnSpPr>
          <p:nvPr/>
        </p:nvCxnSpPr>
        <p:spPr>
          <a:xfrm>
            <a:off x="1731382" y="3982065"/>
            <a:ext cx="356451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4E691300-CE23-414A-BF98-24D941061004}"/>
              </a:ext>
            </a:extLst>
          </p:cNvPr>
          <p:cNvSpPr txBox="1"/>
          <p:nvPr/>
        </p:nvSpPr>
        <p:spPr>
          <a:xfrm>
            <a:off x="1749846" y="4295873"/>
            <a:ext cx="2497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</a:rPr>
              <a:t>汇报人：王坚泽</a:t>
            </a:r>
            <a:endParaRPr lang="en-US" altLang="zh-CN" sz="1600" dirty="0">
              <a:latin typeface="+mj-ea"/>
            </a:endParaRPr>
          </a:p>
          <a:p>
            <a:r>
              <a:rPr lang="zh-CN" altLang="en-US" sz="1600" dirty="0">
                <a:latin typeface="+mj-ea"/>
              </a:rPr>
              <a:t>汇报时间：</a:t>
            </a:r>
            <a:r>
              <a:rPr lang="en-US" altLang="zh-CN" sz="1600" dirty="0">
                <a:latin typeface="+mj-ea"/>
              </a:rPr>
              <a:t>2026</a:t>
            </a:r>
            <a:r>
              <a:rPr lang="zh-CN" altLang="en-US" sz="1600" dirty="0">
                <a:latin typeface="+mj-ea"/>
              </a:rPr>
              <a:t>年</a:t>
            </a:r>
            <a:r>
              <a:rPr lang="en-US" altLang="zh-CN" sz="1600" dirty="0">
                <a:latin typeface="+mj-ea"/>
              </a:rPr>
              <a:t>4</a:t>
            </a:r>
            <a:r>
              <a:rPr lang="zh-CN" altLang="en-US" sz="1600" dirty="0">
                <a:latin typeface="+mj-ea"/>
              </a:rPr>
              <a:t>月</a:t>
            </a:r>
            <a:endParaRPr lang="en-US" altLang="zh-CN" sz="1600" dirty="0">
              <a:latin typeface="+mj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57" y="2403057"/>
            <a:ext cx="1586785" cy="157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31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50"/>
                            </p:stCondLst>
                            <p:childTnLst>
                              <p:par>
                                <p:cTn id="2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 tmFilter="0,0; .5, 1; 1, 1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3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50"/>
                            </p:stCondLst>
                            <p:childTnLst>
                              <p:par>
                                <p:cTn id="4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9" grpId="0" build="allAtOnce"/>
      <p:bldP spid="2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简约蓝色商务工作汇报总结通用PPT模板"/>
  <p:tag name="ISPRING_FIRST_PUBLISH" val="1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1828</Words>
  <Application>Microsoft Office PowerPoint</Application>
  <PresentationFormat>宽屏</PresentationFormat>
  <Paragraphs>235</Paragraphs>
  <Slides>33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quote-cjk-patch</vt:lpstr>
      <vt:lpstr>等线</vt:lpstr>
      <vt:lpstr>微软雅黑</vt:lpstr>
      <vt:lpstr>Arial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简约蓝色商务工作汇报总结通用PPT模板</dc:title>
  <dc:creator>林 雨欣</dc:creator>
  <cp:lastModifiedBy>Coral</cp:lastModifiedBy>
  <cp:revision>25</cp:revision>
  <dcterms:created xsi:type="dcterms:W3CDTF">2019-01-23T14:50:11Z</dcterms:created>
  <dcterms:modified xsi:type="dcterms:W3CDTF">2026-04-08T09:35:42Z</dcterms:modified>
</cp:coreProperties>
</file>